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3" r:id="rId3"/>
    <p:sldId id="256" r:id="rId4"/>
    <p:sldId id="257" r:id="rId5"/>
    <p:sldId id="258" r:id="rId6"/>
    <p:sldId id="262" r:id="rId7"/>
    <p:sldId id="259" r:id="rId8"/>
    <p:sldId id="260"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312545" y="2209800"/>
            <a:ext cx="8642985" cy="583565"/>
          </a:xfrm>
          <a:prstGeom prst="rect">
            <a:avLst/>
          </a:prstGeom>
          <a:noFill/>
        </p:spPr>
        <p:txBody>
          <a:bodyPr wrap="square" rtlCol="0">
            <a:spAutoFit/>
          </a:bodyPr>
          <a:p>
            <a:r>
              <a:rPr lang="en-US" sz="3200">
                <a:solidFill>
                  <a:srgbClr val="FF0000"/>
                </a:solidFill>
              </a:rPr>
              <a:t>For Segment 8 this shorter version is enough</a:t>
            </a:r>
            <a:endParaRPr lang="en-US" sz="320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267970" y="333375"/>
            <a:ext cx="11536045" cy="4399915"/>
          </a:xfrm>
          <a:prstGeom prst="rect">
            <a:avLst/>
          </a:prstGeom>
        </p:spPr>
        <p:txBody>
          <a:bodyPr wrap="square">
            <a:spAutoFit/>
          </a:bodyPr>
          <a:p>
            <a:r>
              <a:rPr lang="en-US" sz="2000" b="1">
                <a:solidFill>
                  <a:srgbClr val="2C2926"/>
                </a:solidFill>
                <a:latin typeface="Times New Roman" panose="02020603050405020304" charset="0"/>
                <a:ea typeface="BricolageGrotesque-SemiBold"/>
                <a:cs typeface="Times New Roman" panose="02020603050405020304" charset="0"/>
              </a:rPr>
              <a:t>I</a:t>
            </a:r>
            <a:r>
              <a:rPr sz="2000" b="1">
                <a:solidFill>
                  <a:srgbClr val="2C2926"/>
                </a:solidFill>
                <a:latin typeface="Times New Roman" panose="02020603050405020304" charset="0"/>
                <a:ea typeface="BricolageGrotesque-SemiBold"/>
                <a:cs typeface="Times New Roman" panose="02020603050405020304" charset="0"/>
              </a:rPr>
              <a:t>ntroduction to IoT: Core Concepts and Technology Fundamentals</a:t>
            </a:r>
            <a:endParaRPr sz="2000" b="1">
              <a:solidFill>
                <a:srgbClr val="2C2926"/>
              </a:solidFill>
              <a:latin typeface="Times New Roman" panose="02020603050405020304" charset="0"/>
              <a:ea typeface="BricolageGrotesque-SemiBold"/>
              <a:cs typeface="Times New Roman" panose="02020603050405020304" charset="0"/>
            </a:endParaRPr>
          </a:p>
          <a:p>
            <a:endParaRPr sz="1600">
              <a:solidFill>
                <a:srgbClr val="2C2926"/>
              </a:solidFill>
              <a:latin typeface="Times New Roman" panose="02020603050405020304" charset="0"/>
              <a:ea typeface="BricolageGrotesque-SemiBold"/>
              <a:cs typeface="Times New Roman" panose="02020603050405020304" charset="0"/>
            </a:endParaRPr>
          </a:p>
          <a:p>
            <a:r>
              <a:rPr lang="en-US" altLang="en-US" b="1">
                <a:solidFill>
                  <a:srgbClr val="2C2926"/>
                </a:solidFill>
                <a:latin typeface="Times New Roman" panose="02020603050405020304" charset="0"/>
                <a:ea typeface="BricolageGrotesque-SemiBold"/>
                <a:cs typeface="Times New Roman" panose="02020603050405020304" charset="0"/>
              </a:rPr>
              <a:t>What is the Internet of Things (IoT)?</a:t>
            </a:r>
            <a:endParaRPr lang="en-US" altLang="en-US" b="1">
              <a:solidFill>
                <a:srgbClr val="2C2926"/>
              </a:solidFill>
              <a:latin typeface="Times New Roman" panose="02020603050405020304" charset="0"/>
              <a:ea typeface="BricolageGrotesque-SemiBold"/>
              <a:cs typeface="Times New Roman" panose="02020603050405020304" charset="0"/>
            </a:endParaRPr>
          </a:p>
          <a:p>
            <a:pPr algn="just"/>
            <a:r>
              <a:rPr lang="en-US" altLang="en-US" sz="1600">
                <a:solidFill>
                  <a:srgbClr val="2C2926"/>
                </a:solidFill>
                <a:latin typeface="Times New Roman" panose="02020603050405020304" charset="0"/>
                <a:ea typeface="BricolageGrotesque-SemiBold"/>
                <a:cs typeface="Times New Roman" panose="02020603050405020304" charset="0"/>
              </a:rPr>
              <a:t>The Internet of Things (IoT) is a network of physical objects -"things" - embedded with sensors, software, and other technologies for the purpose of connecting and exchanging data with other devices and systems over the internet. These devices range from ordinary household objects to sophisticated industrial tools.</a:t>
            </a:r>
            <a:endParaRPr lang="en-US" altLang="en-US" sz="1600">
              <a:solidFill>
                <a:srgbClr val="2C2926"/>
              </a:solidFill>
              <a:latin typeface="Times New Roman" panose="02020603050405020304" charset="0"/>
              <a:ea typeface="BricolageGrotesque-SemiBold"/>
              <a:cs typeface="Times New Roman" panose="02020603050405020304" charset="0"/>
            </a:endParaRPr>
          </a:p>
          <a:p>
            <a:endParaRPr lang="en-US" altLang="en-US" sz="1600">
              <a:solidFill>
                <a:srgbClr val="2C2926"/>
              </a:solidFill>
              <a:latin typeface="Times New Roman" panose="02020603050405020304" charset="0"/>
              <a:ea typeface="BricolageGrotesque-SemiBold"/>
              <a:cs typeface="Times New Roman" panose="02020603050405020304" charset="0"/>
            </a:endParaRPr>
          </a:p>
          <a:p>
            <a:r>
              <a:rPr lang="en-US" altLang="en-US" b="1">
                <a:solidFill>
                  <a:srgbClr val="2C2926"/>
                </a:solidFill>
                <a:latin typeface="Times New Roman" panose="02020603050405020304" charset="0"/>
                <a:ea typeface="BricolageGrotesque-SemiBold"/>
                <a:cs typeface="Times New Roman" panose="02020603050405020304" charset="0"/>
              </a:rPr>
              <a:t>Key Characteristics of IoT:</a:t>
            </a:r>
            <a:endParaRPr lang="en-US" altLang="en-US" b="1">
              <a:solidFill>
                <a:srgbClr val="2C2926"/>
              </a:solidFill>
              <a:latin typeface="Times New Roman" panose="02020603050405020304" charset="0"/>
              <a:ea typeface="BricolageGrotesque-SemiBold"/>
              <a:cs typeface="Times New Roman" panose="02020603050405020304" charset="0"/>
            </a:endParaRPr>
          </a:p>
          <a:p>
            <a:endParaRPr lang="en-US" altLang="en-US" sz="1600">
              <a:solidFill>
                <a:srgbClr val="2C2926"/>
              </a:solidFill>
              <a:latin typeface="Times New Roman" panose="02020603050405020304" charset="0"/>
              <a:ea typeface="BricolageGrotesque-SemiBold"/>
              <a:cs typeface="Times New Roman" panose="02020603050405020304" charset="0"/>
            </a:endParaRPr>
          </a:p>
          <a:p>
            <a:r>
              <a:rPr lang="en-US" altLang="en-US" sz="1600" b="1">
                <a:solidFill>
                  <a:srgbClr val="2C2926"/>
                </a:solidFill>
                <a:latin typeface="Times New Roman" panose="02020603050405020304" charset="0"/>
                <a:ea typeface="BricolageGrotesque-SemiBold"/>
                <a:cs typeface="Times New Roman" panose="02020603050405020304" charset="0"/>
              </a:rPr>
              <a:t>Connectivity:</a:t>
            </a:r>
            <a:r>
              <a:rPr lang="en-US" altLang="en-US" sz="1600">
                <a:solidFill>
                  <a:srgbClr val="2C2926"/>
                </a:solidFill>
                <a:latin typeface="Times New Roman" panose="02020603050405020304" charset="0"/>
                <a:ea typeface="BricolageGrotesque-SemiBold"/>
                <a:cs typeface="Times New Roman" panose="02020603050405020304" charset="0"/>
              </a:rPr>
              <a:t> enabling communication between themselves and with cloud platforms</a:t>
            </a:r>
            <a:endParaRPr lang="en-US" altLang="en-US" sz="1600">
              <a:solidFill>
                <a:srgbClr val="2C2926"/>
              </a:solidFill>
              <a:latin typeface="Times New Roman" panose="02020603050405020304" charset="0"/>
              <a:ea typeface="BricolageGrotesque-SemiBold"/>
              <a:cs typeface="Times New Roman" panose="02020603050405020304" charset="0"/>
            </a:endParaRPr>
          </a:p>
          <a:p>
            <a:r>
              <a:rPr lang="en-US" altLang="en-US" sz="1600" b="1">
                <a:solidFill>
                  <a:srgbClr val="2C2926"/>
                </a:solidFill>
                <a:latin typeface="Times New Roman" panose="02020603050405020304" charset="0"/>
                <a:ea typeface="BricolageGrotesque-SemiBold"/>
                <a:cs typeface="Times New Roman" panose="02020603050405020304" charset="0"/>
              </a:rPr>
              <a:t>Data Exchange: </a:t>
            </a:r>
            <a:r>
              <a:rPr lang="en-US" altLang="en-US" sz="1600">
                <a:solidFill>
                  <a:srgbClr val="2C2926"/>
                </a:solidFill>
                <a:latin typeface="Times New Roman" panose="02020603050405020304" charset="0"/>
                <a:ea typeface="BricolageGrotesque-SemiBold"/>
                <a:cs typeface="Times New Roman" panose="02020603050405020304" charset="0"/>
              </a:rPr>
              <a:t>provides valuable insights for decision-making and automation</a:t>
            </a:r>
            <a:endParaRPr lang="en-US" altLang="en-US" sz="1600">
              <a:solidFill>
                <a:srgbClr val="2C2926"/>
              </a:solidFill>
              <a:latin typeface="Times New Roman" panose="02020603050405020304" charset="0"/>
              <a:ea typeface="BricolageGrotesque-SemiBold"/>
              <a:cs typeface="Times New Roman" panose="02020603050405020304" charset="0"/>
            </a:endParaRPr>
          </a:p>
          <a:p>
            <a:r>
              <a:rPr lang="en-US" altLang="en-US" sz="1600" b="1">
                <a:solidFill>
                  <a:srgbClr val="2C2926"/>
                </a:solidFill>
                <a:latin typeface="Times New Roman" panose="02020603050405020304" charset="0"/>
                <a:ea typeface="BricolageGrotesque-SemiBold"/>
                <a:cs typeface="Times New Roman" panose="02020603050405020304" charset="0"/>
              </a:rPr>
              <a:t>Interoperability: </a:t>
            </a:r>
            <a:r>
              <a:rPr lang="en-US" altLang="en-US" sz="1600">
                <a:solidFill>
                  <a:srgbClr val="2C2926"/>
                </a:solidFill>
                <a:latin typeface="Times New Roman" panose="02020603050405020304" charset="0"/>
                <a:ea typeface="BricolageGrotesque-SemiBold"/>
                <a:cs typeface="Times New Roman" panose="02020603050405020304" charset="0"/>
              </a:rPr>
              <a:t>The ability to work together and exchange information regardless of protocol.</a:t>
            </a:r>
            <a:endParaRPr lang="en-US" altLang="en-US" sz="1600">
              <a:solidFill>
                <a:srgbClr val="2C2926"/>
              </a:solidFill>
              <a:latin typeface="Times New Roman" panose="02020603050405020304" charset="0"/>
              <a:ea typeface="BricolageGrotesque-SemiBold"/>
              <a:cs typeface="Times New Roman" panose="02020603050405020304" charset="0"/>
            </a:endParaRPr>
          </a:p>
          <a:p>
            <a:r>
              <a:rPr lang="en-US" altLang="en-US" sz="1600" b="1">
                <a:solidFill>
                  <a:srgbClr val="2C2926"/>
                </a:solidFill>
                <a:latin typeface="Times New Roman" panose="02020603050405020304" charset="0"/>
                <a:ea typeface="BricolageGrotesque-SemiBold"/>
                <a:cs typeface="Times New Roman" panose="02020603050405020304" charset="0"/>
              </a:rPr>
              <a:t>Automation:</a:t>
            </a:r>
            <a:r>
              <a:rPr lang="en-US" altLang="en-US" sz="1600">
                <a:solidFill>
                  <a:srgbClr val="2C2926"/>
                </a:solidFill>
                <a:latin typeface="Times New Roman" panose="02020603050405020304" charset="0"/>
                <a:ea typeface="BricolageGrotesque-SemiBold"/>
                <a:cs typeface="Times New Roman" panose="02020603050405020304" charset="0"/>
              </a:rPr>
              <a:t> can automate processes and without human intervention</a:t>
            </a:r>
            <a:endParaRPr lang="en-US" altLang="en-US" sz="1600">
              <a:solidFill>
                <a:srgbClr val="2C2926"/>
              </a:solidFill>
              <a:latin typeface="Times New Roman" panose="02020603050405020304" charset="0"/>
              <a:ea typeface="BricolageGrotesque-SemiBold"/>
              <a:cs typeface="Times New Roman" panose="02020603050405020304" charset="0"/>
            </a:endParaRPr>
          </a:p>
          <a:p>
            <a:endParaRPr lang="en-US" altLang="en-US" sz="1600">
              <a:solidFill>
                <a:srgbClr val="2C2926"/>
              </a:solidFill>
              <a:latin typeface="Times New Roman" panose="02020603050405020304" charset="0"/>
              <a:ea typeface="BricolageGrotesque-SemiBold"/>
              <a:cs typeface="Times New Roman" panose="02020603050405020304" charset="0"/>
            </a:endParaRPr>
          </a:p>
          <a:p>
            <a:r>
              <a:rPr lang="en-US" altLang="en-US" sz="1600" b="1">
                <a:solidFill>
                  <a:srgbClr val="2C2926"/>
                </a:solidFill>
                <a:latin typeface="Times New Roman" panose="02020603050405020304" charset="0"/>
                <a:ea typeface="BricolageGrotesque-SemiBold"/>
                <a:cs typeface="Times New Roman" panose="02020603050405020304" charset="0"/>
              </a:rPr>
              <a:t>IoT Network Topologies:</a:t>
            </a:r>
            <a:r>
              <a:rPr lang="en-US" altLang="en-US" sz="1600">
                <a:solidFill>
                  <a:srgbClr val="2C2926"/>
                </a:solidFill>
                <a:latin typeface="Times New Roman" panose="02020603050405020304" charset="0"/>
                <a:ea typeface="BricolageGrotesque-SemiBold"/>
                <a:cs typeface="Times New Roman" panose="02020603050405020304" charset="0"/>
              </a:rPr>
              <a:t> Star, Tree, Mesh</a:t>
            </a:r>
            <a:endParaRPr lang="en-US" altLang="en-US" sz="1600">
              <a:solidFill>
                <a:srgbClr val="2C2926"/>
              </a:solidFill>
              <a:latin typeface="Times New Roman" panose="02020603050405020304" charset="0"/>
              <a:ea typeface="BricolageGrotesque-SemiBold"/>
              <a:cs typeface="Times New Roman" panose="02020603050405020304" charset="0"/>
            </a:endParaRPr>
          </a:p>
          <a:p>
            <a:endParaRPr lang="en-US" altLang="en-US" sz="1600">
              <a:solidFill>
                <a:srgbClr val="2C2926"/>
              </a:solidFill>
              <a:latin typeface="Times New Roman" panose="02020603050405020304" charset="0"/>
              <a:ea typeface="BricolageGrotesque-SemiBold"/>
              <a:cs typeface="Times New Roman" panose="02020603050405020304" charset="0"/>
            </a:endParaRPr>
          </a:p>
          <a:p>
            <a:endParaRPr lang="en-US" altLang="en-US" sz="1600">
              <a:solidFill>
                <a:srgbClr val="2C2926"/>
              </a:solidFill>
              <a:latin typeface="Times New Roman" panose="02020603050405020304" charset="0"/>
              <a:ea typeface="BricolageGrotesque-SemiBold"/>
              <a:cs typeface="Times New Roman" panose="02020603050405020304" charset="0"/>
            </a:endParaRPr>
          </a:p>
        </p:txBody>
      </p:sp>
      <p:sp>
        <p:nvSpPr>
          <p:cNvPr id="6" name="Text Box 5"/>
          <p:cNvSpPr txBox="1"/>
          <p:nvPr/>
        </p:nvSpPr>
        <p:spPr>
          <a:xfrm>
            <a:off x="264795" y="4255770"/>
            <a:ext cx="4824095" cy="1953260"/>
          </a:xfrm>
          <a:prstGeom prst="rect">
            <a:avLst/>
          </a:prstGeom>
        </p:spPr>
        <p:txBody>
          <a:bodyPr wrap="square">
            <a:spAutoFit/>
          </a:bodyPr>
          <a:p>
            <a:r>
              <a:rPr sz="2000" b="1">
                <a:solidFill>
                  <a:srgbClr val="2C2926"/>
                </a:solidFill>
                <a:latin typeface="Times New Roman" panose="02020603050405020304" charset="0"/>
                <a:ea typeface="BricolageGrotesque-SemiBold"/>
                <a:cs typeface="Times New Roman" panose="02020603050405020304" charset="0"/>
              </a:rPr>
              <a:t>Core Principles of IoT</a:t>
            </a:r>
            <a:r>
              <a:rPr sz="3100" b="1">
                <a:solidFill>
                  <a:srgbClr val="2C2926"/>
                </a:solidFill>
                <a:latin typeface="Times New Roman" panose="02020603050405020304" charset="0"/>
                <a:ea typeface="BricolageGrotesque-SemiBold"/>
                <a:cs typeface="Times New Roman" panose="02020603050405020304" charset="0"/>
              </a:rPr>
              <a:t> </a:t>
            </a:r>
            <a:endParaRPr sz="3100" b="1">
              <a:solidFill>
                <a:srgbClr val="2C2926"/>
              </a:solidFill>
              <a:latin typeface="Times New Roman" panose="02020603050405020304" charset="0"/>
              <a:ea typeface="BricolageGrotesque-SemiBold"/>
              <a:cs typeface="Times New Roman" panose="02020603050405020304" charset="0"/>
            </a:endParaRPr>
          </a:p>
          <a:p>
            <a:r>
              <a:rPr>
                <a:solidFill>
                  <a:srgbClr val="2C2926"/>
                </a:solidFill>
                <a:latin typeface="Times New Roman" panose="02020603050405020304" charset="0"/>
                <a:ea typeface="BricolageGrotesque-SemiBold"/>
                <a:cs typeface="Times New Roman" panose="02020603050405020304" charset="0"/>
              </a:rPr>
              <a:t>1 Scalability </a:t>
            </a:r>
            <a:endParaRPr>
              <a:solidFill>
                <a:srgbClr val="2C2926"/>
              </a:solidFill>
              <a:latin typeface="Times New Roman" panose="02020603050405020304" charset="0"/>
              <a:ea typeface="BricolageGrotesque-SemiBold"/>
              <a:cs typeface="Times New Roman" panose="02020603050405020304" charset="0"/>
            </a:endParaRPr>
          </a:p>
          <a:p>
            <a:r>
              <a:rPr>
                <a:solidFill>
                  <a:srgbClr val="2C2926"/>
                </a:solidFill>
                <a:latin typeface="Times New Roman" panose="02020603050405020304" charset="0"/>
                <a:ea typeface="BricolageGrotesque-SemiBold"/>
                <a:cs typeface="Times New Roman" panose="02020603050405020304" charset="0"/>
              </a:rPr>
              <a:t>2 Security </a:t>
            </a:r>
            <a:r>
              <a:rPr>
                <a:solidFill>
                  <a:srgbClr val="2C2926"/>
                </a:solidFill>
                <a:latin typeface="Times New Roman" panose="02020603050405020304" charset="0"/>
                <a:ea typeface="Inter"/>
                <a:cs typeface="Times New Roman" panose="02020603050405020304" charset="0"/>
              </a:rPr>
              <a:t> </a:t>
            </a:r>
            <a:endParaRPr>
              <a:solidFill>
                <a:srgbClr val="2C2926"/>
              </a:solidFill>
              <a:latin typeface="Times New Roman" panose="02020603050405020304" charset="0"/>
              <a:ea typeface="Inter"/>
              <a:cs typeface="Times New Roman" panose="02020603050405020304" charset="0"/>
            </a:endParaRPr>
          </a:p>
          <a:p>
            <a:r>
              <a:rPr>
                <a:solidFill>
                  <a:srgbClr val="2C2926"/>
                </a:solidFill>
                <a:latin typeface="Times New Roman" panose="02020603050405020304" charset="0"/>
                <a:ea typeface="BricolageGrotesque-SemiBold"/>
                <a:cs typeface="Times New Roman" panose="02020603050405020304" charset="0"/>
              </a:rPr>
              <a:t>3 Privacy </a:t>
            </a:r>
            <a:endParaRPr>
              <a:solidFill>
                <a:srgbClr val="2C2926"/>
              </a:solidFill>
              <a:latin typeface="Times New Roman" panose="02020603050405020304" charset="0"/>
              <a:ea typeface="BricolageGrotesque-SemiBold"/>
              <a:cs typeface="Times New Roman" panose="02020603050405020304" charset="0"/>
            </a:endParaRPr>
          </a:p>
          <a:p>
            <a:r>
              <a:rPr>
                <a:solidFill>
                  <a:srgbClr val="2C2926"/>
                </a:solidFill>
                <a:latin typeface="Times New Roman" panose="02020603050405020304" charset="0"/>
                <a:ea typeface="BricolageGrotesque-SemiBold"/>
                <a:cs typeface="Times New Roman" panose="02020603050405020304" charset="0"/>
              </a:rPr>
              <a:t>4 Intelligence </a:t>
            </a:r>
            <a:r>
              <a:rPr>
                <a:solidFill>
                  <a:srgbClr val="2C2926"/>
                </a:solidFill>
                <a:latin typeface="Times New Roman" panose="02020603050405020304" charset="0"/>
                <a:ea typeface="Inter"/>
                <a:cs typeface="Times New Roman" panose="02020603050405020304" charset="0"/>
              </a:rPr>
              <a:t> </a:t>
            </a:r>
            <a:endParaRPr>
              <a:solidFill>
                <a:srgbClr val="2C2926"/>
              </a:solidFill>
              <a:latin typeface="Times New Roman" panose="02020603050405020304" charset="0"/>
              <a:ea typeface="Inter"/>
              <a:cs typeface="Times New Roman" panose="02020603050405020304" charset="0"/>
            </a:endParaRPr>
          </a:p>
          <a:p>
            <a:r>
              <a:rPr>
                <a:solidFill>
                  <a:srgbClr val="2C2926"/>
                </a:solidFill>
                <a:latin typeface="Times New Roman" panose="02020603050405020304" charset="0"/>
                <a:ea typeface="BricolageGrotesque-SemiBold"/>
                <a:cs typeface="Times New Roman" panose="02020603050405020304" charset="0"/>
              </a:rPr>
              <a:t>5 Integration</a:t>
            </a:r>
            <a:r>
              <a:rPr>
                <a:solidFill>
                  <a:srgbClr val="2C2926"/>
                </a:solidFill>
                <a:latin typeface="BricolageGrotesque-SemiBold"/>
                <a:ea typeface="BricolageGrotesque-SemiBold"/>
              </a:rPr>
              <a:t> </a:t>
            </a:r>
            <a:endParaRPr>
              <a:solidFill>
                <a:srgbClr val="2C2926"/>
              </a:solidFill>
              <a:latin typeface="Inter"/>
              <a:ea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28625" y="265430"/>
            <a:ext cx="5464175" cy="337185"/>
          </a:xfrm>
          <a:prstGeom prst="rect">
            <a:avLst/>
          </a:prstGeom>
        </p:spPr>
        <p:txBody>
          <a:bodyPr wrap="square">
            <a:spAutoFit/>
          </a:bodyPr>
          <a:p>
            <a:r>
              <a:rPr sz="1600" b="1">
                <a:solidFill>
                  <a:srgbClr val="2C2926"/>
                </a:solidFill>
                <a:latin typeface="Times New Roman" panose="02020603050405020304" charset="0"/>
                <a:ea typeface="BricolageGrotesque-SemiBold"/>
                <a:cs typeface="Times New Roman" panose="02020603050405020304" charset="0"/>
              </a:rPr>
              <a:t>IoT Architecture: Core</a:t>
            </a:r>
            <a:r>
              <a:rPr lang="en-US" sz="1600" b="1">
                <a:solidFill>
                  <a:srgbClr val="2C2926"/>
                </a:solidFill>
                <a:latin typeface="Times New Roman" panose="02020603050405020304" charset="0"/>
                <a:ea typeface="BricolageGrotesque-SemiBold"/>
                <a:cs typeface="Times New Roman" panose="02020603050405020304" charset="0"/>
              </a:rPr>
              <a:t>/</a:t>
            </a:r>
            <a:r>
              <a:rPr lang="en-US" altLang="en-US" sz="1600" b="1">
                <a:solidFill>
                  <a:srgbClr val="2C2926"/>
                </a:solidFill>
                <a:latin typeface="Times New Roman" panose="02020603050405020304" charset="0"/>
                <a:ea typeface="BricolageGrotesque-SemiBold"/>
                <a:cs typeface="Times New Roman" panose="02020603050405020304" charset="0"/>
                <a:sym typeface="+mn-ea"/>
              </a:rPr>
              <a:t>Fundamental</a:t>
            </a:r>
            <a:r>
              <a:rPr sz="1600" b="1">
                <a:solidFill>
                  <a:srgbClr val="2C2926"/>
                </a:solidFill>
                <a:latin typeface="Times New Roman" panose="02020603050405020304" charset="0"/>
                <a:ea typeface="BricolageGrotesque-SemiBold"/>
                <a:cs typeface="Times New Roman" panose="02020603050405020304" charset="0"/>
              </a:rPr>
              <a:t> Components</a:t>
            </a:r>
            <a:r>
              <a:rPr sz="1600" b="1">
                <a:solidFill>
                  <a:srgbClr val="2C2926"/>
                </a:solidFill>
                <a:latin typeface="BricolageGrotesque-SemiBold"/>
                <a:ea typeface="BricolageGrotesque-SemiBold"/>
              </a:rPr>
              <a:t> </a:t>
            </a:r>
            <a:endParaRPr lang="en-US" sz="1600" b="1">
              <a:solidFill>
                <a:srgbClr val="2C2926"/>
              </a:solidFill>
              <a:latin typeface="BricolageGrotesque-SemiBold"/>
              <a:ea typeface="BricolageGrotesque-SemiBold"/>
            </a:endParaRPr>
          </a:p>
        </p:txBody>
      </p:sp>
      <p:sp>
        <p:nvSpPr>
          <p:cNvPr id="5" name="Text Box 4"/>
          <p:cNvSpPr txBox="1"/>
          <p:nvPr/>
        </p:nvSpPr>
        <p:spPr>
          <a:xfrm>
            <a:off x="240030" y="942340"/>
            <a:ext cx="7031990" cy="2553335"/>
          </a:xfrm>
          <a:prstGeom prst="rect">
            <a:avLst/>
          </a:prstGeom>
          <a:noFill/>
        </p:spPr>
        <p:txBody>
          <a:bodyPr wrap="square" rtlCol="0" anchor="t">
            <a:spAutoFit/>
          </a:bodyPr>
          <a:p>
            <a:r>
              <a:rPr lang="en-US" altLang="en-US" sz="1600" b="1">
                <a:solidFill>
                  <a:srgbClr val="2C2926"/>
                </a:solidFill>
                <a:latin typeface="Times New Roman" panose="02020603050405020304" charset="0"/>
                <a:ea typeface="BricolageGrotesque-SemiBold"/>
                <a:cs typeface="Times New Roman" panose="02020603050405020304" charset="0"/>
                <a:sym typeface="+mn-ea"/>
              </a:rPr>
              <a:t>Sensing &amp; Actuation Layer:</a:t>
            </a:r>
            <a:r>
              <a:rPr lang="en-US" altLang="en-US" sz="1600">
                <a:solidFill>
                  <a:srgbClr val="2C2926"/>
                </a:solidFill>
                <a:latin typeface="Times New Roman" panose="02020603050405020304" charset="0"/>
                <a:ea typeface="BricolageGrotesque-SemiBold"/>
                <a:cs typeface="Times New Roman" panose="02020603050405020304" charset="0"/>
                <a:sym typeface="+mn-ea"/>
              </a:rPr>
              <a:t> Physical objects equipped with sensors,actuators </a:t>
            </a:r>
            <a:endParaRPr lang="en-US" altLang="en-US" sz="1600">
              <a:solidFill>
                <a:srgbClr val="2C2926"/>
              </a:solidFill>
              <a:latin typeface="Times New Roman" panose="02020603050405020304" charset="0"/>
              <a:ea typeface="BricolageGrotesque-SemiBold"/>
              <a:cs typeface="Times New Roman" panose="02020603050405020304" charset="0"/>
              <a:sym typeface="+mn-ea"/>
            </a:endParaRPr>
          </a:p>
          <a:p>
            <a:endParaRPr lang="en-US" altLang="en-US" sz="1600">
              <a:solidFill>
                <a:srgbClr val="2C2926"/>
              </a:solidFill>
              <a:latin typeface="Times New Roman" panose="02020603050405020304" charset="0"/>
              <a:ea typeface="BricolageGrotesque-SemiBold"/>
              <a:cs typeface="Times New Roman" panose="02020603050405020304" charset="0"/>
            </a:endParaRPr>
          </a:p>
          <a:p>
            <a:r>
              <a:rPr lang="en-US" altLang="en-US" sz="1600" b="1">
                <a:solidFill>
                  <a:srgbClr val="2C2926"/>
                </a:solidFill>
                <a:latin typeface="Times New Roman" panose="02020603050405020304" charset="0"/>
                <a:ea typeface="BricolageGrotesque-SemiBold"/>
                <a:cs typeface="Times New Roman" panose="02020603050405020304" charset="0"/>
                <a:sym typeface="+mn-ea"/>
              </a:rPr>
              <a:t>Network &amp; Communication Protocols:</a:t>
            </a:r>
            <a:r>
              <a:rPr lang="en-US" altLang="en-US" sz="1600">
                <a:solidFill>
                  <a:srgbClr val="2C2926"/>
                </a:solidFill>
                <a:latin typeface="Times New Roman" panose="02020603050405020304" charset="0"/>
                <a:ea typeface="BricolageGrotesque-SemiBold"/>
                <a:cs typeface="Times New Roman" panose="02020603050405020304" charset="0"/>
                <a:sym typeface="+mn-ea"/>
              </a:rPr>
              <a:t> The communication layer connecting each other to the cloud</a:t>
            </a:r>
            <a:endParaRPr lang="en-US" altLang="en-US" sz="1600">
              <a:solidFill>
                <a:srgbClr val="2C2926"/>
              </a:solidFill>
              <a:latin typeface="Times New Roman" panose="02020603050405020304" charset="0"/>
              <a:ea typeface="BricolageGrotesque-SemiBold"/>
              <a:cs typeface="Times New Roman" panose="02020603050405020304" charset="0"/>
              <a:sym typeface="+mn-ea"/>
            </a:endParaRPr>
          </a:p>
          <a:p>
            <a:endParaRPr lang="en-US" altLang="en-US" sz="1600">
              <a:solidFill>
                <a:srgbClr val="2C2926"/>
              </a:solidFill>
              <a:latin typeface="Times New Roman" panose="02020603050405020304" charset="0"/>
              <a:ea typeface="BricolageGrotesque-SemiBold"/>
              <a:cs typeface="Times New Roman" panose="02020603050405020304" charset="0"/>
            </a:endParaRPr>
          </a:p>
          <a:p>
            <a:r>
              <a:rPr lang="en-US" altLang="en-US" sz="1600" b="1">
                <a:solidFill>
                  <a:srgbClr val="2C2926"/>
                </a:solidFill>
                <a:latin typeface="Times New Roman" panose="02020603050405020304" charset="0"/>
                <a:ea typeface="BricolageGrotesque-SemiBold"/>
                <a:cs typeface="Times New Roman" panose="02020603050405020304" charset="0"/>
                <a:sym typeface="+mn-ea"/>
              </a:rPr>
              <a:t>Data Processing &amp; Management Systems:</a:t>
            </a:r>
            <a:r>
              <a:rPr lang="en-US" altLang="en-US" sz="1600">
                <a:solidFill>
                  <a:srgbClr val="2C2926"/>
                </a:solidFill>
                <a:latin typeface="Times New Roman" panose="02020603050405020304" charset="0"/>
                <a:ea typeface="BricolageGrotesque-SemiBold"/>
                <a:cs typeface="Times New Roman" panose="02020603050405020304" charset="0"/>
                <a:sym typeface="+mn-ea"/>
              </a:rPr>
              <a:t> Data Processing infrastructure (cloud platforms, edge computing) </a:t>
            </a:r>
            <a:endParaRPr lang="en-US" altLang="en-US" sz="1600">
              <a:solidFill>
                <a:srgbClr val="2C2926"/>
              </a:solidFill>
              <a:latin typeface="Times New Roman" panose="02020603050405020304" charset="0"/>
              <a:ea typeface="BricolageGrotesque-SemiBold"/>
              <a:cs typeface="Times New Roman" panose="02020603050405020304" charset="0"/>
              <a:sym typeface="+mn-ea"/>
            </a:endParaRPr>
          </a:p>
          <a:p>
            <a:endParaRPr lang="en-US" altLang="en-US" sz="1600">
              <a:solidFill>
                <a:srgbClr val="2C2926"/>
              </a:solidFill>
              <a:latin typeface="Times New Roman" panose="02020603050405020304" charset="0"/>
              <a:ea typeface="BricolageGrotesque-SemiBold"/>
              <a:cs typeface="Times New Roman" panose="02020603050405020304" charset="0"/>
            </a:endParaRPr>
          </a:p>
          <a:p>
            <a:r>
              <a:rPr lang="en-US" altLang="en-US" sz="1600" b="1">
                <a:solidFill>
                  <a:srgbClr val="2C2926"/>
                </a:solidFill>
                <a:latin typeface="Times New Roman" panose="02020603050405020304" charset="0"/>
                <a:ea typeface="BricolageGrotesque-SemiBold"/>
                <a:cs typeface="Times New Roman" panose="02020603050405020304" charset="0"/>
                <a:sym typeface="+mn-ea"/>
              </a:rPr>
              <a:t>Application &amp; User Interface: </a:t>
            </a:r>
            <a:r>
              <a:rPr lang="en-US" altLang="en-US" sz="1600">
                <a:solidFill>
                  <a:srgbClr val="2C2926"/>
                </a:solidFill>
                <a:latin typeface="Times New Roman" panose="02020603050405020304" charset="0"/>
                <a:ea typeface="BricolageGrotesque-SemiBold"/>
                <a:cs typeface="Times New Roman" panose="02020603050405020304" charset="0"/>
                <a:sym typeface="+mn-ea"/>
              </a:rPr>
              <a:t>User Interface - Applications, dashboards, allowing users to interact and control devices.</a:t>
            </a:r>
            <a:endParaRPr lang="en-US" altLang="en-US" sz="1600">
              <a:solidFill>
                <a:srgbClr val="2C2926"/>
              </a:solidFill>
              <a:latin typeface="Times New Roman" panose="02020603050405020304" charset="0"/>
              <a:ea typeface="BricolageGrotesque-SemiBold"/>
              <a:cs typeface="Times New Roman" panose="02020603050405020304" charset="0"/>
              <a:sym typeface="+mn-ea"/>
            </a:endParaRPr>
          </a:p>
        </p:txBody>
      </p:sp>
      <p:pic>
        <p:nvPicPr>
          <p:cNvPr id="6" name="Picture 5"/>
          <p:cNvPicPr>
            <a:picLocks noChangeAspect="1"/>
          </p:cNvPicPr>
          <p:nvPr/>
        </p:nvPicPr>
        <p:blipFill>
          <a:blip r:embed="rId1"/>
          <a:stretch>
            <a:fillRect/>
          </a:stretch>
        </p:blipFill>
        <p:spPr>
          <a:xfrm>
            <a:off x="353695" y="3483610"/>
            <a:ext cx="5600065" cy="3200400"/>
          </a:xfrm>
          <a:prstGeom prst="rect">
            <a:avLst/>
          </a:prstGeom>
        </p:spPr>
      </p:pic>
      <p:pic>
        <p:nvPicPr>
          <p:cNvPr id="2" name="Picture 1"/>
          <p:cNvPicPr>
            <a:picLocks noChangeAspect="1"/>
          </p:cNvPicPr>
          <p:nvPr/>
        </p:nvPicPr>
        <p:blipFill>
          <a:blip r:embed="rId2"/>
          <a:stretch>
            <a:fillRect/>
          </a:stretch>
        </p:blipFill>
        <p:spPr>
          <a:xfrm>
            <a:off x="7366635" y="1061085"/>
            <a:ext cx="4396105" cy="22307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p:cNvPicPr>
            <a:picLocks noChangeAspect="1"/>
          </p:cNvPicPr>
          <p:nvPr/>
        </p:nvPicPr>
        <p:blipFill>
          <a:blip r:embed="rId1"/>
          <a:stretch>
            <a:fillRect/>
          </a:stretch>
        </p:blipFill>
        <p:spPr>
          <a:xfrm>
            <a:off x="320040" y="1093470"/>
            <a:ext cx="4304665" cy="4956175"/>
          </a:xfrm>
          <a:prstGeom prst="rect">
            <a:avLst/>
          </a:prstGeom>
        </p:spPr>
      </p:pic>
      <p:pic>
        <p:nvPicPr>
          <p:cNvPr id="6" name="Picture 5"/>
          <p:cNvPicPr>
            <a:picLocks noChangeAspect="1"/>
          </p:cNvPicPr>
          <p:nvPr/>
        </p:nvPicPr>
        <p:blipFill>
          <a:blip r:embed="rId2"/>
          <a:stretch>
            <a:fillRect/>
          </a:stretch>
        </p:blipFill>
        <p:spPr>
          <a:xfrm>
            <a:off x="4564380" y="1094740"/>
            <a:ext cx="3792220" cy="3830320"/>
          </a:xfrm>
          <a:prstGeom prst="rect">
            <a:avLst/>
          </a:prstGeom>
        </p:spPr>
      </p:pic>
      <p:sp>
        <p:nvSpPr>
          <p:cNvPr id="7" name="Rectangles 6"/>
          <p:cNvSpPr/>
          <p:nvPr/>
        </p:nvSpPr>
        <p:spPr>
          <a:xfrm>
            <a:off x="511810" y="1540510"/>
            <a:ext cx="3768090" cy="1236345"/>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8" name="Rectangles 7"/>
          <p:cNvSpPr/>
          <p:nvPr/>
        </p:nvSpPr>
        <p:spPr>
          <a:xfrm>
            <a:off x="4592955" y="1515110"/>
            <a:ext cx="3768090" cy="1354455"/>
          </a:xfrm>
          <a:prstGeom prst="rect">
            <a:avLst/>
          </a:prstGeom>
          <a:noFill/>
          <a:ln w="381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773680" y="363855"/>
            <a:ext cx="7310755" cy="398780"/>
          </a:xfrm>
          <a:prstGeom prst="rect">
            <a:avLst/>
          </a:prstGeom>
        </p:spPr>
        <p:txBody>
          <a:bodyPr wrap="square">
            <a:spAutoFit/>
          </a:bodyPr>
          <a:p>
            <a:r>
              <a:rPr sz="2000" b="1">
                <a:solidFill>
                  <a:srgbClr val="2C2926"/>
                </a:solidFill>
                <a:latin typeface="Times New Roman" panose="02020603050405020304" charset="0"/>
                <a:ea typeface="BricolageGrotesque-SemiBold"/>
                <a:cs typeface="Times New Roman" panose="02020603050405020304" charset="0"/>
              </a:rPr>
              <a:t>From M2M to IoT: Evolution and Value Chains</a:t>
            </a:r>
            <a:endParaRPr sz="2000" b="1">
              <a:solidFill>
                <a:srgbClr val="2C2926"/>
              </a:solidFill>
              <a:latin typeface="Times New Roman" panose="02020603050405020304" charset="0"/>
              <a:ea typeface="BricolageGrotesque-SemiBold"/>
              <a:cs typeface="Times New Roman" panose="02020603050405020304" charset="0"/>
            </a:endParaRPr>
          </a:p>
        </p:txBody>
      </p:sp>
      <p:sp>
        <p:nvSpPr>
          <p:cNvPr id="3" name="Text Box 2"/>
          <p:cNvSpPr txBox="1"/>
          <p:nvPr/>
        </p:nvSpPr>
        <p:spPr>
          <a:xfrm>
            <a:off x="168275" y="995045"/>
            <a:ext cx="11751310" cy="5507990"/>
          </a:xfrm>
          <a:prstGeom prst="rect">
            <a:avLst/>
          </a:prstGeom>
        </p:spPr>
        <p:txBody>
          <a:bodyPr wrap="square">
            <a:spAutoFit/>
          </a:bodyPr>
          <a:p>
            <a:r>
              <a:rPr lang="en-US" altLang="en-US" sz="1600">
                <a:solidFill>
                  <a:srgbClr val="2C2926"/>
                </a:solidFill>
                <a:latin typeface="Times New Roman" panose="02020603050405020304" charset="0"/>
                <a:ea typeface="Inter"/>
                <a:cs typeface="Times New Roman" panose="02020603050405020304" charset="0"/>
                <a:sym typeface="+mn-ea"/>
              </a:rPr>
              <a:t>Machine-to-Machine (M2M) communication refers to the direct communication between devices using wired or wireless channels, without human intervention. </a:t>
            </a:r>
            <a:r>
              <a:rPr lang="en-US" altLang="en-US" sz="1600" b="1">
                <a:solidFill>
                  <a:srgbClr val="2C2926"/>
                </a:solidFill>
                <a:latin typeface="Times New Roman" panose="02020603050405020304" charset="0"/>
                <a:ea typeface="Inter"/>
                <a:cs typeface="Times New Roman" panose="02020603050405020304" charset="0"/>
                <a:sym typeface="+mn-ea"/>
              </a:rPr>
              <a:t>Application:</a:t>
            </a:r>
            <a:r>
              <a:rPr lang="en-US" altLang="en-US" sz="1600">
                <a:solidFill>
                  <a:srgbClr val="2C2926"/>
                </a:solidFill>
                <a:latin typeface="Times New Roman" panose="02020603050405020304" charset="0"/>
                <a:ea typeface="Inter"/>
                <a:cs typeface="Times New Roman" panose="02020603050405020304" charset="0"/>
                <a:sym typeface="+mn-ea"/>
              </a:rPr>
              <a:t> Utility Meters for electricity, gas, and water meters, Industrial Monitoring, Vending Machines etc.</a:t>
            </a:r>
            <a:endParaRPr lang="en-US" altLang="en-US" sz="1600">
              <a:solidFill>
                <a:srgbClr val="2C2926"/>
              </a:solidFill>
              <a:latin typeface="Times New Roman" panose="02020603050405020304" charset="0"/>
              <a:ea typeface="Inter"/>
              <a:cs typeface="Times New Roman" panose="02020603050405020304" charset="0"/>
            </a:endParaRPr>
          </a:p>
          <a:p>
            <a:endParaRPr lang="en-US" altLang="en-US" sz="1600">
              <a:solidFill>
                <a:srgbClr val="2C2926"/>
              </a:solidFill>
              <a:latin typeface="Times New Roman" panose="02020603050405020304" charset="0"/>
              <a:ea typeface="Inter"/>
              <a:cs typeface="Times New Roman" panose="02020603050405020304" charset="0"/>
            </a:endParaRPr>
          </a:p>
          <a:p>
            <a:r>
              <a:rPr lang="en-US" altLang="en-US" sz="1600" b="1">
                <a:solidFill>
                  <a:srgbClr val="2C2926"/>
                </a:solidFill>
                <a:latin typeface="Times New Roman" panose="02020603050405020304" charset="0"/>
                <a:ea typeface="Inter"/>
                <a:cs typeface="Times New Roman" panose="02020603050405020304" charset="0"/>
              </a:rPr>
              <a:t>Limitations Leading to IoT Evolution</a:t>
            </a:r>
            <a:endParaRPr lang="en-US" altLang="en-US" sz="1600" b="1">
              <a:solidFill>
                <a:srgbClr val="2C2926"/>
              </a:solidFill>
              <a:latin typeface="Times New Roman" panose="02020603050405020304" charset="0"/>
              <a:ea typeface="Inter"/>
              <a:cs typeface="Times New Roman" panose="02020603050405020304" charset="0"/>
            </a:endParaRPr>
          </a:p>
          <a:p>
            <a:r>
              <a:rPr sz="1600">
                <a:solidFill>
                  <a:srgbClr val="2C2926"/>
                </a:solidFill>
                <a:latin typeface="Times New Roman" panose="02020603050405020304" charset="0"/>
                <a:ea typeface="Inter"/>
                <a:cs typeface="Times New Roman" panose="02020603050405020304" charset="0"/>
              </a:rPr>
              <a:t>(IoT) represents a significant evolution from Machine-to-Machine (M2M) communication, </a:t>
            </a:r>
            <a:endParaRPr sz="1600">
              <a:solidFill>
                <a:srgbClr val="2C2926"/>
              </a:solidFill>
              <a:latin typeface="Times New Roman" panose="02020603050405020304" charset="0"/>
              <a:ea typeface="Inter"/>
              <a:cs typeface="Times New Roman" panose="02020603050405020304" charset="0"/>
            </a:endParaRPr>
          </a:p>
          <a:p>
            <a:r>
              <a:rPr sz="1600">
                <a:solidFill>
                  <a:srgbClr val="2C2926"/>
                </a:solidFill>
                <a:latin typeface="Times New Roman" panose="02020603050405020304" charset="0"/>
                <a:ea typeface="Inter"/>
                <a:cs typeface="Times New Roman" panose="02020603050405020304" charset="0"/>
              </a:rPr>
              <a:t>fundamentally transform</a:t>
            </a:r>
            <a:r>
              <a:rPr lang="en-US" sz="1600">
                <a:solidFill>
                  <a:srgbClr val="2C2926"/>
                </a:solidFill>
                <a:latin typeface="Times New Roman" panose="02020603050405020304" charset="0"/>
                <a:ea typeface="Inter"/>
                <a:cs typeface="Times New Roman" panose="02020603050405020304" charset="0"/>
              </a:rPr>
              <a:t>s</a:t>
            </a:r>
            <a:r>
              <a:rPr sz="1600">
                <a:solidFill>
                  <a:srgbClr val="2C2926"/>
                </a:solidFill>
                <a:latin typeface="Times New Roman" panose="02020603050405020304" charset="0"/>
                <a:ea typeface="Inter"/>
                <a:cs typeface="Times New Roman" panose="02020603050405020304" charset="0"/>
              </a:rPr>
              <a:t> how data is collected, processed, and utilized to create new value chains. </a:t>
            </a:r>
            <a:endParaRPr sz="1600">
              <a:solidFill>
                <a:srgbClr val="2C2926"/>
              </a:solidFill>
              <a:latin typeface="Times New Roman" panose="02020603050405020304" charset="0"/>
              <a:ea typeface="Inter"/>
              <a:cs typeface="Times New Roman" panose="02020603050405020304" charset="0"/>
            </a:endParaRPr>
          </a:p>
          <a:p>
            <a:r>
              <a:rPr lang="en-US" altLang="en-US" sz="1600">
                <a:solidFill>
                  <a:srgbClr val="2C2926"/>
                </a:solidFill>
                <a:latin typeface="Times New Roman" panose="02020603050405020304" charset="0"/>
                <a:ea typeface="Inter"/>
                <a:cs typeface="Times New Roman" panose="02020603050405020304" charset="0"/>
              </a:rPr>
              <a:t>M2M uses Point-to-Point Communication but IOT provides Internet Connectivity</a:t>
            </a:r>
            <a:endParaRPr lang="en-US" altLang="en-US" sz="1600">
              <a:solidFill>
                <a:srgbClr val="2C2926"/>
              </a:solidFill>
              <a:latin typeface="Times New Roman" panose="02020603050405020304" charset="0"/>
              <a:ea typeface="Inter"/>
              <a:cs typeface="Times New Roman" panose="02020603050405020304" charset="0"/>
            </a:endParaRPr>
          </a:p>
          <a:p>
            <a:r>
              <a:rPr lang="en-US" altLang="en-US" sz="1600">
                <a:solidFill>
                  <a:srgbClr val="2C2926"/>
                </a:solidFill>
                <a:latin typeface="Times New Roman" panose="02020603050405020304" charset="0"/>
                <a:ea typeface="Inter"/>
                <a:cs typeface="Times New Roman" panose="02020603050405020304" charset="0"/>
              </a:rPr>
              <a:t>M2M uses Data Telemetry but IOT uses Data Analytics, ML &amp; AI</a:t>
            </a:r>
            <a:endParaRPr lang="en-US" altLang="en-US" sz="1600">
              <a:solidFill>
                <a:srgbClr val="2C2926"/>
              </a:solidFill>
              <a:latin typeface="Times New Roman" panose="02020603050405020304" charset="0"/>
              <a:ea typeface="Inter"/>
              <a:cs typeface="Times New Roman" panose="02020603050405020304" charset="0"/>
            </a:endParaRPr>
          </a:p>
          <a:p>
            <a:r>
              <a:rPr lang="en-US" altLang="en-US" sz="1600">
                <a:solidFill>
                  <a:srgbClr val="2C2926"/>
                </a:solidFill>
                <a:latin typeface="Times New Roman" panose="02020603050405020304" charset="0"/>
                <a:ea typeface="Inter"/>
                <a:cs typeface="Times New Roman" panose="02020603050405020304" charset="0"/>
              </a:rPr>
              <a:t>M2M is applied for limited vendors but IOT is applied for Real-time Processing for vast data &amp; purpose</a:t>
            </a:r>
            <a:endParaRPr lang="en-US" altLang="en-US" sz="1600">
              <a:solidFill>
                <a:srgbClr val="2C2926"/>
              </a:solidFill>
              <a:latin typeface="Times New Roman" panose="02020603050405020304" charset="0"/>
              <a:ea typeface="Inter"/>
              <a:cs typeface="Times New Roman" panose="02020603050405020304" charset="0"/>
            </a:endParaRPr>
          </a:p>
          <a:p>
            <a:endParaRPr lang="en-US" altLang="en-US" sz="1600">
              <a:solidFill>
                <a:srgbClr val="2C2926"/>
              </a:solidFill>
              <a:latin typeface="Times New Roman" panose="02020603050405020304" charset="0"/>
              <a:ea typeface="Inter"/>
              <a:cs typeface="Times New Roman" panose="02020603050405020304" charset="0"/>
            </a:endParaRPr>
          </a:p>
          <a:p>
            <a:r>
              <a:rPr lang="en-US" altLang="en-US" sz="1600" b="1">
                <a:solidFill>
                  <a:srgbClr val="2C2926"/>
                </a:solidFill>
                <a:latin typeface="Times New Roman" panose="02020603050405020304" charset="0"/>
                <a:ea typeface="Inter"/>
                <a:cs typeface="Times New Roman" panose="02020603050405020304" charset="0"/>
              </a:rPr>
              <a:t>Key Characteristics of M2M</a:t>
            </a:r>
            <a:endParaRPr lang="en-US" altLang="en-US" sz="1600" b="1">
              <a:solidFill>
                <a:srgbClr val="2C2926"/>
              </a:solidFill>
              <a:latin typeface="Times New Roman" panose="02020603050405020304" charset="0"/>
              <a:ea typeface="Inter"/>
              <a:cs typeface="Times New Roman" panose="02020603050405020304" charset="0"/>
            </a:endParaRPr>
          </a:p>
          <a:p>
            <a:r>
              <a:rPr lang="en-US" altLang="en-US" sz="1600">
                <a:solidFill>
                  <a:srgbClr val="2C2926"/>
                </a:solidFill>
                <a:latin typeface="Times New Roman" panose="02020603050405020304" charset="0"/>
                <a:ea typeface="Inter"/>
                <a:cs typeface="Times New Roman" panose="02020603050405020304" charset="0"/>
              </a:rPr>
              <a:t>Direct Device Communication.</a:t>
            </a:r>
            <a:endParaRPr lang="en-US" altLang="en-US" sz="1600">
              <a:solidFill>
                <a:srgbClr val="2C2926"/>
              </a:solidFill>
              <a:latin typeface="Times New Roman" panose="02020603050405020304" charset="0"/>
              <a:ea typeface="Inter"/>
              <a:cs typeface="Times New Roman" panose="02020603050405020304" charset="0"/>
            </a:endParaRPr>
          </a:p>
          <a:p>
            <a:r>
              <a:rPr lang="en-US" altLang="en-US" sz="1600">
                <a:solidFill>
                  <a:srgbClr val="2C2926"/>
                </a:solidFill>
                <a:latin typeface="Times New Roman" panose="02020603050405020304" charset="0"/>
                <a:ea typeface="Inter"/>
                <a:cs typeface="Times New Roman" panose="02020603050405020304" charset="0"/>
              </a:rPr>
              <a:t>Automated Data Exchange</a:t>
            </a:r>
            <a:endParaRPr lang="en-US" altLang="en-US" sz="1600">
              <a:solidFill>
                <a:srgbClr val="2C2926"/>
              </a:solidFill>
              <a:latin typeface="Times New Roman" panose="02020603050405020304" charset="0"/>
              <a:ea typeface="Inter"/>
              <a:cs typeface="Times New Roman" panose="02020603050405020304" charset="0"/>
            </a:endParaRPr>
          </a:p>
          <a:p>
            <a:r>
              <a:rPr lang="en-US" altLang="en-US" sz="1600">
                <a:solidFill>
                  <a:srgbClr val="2C2926"/>
                </a:solidFill>
                <a:latin typeface="Times New Roman" panose="02020603050405020304" charset="0"/>
                <a:ea typeface="Inter"/>
                <a:cs typeface="Times New Roman" panose="02020603050405020304" charset="0"/>
              </a:rPr>
              <a:t>Minimal Human Intervention</a:t>
            </a:r>
            <a:endParaRPr lang="en-US" altLang="en-US" sz="1600">
              <a:solidFill>
                <a:srgbClr val="2C2926"/>
              </a:solidFill>
              <a:latin typeface="Times New Roman" panose="02020603050405020304" charset="0"/>
              <a:ea typeface="Inter"/>
              <a:cs typeface="Times New Roman" panose="02020603050405020304" charset="0"/>
            </a:endParaRPr>
          </a:p>
          <a:p>
            <a:r>
              <a:rPr lang="en-US" altLang="en-US" sz="1600">
                <a:solidFill>
                  <a:srgbClr val="2C2926"/>
                </a:solidFill>
                <a:latin typeface="Times New Roman" panose="02020603050405020304" charset="0"/>
                <a:ea typeface="Inter"/>
                <a:cs typeface="Times New Roman" panose="02020603050405020304" charset="0"/>
              </a:rPr>
              <a:t>Proprietary Nature</a:t>
            </a:r>
            <a:endParaRPr lang="en-US" altLang="en-US" sz="1600">
              <a:solidFill>
                <a:srgbClr val="2C2926"/>
              </a:solidFill>
              <a:latin typeface="Times New Roman" panose="02020603050405020304" charset="0"/>
              <a:ea typeface="Inter"/>
              <a:cs typeface="Times New Roman" panose="02020603050405020304" charset="0"/>
            </a:endParaRPr>
          </a:p>
          <a:p>
            <a:r>
              <a:rPr lang="en-US" altLang="en-US" sz="1600">
                <a:solidFill>
                  <a:srgbClr val="2C2926"/>
                </a:solidFill>
                <a:latin typeface="Times New Roman" panose="02020603050405020304" charset="0"/>
                <a:ea typeface="Inter"/>
                <a:cs typeface="Times New Roman" panose="02020603050405020304" charset="0"/>
              </a:rPr>
              <a:t>Specific Applications</a:t>
            </a:r>
            <a:endParaRPr lang="en-US" altLang="en-US" sz="1600">
              <a:solidFill>
                <a:srgbClr val="2C2926"/>
              </a:solidFill>
              <a:latin typeface="Times New Roman" panose="02020603050405020304" charset="0"/>
              <a:ea typeface="Inter"/>
              <a:cs typeface="Times New Roman" panose="02020603050405020304" charset="0"/>
            </a:endParaRPr>
          </a:p>
          <a:p>
            <a:endParaRPr lang="en-US" altLang="en-US" sz="1600">
              <a:solidFill>
                <a:srgbClr val="2C2926"/>
              </a:solidFill>
              <a:latin typeface="Times New Roman" panose="02020603050405020304" charset="0"/>
              <a:ea typeface="Inter"/>
              <a:cs typeface="Times New Roman" panose="02020603050405020304" charset="0"/>
            </a:endParaRPr>
          </a:p>
          <a:p>
            <a:r>
              <a:rPr lang="en-US" altLang="en-US" sz="1600" b="1">
                <a:solidFill>
                  <a:srgbClr val="2C2926"/>
                </a:solidFill>
                <a:latin typeface="Times New Roman" panose="02020603050405020304" charset="0"/>
                <a:ea typeface="Inter"/>
                <a:cs typeface="Times New Roman" panose="02020603050405020304" charset="0"/>
              </a:rPr>
              <a:t>M2M Architecture Components</a:t>
            </a:r>
            <a:endParaRPr lang="en-US" altLang="en-US" sz="1600" b="1">
              <a:solidFill>
                <a:srgbClr val="2C2926"/>
              </a:solidFill>
              <a:latin typeface="Times New Roman" panose="02020603050405020304" charset="0"/>
              <a:ea typeface="Inter"/>
              <a:cs typeface="Times New Roman" panose="02020603050405020304" charset="0"/>
            </a:endParaRPr>
          </a:p>
          <a:p>
            <a:r>
              <a:rPr lang="en-US" altLang="en-US" sz="1600">
                <a:solidFill>
                  <a:srgbClr val="2C2926"/>
                </a:solidFill>
                <a:latin typeface="Times New Roman" panose="02020603050405020304" charset="0"/>
                <a:ea typeface="Inter"/>
                <a:cs typeface="Times New Roman" panose="02020603050405020304" charset="0"/>
              </a:rPr>
              <a:t>M2M Devices</a:t>
            </a:r>
            <a:endParaRPr lang="en-US" altLang="en-US" sz="1600">
              <a:solidFill>
                <a:srgbClr val="2C2926"/>
              </a:solidFill>
              <a:latin typeface="Times New Roman" panose="02020603050405020304" charset="0"/>
              <a:ea typeface="Inter"/>
              <a:cs typeface="Times New Roman" panose="02020603050405020304" charset="0"/>
            </a:endParaRPr>
          </a:p>
          <a:p>
            <a:r>
              <a:rPr lang="en-US" altLang="en-US" sz="1600">
                <a:solidFill>
                  <a:srgbClr val="2C2926"/>
                </a:solidFill>
                <a:latin typeface="Times New Roman" panose="02020603050405020304" charset="0"/>
                <a:ea typeface="Inter"/>
                <a:cs typeface="Times New Roman" panose="02020603050405020304" charset="0"/>
              </a:rPr>
              <a:t>Communication Networks</a:t>
            </a:r>
            <a:endParaRPr lang="en-US" altLang="en-US" sz="1600">
              <a:solidFill>
                <a:srgbClr val="2C2926"/>
              </a:solidFill>
              <a:latin typeface="Times New Roman" panose="02020603050405020304" charset="0"/>
              <a:ea typeface="Inter"/>
              <a:cs typeface="Times New Roman" panose="02020603050405020304" charset="0"/>
            </a:endParaRPr>
          </a:p>
          <a:p>
            <a:r>
              <a:rPr lang="en-US" altLang="en-US" sz="1600">
                <a:solidFill>
                  <a:srgbClr val="2C2926"/>
                </a:solidFill>
                <a:latin typeface="Times New Roman" panose="02020603050405020304" charset="0"/>
                <a:ea typeface="Inter"/>
                <a:cs typeface="Times New Roman" panose="02020603050405020304" charset="0"/>
              </a:rPr>
              <a:t>M2M Middleware</a:t>
            </a:r>
            <a:endParaRPr lang="en-US" altLang="en-US" sz="1600">
              <a:solidFill>
                <a:srgbClr val="2C2926"/>
              </a:solidFill>
              <a:latin typeface="Times New Roman" panose="02020603050405020304" charset="0"/>
              <a:ea typeface="Inter"/>
              <a:cs typeface="Times New Roman" panose="02020603050405020304" charset="0"/>
            </a:endParaRPr>
          </a:p>
          <a:p>
            <a:r>
              <a:rPr lang="en-US" altLang="en-US" sz="1600">
                <a:solidFill>
                  <a:srgbClr val="2C2926"/>
                </a:solidFill>
                <a:latin typeface="Times New Roman" panose="02020603050405020304" charset="0"/>
                <a:ea typeface="Inter"/>
                <a:cs typeface="Times New Roman" panose="02020603050405020304" charset="0"/>
              </a:rPr>
              <a:t>M2M Applications</a:t>
            </a:r>
            <a:endParaRPr lang="en-US" altLang="en-US" sz="1600">
              <a:solidFill>
                <a:srgbClr val="2C2926"/>
              </a:solidFill>
              <a:latin typeface="Times New Roman" panose="02020603050405020304" charset="0"/>
              <a:ea typeface="Inter"/>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86360" y="155575"/>
            <a:ext cx="11729085" cy="3488690"/>
          </a:xfrm>
          <a:prstGeom prst="rect">
            <a:avLst/>
          </a:prstGeom>
        </p:spPr>
        <p:txBody>
          <a:bodyPr wrap="square">
            <a:noAutofit/>
          </a:bodyPr>
          <a:p>
            <a:r>
              <a:rPr sz="3100">
                <a:solidFill>
                  <a:srgbClr val="2C2926"/>
                </a:solidFill>
                <a:latin typeface="Times New Roman" panose="02020603050405020304" charset="0"/>
                <a:ea typeface="BricolageGrotesque-SemiBold"/>
                <a:cs typeface="Times New Roman" panose="02020603050405020304" charset="0"/>
              </a:rPr>
              <a:t>IoT Infrastructure </a:t>
            </a:r>
            <a:endParaRPr sz="3100">
              <a:solidFill>
                <a:srgbClr val="2C2926"/>
              </a:solidFill>
              <a:latin typeface="Times New Roman" panose="02020603050405020304" charset="0"/>
              <a:ea typeface="BricolageGrotesque-SemiBold"/>
              <a:cs typeface="Times New Roman" panose="02020603050405020304" charset="0"/>
            </a:endParaRPr>
          </a:p>
          <a:p>
            <a:r>
              <a:rPr sz="1600">
                <a:solidFill>
                  <a:srgbClr val="2C2926"/>
                </a:solidFill>
                <a:latin typeface="Times New Roman" panose="02020603050405020304" charset="0"/>
                <a:ea typeface="Inter"/>
                <a:cs typeface="Times New Roman" panose="02020603050405020304" charset="0"/>
              </a:rPr>
              <a:t>IoT infrastructure refers to the physical and virtual components that support the entire IoT ecosystem, from device connectivity to data</a:t>
            </a:r>
            <a:r>
              <a:rPr lang="en-US" sz="1600">
                <a:solidFill>
                  <a:srgbClr val="2C2926"/>
                </a:solidFill>
                <a:latin typeface="Times New Roman" panose="02020603050405020304" charset="0"/>
                <a:ea typeface="Inter"/>
                <a:cs typeface="Times New Roman" panose="02020603050405020304" charset="0"/>
              </a:rPr>
              <a:t> </a:t>
            </a:r>
            <a:r>
              <a:rPr sz="1600">
                <a:solidFill>
                  <a:srgbClr val="2C2926"/>
                </a:solidFill>
                <a:latin typeface="Times New Roman" panose="02020603050405020304" charset="0"/>
                <a:ea typeface="Inter"/>
                <a:cs typeface="Times New Roman" panose="02020603050405020304" charset="0"/>
              </a:rPr>
              <a:t>management and application delivery. It forms the backbone for data flow and processing. </a:t>
            </a:r>
            <a:endParaRPr sz="1600">
              <a:solidFill>
                <a:srgbClr val="2C2926"/>
              </a:solidFill>
              <a:latin typeface="Times New Roman" panose="02020603050405020304" charset="0"/>
              <a:ea typeface="Inter"/>
              <a:cs typeface="Times New Roman" panose="02020603050405020304" charset="0"/>
            </a:endParaRPr>
          </a:p>
          <a:p>
            <a:r>
              <a:rPr sz="2300">
                <a:solidFill>
                  <a:srgbClr val="2C2926"/>
                </a:solidFill>
                <a:latin typeface="Times New Roman" panose="02020603050405020304" charset="0"/>
                <a:ea typeface="BricolageGrotesque-SemiBold"/>
                <a:cs typeface="Times New Roman" panose="02020603050405020304" charset="0"/>
              </a:rPr>
              <a:t>Key Infrastructure Components </a:t>
            </a:r>
            <a:endParaRPr sz="2300">
              <a:solidFill>
                <a:srgbClr val="2C2926"/>
              </a:solidFill>
              <a:latin typeface="Times New Roman" panose="02020603050405020304" charset="0"/>
              <a:ea typeface="BricolageGrotesque-SemiBold"/>
              <a:cs typeface="Times New Roman" panose="02020603050405020304" charset="0"/>
            </a:endParaRPr>
          </a:p>
          <a:p>
            <a:r>
              <a:rPr sz="1600" b="1">
                <a:solidFill>
                  <a:srgbClr val="2C2926"/>
                </a:solidFill>
                <a:latin typeface="Times New Roman" panose="02020603050405020304" charset="0"/>
                <a:ea typeface="Inter-Bold"/>
                <a:cs typeface="Times New Roman" panose="02020603050405020304" charset="0"/>
              </a:rPr>
              <a:t>Edge Devices:</a:t>
            </a:r>
            <a:r>
              <a:rPr sz="1600">
                <a:solidFill>
                  <a:srgbClr val="2C2926"/>
                </a:solidFill>
                <a:latin typeface="Times New Roman" panose="02020603050405020304" charset="0"/>
                <a:ea typeface="Inter"/>
                <a:cs typeface="Times New Roman" panose="02020603050405020304" charset="0"/>
              </a:rPr>
              <a:t> The "things" in IoT, including sensors and actuators. </a:t>
            </a:r>
            <a:endParaRPr sz="1600">
              <a:solidFill>
                <a:srgbClr val="2C2926"/>
              </a:solidFill>
              <a:latin typeface="Times New Roman" panose="02020603050405020304" charset="0"/>
              <a:ea typeface="Inter"/>
              <a:cs typeface="Times New Roman" panose="02020603050405020304" charset="0"/>
            </a:endParaRPr>
          </a:p>
          <a:p>
            <a:r>
              <a:rPr sz="1600" b="1">
                <a:solidFill>
                  <a:srgbClr val="2C2926"/>
                </a:solidFill>
                <a:latin typeface="Times New Roman" panose="02020603050405020304" charset="0"/>
                <a:ea typeface="Inter-Bold"/>
                <a:cs typeface="Times New Roman" panose="02020603050405020304" charset="0"/>
              </a:rPr>
              <a:t>Gateways:</a:t>
            </a:r>
            <a:r>
              <a:rPr sz="1600">
                <a:solidFill>
                  <a:srgbClr val="2C2926"/>
                </a:solidFill>
                <a:latin typeface="Times New Roman" panose="02020603050405020304" charset="0"/>
                <a:ea typeface="Inter"/>
                <a:cs typeface="Times New Roman" panose="02020603050405020304" charset="0"/>
              </a:rPr>
              <a:t> Bridge the gap between edge devices and the cloud. </a:t>
            </a:r>
            <a:endParaRPr sz="1600">
              <a:solidFill>
                <a:srgbClr val="2C2926"/>
              </a:solidFill>
              <a:latin typeface="Times New Roman" panose="02020603050405020304" charset="0"/>
              <a:ea typeface="Inter"/>
              <a:cs typeface="Times New Roman" panose="02020603050405020304" charset="0"/>
            </a:endParaRPr>
          </a:p>
          <a:p>
            <a:r>
              <a:rPr sz="1600" b="1">
                <a:solidFill>
                  <a:srgbClr val="2C2926"/>
                </a:solidFill>
                <a:latin typeface="Times New Roman" panose="02020603050405020304" charset="0"/>
                <a:ea typeface="Inter-Bold"/>
                <a:cs typeface="Times New Roman" panose="02020603050405020304" charset="0"/>
              </a:rPr>
              <a:t>Cloud Platforms:</a:t>
            </a:r>
            <a:r>
              <a:rPr sz="1600">
                <a:solidFill>
                  <a:srgbClr val="2C2926"/>
                </a:solidFill>
                <a:latin typeface="Times New Roman" panose="02020603050405020304" charset="0"/>
                <a:ea typeface="Inter"/>
                <a:cs typeface="Times New Roman" panose="02020603050405020304" charset="0"/>
              </a:rPr>
              <a:t> Provide robust services for data storage</a:t>
            </a:r>
            <a:r>
              <a:rPr lang="en-US" sz="1600">
                <a:solidFill>
                  <a:srgbClr val="2C2926"/>
                </a:solidFill>
                <a:latin typeface="Times New Roman" panose="02020603050405020304" charset="0"/>
                <a:ea typeface="Inter"/>
                <a:cs typeface="Times New Roman" panose="02020603050405020304" charset="0"/>
              </a:rPr>
              <a:t>,</a:t>
            </a:r>
            <a:r>
              <a:rPr sz="1600">
                <a:solidFill>
                  <a:srgbClr val="2C2926"/>
                </a:solidFill>
                <a:latin typeface="Times New Roman" panose="02020603050405020304" charset="0"/>
                <a:ea typeface="Inter"/>
                <a:cs typeface="Times New Roman" panose="02020603050405020304" charset="0"/>
              </a:rPr>
              <a:t> analytics and application. </a:t>
            </a:r>
            <a:endParaRPr sz="1600">
              <a:solidFill>
                <a:srgbClr val="2C2926"/>
              </a:solidFill>
              <a:latin typeface="Times New Roman" panose="02020603050405020304" charset="0"/>
              <a:ea typeface="Inter"/>
              <a:cs typeface="Times New Roman" panose="02020603050405020304" charset="0"/>
            </a:endParaRPr>
          </a:p>
          <a:p>
            <a:r>
              <a:rPr sz="1600" b="1">
                <a:solidFill>
                  <a:srgbClr val="2C2926"/>
                </a:solidFill>
                <a:latin typeface="Times New Roman" panose="02020603050405020304" charset="0"/>
                <a:ea typeface="Inter-Bold"/>
                <a:cs typeface="Times New Roman" panose="02020603050405020304" charset="0"/>
              </a:rPr>
              <a:t>Data Centers:</a:t>
            </a:r>
            <a:r>
              <a:rPr sz="1600">
                <a:solidFill>
                  <a:srgbClr val="2C2926"/>
                </a:solidFill>
                <a:latin typeface="Times New Roman" panose="02020603050405020304" charset="0"/>
                <a:ea typeface="Inter"/>
                <a:cs typeface="Times New Roman" panose="02020603050405020304" charset="0"/>
              </a:rPr>
              <a:t> Centralized facilities for hosting cloud platforms</a:t>
            </a:r>
            <a:r>
              <a:rPr lang="en-US" sz="1600">
                <a:solidFill>
                  <a:srgbClr val="2C2926"/>
                </a:solidFill>
                <a:latin typeface="Times New Roman" panose="02020603050405020304" charset="0"/>
                <a:ea typeface="Inter"/>
                <a:cs typeface="Times New Roman" panose="02020603050405020304" charset="0"/>
              </a:rPr>
              <a:t>.</a:t>
            </a:r>
            <a:endParaRPr lang="en-US" sz="1600">
              <a:solidFill>
                <a:srgbClr val="2C2926"/>
              </a:solidFill>
              <a:latin typeface="Times New Roman" panose="02020603050405020304" charset="0"/>
              <a:ea typeface="Inter"/>
              <a:cs typeface="Times New Roman" panose="02020603050405020304" charset="0"/>
            </a:endParaRPr>
          </a:p>
          <a:p>
            <a:endParaRPr lang="en-US" sz="1600">
              <a:solidFill>
                <a:srgbClr val="2C2926"/>
              </a:solidFill>
              <a:latin typeface="Times New Roman" panose="02020603050405020304" charset="0"/>
              <a:ea typeface="Inter"/>
              <a:cs typeface="Times New Roman" panose="02020603050405020304" charset="0"/>
            </a:endParaRPr>
          </a:p>
          <a:p>
            <a:r>
              <a:rPr lang="en-US" altLang="en-US" sz="1600" b="1">
                <a:solidFill>
                  <a:srgbClr val="2C2926"/>
                </a:solidFill>
                <a:latin typeface="Times New Roman" panose="02020603050405020304" charset="0"/>
                <a:ea typeface="Inter"/>
                <a:cs typeface="Times New Roman" panose="02020603050405020304" charset="0"/>
              </a:rPr>
              <a:t>Infrastructure Layers</a:t>
            </a:r>
            <a:endParaRPr lang="en-US" altLang="en-US" sz="1600" b="1">
              <a:solidFill>
                <a:srgbClr val="2C2926"/>
              </a:solidFill>
              <a:latin typeface="Times New Roman" panose="02020603050405020304" charset="0"/>
              <a:ea typeface="Inter"/>
              <a:cs typeface="Times New Roman" panose="02020603050405020304" charset="0"/>
            </a:endParaRPr>
          </a:p>
          <a:p>
            <a:r>
              <a:rPr lang="en-US" altLang="en-US" sz="1600">
                <a:solidFill>
                  <a:srgbClr val="2C2926"/>
                </a:solidFill>
                <a:latin typeface="Times New Roman" panose="02020603050405020304" charset="0"/>
                <a:ea typeface="Inter"/>
                <a:cs typeface="Times New Roman" panose="02020603050405020304" charset="0"/>
              </a:rPr>
              <a:t>01 Device Layer</a:t>
            </a:r>
            <a:endParaRPr lang="en-US" altLang="en-US" sz="1600">
              <a:solidFill>
                <a:srgbClr val="2C2926"/>
              </a:solidFill>
              <a:latin typeface="Times New Roman" panose="02020603050405020304" charset="0"/>
              <a:ea typeface="Inter"/>
              <a:cs typeface="Times New Roman" panose="02020603050405020304" charset="0"/>
            </a:endParaRPr>
          </a:p>
          <a:p>
            <a:r>
              <a:rPr lang="en-US" altLang="en-US" sz="1600">
                <a:solidFill>
                  <a:srgbClr val="2C2926"/>
                </a:solidFill>
                <a:latin typeface="Times New Roman" panose="02020603050405020304" charset="0"/>
                <a:ea typeface="Inter"/>
                <a:cs typeface="Times New Roman" panose="02020603050405020304" charset="0"/>
              </a:rPr>
              <a:t>02 Connectivity Layer</a:t>
            </a:r>
            <a:endParaRPr lang="en-US" altLang="en-US" sz="1600">
              <a:solidFill>
                <a:srgbClr val="2C2926"/>
              </a:solidFill>
              <a:latin typeface="Times New Roman" panose="02020603050405020304" charset="0"/>
              <a:ea typeface="Inter"/>
              <a:cs typeface="Times New Roman" panose="02020603050405020304" charset="0"/>
            </a:endParaRPr>
          </a:p>
          <a:p>
            <a:r>
              <a:rPr lang="en-US" altLang="en-US" sz="1600">
                <a:solidFill>
                  <a:srgbClr val="2C2926"/>
                </a:solidFill>
                <a:latin typeface="Times New Roman" panose="02020603050405020304" charset="0"/>
                <a:ea typeface="Inter"/>
                <a:cs typeface="Times New Roman" panose="02020603050405020304" charset="0"/>
              </a:rPr>
              <a:t>03 Data Processing Layer</a:t>
            </a:r>
            <a:endParaRPr lang="en-US" altLang="en-US" sz="1600">
              <a:solidFill>
                <a:srgbClr val="2C2926"/>
              </a:solidFill>
              <a:latin typeface="Times New Roman" panose="02020603050405020304" charset="0"/>
              <a:ea typeface="Inter"/>
              <a:cs typeface="Times New Roman" panose="02020603050405020304" charset="0"/>
            </a:endParaRPr>
          </a:p>
          <a:p>
            <a:r>
              <a:rPr lang="en-US" altLang="en-US" sz="1600">
                <a:solidFill>
                  <a:srgbClr val="2C2926"/>
                </a:solidFill>
                <a:latin typeface="Times New Roman" panose="02020603050405020304" charset="0"/>
                <a:ea typeface="Inter"/>
                <a:cs typeface="Times New Roman" panose="02020603050405020304" charset="0"/>
              </a:rPr>
              <a:t>04 Application Layer</a:t>
            </a:r>
            <a:endParaRPr lang="en-US" altLang="en-US" sz="1600">
              <a:solidFill>
                <a:srgbClr val="2C2926"/>
              </a:solidFill>
              <a:latin typeface="Times New Roman" panose="02020603050405020304" charset="0"/>
              <a:ea typeface="Inter"/>
              <a:cs typeface="Times New Roman" panose="02020603050405020304" charset="0"/>
            </a:endParaRPr>
          </a:p>
          <a:p>
            <a:endParaRPr lang="en-US" altLang="en-US" sz="1600">
              <a:solidFill>
                <a:srgbClr val="2C2926"/>
              </a:solidFill>
              <a:latin typeface="Times New Roman" panose="02020603050405020304" charset="0"/>
              <a:ea typeface="Inter"/>
              <a:cs typeface="Times New Roman" panose="02020603050405020304" charset="0"/>
            </a:endParaRPr>
          </a:p>
        </p:txBody>
      </p:sp>
      <p:pic>
        <p:nvPicPr>
          <p:cNvPr id="5" name="Picture 4"/>
          <p:cNvPicPr>
            <a:picLocks noChangeAspect="1"/>
          </p:cNvPicPr>
          <p:nvPr/>
        </p:nvPicPr>
        <p:blipFill>
          <a:blip r:embed="rId1"/>
          <a:stretch>
            <a:fillRect/>
          </a:stretch>
        </p:blipFill>
        <p:spPr>
          <a:xfrm>
            <a:off x="285115" y="4201795"/>
            <a:ext cx="3544570" cy="1798955"/>
          </a:xfrm>
          <a:prstGeom prst="rect">
            <a:avLst/>
          </a:prstGeom>
        </p:spPr>
      </p:pic>
      <p:sp>
        <p:nvSpPr>
          <p:cNvPr id="6" name="Text Box 5"/>
          <p:cNvSpPr txBox="1"/>
          <p:nvPr/>
        </p:nvSpPr>
        <p:spPr>
          <a:xfrm>
            <a:off x="4587875" y="2614295"/>
            <a:ext cx="7475855" cy="4029075"/>
          </a:xfrm>
          <a:prstGeom prst="rect">
            <a:avLst/>
          </a:prstGeom>
        </p:spPr>
        <p:txBody>
          <a:bodyPr>
            <a:noAutofit/>
          </a:bodyPr>
          <a:p>
            <a:r>
              <a:rPr sz="2000" b="1">
                <a:solidFill>
                  <a:srgbClr val="2C2926"/>
                </a:solidFill>
                <a:latin typeface="Times New Roman" panose="02020603050405020304" charset="0"/>
                <a:ea typeface="BricolageGrotesque-SemiBold"/>
                <a:cs typeface="Times New Roman" panose="02020603050405020304" charset="0"/>
              </a:rPr>
              <a:t>Network Architecture </a:t>
            </a:r>
            <a:endParaRPr sz="2000" b="1">
              <a:solidFill>
                <a:srgbClr val="2C2926"/>
              </a:solidFill>
              <a:latin typeface="Times New Roman" panose="02020603050405020304" charset="0"/>
              <a:ea typeface="BricolageGrotesque-SemiBold"/>
              <a:cs typeface="Times New Roman" panose="02020603050405020304" charset="0"/>
            </a:endParaRPr>
          </a:p>
          <a:p>
            <a:r>
              <a:rPr sz="1600">
                <a:solidFill>
                  <a:srgbClr val="2C2926"/>
                </a:solidFill>
                <a:latin typeface="Times New Roman" panose="02020603050405020304" charset="0"/>
                <a:ea typeface="Inter"/>
                <a:cs typeface="Times New Roman" panose="02020603050405020304" charset="0"/>
              </a:rPr>
              <a:t>IoT network architecture defines how devices are connected and how data flows through the syste</a:t>
            </a:r>
            <a:r>
              <a:rPr lang="en-US" sz="1600">
                <a:solidFill>
                  <a:srgbClr val="2C2926"/>
                </a:solidFill>
                <a:latin typeface="Times New Roman" panose="02020603050405020304" charset="0"/>
                <a:ea typeface="Inter"/>
                <a:cs typeface="Times New Roman" panose="02020603050405020304" charset="0"/>
              </a:rPr>
              <a:t>m.</a:t>
            </a:r>
            <a:endParaRPr lang="en-US" sz="1600">
              <a:solidFill>
                <a:srgbClr val="2C2926"/>
              </a:solidFill>
              <a:latin typeface="Times New Roman" panose="02020603050405020304" charset="0"/>
              <a:ea typeface="Inter"/>
              <a:cs typeface="Times New Roman" panose="02020603050405020304" charset="0"/>
            </a:endParaRPr>
          </a:p>
          <a:p>
            <a:endParaRPr lang="en-US" sz="1600">
              <a:solidFill>
                <a:srgbClr val="2C2926"/>
              </a:solidFill>
              <a:latin typeface="Times New Roman" panose="02020603050405020304" charset="0"/>
              <a:ea typeface="Inter"/>
              <a:cs typeface="Times New Roman" panose="02020603050405020304" charset="0"/>
            </a:endParaRPr>
          </a:p>
          <a:p>
            <a:r>
              <a:rPr sz="1600" b="1">
                <a:solidFill>
                  <a:srgbClr val="2C2926"/>
                </a:solidFill>
                <a:latin typeface="Times New Roman" panose="02020603050405020304" charset="0"/>
                <a:ea typeface="BricolageGrotesque-SemiBold"/>
                <a:cs typeface="Times New Roman" panose="02020603050405020304" charset="0"/>
                <a:sym typeface="+mn-ea"/>
              </a:rPr>
              <a:t>Network Design Considerations </a:t>
            </a:r>
            <a:endParaRPr sz="1600" b="1">
              <a:solidFill>
                <a:srgbClr val="2C2926"/>
              </a:solidFill>
              <a:latin typeface="Times New Roman" panose="02020603050405020304" charset="0"/>
              <a:ea typeface="BricolageGrotesque-SemiBold"/>
              <a:cs typeface="Times New Roman" panose="02020603050405020304" charset="0"/>
            </a:endParaRPr>
          </a:p>
          <a:p>
            <a:r>
              <a:rPr sz="1600">
                <a:solidFill>
                  <a:srgbClr val="2C2926"/>
                </a:solidFill>
                <a:latin typeface="Times New Roman" panose="02020603050405020304" charset="0"/>
                <a:ea typeface="Inter-Bold"/>
                <a:cs typeface="Times New Roman" panose="02020603050405020304" charset="0"/>
                <a:sym typeface="+mn-ea"/>
              </a:rPr>
              <a:t>Scalability</a:t>
            </a:r>
            <a:endParaRPr sz="1600">
              <a:solidFill>
                <a:srgbClr val="2C2926"/>
              </a:solidFill>
              <a:latin typeface="Times New Roman" panose="02020603050405020304" charset="0"/>
              <a:ea typeface="Inter-Bold"/>
              <a:cs typeface="Times New Roman" panose="02020603050405020304" charset="0"/>
            </a:endParaRPr>
          </a:p>
          <a:p>
            <a:r>
              <a:rPr sz="1600">
                <a:solidFill>
                  <a:srgbClr val="2C2926"/>
                </a:solidFill>
                <a:latin typeface="Times New Roman" panose="02020603050405020304" charset="0"/>
                <a:ea typeface="Inter-Bold"/>
                <a:cs typeface="Times New Roman" panose="02020603050405020304" charset="0"/>
                <a:sym typeface="+mn-ea"/>
              </a:rPr>
              <a:t>Reliability</a:t>
            </a:r>
            <a:endParaRPr sz="1600">
              <a:solidFill>
                <a:srgbClr val="2C2926"/>
              </a:solidFill>
              <a:latin typeface="Times New Roman" panose="02020603050405020304" charset="0"/>
              <a:ea typeface="Inter-Bold"/>
              <a:cs typeface="Times New Roman" panose="02020603050405020304" charset="0"/>
            </a:endParaRPr>
          </a:p>
          <a:p>
            <a:r>
              <a:rPr sz="1600">
                <a:solidFill>
                  <a:srgbClr val="2C2926"/>
                </a:solidFill>
                <a:latin typeface="Times New Roman" panose="02020603050405020304" charset="0"/>
                <a:ea typeface="Inter-Bold"/>
                <a:cs typeface="Times New Roman" panose="02020603050405020304" charset="0"/>
                <a:sym typeface="+mn-ea"/>
              </a:rPr>
              <a:t>Security</a:t>
            </a:r>
            <a:endParaRPr sz="1600">
              <a:solidFill>
                <a:srgbClr val="2C2926"/>
              </a:solidFill>
              <a:latin typeface="Times New Roman" panose="02020603050405020304" charset="0"/>
              <a:ea typeface="Inter-Bold"/>
              <a:cs typeface="Times New Roman" panose="02020603050405020304" charset="0"/>
            </a:endParaRPr>
          </a:p>
          <a:p>
            <a:r>
              <a:rPr sz="1600">
                <a:solidFill>
                  <a:srgbClr val="2C2926"/>
                </a:solidFill>
                <a:latin typeface="Times New Roman" panose="02020603050405020304" charset="0"/>
                <a:ea typeface="Inter-Bold"/>
                <a:cs typeface="Times New Roman" panose="02020603050405020304" charset="0"/>
                <a:sym typeface="+mn-ea"/>
              </a:rPr>
              <a:t>Latency</a:t>
            </a:r>
            <a:endParaRPr sz="1600">
              <a:solidFill>
                <a:srgbClr val="2C2926"/>
              </a:solidFill>
              <a:latin typeface="Times New Roman" panose="02020603050405020304" charset="0"/>
              <a:ea typeface="Inter"/>
              <a:cs typeface="Times New Roman" panose="02020603050405020304" charset="0"/>
            </a:endParaRPr>
          </a:p>
          <a:p>
            <a:r>
              <a:rPr sz="1600">
                <a:solidFill>
                  <a:srgbClr val="2C2926"/>
                </a:solidFill>
                <a:latin typeface="Times New Roman" panose="02020603050405020304" charset="0"/>
                <a:ea typeface="Inter-Bold"/>
                <a:cs typeface="Times New Roman" panose="02020603050405020304" charset="0"/>
                <a:sym typeface="+mn-ea"/>
              </a:rPr>
              <a:t>Power Consumption</a:t>
            </a:r>
            <a:endParaRPr sz="1600">
              <a:solidFill>
                <a:srgbClr val="2C2926"/>
              </a:solidFill>
              <a:latin typeface="Times New Roman" panose="02020603050405020304" charset="0"/>
              <a:ea typeface="Inter-Bold"/>
              <a:cs typeface="Times New Roman" panose="02020603050405020304" charset="0"/>
              <a:sym typeface="+mn-ea"/>
            </a:endParaRPr>
          </a:p>
          <a:p>
            <a:endParaRPr lang="en-US" sz="1600">
              <a:solidFill>
                <a:srgbClr val="2C2926"/>
              </a:solidFill>
              <a:latin typeface="Times New Roman" panose="02020603050405020304" charset="0"/>
              <a:ea typeface="Inter"/>
              <a:cs typeface="Times New Roman" panose="02020603050405020304" charset="0"/>
            </a:endParaRPr>
          </a:p>
          <a:p>
            <a:r>
              <a:rPr sz="1600" b="1">
                <a:solidFill>
                  <a:srgbClr val="2C2926"/>
                </a:solidFill>
                <a:latin typeface="Times New Roman" panose="02020603050405020304" charset="0"/>
                <a:ea typeface="BricolageGrotesque-SemiBold"/>
                <a:cs typeface="Times New Roman" panose="02020603050405020304" charset="0"/>
              </a:rPr>
              <a:t>Common Network Topologies </a:t>
            </a:r>
            <a:endParaRPr sz="1600" b="1">
              <a:solidFill>
                <a:srgbClr val="2C2926"/>
              </a:solidFill>
              <a:latin typeface="Times New Roman" panose="02020603050405020304" charset="0"/>
              <a:ea typeface="BricolageGrotesque-SemiBold"/>
              <a:cs typeface="Times New Roman" panose="02020603050405020304" charset="0"/>
            </a:endParaRPr>
          </a:p>
          <a:p>
            <a:r>
              <a:rPr sz="1600">
                <a:solidFill>
                  <a:srgbClr val="2C2926"/>
                </a:solidFill>
                <a:latin typeface="Times New Roman" panose="02020603050405020304" charset="0"/>
                <a:ea typeface="BricolageGrotesque-SemiBold"/>
                <a:cs typeface="Times New Roman" panose="02020603050405020304" charset="0"/>
              </a:rPr>
              <a:t>Star Topology </a:t>
            </a:r>
            <a:endParaRPr sz="1600">
              <a:solidFill>
                <a:srgbClr val="2C2926"/>
              </a:solidFill>
              <a:latin typeface="Times New Roman" panose="02020603050405020304" charset="0"/>
              <a:ea typeface="BricolageGrotesque-SemiBold"/>
              <a:cs typeface="Times New Roman" panose="02020603050405020304" charset="0"/>
            </a:endParaRPr>
          </a:p>
          <a:p>
            <a:r>
              <a:rPr sz="1600">
                <a:solidFill>
                  <a:srgbClr val="2C2926"/>
                </a:solidFill>
                <a:latin typeface="Times New Roman" panose="02020603050405020304" charset="0"/>
                <a:ea typeface="BricolageGrotesque-SemiBold"/>
                <a:cs typeface="Times New Roman" panose="02020603050405020304" charset="0"/>
              </a:rPr>
              <a:t>Mesh Topology </a:t>
            </a:r>
            <a:endParaRPr sz="1600">
              <a:solidFill>
                <a:srgbClr val="2C2926"/>
              </a:solidFill>
              <a:latin typeface="Times New Roman" panose="02020603050405020304" charset="0"/>
              <a:ea typeface="BricolageGrotesque-SemiBold"/>
              <a:cs typeface="Times New Roman" panose="02020603050405020304" charset="0"/>
            </a:endParaRPr>
          </a:p>
          <a:p>
            <a:r>
              <a:rPr sz="1600">
                <a:solidFill>
                  <a:srgbClr val="2C2926"/>
                </a:solidFill>
                <a:latin typeface="Times New Roman" panose="02020603050405020304" charset="0"/>
                <a:ea typeface="BricolageGrotesque-SemiBold"/>
                <a:cs typeface="Times New Roman" panose="02020603050405020304" charset="0"/>
              </a:rPr>
              <a:t>Tree Topology </a:t>
            </a:r>
            <a:endParaRPr sz="1600">
              <a:solidFill>
                <a:srgbClr val="2C2926"/>
              </a:solidFill>
              <a:latin typeface="Times New Roman" panose="02020603050405020304" charset="0"/>
              <a:ea typeface="BricolageGrotesque-SemiBold"/>
              <a:cs typeface="Times New Roman" panose="02020603050405020304" charset="0"/>
            </a:endParaRPr>
          </a:p>
          <a:p>
            <a:r>
              <a:rPr sz="1600">
                <a:solidFill>
                  <a:srgbClr val="2C2926"/>
                </a:solidFill>
                <a:latin typeface="Times New Roman" panose="02020603050405020304" charset="0"/>
                <a:ea typeface="BricolageGrotesque-SemiBold"/>
                <a:cs typeface="Times New Roman" panose="02020603050405020304" charset="0"/>
              </a:rPr>
              <a:t>Hybrid Topologies</a:t>
            </a:r>
            <a:r>
              <a:rPr sz="1600">
                <a:solidFill>
                  <a:srgbClr val="2C2926"/>
                </a:solidFill>
                <a:latin typeface="BricolageGrotesque-SemiBold"/>
                <a:ea typeface="BricolageGrotesque-SemiBold"/>
              </a:rPr>
              <a:t> </a:t>
            </a:r>
            <a:endParaRPr sz="1600">
              <a:solidFill>
                <a:srgbClr val="2C2926"/>
              </a:solidFill>
              <a:latin typeface="BricolageGrotesque-SemiBold"/>
              <a:ea typeface="BricolageGrotesque-SemiBold"/>
            </a:endParaRPr>
          </a:p>
          <a:p>
            <a:endParaRPr sz="1600">
              <a:solidFill>
                <a:srgbClr val="2C2926"/>
              </a:solidFill>
              <a:latin typeface="Inter"/>
              <a:ea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43510" y="791210"/>
            <a:ext cx="11480165" cy="4215765"/>
          </a:xfrm>
          <a:prstGeom prst="rect">
            <a:avLst/>
          </a:prstGeom>
        </p:spPr>
        <p:txBody>
          <a:bodyPr wrap="square">
            <a:spAutoFit/>
          </a:bodyPr>
          <a:p>
            <a:r>
              <a:rPr b="1">
                <a:solidFill>
                  <a:srgbClr val="2C2926"/>
                </a:solidFill>
                <a:latin typeface="Times New Roman" panose="02020603050405020304" charset="0"/>
                <a:ea typeface="BricolageGrotesque-SemiBold"/>
                <a:cs typeface="Times New Roman" panose="02020603050405020304" charset="0"/>
              </a:rPr>
              <a:t>Communication Protocols </a:t>
            </a:r>
            <a:endParaRPr b="1">
              <a:solidFill>
                <a:srgbClr val="2C2926"/>
              </a:solidFill>
              <a:latin typeface="Times New Roman" panose="02020603050405020304" charset="0"/>
              <a:ea typeface="BricolageGrotesque-SemiBold"/>
              <a:cs typeface="Times New Roman" panose="02020603050405020304" charset="0"/>
            </a:endParaRPr>
          </a:p>
          <a:p>
            <a:r>
              <a:rPr>
                <a:solidFill>
                  <a:srgbClr val="2C2926"/>
                </a:solidFill>
                <a:latin typeface="Times New Roman" panose="02020603050405020304" charset="0"/>
                <a:ea typeface="Inter"/>
                <a:cs typeface="Times New Roman" panose="02020603050405020304" charset="0"/>
              </a:rPr>
              <a:t>Communication protocols dictate the rules for data exchange within the IoT network, devices, gateways, and cloud platforms. Protocol selection depends on factors like r</a:t>
            </a:r>
            <a:r>
              <a:rPr b="1">
                <a:solidFill>
                  <a:srgbClr val="2C2926"/>
                </a:solidFill>
                <a:latin typeface="Times New Roman" panose="02020603050405020304" charset="0"/>
                <a:ea typeface="Inter"/>
                <a:cs typeface="Times New Roman" panose="02020603050405020304" charset="0"/>
              </a:rPr>
              <a:t>ange, power consumption, and data rates. </a:t>
            </a:r>
            <a:endParaRPr b="1">
              <a:solidFill>
                <a:srgbClr val="2C2926"/>
              </a:solidFill>
              <a:latin typeface="Times New Roman" panose="02020603050405020304" charset="0"/>
              <a:ea typeface="Inter"/>
              <a:cs typeface="Times New Roman" panose="02020603050405020304" charset="0"/>
            </a:endParaRPr>
          </a:p>
          <a:p>
            <a:endParaRPr b="1">
              <a:solidFill>
                <a:srgbClr val="2C2926"/>
              </a:solidFill>
              <a:latin typeface="Times New Roman" panose="02020603050405020304" charset="0"/>
              <a:ea typeface="Inter"/>
              <a:cs typeface="Times New Roman" panose="02020603050405020304" charset="0"/>
            </a:endParaRPr>
          </a:p>
          <a:p>
            <a:r>
              <a:rPr sz="1400" b="1">
                <a:solidFill>
                  <a:srgbClr val="2C2926"/>
                </a:solidFill>
                <a:latin typeface="Times New Roman" panose="02020603050405020304" charset="0"/>
                <a:ea typeface="BricolageGrotesque-SemiBold"/>
                <a:cs typeface="Times New Roman" panose="02020603050405020304" charset="0"/>
              </a:rPr>
              <a:t>Short-Range Communication Protocols: </a:t>
            </a:r>
            <a:endParaRPr sz="1400" b="1">
              <a:solidFill>
                <a:srgbClr val="2C2926"/>
              </a:solidFill>
              <a:latin typeface="Times New Roman" panose="02020603050405020304" charset="0"/>
              <a:ea typeface="BricolageGrotesque-SemiBold"/>
              <a:cs typeface="Times New Roman" panose="02020603050405020304" charset="0"/>
            </a:endParaRPr>
          </a:p>
          <a:p>
            <a:endParaRPr sz="1400" b="1">
              <a:solidFill>
                <a:srgbClr val="2C2926"/>
              </a:solidFill>
              <a:latin typeface="Times New Roman" panose="02020603050405020304" charset="0"/>
              <a:ea typeface="BricolageGrotesque-SemiBold"/>
              <a:cs typeface="Times New Roman" panose="02020603050405020304" charset="0"/>
            </a:endParaRPr>
          </a:p>
          <a:p>
            <a:r>
              <a:rPr sz="1400" b="1">
                <a:solidFill>
                  <a:srgbClr val="2C2926"/>
                </a:solidFill>
                <a:latin typeface="Times New Roman" panose="02020603050405020304" charset="0"/>
                <a:ea typeface="Inter-Bold"/>
                <a:cs typeface="Times New Roman" panose="02020603050405020304" charset="0"/>
              </a:rPr>
              <a:t>Wi-Fi:</a:t>
            </a:r>
            <a:r>
              <a:rPr sz="1400">
                <a:solidFill>
                  <a:srgbClr val="2C2926"/>
                </a:solidFill>
                <a:latin typeface="Times New Roman" panose="02020603050405020304" charset="0"/>
                <a:ea typeface="Inter"/>
                <a:cs typeface="Times New Roman" panose="02020603050405020304" charset="0"/>
              </a:rPr>
              <a:t> High bandwidth, suitable for local areas </a:t>
            </a:r>
            <a:endParaRPr sz="1400">
              <a:solidFill>
                <a:srgbClr val="2C2926"/>
              </a:solidFill>
              <a:latin typeface="Times New Roman" panose="02020603050405020304" charset="0"/>
              <a:ea typeface="Inter"/>
              <a:cs typeface="Times New Roman" panose="02020603050405020304" charset="0"/>
            </a:endParaRPr>
          </a:p>
          <a:p>
            <a:r>
              <a:rPr lang="en-US" sz="1400">
                <a:solidFill>
                  <a:srgbClr val="2C2926"/>
                </a:solidFill>
                <a:latin typeface="Times New Roman" panose="02020603050405020304" charset="0"/>
                <a:ea typeface="Inter"/>
                <a:cs typeface="Times New Roman" panose="02020603050405020304" charset="0"/>
              </a:rPr>
              <a:t>like</a:t>
            </a:r>
            <a:r>
              <a:rPr sz="1400">
                <a:solidFill>
                  <a:srgbClr val="2C2926"/>
                </a:solidFill>
                <a:latin typeface="Times New Roman" panose="02020603050405020304" charset="0"/>
                <a:ea typeface="Inter"/>
                <a:cs typeface="Times New Roman" panose="02020603050405020304" charset="0"/>
              </a:rPr>
              <a:t> smart homes, offices. </a:t>
            </a:r>
            <a:endParaRPr sz="1400">
              <a:solidFill>
                <a:srgbClr val="2C2926"/>
              </a:solidFill>
              <a:latin typeface="Times New Roman" panose="02020603050405020304" charset="0"/>
              <a:ea typeface="Inter"/>
              <a:cs typeface="Times New Roman" panose="02020603050405020304" charset="0"/>
            </a:endParaRPr>
          </a:p>
          <a:p>
            <a:r>
              <a:rPr sz="1400" b="1">
                <a:solidFill>
                  <a:srgbClr val="2C2926"/>
                </a:solidFill>
                <a:latin typeface="Times New Roman" panose="02020603050405020304" charset="0"/>
                <a:ea typeface="Inter-Bold"/>
                <a:cs typeface="Times New Roman" panose="02020603050405020304" charset="0"/>
              </a:rPr>
              <a:t>Bluetooth/BLE:</a:t>
            </a:r>
            <a:r>
              <a:rPr sz="1400">
                <a:solidFill>
                  <a:srgbClr val="2C2926"/>
                </a:solidFill>
                <a:latin typeface="Times New Roman" panose="02020603050405020304" charset="0"/>
                <a:ea typeface="Inter"/>
                <a:cs typeface="Times New Roman" panose="02020603050405020304" charset="0"/>
              </a:rPr>
              <a:t> Low power, short</a:t>
            </a:r>
            <a:r>
              <a:rPr lang="en-US" sz="1400">
                <a:solidFill>
                  <a:srgbClr val="2C2926"/>
                </a:solidFill>
                <a:latin typeface="Times New Roman" panose="02020603050405020304" charset="0"/>
                <a:ea typeface="Inter"/>
                <a:cs typeface="Times New Roman" panose="02020603050405020304" charset="0"/>
              </a:rPr>
              <a:t> </a:t>
            </a:r>
            <a:r>
              <a:rPr sz="1400">
                <a:solidFill>
                  <a:srgbClr val="2C2926"/>
                </a:solidFill>
                <a:latin typeface="Times New Roman" panose="02020603050405020304" charset="0"/>
                <a:ea typeface="Inter"/>
                <a:cs typeface="Times New Roman" panose="02020603050405020304" charset="0"/>
              </a:rPr>
              <a:t>range, ideal for </a:t>
            </a:r>
            <a:endParaRPr sz="1400">
              <a:solidFill>
                <a:srgbClr val="2C2926"/>
              </a:solidFill>
              <a:latin typeface="Times New Roman" panose="02020603050405020304" charset="0"/>
              <a:ea typeface="Inter"/>
              <a:cs typeface="Times New Roman" panose="02020603050405020304" charset="0"/>
            </a:endParaRPr>
          </a:p>
          <a:p>
            <a:r>
              <a:rPr sz="1400">
                <a:solidFill>
                  <a:srgbClr val="2C2926"/>
                </a:solidFill>
                <a:latin typeface="Times New Roman" panose="02020603050405020304" charset="0"/>
                <a:ea typeface="Inter"/>
                <a:cs typeface="Times New Roman" panose="02020603050405020304" charset="0"/>
              </a:rPr>
              <a:t>wearables, personal devices, and small sensor networks. </a:t>
            </a:r>
            <a:endParaRPr sz="1400">
              <a:solidFill>
                <a:srgbClr val="2C2926"/>
              </a:solidFill>
              <a:latin typeface="Times New Roman" panose="02020603050405020304" charset="0"/>
              <a:ea typeface="Inter"/>
              <a:cs typeface="Times New Roman" panose="02020603050405020304" charset="0"/>
            </a:endParaRPr>
          </a:p>
          <a:p>
            <a:r>
              <a:rPr sz="1400" b="1">
                <a:solidFill>
                  <a:srgbClr val="2C2926"/>
                </a:solidFill>
                <a:latin typeface="Times New Roman" panose="02020603050405020304" charset="0"/>
                <a:ea typeface="Inter-Bold"/>
                <a:cs typeface="Times New Roman" panose="02020603050405020304" charset="0"/>
              </a:rPr>
              <a:t>Zigbee &amp; Z-Wave:</a:t>
            </a:r>
            <a:r>
              <a:rPr sz="1400">
                <a:solidFill>
                  <a:srgbClr val="2C2926"/>
                </a:solidFill>
                <a:latin typeface="Times New Roman" panose="02020603050405020304" charset="0"/>
                <a:ea typeface="Inter"/>
                <a:cs typeface="Times New Roman" panose="02020603050405020304" charset="0"/>
              </a:rPr>
              <a:t> Low power mesh networking </a:t>
            </a:r>
            <a:endParaRPr sz="1400">
              <a:solidFill>
                <a:srgbClr val="2C2926"/>
              </a:solidFill>
              <a:latin typeface="Times New Roman" panose="02020603050405020304" charset="0"/>
              <a:ea typeface="Inter"/>
              <a:cs typeface="Times New Roman" panose="02020603050405020304" charset="0"/>
            </a:endParaRPr>
          </a:p>
          <a:p>
            <a:r>
              <a:rPr sz="1400">
                <a:solidFill>
                  <a:srgbClr val="2C2926"/>
                </a:solidFill>
                <a:latin typeface="Times New Roman" panose="02020603050405020304" charset="0"/>
                <a:ea typeface="Inter"/>
                <a:cs typeface="Times New Roman" panose="02020603050405020304" charset="0"/>
              </a:rPr>
              <a:t>protocols, commonly used for reliable smart home </a:t>
            </a:r>
            <a:endParaRPr sz="1400">
              <a:solidFill>
                <a:srgbClr val="2C2926"/>
              </a:solidFill>
              <a:latin typeface="Times New Roman" panose="02020603050405020304" charset="0"/>
              <a:ea typeface="Inter"/>
              <a:cs typeface="Times New Roman" panose="02020603050405020304" charset="0"/>
            </a:endParaRPr>
          </a:p>
          <a:p>
            <a:r>
              <a:rPr sz="1400">
                <a:solidFill>
                  <a:srgbClr val="2C2926"/>
                </a:solidFill>
                <a:latin typeface="Times New Roman" panose="02020603050405020304" charset="0"/>
                <a:ea typeface="Inter"/>
                <a:cs typeface="Times New Roman" panose="02020603050405020304" charset="0"/>
              </a:rPr>
              <a:t>automation, forming local area network </a:t>
            </a:r>
            <a:endParaRPr sz="1400">
              <a:solidFill>
                <a:srgbClr val="2C2926"/>
              </a:solidFill>
              <a:latin typeface="Times New Roman" panose="02020603050405020304" charset="0"/>
              <a:ea typeface="Inter"/>
              <a:cs typeface="Times New Roman" panose="02020603050405020304" charset="0"/>
            </a:endParaRPr>
          </a:p>
          <a:p>
            <a:r>
              <a:rPr sz="1400">
                <a:solidFill>
                  <a:srgbClr val="2C2926"/>
                </a:solidFill>
                <a:latin typeface="Times New Roman" panose="02020603050405020304" charset="0"/>
                <a:ea typeface="Inter"/>
                <a:cs typeface="Times New Roman" panose="02020603050405020304" charset="0"/>
              </a:rPr>
              <a:t>architecture. </a:t>
            </a:r>
            <a:endParaRPr sz="1400">
              <a:solidFill>
                <a:srgbClr val="2C2926"/>
              </a:solidFill>
              <a:latin typeface="Times New Roman" panose="02020603050405020304" charset="0"/>
              <a:ea typeface="Inter"/>
              <a:cs typeface="Times New Roman" panose="02020603050405020304" charset="0"/>
            </a:endParaRPr>
          </a:p>
          <a:p>
            <a:r>
              <a:rPr sz="1400" b="1">
                <a:solidFill>
                  <a:srgbClr val="2C2926"/>
                </a:solidFill>
                <a:latin typeface="Times New Roman" panose="02020603050405020304" charset="0"/>
                <a:ea typeface="Inter-Bold"/>
                <a:cs typeface="Times New Roman" panose="02020603050405020304" charset="0"/>
              </a:rPr>
              <a:t>NFC (Near Field Communication):</a:t>
            </a:r>
            <a:r>
              <a:rPr sz="1400">
                <a:solidFill>
                  <a:srgbClr val="2C2926"/>
                </a:solidFill>
                <a:latin typeface="Times New Roman" panose="02020603050405020304" charset="0"/>
                <a:ea typeface="Inter"/>
                <a:cs typeface="Times New Roman" panose="02020603050405020304" charset="0"/>
              </a:rPr>
              <a:t> Very short_x0002_</a:t>
            </a:r>
            <a:endParaRPr sz="1400">
              <a:solidFill>
                <a:srgbClr val="2C2926"/>
              </a:solidFill>
              <a:latin typeface="Times New Roman" panose="02020603050405020304" charset="0"/>
              <a:ea typeface="Inter"/>
              <a:cs typeface="Times New Roman" panose="02020603050405020304" charset="0"/>
            </a:endParaRPr>
          </a:p>
          <a:p>
            <a:r>
              <a:rPr sz="1400">
                <a:solidFill>
                  <a:srgbClr val="2C2926"/>
                </a:solidFill>
                <a:latin typeface="Times New Roman" panose="02020603050405020304" charset="0"/>
                <a:ea typeface="Inter"/>
                <a:cs typeface="Times New Roman" panose="02020603050405020304" charset="0"/>
              </a:rPr>
              <a:t>range, secure, used for payments, access control, </a:t>
            </a:r>
            <a:endParaRPr sz="1400">
              <a:solidFill>
                <a:srgbClr val="2C2926"/>
              </a:solidFill>
              <a:latin typeface="Times New Roman" panose="02020603050405020304" charset="0"/>
              <a:ea typeface="Inter"/>
              <a:cs typeface="Times New Roman" panose="02020603050405020304" charset="0"/>
            </a:endParaRPr>
          </a:p>
          <a:p>
            <a:r>
              <a:rPr sz="1400">
                <a:solidFill>
                  <a:srgbClr val="2C2926"/>
                </a:solidFill>
                <a:latin typeface="Times New Roman" panose="02020603050405020304" charset="0"/>
                <a:ea typeface="Inter"/>
                <a:cs typeface="Times New Roman" panose="02020603050405020304" charset="0"/>
              </a:rPr>
              <a:t>and tag reading. </a:t>
            </a:r>
            <a:endParaRPr sz="1400">
              <a:solidFill>
                <a:srgbClr val="2C2926"/>
              </a:solidFill>
              <a:latin typeface="Times New Roman" panose="02020603050405020304" charset="0"/>
              <a:ea typeface="Inter"/>
              <a:cs typeface="Times New Roman" panose="02020603050405020304" charset="0"/>
            </a:endParaRPr>
          </a:p>
          <a:p>
            <a:endParaRPr sz="1400">
              <a:solidFill>
                <a:srgbClr val="2C2926"/>
              </a:solidFill>
              <a:latin typeface="Times New Roman" panose="02020603050405020304" charset="0"/>
              <a:ea typeface="Inter"/>
              <a:cs typeface="Times New Roman" panose="02020603050405020304" charset="0"/>
            </a:endParaRPr>
          </a:p>
        </p:txBody>
      </p:sp>
      <p:sp>
        <p:nvSpPr>
          <p:cNvPr id="5" name="Text Box 4"/>
          <p:cNvSpPr txBox="1"/>
          <p:nvPr/>
        </p:nvSpPr>
        <p:spPr>
          <a:xfrm>
            <a:off x="4758690" y="1957705"/>
            <a:ext cx="6096000" cy="2676525"/>
          </a:xfrm>
          <a:prstGeom prst="rect">
            <a:avLst/>
          </a:prstGeom>
          <a:noFill/>
        </p:spPr>
        <p:txBody>
          <a:bodyPr wrap="square" rtlCol="0" anchor="t">
            <a:spAutoFit/>
          </a:bodyPr>
          <a:p>
            <a:r>
              <a:rPr sz="1400" b="1">
                <a:solidFill>
                  <a:srgbClr val="2C2926"/>
                </a:solidFill>
                <a:latin typeface="Times New Roman" panose="02020603050405020304" charset="0"/>
                <a:ea typeface="BricolageGrotesque-SemiBold"/>
                <a:cs typeface="Times New Roman" panose="02020603050405020304" charset="0"/>
                <a:sym typeface="+mn-ea"/>
              </a:rPr>
              <a:t>Long-Range (LPWAN) Communication Protocols: </a:t>
            </a:r>
            <a:endParaRPr sz="1400" b="1">
              <a:solidFill>
                <a:srgbClr val="2C2926"/>
              </a:solidFill>
              <a:latin typeface="Times New Roman" panose="02020603050405020304" charset="0"/>
              <a:ea typeface="BricolageGrotesque-SemiBold"/>
              <a:cs typeface="Times New Roman" panose="02020603050405020304" charset="0"/>
            </a:endParaRPr>
          </a:p>
          <a:p>
            <a:endParaRPr sz="1400" b="1">
              <a:solidFill>
                <a:srgbClr val="2C2926"/>
              </a:solidFill>
              <a:latin typeface="Times New Roman" panose="02020603050405020304" charset="0"/>
              <a:ea typeface="BricolageGrotesque-SemiBold"/>
              <a:cs typeface="Times New Roman" panose="02020603050405020304" charset="0"/>
            </a:endParaRPr>
          </a:p>
          <a:p>
            <a:r>
              <a:rPr sz="1400" b="1">
                <a:solidFill>
                  <a:srgbClr val="2C2926"/>
                </a:solidFill>
                <a:latin typeface="Times New Roman" panose="02020603050405020304" charset="0"/>
                <a:ea typeface="Inter-Bold"/>
                <a:cs typeface="Times New Roman" panose="02020603050405020304" charset="0"/>
                <a:sym typeface="+mn-ea"/>
              </a:rPr>
              <a:t>LoRaWAN &amp; NB-IoT:</a:t>
            </a:r>
            <a:r>
              <a:rPr sz="1400">
                <a:solidFill>
                  <a:srgbClr val="2C2926"/>
                </a:solidFill>
                <a:latin typeface="Times New Roman" panose="02020603050405020304" charset="0"/>
                <a:ea typeface="Inter"/>
                <a:cs typeface="Times New Roman" panose="02020603050405020304" charset="0"/>
                <a:sym typeface="+mn-ea"/>
              </a:rPr>
              <a:t> Low power, long-range </a:t>
            </a:r>
            <a:endParaRPr sz="1400">
              <a:solidFill>
                <a:srgbClr val="2C2926"/>
              </a:solidFill>
              <a:latin typeface="Times New Roman" panose="02020603050405020304" charset="0"/>
              <a:ea typeface="Inter"/>
              <a:cs typeface="Times New Roman" panose="02020603050405020304" charset="0"/>
            </a:endParaRPr>
          </a:p>
          <a:p>
            <a:r>
              <a:rPr sz="1400">
                <a:solidFill>
                  <a:srgbClr val="2C2926"/>
                </a:solidFill>
                <a:latin typeface="Times New Roman" panose="02020603050405020304" charset="0"/>
                <a:ea typeface="Inter"/>
                <a:cs typeface="Times New Roman" panose="02020603050405020304" charset="0"/>
                <a:sym typeface="+mn-ea"/>
              </a:rPr>
              <a:t>solutions for wide-area deployments with small </a:t>
            </a:r>
            <a:endParaRPr sz="1400">
              <a:solidFill>
                <a:srgbClr val="2C2926"/>
              </a:solidFill>
              <a:latin typeface="Times New Roman" panose="02020603050405020304" charset="0"/>
              <a:ea typeface="Inter"/>
              <a:cs typeface="Times New Roman" panose="02020603050405020304" charset="0"/>
            </a:endParaRPr>
          </a:p>
          <a:p>
            <a:r>
              <a:rPr sz="1400">
                <a:solidFill>
                  <a:srgbClr val="2C2926"/>
                </a:solidFill>
                <a:latin typeface="Times New Roman" panose="02020603050405020304" charset="0"/>
                <a:ea typeface="Inter"/>
                <a:cs typeface="Times New Roman" panose="02020603050405020304" charset="0"/>
                <a:sym typeface="+mn-ea"/>
              </a:rPr>
              <a:t>data packets (e.g., smart cities, agriculture)</a:t>
            </a:r>
            <a:r>
              <a:rPr lang="en-US" sz="1400">
                <a:solidFill>
                  <a:srgbClr val="2C2926"/>
                </a:solidFill>
                <a:latin typeface="Times New Roman" panose="02020603050405020304" charset="0"/>
                <a:ea typeface="Inter"/>
                <a:cs typeface="Times New Roman" panose="02020603050405020304" charset="0"/>
                <a:sym typeface="+mn-ea"/>
              </a:rPr>
              <a:t>.</a:t>
            </a:r>
            <a:endParaRPr sz="1400">
              <a:solidFill>
                <a:srgbClr val="2C2926"/>
              </a:solidFill>
              <a:latin typeface="Times New Roman" panose="02020603050405020304" charset="0"/>
              <a:ea typeface="Inter"/>
              <a:cs typeface="Times New Roman" panose="02020603050405020304" charset="0"/>
            </a:endParaRPr>
          </a:p>
          <a:p>
            <a:r>
              <a:rPr sz="1400" b="1">
                <a:solidFill>
                  <a:srgbClr val="2C2926"/>
                </a:solidFill>
                <a:latin typeface="Times New Roman" panose="02020603050405020304" charset="0"/>
                <a:ea typeface="Inter-Bold"/>
                <a:cs typeface="Times New Roman" panose="02020603050405020304" charset="0"/>
                <a:sym typeface="+mn-ea"/>
              </a:rPr>
              <a:t>Cellular (2G/3G/4G/5G):</a:t>
            </a:r>
            <a:r>
              <a:rPr sz="1400">
                <a:solidFill>
                  <a:srgbClr val="2C2926"/>
                </a:solidFill>
                <a:latin typeface="Times New Roman" panose="02020603050405020304" charset="0"/>
                <a:ea typeface="Inter"/>
                <a:cs typeface="Times New Roman" panose="02020603050405020304" charset="0"/>
                <a:sym typeface="+mn-ea"/>
              </a:rPr>
              <a:t> High bandwidth and </a:t>
            </a:r>
            <a:endParaRPr sz="1400">
              <a:solidFill>
                <a:srgbClr val="2C2926"/>
              </a:solidFill>
              <a:latin typeface="Times New Roman" panose="02020603050405020304" charset="0"/>
              <a:ea typeface="Inter"/>
              <a:cs typeface="Times New Roman" panose="02020603050405020304" charset="0"/>
            </a:endParaRPr>
          </a:p>
          <a:p>
            <a:r>
              <a:rPr sz="1400">
                <a:solidFill>
                  <a:srgbClr val="2C2926"/>
                </a:solidFill>
                <a:latin typeface="Times New Roman" panose="02020603050405020304" charset="0"/>
                <a:ea typeface="Inter"/>
                <a:cs typeface="Times New Roman" panose="02020603050405020304" charset="0"/>
                <a:sym typeface="+mn-ea"/>
              </a:rPr>
              <a:t>range, reliable for mission-critical applications and </a:t>
            </a:r>
            <a:endParaRPr sz="1400">
              <a:solidFill>
                <a:srgbClr val="2C2926"/>
              </a:solidFill>
              <a:latin typeface="Times New Roman" panose="02020603050405020304" charset="0"/>
              <a:ea typeface="Inter"/>
              <a:cs typeface="Times New Roman" panose="02020603050405020304" charset="0"/>
            </a:endParaRPr>
          </a:p>
          <a:p>
            <a:r>
              <a:rPr sz="1400">
                <a:solidFill>
                  <a:srgbClr val="2C2926"/>
                </a:solidFill>
                <a:latin typeface="Times New Roman" panose="02020603050405020304" charset="0"/>
                <a:ea typeface="Inter"/>
                <a:cs typeface="Times New Roman" panose="02020603050405020304" charset="0"/>
                <a:sym typeface="+mn-ea"/>
              </a:rPr>
              <a:t>mobile IoT devices. 5G offers ultra-low latency, </a:t>
            </a:r>
            <a:endParaRPr sz="1400">
              <a:solidFill>
                <a:srgbClr val="2C2926"/>
              </a:solidFill>
              <a:latin typeface="Times New Roman" panose="02020603050405020304" charset="0"/>
              <a:ea typeface="Inter"/>
              <a:cs typeface="Times New Roman" panose="02020603050405020304" charset="0"/>
            </a:endParaRPr>
          </a:p>
          <a:p>
            <a:r>
              <a:rPr sz="1400">
                <a:solidFill>
                  <a:srgbClr val="2C2926"/>
                </a:solidFill>
                <a:latin typeface="Times New Roman" panose="02020603050405020304" charset="0"/>
                <a:ea typeface="Inter"/>
                <a:cs typeface="Times New Roman" panose="02020603050405020304" charset="0"/>
                <a:sym typeface="+mn-ea"/>
              </a:rPr>
              <a:t>crucial for next-gen IoT infrastructure. </a:t>
            </a:r>
            <a:endParaRPr sz="1400">
              <a:solidFill>
                <a:srgbClr val="2C2926"/>
              </a:solidFill>
              <a:latin typeface="Times New Roman" panose="02020603050405020304" charset="0"/>
              <a:ea typeface="Inter"/>
              <a:cs typeface="Times New Roman" panose="02020603050405020304" charset="0"/>
            </a:endParaRPr>
          </a:p>
          <a:p>
            <a:r>
              <a:rPr sz="1400" b="1">
                <a:solidFill>
                  <a:srgbClr val="2C2926"/>
                </a:solidFill>
                <a:latin typeface="Times New Roman" panose="02020603050405020304" charset="0"/>
                <a:ea typeface="Inter-Bold"/>
                <a:cs typeface="Times New Roman" panose="02020603050405020304" charset="0"/>
                <a:sym typeface="+mn-ea"/>
              </a:rPr>
              <a:t>Satellite:</a:t>
            </a:r>
            <a:r>
              <a:rPr sz="1400">
                <a:solidFill>
                  <a:srgbClr val="2C2926"/>
                </a:solidFill>
                <a:latin typeface="Times New Roman" panose="02020603050405020304" charset="0"/>
                <a:ea typeface="Inter"/>
                <a:cs typeface="Times New Roman" panose="02020603050405020304" charset="0"/>
                <a:sym typeface="+mn-ea"/>
              </a:rPr>
              <a:t> Global coverage, essential for remote </a:t>
            </a:r>
            <a:endParaRPr sz="1400">
              <a:solidFill>
                <a:srgbClr val="2C2926"/>
              </a:solidFill>
              <a:latin typeface="Times New Roman" panose="02020603050405020304" charset="0"/>
              <a:ea typeface="Inter"/>
              <a:cs typeface="Times New Roman" panose="02020603050405020304" charset="0"/>
            </a:endParaRPr>
          </a:p>
          <a:p>
            <a:r>
              <a:rPr sz="1400">
                <a:solidFill>
                  <a:srgbClr val="2C2926"/>
                </a:solidFill>
                <a:latin typeface="Times New Roman" panose="02020603050405020304" charset="0"/>
                <a:ea typeface="Inter"/>
                <a:cs typeface="Times New Roman" panose="02020603050405020304" charset="0"/>
                <a:sym typeface="+mn-ea"/>
              </a:rPr>
              <a:t>asset tracking and areas without terrestrial network </a:t>
            </a:r>
            <a:endParaRPr sz="1400">
              <a:solidFill>
                <a:srgbClr val="2C2926"/>
              </a:solidFill>
              <a:latin typeface="Times New Roman" panose="02020603050405020304" charset="0"/>
              <a:ea typeface="Inter"/>
              <a:cs typeface="Times New Roman" panose="02020603050405020304" charset="0"/>
            </a:endParaRPr>
          </a:p>
          <a:p>
            <a:r>
              <a:rPr sz="1400">
                <a:solidFill>
                  <a:srgbClr val="2C2926"/>
                </a:solidFill>
                <a:latin typeface="Times New Roman" panose="02020603050405020304" charset="0"/>
                <a:ea typeface="Inter"/>
                <a:cs typeface="Times New Roman" panose="02020603050405020304" charset="0"/>
                <a:sym typeface="+mn-ea"/>
              </a:rPr>
              <a:t>infrastructure</a:t>
            </a:r>
            <a:endParaRPr lang="en-US" sz="1400">
              <a:solidFill>
                <a:srgbClr val="2C2926"/>
              </a:solidFill>
              <a:latin typeface="Times New Roman" panose="02020603050405020304" charset="0"/>
              <a:ea typeface="Inter"/>
              <a:cs typeface="Times New Roman" panose="02020603050405020304"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212090" y="482600"/>
            <a:ext cx="11868150" cy="3692525"/>
          </a:xfrm>
          <a:prstGeom prst="rect">
            <a:avLst/>
          </a:prstGeom>
        </p:spPr>
        <p:txBody>
          <a:bodyPr wrap="square">
            <a:spAutoFit/>
          </a:bodyPr>
          <a:p>
            <a:r>
              <a:rPr b="1">
                <a:solidFill>
                  <a:srgbClr val="2C2926"/>
                </a:solidFill>
                <a:latin typeface="Times New Roman" panose="02020603050405020304" charset="0"/>
                <a:ea typeface="BricolageGrotesque-SemiBold"/>
                <a:cs typeface="Times New Roman" panose="02020603050405020304" charset="0"/>
              </a:rPr>
              <a:t>IoT Applications Across Domains </a:t>
            </a:r>
            <a:endParaRPr b="1">
              <a:solidFill>
                <a:srgbClr val="2C2926"/>
              </a:solidFill>
              <a:latin typeface="Times New Roman" panose="02020603050405020304" charset="0"/>
              <a:ea typeface="BricolageGrotesque-SemiBold"/>
              <a:cs typeface="Times New Roman" panose="02020603050405020304" charset="0"/>
            </a:endParaRPr>
          </a:p>
          <a:p>
            <a:endParaRPr>
              <a:solidFill>
                <a:srgbClr val="2C2926"/>
              </a:solidFill>
              <a:latin typeface="Times New Roman" panose="02020603050405020304" charset="0"/>
              <a:ea typeface="Inter"/>
              <a:cs typeface="Times New Roman" panose="02020603050405020304" charset="0"/>
            </a:endParaRPr>
          </a:p>
          <a:p>
            <a:pPr marL="285750" indent="-285750">
              <a:buFont typeface="Wingdings" panose="05000000000000000000" charset="0"/>
              <a:buChar char="ü"/>
            </a:pPr>
            <a:r>
              <a:rPr lang="en-US" altLang="en-US">
                <a:solidFill>
                  <a:srgbClr val="2C2926"/>
                </a:solidFill>
                <a:latin typeface="Times New Roman" panose="02020603050405020304" charset="0"/>
                <a:ea typeface="Inter"/>
                <a:cs typeface="Times New Roman" panose="02020603050405020304" charset="0"/>
              </a:rPr>
              <a:t>Smart Homes &amp; Buildings</a:t>
            </a:r>
            <a:endParaRPr lang="en-US" altLang="en-US">
              <a:solidFill>
                <a:srgbClr val="2C2926"/>
              </a:solidFill>
              <a:latin typeface="Times New Roman" panose="02020603050405020304" charset="0"/>
              <a:ea typeface="Inter"/>
              <a:cs typeface="Times New Roman" panose="02020603050405020304" charset="0"/>
            </a:endParaRPr>
          </a:p>
          <a:p>
            <a:pPr marL="285750" indent="-285750">
              <a:buFont typeface="Wingdings" panose="05000000000000000000" charset="0"/>
              <a:buChar char="ü"/>
            </a:pPr>
            <a:r>
              <a:rPr lang="en-US" altLang="en-US">
                <a:solidFill>
                  <a:srgbClr val="2C2926"/>
                </a:solidFill>
                <a:latin typeface="Times New Roman" panose="02020603050405020304" charset="0"/>
                <a:ea typeface="Inter"/>
                <a:cs typeface="Times New Roman" panose="02020603050405020304" charset="0"/>
              </a:rPr>
              <a:t>Smart Agriculture</a:t>
            </a:r>
            <a:endParaRPr lang="en-US" altLang="en-US">
              <a:solidFill>
                <a:srgbClr val="2C2926"/>
              </a:solidFill>
              <a:latin typeface="Times New Roman" panose="02020603050405020304" charset="0"/>
              <a:ea typeface="Inter"/>
              <a:cs typeface="Times New Roman" panose="02020603050405020304" charset="0"/>
            </a:endParaRPr>
          </a:p>
          <a:p>
            <a:pPr marL="285750" indent="-285750">
              <a:buFont typeface="Wingdings" panose="05000000000000000000" charset="0"/>
              <a:buChar char="ü"/>
            </a:pPr>
            <a:r>
              <a:rPr lang="en-US" altLang="en-US">
                <a:solidFill>
                  <a:srgbClr val="2C2926"/>
                </a:solidFill>
                <a:latin typeface="Times New Roman" panose="02020603050405020304" charset="0"/>
                <a:ea typeface="Inter"/>
                <a:cs typeface="Times New Roman" panose="02020603050405020304" charset="0"/>
              </a:rPr>
              <a:t>Smart Cities</a:t>
            </a:r>
            <a:endParaRPr lang="en-US" altLang="en-US">
              <a:solidFill>
                <a:srgbClr val="2C2926"/>
              </a:solidFill>
              <a:latin typeface="Times New Roman" panose="02020603050405020304" charset="0"/>
              <a:ea typeface="Inter"/>
              <a:cs typeface="Times New Roman" panose="02020603050405020304" charset="0"/>
            </a:endParaRPr>
          </a:p>
          <a:p>
            <a:pPr marL="285750" indent="-285750">
              <a:buFont typeface="Wingdings" panose="05000000000000000000" charset="0"/>
              <a:buChar char="ü"/>
            </a:pPr>
            <a:r>
              <a:rPr lang="en-US" altLang="en-US">
                <a:solidFill>
                  <a:srgbClr val="2C2926"/>
                </a:solidFill>
                <a:latin typeface="Times New Roman" panose="02020603050405020304" charset="0"/>
                <a:ea typeface="Inter"/>
                <a:cs typeface="Times New Roman" panose="02020603050405020304" charset="0"/>
              </a:rPr>
              <a:t>Wearable Technology</a:t>
            </a:r>
            <a:endParaRPr lang="en-US" altLang="en-US">
              <a:solidFill>
                <a:srgbClr val="2C2926"/>
              </a:solidFill>
              <a:latin typeface="Times New Roman" panose="02020603050405020304" charset="0"/>
              <a:ea typeface="Inter"/>
              <a:cs typeface="Times New Roman" panose="02020603050405020304" charset="0"/>
            </a:endParaRPr>
          </a:p>
          <a:p>
            <a:pPr marL="285750" indent="-285750">
              <a:buFont typeface="Wingdings" panose="05000000000000000000" charset="0"/>
              <a:buChar char="ü"/>
            </a:pPr>
            <a:r>
              <a:rPr lang="en-US" altLang="en-US">
                <a:solidFill>
                  <a:srgbClr val="2C2926"/>
                </a:solidFill>
                <a:latin typeface="Times New Roman" panose="02020603050405020304" charset="0"/>
                <a:ea typeface="Inter"/>
                <a:cs typeface="Times New Roman" panose="02020603050405020304" charset="0"/>
              </a:rPr>
              <a:t>Industrial IoT (IIoT)</a:t>
            </a:r>
            <a:endParaRPr lang="en-US" altLang="en-US">
              <a:solidFill>
                <a:srgbClr val="2C2926"/>
              </a:solidFill>
              <a:latin typeface="Times New Roman" panose="02020603050405020304" charset="0"/>
              <a:ea typeface="Inter"/>
              <a:cs typeface="Times New Roman" panose="02020603050405020304" charset="0"/>
            </a:endParaRPr>
          </a:p>
          <a:p>
            <a:pPr marL="285750" indent="-285750">
              <a:buFont typeface="Wingdings" panose="05000000000000000000" charset="0"/>
              <a:buChar char="ü"/>
            </a:pPr>
            <a:r>
              <a:rPr lang="en-US" altLang="en-US">
                <a:solidFill>
                  <a:srgbClr val="2C2926"/>
                </a:solidFill>
                <a:latin typeface="Times New Roman" panose="02020603050405020304" charset="0"/>
                <a:ea typeface="Inter"/>
                <a:cs typeface="Times New Roman" panose="02020603050405020304" charset="0"/>
              </a:rPr>
              <a:t>Healthcare &amp; RPM (Remote Patient Monitoring)</a:t>
            </a:r>
            <a:endParaRPr lang="en-US" altLang="en-US">
              <a:solidFill>
                <a:srgbClr val="2C2926"/>
              </a:solidFill>
              <a:latin typeface="Times New Roman" panose="02020603050405020304" charset="0"/>
              <a:ea typeface="Inter"/>
              <a:cs typeface="Times New Roman" panose="02020603050405020304" charset="0"/>
            </a:endParaRPr>
          </a:p>
          <a:p>
            <a:pPr marL="285750" indent="-285750">
              <a:buFont typeface="Wingdings" panose="05000000000000000000" charset="0"/>
              <a:buChar char="ü"/>
            </a:pPr>
            <a:r>
              <a:rPr lang="en-US" altLang="en-US">
                <a:solidFill>
                  <a:srgbClr val="2C2926"/>
                </a:solidFill>
                <a:latin typeface="Times New Roman" panose="02020603050405020304" charset="0"/>
                <a:ea typeface="Inter"/>
                <a:cs typeface="Times New Roman" panose="02020603050405020304" charset="0"/>
              </a:rPr>
              <a:t>Transportation &amp; Logistics</a:t>
            </a:r>
            <a:endParaRPr lang="en-US" altLang="en-US">
              <a:solidFill>
                <a:srgbClr val="2C2926"/>
              </a:solidFill>
              <a:latin typeface="Times New Roman" panose="02020603050405020304" charset="0"/>
              <a:ea typeface="Inter"/>
              <a:cs typeface="Times New Roman" panose="02020603050405020304" charset="0"/>
            </a:endParaRPr>
          </a:p>
          <a:p>
            <a:pPr marL="285750" indent="-285750">
              <a:buFont typeface="Wingdings" panose="05000000000000000000" charset="0"/>
              <a:buChar char="ü"/>
            </a:pPr>
            <a:r>
              <a:rPr lang="en-US" altLang="en-US">
                <a:solidFill>
                  <a:srgbClr val="2C2926"/>
                </a:solidFill>
                <a:latin typeface="Times New Roman" panose="02020603050405020304" charset="0"/>
                <a:ea typeface="Inter"/>
                <a:cs typeface="Times New Roman" panose="02020603050405020304" charset="0"/>
              </a:rPr>
              <a:t>Energy &amp; Utilities</a:t>
            </a:r>
            <a:endParaRPr lang="en-US" altLang="en-US">
              <a:solidFill>
                <a:srgbClr val="2C2926"/>
              </a:solidFill>
              <a:latin typeface="Times New Roman" panose="02020603050405020304" charset="0"/>
              <a:ea typeface="Inter"/>
              <a:cs typeface="Times New Roman" panose="02020603050405020304" charset="0"/>
            </a:endParaRPr>
          </a:p>
          <a:p>
            <a:pPr marL="285750" indent="-285750">
              <a:buFont typeface="Wingdings" panose="05000000000000000000" charset="0"/>
              <a:buChar char="ü"/>
            </a:pPr>
            <a:r>
              <a:rPr lang="en-US" altLang="en-US">
                <a:solidFill>
                  <a:srgbClr val="2C2926"/>
                </a:solidFill>
                <a:latin typeface="Times New Roman" panose="02020603050405020304" charset="0"/>
                <a:ea typeface="Inter"/>
                <a:cs typeface="Times New Roman" panose="02020603050405020304" charset="0"/>
              </a:rPr>
              <a:t>Retail &amp; Supply Chain</a:t>
            </a:r>
            <a:endParaRPr lang="en-US" altLang="en-US">
              <a:solidFill>
                <a:srgbClr val="2C2926"/>
              </a:solidFill>
              <a:latin typeface="Times New Roman" panose="02020603050405020304" charset="0"/>
              <a:ea typeface="Inter"/>
              <a:cs typeface="Times New Roman" panose="02020603050405020304" charset="0"/>
            </a:endParaRPr>
          </a:p>
          <a:p>
            <a:pPr marL="285750" indent="-285750">
              <a:buFont typeface="Wingdings" panose="05000000000000000000" charset="0"/>
              <a:buChar char="ü"/>
            </a:pPr>
            <a:r>
              <a:rPr lang="en-US" altLang="en-US">
                <a:solidFill>
                  <a:srgbClr val="2C2926"/>
                </a:solidFill>
                <a:latin typeface="Times New Roman" panose="02020603050405020304" charset="0"/>
                <a:ea typeface="Inter"/>
                <a:cs typeface="Times New Roman" panose="02020603050405020304" charset="0"/>
              </a:rPr>
              <a:t>Environmental Monitoring</a:t>
            </a:r>
            <a:endParaRPr lang="en-US" altLang="en-US">
              <a:solidFill>
                <a:srgbClr val="2C2926"/>
              </a:solidFill>
              <a:latin typeface="Times New Roman" panose="02020603050405020304" charset="0"/>
              <a:ea typeface="Inter"/>
              <a:cs typeface="Times New Roman" panose="02020603050405020304" charset="0"/>
            </a:endParaRPr>
          </a:p>
          <a:p>
            <a:pPr marL="285750" indent="-285750">
              <a:buFont typeface="Wingdings" panose="05000000000000000000" charset="0"/>
              <a:buChar char="ü"/>
            </a:pPr>
            <a:r>
              <a:rPr lang="en-US" altLang="en-US">
                <a:solidFill>
                  <a:srgbClr val="2C2926"/>
                </a:solidFill>
                <a:latin typeface="Times New Roman" panose="02020603050405020304" charset="0"/>
                <a:ea typeface="Inter"/>
                <a:cs typeface="Times New Roman" panose="02020603050405020304" charset="0"/>
              </a:rPr>
              <a:t>Education</a:t>
            </a:r>
            <a:endParaRPr lang="en-US" altLang="en-US">
              <a:solidFill>
                <a:srgbClr val="2C2926"/>
              </a:solidFill>
              <a:latin typeface="Times New Roman" panose="02020603050405020304" charset="0"/>
              <a:ea typeface="Inter"/>
              <a:cs typeface="Times New Roman" panose="020206030504050203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4770</Words>
  <Application>WPS Presentation</Application>
  <PresentationFormat>Widescreen</PresentationFormat>
  <Paragraphs>136</Paragraphs>
  <Slides>8</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8</vt:i4>
      </vt:variant>
    </vt:vector>
  </HeadingPairs>
  <TitlesOfParts>
    <vt:vector size="22" baseType="lpstr">
      <vt:lpstr>Arial</vt:lpstr>
      <vt:lpstr>SimSun</vt:lpstr>
      <vt:lpstr>Wingdings</vt:lpstr>
      <vt:lpstr>Times New Roman</vt:lpstr>
      <vt:lpstr>BricolageGrotesque-SemiBold</vt:lpstr>
      <vt:lpstr>Segoe Print</vt:lpstr>
      <vt:lpstr>Inter</vt:lpstr>
      <vt:lpstr>Inter-Bold</vt:lpstr>
      <vt:lpstr>Wingdings</vt:lpstr>
      <vt:lpstr>Microsoft YaHei</vt:lpstr>
      <vt:lpstr>Arial Unicode MS</vt:lpstr>
      <vt:lpstr>Calibri Light</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User</dc:creator>
  <cp:lastModifiedBy>SAIF SABBIR 1802171</cp:lastModifiedBy>
  <cp:revision>5</cp:revision>
  <dcterms:created xsi:type="dcterms:W3CDTF">2025-07-23T00:59:00Z</dcterms:created>
  <dcterms:modified xsi:type="dcterms:W3CDTF">2025-12-14T10:18:15Z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53D98EA922644B478A13410A32A3BB50_13</vt:lpwstr>
  </property>
  <property fmtid="{D5CDD505-2E9C-101B-9397-08002B2CF9AE}" pid="3" name="KSOProductBuildVer">
    <vt:lpwstr>1033-12.2.0.23155</vt:lpwstr>
  </property>
</Properties>
</file>