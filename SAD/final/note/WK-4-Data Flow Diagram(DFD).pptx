
<file path=[Content_Types].xml><?xml version="1.0" encoding="utf-8"?>
<Types xmlns="http://schemas.openxmlformats.org/package/2006/content-types">
  <Default Extension="jpeg" ContentType="image/jpeg"/>
  <Default Extension="JPG" ContentType="image/.jpg"/>
  <Default Extension="wdp" ContentType="image/vnd.ms-photo"/>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9" r:id="rId3"/>
    <p:sldId id="257" r:id="rId4"/>
    <p:sldId id="283" r:id="rId5"/>
    <p:sldId id="284" r:id="rId6"/>
    <p:sldId id="260" r:id="rId7"/>
    <p:sldId id="285" r:id="rId8"/>
    <p:sldId id="286" r:id="rId9"/>
    <p:sldId id="287" r:id="rId10"/>
    <p:sldId id="288" r:id="rId11"/>
    <p:sldId id="289" r:id="rId12"/>
    <p:sldId id="274" r:id="rId13"/>
    <p:sldId id="295" r:id="rId14"/>
    <p:sldId id="296" r:id="rId15"/>
    <p:sldId id="299" r:id="rId16"/>
    <p:sldId id="297" r:id="rId17"/>
    <p:sldId id="298" r:id="rId18"/>
    <p:sldId id="300" r:id="rId19"/>
    <p:sldId id="301" r:id="rId20"/>
    <p:sldId id="303" r:id="rId21"/>
    <p:sldId id="302" r:id="rId22"/>
    <p:sldId id="304" r:id="rId23"/>
    <p:sldId id="305" r:id="rId24"/>
    <p:sldId id="306" r:id="rId25"/>
    <p:sldId id="307" r:id="rId26"/>
    <p:sldId id="308" r:id="rId27"/>
    <p:sldId id="310" r:id="rId28"/>
    <p:sldId id="311" r:id="rId29"/>
  </p:sldIdLst>
  <p:sldSz cx="9118600" cy="6832600"/>
  <p:notesSz cx="9118600" cy="683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6" d="100"/>
          <a:sy n="66" d="100"/>
        </p:scale>
        <p:origin x="1284"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377" y="6377093"/>
            <a:ext cx="9116226" cy="4555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10856"/>
            <a:ext cx="9116226" cy="637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0674" y="756141"/>
            <a:ext cx="7522845" cy="3552952"/>
          </a:xfrm>
        </p:spPr>
        <p:txBody>
          <a:bodyPr anchor="b">
            <a:normAutofit/>
          </a:bodyPr>
          <a:lstStyle>
            <a:lvl1pPr algn="l">
              <a:lnSpc>
                <a:spcPct val="85000"/>
              </a:lnSpc>
              <a:defRPr sz="797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2746" y="4439119"/>
            <a:ext cx="7522845" cy="1138767"/>
          </a:xfrm>
        </p:spPr>
        <p:txBody>
          <a:bodyPr lIns="91440" rIns="91440">
            <a:normAutofit/>
          </a:bodyPr>
          <a:lstStyle>
            <a:lvl1pPr marL="0" indent="0" algn="l">
              <a:buNone/>
              <a:defRPr sz="2390" cap="all" spc="199" baseline="0">
                <a:solidFill>
                  <a:schemeClr val="tx2"/>
                </a:solidFill>
                <a:latin typeface="+mj-lt"/>
              </a:defRPr>
            </a:lvl1pPr>
            <a:lvl2pPr marL="455295" indent="0" algn="ctr">
              <a:buNone/>
              <a:defRPr sz="2390"/>
            </a:lvl2pPr>
            <a:lvl3pPr marL="911225" indent="0" algn="ctr">
              <a:buNone/>
              <a:defRPr sz="2390"/>
            </a:lvl3pPr>
            <a:lvl4pPr marL="1366520" indent="0" algn="ctr">
              <a:buNone/>
              <a:defRPr sz="1995"/>
            </a:lvl4pPr>
            <a:lvl5pPr marL="1821815" indent="0" algn="ctr">
              <a:buNone/>
              <a:defRPr sz="1995"/>
            </a:lvl5pPr>
            <a:lvl6pPr marL="2277745" indent="0" algn="ctr">
              <a:buNone/>
              <a:defRPr sz="1995"/>
            </a:lvl6pPr>
            <a:lvl7pPr marL="2733040" indent="0" algn="ctr">
              <a:buNone/>
              <a:defRPr sz="1995"/>
            </a:lvl7pPr>
            <a:lvl8pPr marL="3188335" indent="0" algn="ctr">
              <a:buNone/>
              <a:defRPr sz="1995"/>
            </a:lvl8pPr>
            <a:lvl9pPr marL="3644265" indent="0" algn="ctr">
              <a:buNone/>
              <a:defRPr sz="1995"/>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cxnSp>
        <p:nvCxnSpPr>
          <p:cNvPr id="9" name="Straight Connector 8"/>
          <p:cNvCxnSpPr/>
          <p:nvPr/>
        </p:nvCxnSpPr>
        <p:spPr>
          <a:xfrm>
            <a:off x="903228" y="4327313"/>
            <a:ext cx="7386066"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2377" y="6377093"/>
            <a:ext cx="9116226" cy="4555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10856"/>
            <a:ext cx="9116226" cy="637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0674" y="756141"/>
            <a:ext cx="7522845" cy="3552952"/>
          </a:xfrm>
        </p:spPr>
        <p:txBody>
          <a:bodyPr anchor="b" anchorCtr="0">
            <a:normAutofit/>
          </a:bodyPr>
          <a:lstStyle>
            <a:lvl1pPr>
              <a:lnSpc>
                <a:spcPct val="85000"/>
              </a:lnSpc>
              <a:defRPr sz="797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0674" y="4436635"/>
            <a:ext cx="7522845" cy="1138767"/>
          </a:xfrm>
        </p:spPr>
        <p:txBody>
          <a:bodyPr lIns="91440" rIns="91440" anchor="t" anchorCtr="0">
            <a:normAutofit/>
          </a:bodyPr>
          <a:lstStyle>
            <a:lvl1pPr marL="0" indent="0">
              <a:buNone/>
              <a:defRPr sz="2390" cap="all" spc="199" baseline="0">
                <a:solidFill>
                  <a:schemeClr val="tx2"/>
                </a:solidFill>
                <a:latin typeface="+mj-lt"/>
              </a:defRPr>
            </a:lvl1pPr>
            <a:lvl2pPr marL="455295" indent="0">
              <a:buNone/>
              <a:defRPr sz="1795">
                <a:solidFill>
                  <a:schemeClr val="tx1">
                    <a:tint val="75000"/>
                  </a:schemeClr>
                </a:solidFill>
              </a:defRPr>
            </a:lvl2pPr>
            <a:lvl3pPr marL="911225" indent="0">
              <a:buNone/>
              <a:defRPr sz="1595">
                <a:solidFill>
                  <a:schemeClr val="tx1">
                    <a:tint val="75000"/>
                  </a:schemeClr>
                </a:solidFill>
              </a:defRPr>
            </a:lvl3pPr>
            <a:lvl4pPr marL="1366520" indent="0">
              <a:buNone/>
              <a:defRPr sz="1395">
                <a:solidFill>
                  <a:schemeClr val="tx1">
                    <a:tint val="75000"/>
                  </a:schemeClr>
                </a:solidFill>
              </a:defRPr>
            </a:lvl4pPr>
            <a:lvl5pPr marL="1821815" indent="0">
              <a:buNone/>
              <a:defRPr sz="1395">
                <a:solidFill>
                  <a:schemeClr val="tx1">
                    <a:tint val="75000"/>
                  </a:schemeClr>
                </a:solidFill>
              </a:defRPr>
            </a:lvl5pPr>
            <a:lvl6pPr marL="2277745" indent="0">
              <a:buNone/>
              <a:defRPr sz="1395">
                <a:solidFill>
                  <a:schemeClr val="tx1">
                    <a:tint val="75000"/>
                  </a:schemeClr>
                </a:solidFill>
              </a:defRPr>
            </a:lvl6pPr>
            <a:lvl7pPr marL="2733040" indent="0">
              <a:buNone/>
              <a:defRPr sz="1395">
                <a:solidFill>
                  <a:schemeClr val="tx1">
                    <a:tint val="75000"/>
                  </a:schemeClr>
                </a:solidFill>
              </a:defRPr>
            </a:lvl7pPr>
            <a:lvl8pPr marL="3188335" indent="0">
              <a:buNone/>
              <a:defRPr sz="1395">
                <a:solidFill>
                  <a:schemeClr val="tx1">
                    <a:tint val="75000"/>
                  </a:schemeClr>
                </a:solidFill>
              </a:defRPr>
            </a:lvl8pPr>
            <a:lvl9pPr marL="3644265" indent="0">
              <a:buNone/>
              <a:defRPr sz="1395">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cxnSp>
        <p:nvCxnSpPr>
          <p:cNvPr id="9" name="Straight Connector 8"/>
          <p:cNvCxnSpPr/>
          <p:nvPr/>
        </p:nvCxnSpPr>
        <p:spPr>
          <a:xfrm>
            <a:off x="903228" y="4327313"/>
            <a:ext cx="7386066"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0674" y="285545"/>
            <a:ext cx="7522845" cy="1445384"/>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0674" y="1838898"/>
            <a:ext cx="3693033" cy="4008459"/>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4650486" y="1838902"/>
            <a:ext cx="3693033" cy="400845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0674" y="285545"/>
            <a:ext cx="7522845" cy="1445384"/>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0674" y="1839215"/>
            <a:ext cx="3693033" cy="733555"/>
          </a:xfrm>
        </p:spPr>
        <p:txBody>
          <a:bodyPr lIns="91440" rIns="91440" anchor="ctr">
            <a:normAutofit/>
          </a:bodyPr>
          <a:lstStyle>
            <a:lvl1pPr marL="0" indent="0">
              <a:buNone/>
              <a:defRPr sz="1995" b="0" cap="all" baseline="0">
                <a:solidFill>
                  <a:schemeClr val="tx2"/>
                </a:solidFill>
              </a:defRPr>
            </a:lvl1pPr>
            <a:lvl2pPr marL="455295" indent="0">
              <a:buNone/>
              <a:defRPr sz="1995" b="1"/>
            </a:lvl2pPr>
            <a:lvl3pPr marL="911225" indent="0">
              <a:buNone/>
              <a:defRPr sz="1795" b="1"/>
            </a:lvl3pPr>
            <a:lvl4pPr marL="1366520" indent="0">
              <a:buNone/>
              <a:defRPr sz="1595" b="1"/>
            </a:lvl4pPr>
            <a:lvl5pPr marL="1821815" indent="0">
              <a:buNone/>
              <a:defRPr sz="1595" b="1"/>
            </a:lvl5pPr>
            <a:lvl6pPr marL="2277745" indent="0">
              <a:buNone/>
              <a:defRPr sz="1595" b="1"/>
            </a:lvl6pPr>
            <a:lvl7pPr marL="2733040" indent="0">
              <a:buNone/>
              <a:defRPr sz="1595" b="1"/>
            </a:lvl7pPr>
            <a:lvl8pPr marL="3188335" indent="0">
              <a:buNone/>
              <a:defRPr sz="1595" b="1"/>
            </a:lvl8pPr>
            <a:lvl9pPr marL="3644265" indent="0">
              <a:buNone/>
              <a:defRPr sz="1595"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20674" y="2572770"/>
            <a:ext cx="3693033" cy="327458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650486" y="1839215"/>
            <a:ext cx="3693033" cy="733555"/>
          </a:xfrm>
        </p:spPr>
        <p:txBody>
          <a:bodyPr lIns="91440" rIns="91440" anchor="ctr">
            <a:normAutofit/>
          </a:bodyPr>
          <a:lstStyle>
            <a:lvl1pPr marL="0" indent="0">
              <a:buNone/>
              <a:defRPr sz="1995" b="0" cap="all" baseline="0">
                <a:solidFill>
                  <a:schemeClr val="tx2"/>
                </a:solidFill>
              </a:defRPr>
            </a:lvl1pPr>
            <a:lvl2pPr marL="455295" indent="0">
              <a:buNone/>
              <a:defRPr sz="1995" b="1"/>
            </a:lvl2pPr>
            <a:lvl3pPr marL="911225" indent="0">
              <a:buNone/>
              <a:defRPr sz="1795" b="1"/>
            </a:lvl3pPr>
            <a:lvl4pPr marL="1366520" indent="0">
              <a:buNone/>
              <a:defRPr sz="1595" b="1"/>
            </a:lvl4pPr>
            <a:lvl5pPr marL="1821815" indent="0">
              <a:buNone/>
              <a:defRPr sz="1595" b="1"/>
            </a:lvl5pPr>
            <a:lvl6pPr marL="2277745" indent="0">
              <a:buNone/>
              <a:defRPr sz="1595" b="1"/>
            </a:lvl6pPr>
            <a:lvl7pPr marL="2733040" indent="0">
              <a:buNone/>
              <a:defRPr sz="1595" b="1"/>
            </a:lvl7pPr>
            <a:lvl8pPr marL="3188335" indent="0">
              <a:buNone/>
              <a:defRPr sz="1595" b="1"/>
            </a:lvl8pPr>
            <a:lvl9pPr marL="3644265" indent="0">
              <a:buNone/>
              <a:defRPr sz="1595"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50486" y="2572770"/>
            <a:ext cx="3693033" cy="327458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2377" y="6377093"/>
            <a:ext cx="9116226" cy="4555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10856"/>
            <a:ext cx="9116226" cy="637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4" y="0"/>
            <a:ext cx="3029654" cy="6832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21636" y="0"/>
            <a:ext cx="47873" cy="6832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1947" y="592158"/>
            <a:ext cx="2393633" cy="2277533"/>
          </a:xfrm>
        </p:spPr>
        <p:txBody>
          <a:bodyPr anchor="b">
            <a:normAutofit/>
          </a:bodyPr>
          <a:lstStyle>
            <a:lvl1pPr>
              <a:defRPr sz="3585"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50627" y="728811"/>
            <a:ext cx="4995478" cy="523832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341947" y="2915243"/>
            <a:ext cx="2393633" cy="3366609"/>
          </a:xfrm>
        </p:spPr>
        <p:txBody>
          <a:bodyPr lIns="91440" rIns="91440">
            <a:normAutofit/>
          </a:bodyPr>
          <a:lstStyle>
            <a:lvl1pPr marL="0" indent="0">
              <a:buNone/>
              <a:defRPr sz="1495">
                <a:solidFill>
                  <a:srgbClr val="FFFFFF"/>
                </a:solidFill>
              </a:defRPr>
            </a:lvl1pPr>
            <a:lvl2pPr marL="455295" indent="0">
              <a:buNone/>
              <a:defRPr sz="1195"/>
            </a:lvl2pPr>
            <a:lvl3pPr marL="911225" indent="0">
              <a:buNone/>
              <a:defRPr sz="995"/>
            </a:lvl3pPr>
            <a:lvl4pPr marL="1366520" indent="0">
              <a:buNone/>
              <a:defRPr sz="895"/>
            </a:lvl4pPr>
            <a:lvl5pPr marL="1821815" indent="0">
              <a:buNone/>
              <a:defRPr sz="895"/>
            </a:lvl5pPr>
            <a:lvl6pPr marL="2277745" indent="0">
              <a:buNone/>
              <a:defRPr sz="895"/>
            </a:lvl6pPr>
            <a:lvl7pPr marL="2733040" indent="0">
              <a:buNone/>
              <a:defRPr sz="895"/>
            </a:lvl7pPr>
            <a:lvl8pPr marL="3188335" indent="0">
              <a:buNone/>
              <a:defRPr sz="895"/>
            </a:lvl8pPr>
            <a:lvl9pPr marL="3644265" indent="0">
              <a:buNone/>
              <a:defRPr sz="895"/>
            </a:lvl9pPr>
          </a:lstStyle>
          <a:p>
            <a:pPr lvl="0"/>
            <a:r>
              <a:rPr lang="en-US" smtClean="0"/>
              <a:t>Click to edit Master text styles</a:t>
            </a:r>
            <a:endParaRPr lang="en-US" smtClean="0"/>
          </a:p>
        </p:txBody>
      </p:sp>
      <p:sp>
        <p:nvSpPr>
          <p:cNvPr id="5" name="Date Placeholder 4"/>
          <p:cNvSpPr>
            <a:spLocks noGrp="1"/>
          </p:cNvSpPr>
          <p:nvPr>
            <p:ph type="dt" sz="half" idx="10"/>
          </p:nvPr>
        </p:nvSpPr>
        <p:spPr>
          <a:xfrm>
            <a:off x="348166" y="6435863"/>
            <a:ext cx="1958428" cy="363773"/>
          </a:xfrm>
        </p:spPr>
        <p:txBody>
          <a:bodyPr/>
          <a:lstStyle>
            <a:lvl1pPr algn="l">
              <a:defRPr/>
            </a:lvl1pPr>
          </a:lstStyle>
          <a:p>
            <a:fld id="{1D8BD707-D9CF-40AE-B4C6-C98DA3205C09}" type="datetimeFigureOut">
              <a:rPr lang="en-US" smtClean="0"/>
            </a:fld>
            <a:endParaRPr lang="en-US"/>
          </a:p>
        </p:txBody>
      </p:sp>
      <p:sp>
        <p:nvSpPr>
          <p:cNvPr id="6" name="Footer Placeholder 5"/>
          <p:cNvSpPr>
            <a:spLocks noGrp="1"/>
          </p:cNvSpPr>
          <p:nvPr>
            <p:ph type="ftr" sz="quarter" idx="11"/>
          </p:nvPr>
        </p:nvSpPr>
        <p:spPr>
          <a:xfrm>
            <a:off x="3590449" y="6435863"/>
            <a:ext cx="3476466" cy="363773"/>
          </a:xfrm>
        </p:spPr>
        <p:txBody>
          <a:bodyPr/>
          <a:lstStyle>
            <a:lvl1pPr algn="l">
              <a:defRPr>
                <a:solidFill>
                  <a:schemeClr val="tx2"/>
                </a:solidFill>
              </a:defRPr>
            </a:lvl1pPr>
          </a:lstStyle>
          <a:p>
            <a:endParaRPr lang="en-US">
              <a:solidFill>
                <a:srgbClr val="637052"/>
              </a:solidFill>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solidFill>
                  <a:srgbClr val="637052"/>
                </a:solidFill>
              </a:rPr>
            </a:fld>
            <a:endParaRPr lang="en-US">
              <a:solidFill>
                <a:srgbClr val="63705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34656"/>
            <a:ext cx="9116226" cy="18979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3" y="4896872"/>
            <a:ext cx="9116226" cy="637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0674" y="5056124"/>
            <a:ext cx="7568438" cy="819912"/>
          </a:xfrm>
        </p:spPr>
        <p:txBody>
          <a:bodyPr tIns="0" bIns="0" anchor="b">
            <a:noAutofit/>
          </a:bodyPr>
          <a:lstStyle>
            <a:lvl1pPr>
              <a:defRPr sz="3585"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 y="0"/>
            <a:ext cx="9118589" cy="4896872"/>
          </a:xfrm>
          <a:blipFill>
            <a:blip r:embed="rId2"/>
            <a:stretch>
              <a:fillRect/>
            </a:stretch>
          </a:blipFill>
        </p:spPr>
        <p:txBody>
          <a:bodyPr lIns="457200" tIns="457200" anchor="t"/>
          <a:lstStyle>
            <a:lvl1pPr marL="0" indent="0">
              <a:buNone/>
              <a:defRPr sz="3190">
                <a:solidFill>
                  <a:schemeClr val="bg1"/>
                </a:solidFill>
              </a:defRPr>
            </a:lvl1pPr>
            <a:lvl2pPr marL="455295" indent="0">
              <a:buNone/>
              <a:defRPr sz="2790"/>
            </a:lvl2pPr>
            <a:lvl3pPr marL="911225" indent="0">
              <a:buNone/>
              <a:defRPr sz="2390"/>
            </a:lvl3pPr>
            <a:lvl4pPr marL="1366520" indent="0">
              <a:buNone/>
              <a:defRPr sz="1995"/>
            </a:lvl4pPr>
            <a:lvl5pPr marL="1821815" indent="0">
              <a:buNone/>
              <a:defRPr sz="1995"/>
            </a:lvl5pPr>
            <a:lvl6pPr marL="2277745" indent="0">
              <a:buNone/>
              <a:defRPr sz="1995"/>
            </a:lvl6pPr>
            <a:lvl7pPr marL="2733040" indent="0">
              <a:buNone/>
              <a:defRPr sz="1995"/>
            </a:lvl7pPr>
            <a:lvl8pPr marL="3188335" indent="0">
              <a:buNone/>
              <a:defRPr sz="1995"/>
            </a:lvl8pPr>
            <a:lvl9pPr marL="3644265" indent="0">
              <a:buNone/>
              <a:defRPr sz="1995"/>
            </a:lvl9pPr>
          </a:lstStyle>
          <a:p>
            <a:r>
              <a:rPr lang="en-US" smtClean="0"/>
              <a:t>Click icon to add picture</a:t>
            </a:r>
            <a:endParaRPr lang="en-US" dirty="0"/>
          </a:p>
        </p:txBody>
      </p:sp>
      <p:sp>
        <p:nvSpPr>
          <p:cNvPr id="4" name="Text Placeholder 3"/>
          <p:cNvSpPr>
            <a:spLocks noGrp="1"/>
          </p:cNvSpPr>
          <p:nvPr>
            <p:ph type="body" sz="half" idx="2"/>
          </p:nvPr>
        </p:nvSpPr>
        <p:spPr>
          <a:xfrm>
            <a:off x="820673" y="5885146"/>
            <a:ext cx="7568438" cy="592159"/>
          </a:xfrm>
        </p:spPr>
        <p:txBody>
          <a:bodyPr lIns="91440" tIns="0" rIns="91440" bIns="0">
            <a:normAutofit/>
          </a:bodyPr>
          <a:lstStyle>
            <a:lvl1pPr marL="0" indent="0">
              <a:spcBef>
                <a:spcPts val="0"/>
              </a:spcBef>
              <a:spcAft>
                <a:spcPts val="600"/>
              </a:spcAft>
              <a:buNone/>
              <a:defRPr sz="1495">
                <a:solidFill>
                  <a:srgbClr val="FFFFFF"/>
                </a:solidFill>
              </a:defRPr>
            </a:lvl1pPr>
            <a:lvl2pPr marL="455295" indent="0">
              <a:buNone/>
              <a:defRPr sz="1195"/>
            </a:lvl2pPr>
            <a:lvl3pPr marL="911225" indent="0">
              <a:buNone/>
              <a:defRPr sz="995"/>
            </a:lvl3pPr>
            <a:lvl4pPr marL="1366520" indent="0">
              <a:buNone/>
              <a:defRPr sz="895"/>
            </a:lvl4pPr>
            <a:lvl5pPr marL="1821815" indent="0">
              <a:buNone/>
              <a:defRPr sz="895"/>
            </a:lvl5pPr>
            <a:lvl6pPr marL="2277745" indent="0">
              <a:buNone/>
              <a:defRPr sz="895"/>
            </a:lvl6pPr>
            <a:lvl7pPr marL="2733040" indent="0">
              <a:buNone/>
              <a:defRPr sz="895"/>
            </a:lvl7pPr>
            <a:lvl8pPr marL="3188335" indent="0">
              <a:buNone/>
              <a:defRPr sz="895"/>
            </a:lvl8pPr>
            <a:lvl9pPr marL="3644265" indent="0">
              <a:buNone/>
              <a:defRPr sz="895"/>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77" y="6377093"/>
            <a:ext cx="9116226" cy="4555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10856"/>
            <a:ext cx="9116226" cy="637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25500" y="413245"/>
            <a:ext cx="1966198" cy="5736097"/>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6905" y="413243"/>
            <a:ext cx="5784612" cy="5736096"/>
          </a:xfrm>
        </p:spPr>
        <p:txBody>
          <a:bodyPr vert="eaVert" lIns="45720" tIns="0" rIns="45720" bIns="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accent1"/>
          </a:fgClr>
          <a:bgClr>
            <a:schemeClr val="bg1"/>
          </a:bgClr>
        </a:pattFill>
        <a:effectLst/>
      </p:bgPr>
    </p:bg>
    <p:spTree>
      <p:nvGrpSpPr>
        <p:cNvPr id="1" name=""/>
        <p:cNvGrpSpPr/>
        <p:nvPr/>
      </p:nvGrpSpPr>
      <p:grpSpPr>
        <a:xfrm>
          <a:off x="0" y="0"/>
          <a:ext cx="0" cy="0"/>
          <a:chOff x="0" y="0"/>
          <a:chExt cx="0" cy="0"/>
        </a:xfrm>
      </p:grpSpPr>
      <p:sp>
        <p:nvSpPr>
          <p:cNvPr id="7" name="Rectangle 6"/>
          <p:cNvSpPr/>
          <p:nvPr/>
        </p:nvSpPr>
        <p:spPr>
          <a:xfrm>
            <a:off x="1" y="6377093"/>
            <a:ext cx="9118601" cy="4555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10857"/>
            <a:ext cx="9118601" cy="65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0674" y="285545"/>
            <a:ext cx="7522845" cy="144538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0673" y="1838898"/>
            <a:ext cx="7522846" cy="4008459"/>
          </a:xfrm>
          <a:prstGeom prst="rect">
            <a:avLst/>
          </a:prstGeom>
        </p:spPr>
        <p:txBody>
          <a:bodyPr vert="horz" lIns="0" tIns="45720" rIns="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820677" y="6435863"/>
            <a:ext cx="1849052" cy="363773"/>
          </a:xfrm>
          <a:prstGeom prst="rect">
            <a:avLst/>
          </a:prstGeom>
        </p:spPr>
        <p:txBody>
          <a:bodyPr vert="horz" lIns="91440" tIns="45720" rIns="91440" bIns="45720" rtlCol="0" anchor="ctr"/>
          <a:lstStyle>
            <a:lvl1pPr algn="l">
              <a:defRPr sz="895">
                <a:solidFill>
                  <a:srgbClr val="FFFFFF"/>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2756961" y="6435863"/>
            <a:ext cx="3607055" cy="363773"/>
          </a:xfrm>
          <a:prstGeom prst="rect">
            <a:avLst/>
          </a:prstGeom>
        </p:spPr>
        <p:txBody>
          <a:bodyPr vert="horz" lIns="91440" tIns="45720" rIns="91440" bIns="45720" rtlCol="0" anchor="ctr"/>
          <a:lstStyle>
            <a:lvl1pPr algn="ctr">
              <a:defRPr sz="89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04719" y="6435863"/>
            <a:ext cx="981286" cy="363773"/>
          </a:xfrm>
          <a:prstGeom prst="rect">
            <a:avLst/>
          </a:prstGeom>
        </p:spPr>
        <p:txBody>
          <a:bodyPr vert="horz" lIns="91440" tIns="45720" rIns="91440" bIns="45720" rtlCol="0" anchor="ctr"/>
          <a:lstStyle>
            <a:lvl1pPr algn="r">
              <a:defRPr sz="1045">
                <a:solidFill>
                  <a:srgbClr val="FFFFFF"/>
                </a:solidFill>
              </a:defRPr>
            </a:lvl1pPr>
          </a:lstStyle>
          <a:p>
            <a:fld id="{B6F15528-21DE-4FAA-801E-634DDDAF4B2B}" type="slidenum">
              <a:rPr lang="en-US" smtClean="0"/>
            </a:fld>
            <a:endParaRPr lang="en-US"/>
          </a:p>
        </p:txBody>
      </p:sp>
      <p:cxnSp>
        <p:nvCxnSpPr>
          <p:cNvPr id="10" name="Straight Connector 9"/>
          <p:cNvCxnSpPr/>
          <p:nvPr/>
        </p:nvCxnSpPr>
        <p:spPr>
          <a:xfrm>
            <a:off x="892662" y="1731409"/>
            <a:ext cx="7454456"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1225" rtl="0" eaLnBrk="1" latinLnBrk="0" hangingPunct="1">
        <a:lnSpc>
          <a:spcPct val="85000"/>
        </a:lnSpc>
        <a:spcBef>
          <a:spcPct val="0"/>
        </a:spcBef>
        <a:buNone/>
        <a:defRPr sz="4780" kern="1200" spc="-50" baseline="0">
          <a:solidFill>
            <a:schemeClr val="tx1">
              <a:lumMod val="75000"/>
              <a:lumOff val="25000"/>
            </a:schemeClr>
          </a:solidFill>
          <a:latin typeface="+mj-lt"/>
          <a:ea typeface="+mj-ea"/>
          <a:cs typeface="+mj-cs"/>
        </a:defRPr>
      </a:lvl1pPr>
    </p:titleStyle>
    <p:bodyStyle>
      <a:lvl1pPr marL="90805" indent="-90805" algn="l" defTabSz="911225" rtl="0" eaLnBrk="1" latinLnBrk="0" hangingPunct="1">
        <a:lnSpc>
          <a:spcPct val="90000"/>
        </a:lnSpc>
        <a:spcBef>
          <a:spcPts val="1195"/>
        </a:spcBef>
        <a:spcAft>
          <a:spcPts val="200"/>
        </a:spcAft>
        <a:buClr>
          <a:schemeClr val="accent1"/>
        </a:buClr>
        <a:buSzPct val="100000"/>
        <a:buFont typeface="Calibri" panose="020F0502020204030204" pitchFamily="34" charset="0"/>
        <a:buChar char=" "/>
        <a:defRPr sz="1995" kern="1200">
          <a:solidFill>
            <a:schemeClr val="tx1">
              <a:lumMod val="75000"/>
              <a:lumOff val="25000"/>
            </a:schemeClr>
          </a:solidFill>
          <a:latin typeface="+mn-lt"/>
          <a:ea typeface="+mn-ea"/>
          <a:cs typeface="+mn-cs"/>
        </a:defRPr>
      </a:lvl1pPr>
      <a:lvl2pPr marL="382905" indent="-18224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795" kern="1200">
          <a:solidFill>
            <a:schemeClr val="tx1">
              <a:lumMod val="75000"/>
              <a:lumOff val="25000"/>
            </a:schemeClr>
          </a:solidFill>
          <a:latin typeface="+mn-lt"/>
          <a:ea typeface="+mn-ea"/>
          <a:cs typeface="+mn-cs"/>
        </a:defRPr>
      </a:lvl2pPr>
      <a:lvl3pPr marL="564515" indent="-18224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3pPr>
      <a:lvl4pPr marL="746760" indent="-18224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4pPr>
      <a:lvl5pPr marL="929005" indent="-18224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5pPr>
      <a:lvl6pPr marL="1096010" indent="-22796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6pPr>
      <a:lvl7pPr marL="1295400" indent="-22796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7pPr>
      <a:lvl8pPr marL="1494155" indent="-22796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8pPr>
      <a:lvl9pPr marL="1693545" indent="-227965" algn="l" defTabSz="911225" rtl="0" eaLnBrk="1" latinLnBrk="0" hangingPunct="1">
        <a:lnSpc>
          <a:spcPct val="90000"/>
        </a:lnSpc>
        <a:spcBef>
          <a:spcPts val="200"/>
        </a:spcBef>
        <a:spcAft>
          <a:spcPts val="400"/>
        </a:spcAft>
        <a:buClr>
          <a:schemeClr val="accent1"/>
        </a:buClr>
        <a:buFont typeface="Calibri" panose="020F0502020204030204" pitchFamily="34" charset="0"/>
        <a:buChar char="◦"/>
        <a:defRPr sz="1395" kern="1200">
          <a:solidFill>
            <a:schemeClr val="tx1">
              <a:lumMod val="75000"/>
              <a:lumOff val="25000"/>
            </a:schemeClr>
          </a:solidFill>
          <a:latin typeface="+mn-lt"/>
          <a:ea typeface="+mn-ea"/>
          <a:cs typeface="+mn-cs"/>
        </a:defRPr>
      </a:lvl9pPr>
    </p:bodyStyle>
    <p:otherStyle>
      <a:defPPr>
        <a:defRPr lang="en-US"/>
      </a:defPPr>
      <a:lvl1pPr marL="0" algn="l" defTabSz="911225" rtl="0" eaLnBrk="1" latinLnBrk="0" hangingPunct="1">
        <a:defRPr sz="1795" kern="1200">
          <a:solidFill>
            <a:schemeClr val="tx1"/>
          </a:solidFill>
          <a:latin typeface="+mn-lt"/>
          <a:ea typeface="+mn-ea"/>
          <a:cs typeface="+mn-cs"/>
        </a:defRPr>
      </a:lvl1pPr>
      <a:lvl2pPr marL="455295" algn="l" defTabSz="911225" rtl="0" eaLnBrk="1" latinLnBrk="0" hangingPunct="1">
        <a:defRPr sz="1795" kern="1200">
          <a:solidFill>
            <a:schemeClr val="tx1"/>
          </a:solidFill>
          <a:latin typeface="+mn-lt"/>
          <a:ea typeface="+mn-ea"/>
          <a:cs typeface="+mn-cs"/>
        </a:defRPr>
      </a:lvl2pPr>
      <a:lvl3pPr marL="911225" algn="l" defTabSz="911225" rtl="0" eaLnBrk="1" latinLnBrk="0" hangingPunct="1">
        <a:defRPr sz="1795" kern="1200">
          <a:solidFill>
            <a:schemeClr val="tx1"/>
          </a:solidFill>
          <a:latin typeface="+mn-lt"/>
          <a:ea typeface="+mn-ea"/>
          <a:cs typeface="+mn-cs"/>
        </a:defRPr>
      </a:lvl3pPr>
      <a:lvl4pPr marL="1366520" algn="l" defTabSz="911225" rtl="0" eaLnBrk="1" latinLnBrk="0" hangingPunct="1">
        <a:defRPr sz="1795" kern="1200">
          <a:solidFill>
            <a:schemeClr val="tx1"/>
          </a:solidFill>
          <a:latin typeface="+mn-lt"/>
          <a:ea typeface="+mn-ea"/>
          <a:cs typeface="+mn-cs"/>
        </a:defRPr>
      </a:lvl4pPr>
      <a:lvl5pPr marL="1821815" algn="l" defTabSz="911225" rtl="0" eaLnBrk="1" latinLnBrk="0" hangingPunct="1">
        <a:defRPr sz="1795" kern="1200">
          <a:solidFill>
            <a:schemeClr val="tx1"/>
          </a:solidFill>
          <a:latin typeface="+mn-lt"/>
          <a:ea typeface="+mn-ea"/>
          <a:cs typeface="+mn-cs"/>
        </a:defRPr>
      </a:lvl5pPr>
      <a:lvl6pPr marL="2277745" algn="l" defTabSz="911225" rtl="0" eaLnBrk="1" latinLnBrk="0" hangingPunct="1">
        <a:defRPr sz="1795" kern="1200">
          <a:solidFill>
            <a:schemeClr val="tx1"/>
          </a:solidFill>
          <a:latin typeface="+mn-lt"/>
          <a:ea typeface="+mn-ea"/>
          <a:cs typeface="+mn-cs"/>
        </a:defRPr>
      </a:lvl6pPr>
      <a:lvl7pPr marL="2733040" algn="l" defTabSz="911225" rtl="0" eaLnBrk="1" latinLnBrk="0" hangingPunct="1">
        <a:defRPr sz="1795" kern="1200">
          <a:solidFill>
            <a:schemeClr val="tx1"/>
          </a:solidFill>
          <a:latin typeface="+mn-lt"/>
          <a:ea typeface="+mn-ea"/>
          <a:cs typeface="+mn-cs"/>
        </a:defRPr>
      </a:lvl7pPr>
      <a:lvl8pPr marL="3188335" algn="l" defTabSz="911225" rtl="0" eaLnBrk="1" latinLnBrk="0" hangingPunct="1">
        <a:defRPr sz="1795" kern="1200">
          <a:solidFill>
            <a:schemeClr val="tx1"/>
          </a:solidFill>
          <a:latin typeface="+mn-lt"/>
          <a:ea typeface="+mn-ea"/>
          <a:cs typeface="+mn-cs"/>
        </a:defRPr>
      </a:lvl8pPr>
      <a:lvl9pPr marL="3644265" algn="l" defTabSz="911225"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hdphoto" Target="../media/image6.wdp"/><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hdphoto" Target="../media/image8.wdp"/><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hdphoto" Target="../media/image10.wdp"/><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hdphoto" Target="../media/image12.wdp"/><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em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95643" y="2542655"/>
            <a:ext cx="4175478" cy="688005"/>
          </a:xfrm>
        </p:spPr>
        <p:txBody>
          <a:bodyPr>
            <a:noAutofit/>
          </a:bodyPr>
          <a:lstStyle/>
          <a:p>
            <a:pPr algn="ctr"/>
            <a:r>
              <a:rPr lang="en-US" sz="5380" b="1" dirty="0">
                <a:solidFill>
                  <a:srgbClr val="7030A0"/>
                </a:solidFill>
                <a:latin typeface="Times New Roman" panose="02020603050405020304" pitchFamily="18" charset="0"/>
                <a:cs typeface="Times New Roman" panose="02020603050405020304" pitchFamily="18" charset="0"/>
              </a:rPr>
              <a:t>Chapter </a:t>
            </a:r>
            <a:r>
              <a:rPr lang="en-US" sz="5380" b="1" dirty="0" smtClean="0">
                <a:solidFill>
                  <a:srgbClr val="7030A0"/>
                </a:solidFill>
                <a:latin typeface="Times New Roman" panose="02020603050405020304" pitchFamily="18" charset="0"/>
                <a:cs typeface="Times New Roman" panose="02020603050405020304" pitchFamily="18" charset="0"/>
              </a:rPr>
              <a:t>4</a:t>
            </a:r>
            <a:endParaRPr lang="en-US" sz="5380" b="1" dirty="0">
              <a:solidFill>
                <a:srgbClr val="7030A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92100" y="3570006"/>
            <a:ext cx="8686800" cy="762564"/>
          </a:xfrm>
        </p:spPr>
        <p:txBody>
          <a:bodyPr>
            <a:noAutofit/>
          </a:bodyPr>
          <a:lstStyle/>
          <a:p>
            <a:pPr algn="ctr"/>
            <a:r>
              <a:rPr lang="en-US" sz="4400" b="1" cap="none" dirty="0" smtClean="0">
                <a:solidFill>
                  <a:srgbClr val="0070C0"/>
                </a:solidFill>
                <a:latin typeface="Arial Black" panose="020B0A04020102020204" pitchFamily="34" charset="0"/>
                <a:cs typeface="Times New Roman" panose="02020603050405020304" pitchFamily="18" charset="0"/>
              </a:rPr>
              <a:t>Data Flow Diagram(DFD)</a:t>
            </a:r>
            <a:endParaRPr lang="en-US" sz="4400" b="1" cap="none" dirty="0">
              <a:solidFill>
                <a:srgbClr val="0070C0"/>
              </a:solidFill>
              <a:latin typeface="Arial Black" panose="020B0A04020102020204" pitchFamily="34" charset="0"/>
              <a:cs typeface="Times New Roman" panose="02020603050405020304" pitchFamily="18" charset="0"/>
            </a:endParaRPr>
          </a:p>
        </p:txBody>
      </p:sp>
      <p:sp>
        <p:nvSpPr>
          <p:cNvPr id="4" name="Title 1"/>
          <p:cNvSpPr txBox="1"/>
          <p:nvPr/>
        </p:nvSpPr>
        <p:spPr>
          <a:xfrm>
            <a:off x="573617" y="451354"/>
            <a:ext cx="8123202" cy="1370673"/>
          </a:xfrm>
          <a:prstGeom prst="rect">
            <a:avLst/>
          </a:prstGeom>
        </p:spPr>
        <p:txBody>
          <a:bodyPr vert="horz" lIns="91101" tIns="45551" rIns="91101" bIns="45551" rtlCol="0" anchor="b">
            <a:noAutofit/>
          </a:bodyPr>
          <a:lstStyle>
            <a:lvl1pPr algn="l" defTabSz="914400" rtl="0" eaLnBrk="1" latinLnBrk="0" hangingPunct="1">
              <a:spcBef>
                <a:spcPct val="0"/>
              </a:spcBef>
              <a:buNone/>
              <a:defRPr sz="6600" kern="1200" cap="none" spc="-100" baseline="0">
                <a:ln>
                  <a:noFill/>
                </a:ln>
                <a:solidFill>
                  <a:schemeClr val="tx2"/>
                </a:solidFill>
                <a:effectLst/>
                <a:latin typeface="+mj-lt"/>
                <a:ea typeface="+mj-ea"/>
                <a:cs typeface="+mj-cs"/>
              </a:defRPr>
            </a:lvl1pPr>
          </a:lstStyle>
          <a:p>
            <a:pPr algn="ctr"/>
            <a:r>
              <a:rPr lang="en-US" sz="5380" u="sng" dirty="0">
                <a:solidFill>
                  <a:srgbClr val="002060"/>
                </a:solidFill>
                <a:latin typeface="Cooper Black" panose="0208090404030B020404" pitchFamily="18" charset="0"/>
                <a:cs typeface="Aharoni" pitchFamily="2" charset="-79"/>
              </a:rPr>
              <a:t>System Analysis Design</a:t>
            </a:r>
            <a:endParaRPr lang="en-US" sz="5380" u="sng" dirty="0">
              <a:solidFill>
                <a:srgbClr val="002060"/>
              </a:solidFill>
              <a:latin typeface="Cooper Black" panose="0208090404030B020404" pitchFamily="18" charset="0"/>
              <a:cs typeface="Aharoni" pitchFamily="2" charset="-79"/>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7900" y="596900"/>
            <a:ext cx="6651752" cy="1154162"/>
          </a:xfrm>
          <a:prstGeom prst="rect">
            <a:avLst/>
          </a:prstGeom>
        </p:spPr>
        <p:txBody>
          <a:bodyPr vert="horz" wrap="square" lIns="0" tIns="228600" rIns="0" bIns="0" rtlCol="0">
            <a:spAutoFit/>
          </a:bodyPr>
          <a:lstStyle/>
          <a:p>
            <a:pPr marL="1275080">
              <a:lnSpc>
                <a:spcPct val="100000"/>
              </a:lnSpc>
            </a:pPr>
            <a:r>
              <a:rPr sz="6000" b="1" u="sng" dirty="0">
                <a:solidFill>
                  <a:srgbClr val="002060"/>
                </a:solidFill>
                <a:latin typeface="Times New Roman" panose="02020603050405020304" pitchFamily="18" charset="0"/>
                <a:cs typeface="Times New Roman" panose="02020603050405020304" pitchFamily="18" charset="0"/>
              </a:rPr>
              <a:t> </a:t>
            </a:r>
            <a:r>
              <a:rPr lang="en-US" sz="6000" b="1" u="sng" spc="-5" dirty="0" smtClean="0">
                <a:solidFill>
                  <a:srgbClr val="002060"/>
                </a:solidFill>
                <a:latin typeface="Times New Roman" panose="02020603050405020304" pitchFamily="18" charset="0"/>
                <a:cs typeface="Times New Roman" panose="02020603050405020304" pitchFamily="18" charset="0"/>
              </a:rPr>
              <a:t>Learning</a:t>
            </a:r>
            <a:r>
              <a:rPr lang="en-US" sz="6000" b="1" u="sng" spc="-90" dirty="0" smtClean="0">
                <a:solidFill>
                  <a:srgbClr val="002060"/>
                </a:solidFill>
                <a:latin typeface="Times New Roman" panose="02020603050405020304" pitchFamily="18" charset="0"/>
                <a:cs typeface="Times New Roman" panose="02020603050405020304" pitchFamily="18" charset="0"/>
              </a:rPr>
              <a:t> </a:t>
            </a:r>
            <a:r>
              <a:rPr lang="en-US" sz="6000" b="1" u="sng" spc="-5" dirty="0">
                <a:solidFill>
                  <a:srgbClr val="002060"/>
                </a:solidFill>
                <a:latin typeface="Times New Roman" panose="02020603050405020304" pitchFamily="18" charset="0"/>
                <a:cs typeface="Times New Roman" panose="02020603050405020304" pitchFamily="18" charset="0"/>
              </a:rPr>
              <a:t>G</a:t>
            </a:r>
            <a:r>
              <a:rPr lang="en-US" sz="6000" b="1" u="sng" spc="-5" dirty="0" smtClean="0">
                <a:solidFill>
                  <a:srgbClr val="002060"/>
                </a:solidFill>
                <a:latin typeface="Times New Roman" panose="02020603050405020304" pitchFamily="18" charset="0"/>
                <a:cs typeface="Times New Roman" panose="02020603050405020304" pitchFamily="18" charset="0"/>
              </a:rPr>
              <a:t>oals</a:t>
            </a:r>
            <a:endParaRPr lang="en-US" sz="6000" b="1" u="sng" spc="-5" dirty="0">
              <a:solidFill>
                <a:srgbClr val="002060"/>
              </a:solidFill>
              <a:latin typeface="Times New Roman" panose="02020603050405020304" pitchFamily="18" charset="0"/>
              <a:cs typeface="Times New Roman" panose="02020603050405020304" pitchFamily="18" charset="0"/>
            </a:endParaRPr>
          </a:p>
        </p:txBody>
      </p:sp>
      <p:sp>
        <p:nvSpPr>
          <p:cNvPr id="5" name="object 5"/>
          <p:cNvSpPr txBox="1"/>
          <p:nvPr/>
        </p:nvSpPr>
        <p:spPr>
          <a:xfrm>
            <a:off x="1124424" y="2120900"/>
            <a:ext cx="7625876" cy="3447098"/>
          </a:xfrm>
          <a:prstGeom prst="rect">
            <a:avLst/>
          </a:prstGeom>
        </p:spPr>
        <p:txBody>
          <a:bodyPr vert="horz" wrap="square" lIns="0" tIns="0" rIns="0" bIns="0" rtlCol="0">
            <a:spAutoFit/>
          </a:bodyPr>
          <a:lstStyle/>
          <a:p>
            <a:pPr marL="984250" lvl="1" indent="-514350">
              <a:buFont typeface="Wingdings" panose="05000000000000000000" pitchFamily="2" charset="2"/>
              <a:buChar char="§"/>
              <a:tabLst>
                <a:tab pos="468630" algn="l"/>
                <a:tab pos="469265" algn="l"/>
              </a:tabLst>
            </a:pPr>
            <a:r>
              <a:rPr sz="2800" spc="-5" dirty="0" smtClean="0">
                <a:latin typeface="Times New Roman" panose="02020603050405020304"/>
                <a:cs typeface="Times New Roman" panose="02020603050405020304"/>
              </a:rPr>
              <a:t>What </a:t>
            </a:r>
            <a:r>
              <a:rPr sz="2800" spc="-5" dirty="0">
                <a:latin typeface="Times New Roman" panose="02020603050405020304"/>
                <a:cs typeface="Times New Roman" panose="02020603050405020304"/>
              </a:rPr>
              <a:t>are Data Flow Diagrams</a:t>
            </a:r>
            <a:r>
              <a:rPr sz="2800" spc="-45"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(DFDs)?</a:t>
            </a:r>
            <a:endParaRPr sz="2800" dirty="0">
              <a:latin typeface="Times New Roman" panose="02020603050405020304"/>
              <a:cs typeface="Times New Roman" panose="02020603050405020304"/>
            </a:endParaRPr>
          </a:p>
          <a:p>
            <a:pPr marL="984250" lvl="1" indent="-514350">
              <a:spcBef>
                <a:spcPts val="5"/>
              </a:spcBef>
              <a:buFont typeface="Wingdings" panose="05000000000000000000" pitchFamily="2" charset="2"/>
              <a:buChar char="§"/>
              <a:tabLst>
                <a:tab pos="468630" algn="l"/>
                <a:tab pos="469265" algn="l"/>
              </a:tabLst>
            </a:pPr>
            <a:r>
              <a:rPr sz="2800" spc="-5" dirty="0">
                <a:latin typeface="Times New Roman" panose="02020603050405020304"/>
                <a:cs typeface="Times New Roman" panose="02020603050405020304"/>
              </a:rPr>
              <a:t>Why they are</a:t>
            </a:r>
            <a:r>
              <a:rPr sz="2800" spc="-75"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useful?</a:t>
            </a:r>
            <a:endParaRPr sz="2800" dirty="0">
              <a:latin typeface="Times New Roman" panose="02020603050405020304"/>
              <a:cs typeface="Times New Roman" panose="02020603050405020304"/>
            </a:endParaRPr>
          </a:p>
          <a:p>
            <a:pPr marL="984250" lvl="1" indent="-514350">
              <a:buFont typeface="Wingdings" panose="05000000000000000000" pitchFamily="2" charset="2"/>
              <a:buChar char="§"/>
              <a:tabLst>
                <a:tab pos="468630" algn="l"/>
                <a:tab pos="469265" algn="l"/>
              </a:tabLst>
            </a:pPr>
            <a:r>
              <a:rPr sz="2800" spc="-5" dirty="0">
                <a:latin typeface="Times New Roman" panose="02020603050405020304"/>
                <a:cs typeface="Times New Roman" panose="02020603050405020304"/>
              </a:rPr>
              <a:t>How are they</a:t>
            </a:r>
            <a:r>
              <a:rPr sz="2800" spc="-75"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developed?</a:t>
            </a:r>
            <a:endParaRPr sz="2800" dirty="0">
              <a:latin typeface="Times New Roman" panose="02020603050405020304"/>
              <a:cs typeface="Times New Roman" panose="02020603050405020304"/>
            </a:endParaRPr>
          </a:p>
          <a:p>
            <a:pPr marL="984250" lvl="1" indent="-514350">
              <a:spcBef>
                <a:spcPts val="5"/>
              </a:spcBef>
              <a:buFont typeface="Wingdings" panose="05000000000000000000" pitchFamily="2" charset="2"/>
              <a:buChar char="§"/>
              <a:tabLst>
                <a:tab pos="468630" algn="l"/>
                <a:tab pos="469265" algn="l"/>
              </a:tabLst>
            </a:pPr>
            <a:r>
              <a:rPr sz="2800" spc="-5" dirty="0">
                <a:latin typeface="Times New Roman" panose="02020603050405020304"/>
                <a:cs typeface="Times New Roman" panose="02020603050405020304"/>
              </a:rPr>
              <a:t>How to level</a:t>
            </a:r>
            <a:r>
              <a:rPr sz="2800" spc="-80"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DFDs?</a:t>
            </a:r>
            <a:endParaRPr sz="2800" dirty="0">
              <a:latin typeface="Times New Roman" panose="02020603050405020304"/>
              <a:cs typeface="Times New Roman" panose="02020603050405020304"/>
            </a:endParaRPr>
          </a:p>
          <a:p>
            <a:pPr marL="984250" lvl="1" indent="-514350">
              <a:buFont typeface="Wingdings" panose="05000000000000000000" pitchFamily="2" charset="2"/>
              <a:buChar char="§"/>
              <a:tabLst>
                <a:tab pos="468630" algn="l"/>
                <a:tab pos="469265" algn="l"/>
              </a:tabLst>
            </a:pPr>
            <a:r>
              <a:rPr sz="2800" spc="-5" dirty="0">
                <a:latin typeface="Times New Roman" panose="02020603050405020304"/>
                <a:cs typeface="Times New Roman" panose="02020603050405020304"/>
              </a:rPr>
              <a:t>Good style conventions in developing</a:t>
            </a:r>
            <a:r>
              <a:rPr sz="2800" spc="-55"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DFDs</a:t>
            </a:r>
            <a:endParaRPr sz="2800" dirty="0">
              <a:latin typeface="Times New Roman" panose="02020603050405020304"/>
              <a:cs typeface="Times New Roman" panose="02020603050405020304"/>
            </a:endParaRPr>
          </a:p>
          <a:p>
            <a:pPr marL="984250" lvl="1" indent="-514350">
              <a:buFont typeface="Wingdings" panose="05000000000000000000" pitchFamily="2" charset="2"/>
              <a:buChar char="§"/>
              <a:tabLst>
                <a:tab pos="468630" algn="l"/>
                <a:tab pos="469265" algn="l"/>
              </a:tabLst>
            </a:pPr>
            <a:r>
              <a:rPr sz="2800" spc="-5" dirty="0">
                <a:latin typeface="Times New Roman" panose="02020603050405020304"/>
                <a:cs typeface="Times New Roman" panose="02020603050405020304"/>
              </a:rPr>
              <a:t>Difference between Logical and Physical</a:t>
            </a:r>
            <a:r>
              <a:rPr sz="2800" spc="-35"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DFDs</a:t>
            </a:r>
            <a:endParaRPr sz="2800" dirty="0">
              <a:latin typeface="Times New Roman" panose="02020603050405020304"/>
              <a:cs typeface="Times New Roman" panose="02020603050405020304"/>
            </a:endParaRPr>
          </a:p>
          <a:p>
            <a:pPr marL="984250" lvl="1" indent="-514350">
              <a:spcBef>
                <a:spcPts val="5"/>
              </a:spcBef>
              <a:buFont typeface="Wingdings" panose="05000000000000000000" pitchFamily="2" charset="2"/>
              <a:buChar char="§"/>
              <a:tabLst>
                <a:tab pos="469265" algn="l"/>
                <a:tab pos="469900" algn="l"/>
              </a:tabLst>
            </a:pPr>
            <a:r>
              <a:rPr sz="2800" spc="-5" dirty="0">
                <a:latin typeface="Times New Roman" panose="02020603050405020304"/>
                <a:cs typeface="Times New Roman" panose="02020603050405020304"/>
              </a:rPr>
              <a:t>Tools available to draw</a:t>
            </a:r>
            <a:r>
              <a:rPr sz="2800" spc="-70"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DFDs</a:t>
            </a:r>
            <a:endParaRPr sz="2800" dirty="0">
              <a:latin typeface="Times New Roman" panose="02020603050405020304"/>
              <a:cs typeface="Times New Roman" panose="020206030504050203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1026"/>
          <p:cNvSpPr>
            <a:spLocks noGrp="1" noChangeArrowheads="1"/>
          </p:cNvSpPr>
          <p:nvPr>
            <p:ph type="title"/>
          </p:nvPr>
        </p:nvSpPr>
        <p:spPr>
          <a:xfrm>
            <a:off x="1488431" y="1118989"/>
            <a:ext cx="6651752" cy="615553"/>
          </a:xfrm>
        </p:spPr>
        <p:txBody>
          <a:bodyPr>
            <a:noAutofit/>
          </a:bodyPr>
          <a:lstStyle/>
          <a:p>
            <a:pPr algn="ctr" eaLnBrk="1" hangingPunct="1"/>
            <a:r>
              <a:rPr lang="en-US" altLang="en-US" sz="4800" b="1" u="sng" dirty="0" smtClean="0">
                <a:solidFill>
                  <a:srgbClr val="002060"/>
                </a:solidFill>
                <a:latin typeface="Times New Roman" panose="02020603050405020304" pitchFamily="18" charset="0"/>
                <a:cs typeface="Times New Roman" panose="02020603050405020304" pitchFamily="18" charset="0"/>
              </a:rPr>
              <a:t>Flow-Oriented Modeling</a:t>
            </a:r>
            <a:endParaRPr lang="en-US" altLang="en-US" sz="4800" b="1" u="sng" dirty="0" smtClean="0">
              <a:solidFill>
                <a:srgbClr val="002060"/>
              </a:solidFill>
              <a:latin typeface="Times New Roman" panose="02020603050405020304" pitchFamily="18" charset="0"/>
              <a:cs typeface="Times New Roman" panose="02020603050405020304" pitchFamily="18" charset="0"/>
            </a:endParaRPr>
          </a:p>
        </p:txBody>
      </p:sp>
      <p:sp>
        <p:nvSpPr>
          <p:cNvPr id="216067" name="Rectangle 1027"/>
          <p:cNvSpPr>
            <a:spLocks noGrp="1" noChangeArrowheads="1"/>
          </p:cNvSpPr>
          <p:nvPr>
            <p:ph idx="1"/>
          </p:nvPr>
        </p:nvSpPr>
        <p:spPr>
          <a:xfrm>
            <a:off x="749300" y="1734542"/>
            <a:ext cx="8061395" cy="4196358"/>
          </a:xfrm>
        </p:spPr>
        <p:txBody>
          <a:bodyPr>
            <a:normAutofit/>
          </a:bodyPr>
          <a:lstStyle/>
          <a:p>
            <a:pPr algn="just">
              <a:lnSpc>
                <a:spcPct val="90000"/>
              </a:lnSpc>
              <a:spcBef>
                <a:spcPct val="50000"/>
              </a:spcBef>
              <a:buClrTx/>
              <a:buSzTx/>
              <a:buFont typeface="Wingdings" panose="05000000000000000000" pitchFamily="2" charset="2"/>
              <a:buChar char="q"/>
              <a:defRPr/>
            </a:pPr>
            <a:endParaRPr lang="en-US" altLang="en-US" sz="2800" dirty="0">
              <a:solidFill>
                <a:schemeClr val="tx1"/>
              </a:solidFill>
              <a:effectLst>
                <a:outerShdw blurRad="38100" dist="38100" dir="2700000" algn="tl">
                  <a:srgbClr val="FFFFFF"/>
                </a:outerShdw>
              </a:effectLst>
              <a:latin typeface="Palatino" pitchFamily="-128" charset="0"/>
            </a:endParaRPr>
          </a:p>
          <a:p>
            <a:pPr algn="just" eaLnBrk="1" hangingPunct="1">
              <a:buFont typeface="Wingdings" panose="05000000000000000000" pitchFamily="2" charset="2"/>
              <a:buChar char="q"/>
              <a:defRPr/>
            </a:pPr>
            <a:r>
              <a:rPr lang="en-US" altLang="en-US" sz="2800" dirty="0">
                <a:solidFill>
                  <a:schemeClr val="tx1"/>
                </a:solidFill>
                <a:effectLst>
                  <a:outerShdw blurRad="38100" dist="38100" dir="2700000" algn="tl">
                    <a:srgbClr val="FFFFFF"/>
                  </a:outerShdw>
                </a:effectLst>
                <a:latin typeface="Palatino" pitchFamily="-128" charset="0"/>
              </a:rPr>
              <a:t>Represents how data objects are transformed at they move through the </a:t>
            </a:r>
            <a:r>
              <a:rPr lang="en-US" altLang="en-US" sz="2800" dirty="0" smtClean="0">
                <a:solidFill>
                  <a:schemeClr val="tx1"/>
                </a:solidFill>
                <a:effectLst>
                  <a:outerShdw blurRad="38100" dist="38100" dir="2700000" algn="tl">
                    <a:srgbClr val="FFFFFF"/>
                  </a:outerShdw>
                </a:effectLst>
                <a:latin typeface="Palatino" pitchFamily="-128" charset="0"/>
              </a:rPr>
              <a:t>system.</a:t>
            </a:r>
            <a:endParaRPr lang="en-US" altLang="en-US" sz="2800" dirty="0">
              <a:solidFill>
                <a:schemeClr val="tx1"/>
              </a:solidFill>
              <a:effectLst>
                <a:outerShdw blurRad="38100" dist="38100" dir="2700000" algn="tl">
                  <a:srgbClr val="FFFFFF"/>
                </a:outerShdw>
              </a:effectLst>
              <a:latin typeface="Palatino" pitchFamily="-128" charset="0"/>
            </a:endParaRPr>
          </a:p>
          <a:p>
            <a:pPr algn="just" eaLnBrk="1" hangingPunct="1">
              <a:buFont typeface="Wingdings" panose="05000000000000000000" pitchFamily="2" charset="2"/>
              <a:buChar char="q"/>
              <a:defRPr/>
            </a:pPr>
            <a:r>
              <a:rPr lang="en-US" altLang="en-US" sz="2800" b="1" dirty="0">
                <a:solidFill>
                  <a:schemeClr val="tx1"/>
                </a:solidFill>
                <a:latin typeface="Palatino" pitchFamily="-128" charset="0"/>
              </a:rPr>
              <a:t>D</a:t>
            </a:r>
            <a:r>
              <a:rPr lang="en-US" altLang="en-US" sz="2800" b="1" dirty="0" smtClean="0">
                <a:solidFill>
                  <a:schemeClr val="tx1"/>
                </a:solidFill>
                <a:latin typeface="Palatino" pitchFamily="-128" charset="0"/>
              </a:rPr>
              <a:t>ata </a:t>
            </a:r>
            <a:r>
              <a:rPr lang="en-US" altLang="en-US" sz="2800" b="1" dirty="0">
                <a:solidFill>
                  <a:schemeClr val="tx1"/>
                </a:solidFill>
                <a:latin typeface="Palatino" pitchFamily="-128" charset="0"/>
              </a:rPr>
              <a:t>flow diagram (DFD) </a:t>
            </a:r>
            <a:r>
              <a:rPr lang="en-US" altLang="en-US" sz="2800" dirty="0">
                <a:solidFill>
                  <a:schemeClr val="tx1"/>
                </a:solidFill>
                <a:effectLst>
                  <a:outerShdw blurRad="38100" dist="38100" dir="2700000" algn="tl">
                    <a:srgbClr val="FFFFFF"/>
                  </a:outerShdw>
                </a:effectLst>
                <a:latin typeface="Palatino" pitchFamily="-128" charset="0"/>
              </a:rPr>
              <a:t>is the diagrammatic form that is </a:t>
            </a:r>
            <a:r>
              <a:rPr lang="en-US" altLang="en-US" sz="2800" dirty="0" smtClean="0">
                <a:solidFill>
                  <a:schemeClr val="tx1"/>
                </a:solidFill>
                <a:effectLst>
                  <a:outerShdw blurRad="38100" dist="38100" dir="2700000" algn="tl">
                    <a:srgbClr val="FFFFFF"/>
                  </a:outerShdw>
                </a:effectLst>
                <a:latin typeface="Palatino" pitchFamily="-128" charset="0"/>
              </a:rPr>
              <a:t>used.</a:t>
            </a:r>
            <a:endParaRPr lang="en-US" altLang="en-US" sz="2800" dirty="0">
              <a:solidFill>
                <a:schemeClr val="tx1"/>
              </a:solidFill>
              <a:effectLst>
                <a:outerShdw blurRad="38100" dist="38100" dir="2700000" algn="tl">
                  <a:srgbClr val="FFFFFF"/>
                </a:outerShdw>
              </a:effectLst>
              <a:latin typeface="Palatino" pitchFamily="-128" charset="0"/>
            </a:endParaRPr>
          </a:p>
          <a:p>
            <a:pPr algn="just" eaLnBrk="1" hangingPunct="1">
              <a:buFont typeface="Wingdings" panose="05000000000000000000" pitchFamily="2" charset="2"/>
              <a:buChar char="q"/>
              <a:defRPr/>
            </a:pPr>
            <a:r>
              <a:rPr lang="en-US" altLang="en-US" sz="2800" dirty="0">
                <a:solidFill>
                  <a:schemeClr val="tx1"/>
                </a:solidFill>
                <a:effectLst>
                  <a:outerShdw blurRad="38100" dist="38100" dir="2700000" algn="tl">
                    <a:srgbClr val="FFFFFF"/>
                  </a:outerShdw>
                </a:effectLst>
                <a:latin typeface="Palatino" pitchFamily="-128" charset="0"/>
              </a:rPr>
              <a:t>Considered by many to be an “old school” approach, but continues to provide a view of the system that is unique—it should be used to supplement other analysis model </a:t>
            </a:r>
            <a:r>
              <a:rPr lang="en-US" altLang="en-US" sz="2800" dirty="0" smtClean="0">
                <a:solidFill>
                  <a:schemeClr val="tx1"/>
                </a:solidFill>
                <a:effectLst>
                  <a:outerShdw blurRad="38100" dist="38100" dir="2700000" algn="tl">
                    <a:srgbClr val="FFFFFF"/>
                  </a:outerShdw>
                </a:effectLst>
                <a:latin typeface="Palatino" pitchFamily="-128" charset="0"/>
              </a:rPr>
              <a:t>elements.</a:t>
            </a:r>
            <a:endParaRPr lang="en-US" altLang="en-US" sz="2800" dirty="0">
              <a:solidFill>
                <a:schemeClr val="tx1"/>
              </a:solidFill>
              <a:effectLst>
                <a:outerShdw blurRad="38100" dist="38100" dir="2700000" algn="tl">
                  <a:srgbClr val="FFFFFF"/>
                </a:outerShdw>
              </a:effectLst>
              <a:latin typeface="Palatino" pitchFamily="-128" charset="0"/>
            </a:endParaRPr>
          </a:p>
        </p:txBody>
      </p:sp>
      <p:sp>
        <p:nvSpPr>
          <p:cNvPr id="5" name="Slide Number Placeholder 4"/>
          <p:cNvSpPr>
            <a:spLocks noGrp="1"/>
          </p:cNvSpPr>
          <p:nvPr>
            <p:ph type="sldNum" sz="quarter" idx="12"/>
          </p:nvPr>
        </p:nvSpPr>
        <p:spPr>
          <a:xfrm>
            <a:off x="7520093" y="6225258"/>
            <a:ext cx="1290602" cy="455507"/>
          </a:xfrm>
          <a:prstGeom prst="rect">
            <a:avLst/>
          </a:prstGeom>
        </p:spPr>
        <p:txBody>
          <a:bodyPr/>
          <a:lstStyle/>
          <a:p>
            <a:pPr>
              <a:defRPr/>
            </a:pPr>
            <a:fld id="{010CB8BB-A8CD-47FB-89B4-247C1F6054D3}" type="slidenum">
              <a:rPr lang="en-US" altLang="en-US"/>
            </a:fld>
            <a:endParaRPr lang="en-US"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1128224" y="1126134"/>
            <a:ext cx="7136271" cy="717299"/>
          </a:xfrm>
          <a:noFill/>
          <a:extLst>
            <a:ext uri="{91240B29-F687-4F45-9708-019B960494DF}">
              <a14:hiddenLine xmlns:a14="http://schemas.microsoft.com/office/drawing/2010/main" w="12700">
                <a:solidFill>
                  <a:schemeClr val="tx1"/>
                </a:solidFill>
                <a:miter lim="800000"/>
                <a:headEnd/>
                <a:tailEnd/>
              </a14:hiddenLine>
            </a:ext>
          </a:extLst>
        </p:spPr>
        <p:txBody>
          <a:bodyPr wrap="square" lIns="90152" tIns="44285" rIns="90152" bIns="44285" anchor="ctr">
            <a:spAutoFit/>
          </a:bodyPr>
          <a:lstStyle/>
          <a:p>
            <a:pPr algn="ctr" eaLnBrk="1" hangingPunct="1"/>
            <a:r>
              <a:rPr lang="en-US" altLang="en-US" sz="4800" b="1" u="sng" dirty="0" smtClean="0">
                <a:solidFill>
                  <a:srgbClr val="002060"/>
                </a:solidFill>
                <a:latin typeface="Times New Roman" panose="02020603050405020304" pitchFamily="18" charset="0"/>
                <a:cs typeface="Times New Roman" panose="02020603050405020304" pitchFamily="18" charset="0"/>
              </a:rPr>
              <a:t>The Flow Model</a:t>
            </a:r>
            <a:endParaRPr lang="en-US" altLang="en-US" sz="4800" b="1" u="sng" dirty="0" smtClean="0">
              <a:solidFill>
                <a:srgbClr val="002060"/>
              </a:solidFill>
              <a:latin typeface="Times New Roman" panose="02020603050405020304" pitchFamily="18" charset="0"/>
              <a:cs typeface="Times New Roman" panose="02020603050405020304" pitchFamily="18" charset="0"/>
            </a:endParaRPr>
          </a:p>
        </p:txBody>
      </p:sp>
      <p:sp>
        <p:nvSpPr>
          <p:cNvPr id="11" name="Slide Number Placeholder 4"/>
          <p:cNvSpPr>
            <a:spLocks noGrp="1"/>
          </p:cNvSpPr>
          <p:nvPr>
            <p:ph type="sldNum" sz="quarter" idx="12"/>
          </p:nvPr>
        </p:nvSpPr>
        <p:spPr>
          <a:xfrm>
            <a:off x="7520093" y="6225258"/>
            <a:ext cx="1290602" cy="455507"/>
          </a:xfrm>
          <a:prstGeom prst="rect">
            <a:avLst/>
          </a:prstGeom>
        </p:spPr>
        <p:txBody>
          <a:bodyPr/>
          <a:lstStyle/>
          <a:p>
            <a:pPr>
              <a:defRPr/>
            </a:pPr>
            <a:fld id="{90ED0880-019C-42A4-BE23-274CE4023281}" type="slidenum">
              <a:rPr lang="en-US" altLang="en-US"/>
            </a:fld>
            <a:endParaRPr lang="en-US" altLang="en-US"/>
          </a:p>
        </p:txBody>
      </p:sp>
      <p:sp>
        <p:nvSpPr>
          <p:cNvPr id="167939" name="Rectangle 3"/>
          <p:cNvSpPr>
            <a:spLocks noChangeArrowheads="1"/>
          </p:cNvSpPr>
          <p:nvPr/>
        </p:nvSpPr>
        <p:spPr bwMode="auto">
          <a:xfrm>
            <a:off x="1902178" y="2201615"/>
            <a:ext cx="5997759" cy="951209"/>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2800" dirty="0">
                <a:effectLst>
                  <a:outerShdw blurRad="38100" dist="38100" dir="2700000" algn="tl">
                    <a:srgbClr val="FFFFFF"/>
                  </a:outerShdw>
                </a:effectLst>
                <a:latin typeface="Palatino" pitchFamily="-128" charset="0"/>
              </a:rPr>
              <a:t>Every computer-based system is an </a:t>
            </a:r>
            <a:endParaRPr lang="en-US" altLang="en-US" sz="2800" dirty="0">
              <a:effectLst>
                <a:outerShdw blurRad="38100" dist="38100" dir="2700000" algn="tl">
                  <a:srgbClr val="FFFFFF"/>
                </a:outerShdw>
              </a:effectLst>
              <a:latin typeface="Palatino" pitchFamily="-128" charset="0"/>
            </a:endParaRPr>
          </a:p>
          <a:p>
            <a:pPr>
              <a:defRPr/>
            </a:pPr>
            <a:r>
              <a:rPr lang="en-US" altLang="en-US" sz="2800" dirty="0">
                <a:effectLst>
                  <a:outerShdw blurRad="38100" dist="38100" dir="2700000" algn="tl">
                    <a:srgbClr val="FFFFFF"/>
                  </a:outerShdw>
                </a:effectLst>
                <a:latin typeface="Palatino" pitchFamily="-128" charset="0"/>
              </a:rPr>
              <a:t>information transform ....</a:t>
            </a:r>
            <a:endParaRPr lang="en-US" altLang="en-US" sz="2800" dirty="0">
              <a:effectLst>
                <a:outerShdw blurRad="38100" dist="38100" dir="2700000" algn="tl">
                  <a:srgbClr val="FFFFFF"/>
                </a:outerShdw>
              </a:effectLst>
              <a:latin typeface="Palatino" pitchFamily="-128" charset="0"/>
            </a:endParaRPr>
          </a:p>
        </p:txBody>
      </p:sp>
      <p:sp>
        <p:nvSpPr>
          <p:cNvPr id="7173" name="AutoShape 4"/>
          <p:cNvSpPr>
            <a:spLocks noChangeArrowheads="1"/>
          </p:cNvSpPr>
          <p:nvPr/>
        </p:nvSpPr>
        <p:spPr bwMode="auto">
          <a:xfrm>
            <a:off x="4129100" y="3305587"/>
            <a:ext cx="2226921" cy="1996005"/>
          </a:xfrm>
          <a:prstGeom prst="star16">
            <a:avLst>
              <a:gd name="adj" fmla="val 37500"/>
            </a:avLst>
          </a:prstGeom>
          <a:solidFill>
            <a:schemeClr val="hlink"/>
          </a:solidFill>
          <a:ln w="25400">
            <a:solidFill>
              <a:schemeClr val="tx1"/>
            </a:solidFill>
            <a:miter lim="800000"/>
          </a:ln>
          <a:effectLst>
            <a:outerShdw dist="107763" dir="2700000" algn="ctr" rotWithShape="0">
              <a:schemeClr val="bg2"/>
            </a:outerShdw>
          </a:effec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7174" name="AutoShape 5"/>
          <p:cNvSpPr>
            <a:spLocks noChangeArrowheads="1"/>
          </p:cNvSpPr>
          <p:nvPr/>
        </p:nvSpPr>
        <p:spPr bwMode="auto">
          <a:xfrm>
            <a:off x="2661356" y="4001500"/>
            <a:ext cx="1277949" cy="616832"/>
          </a:xfrm>
          <a:prstGeom prst="rightArrow">
            <a:avLst>
              <a:gd name="adj1" fmla="val 50000"/>
              <a:gd name="adj2" fmla="val 103599"/>
            </a:avLst>
          </a:prstGeom>
          <a:solidFill>
            <a:schemeClr val="hlink"/>
          </a:solidFill>
          <a:ln w="25400">
            <a:solidFill>
              <a:schemeClr val="bg1"/>
            </a:solidFill>
            <a:miter lim="800000"/>
          </a:ln>
          <a:effectLst>
            <a:outerShdw dist="107763" dir="2700000" algn="ctr" rotWithShape="0">
              <a:schemeClr val="bg2"/>
            </a:outerShdw>
          </a:effec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7175" name="AutoShape 6"/>
          <p:cNvSpPr>
            <a:spLocks noChangeArrowheads="1"/>
          </p:cNvSpPr>
          <p:nvPr/>
        </p:nvSpPr>
        <p:spPr bwMode="auto">
          <a:xfrm>
            <a:off x="6710304" y="4039459"/>
            <a:ext cx="1277949" cy="616832"/>
          </a:xfrm>
          <a:prstGeom prst="rightArrow">
            <a:avLst>
              <a:gd name="adj1" fmla="val 50000"/>
              <a:gd name="adj2" fmla="val 103599"/>
            </a:avLst>
          </a:prstGeom>
          <a:solidFill>
            <a:schemeClr val="hlink"/>
          </a:solidFill>
          <a:ln w="25400">
            <a:solidFill>
              <a:schemeClr val="bg1"/>
            </a:solidFill>
            <a:miter lim="800000"/>
          </a:ln>
          <a:effectLst>
            <a:outerShdw dist="107763" dir="2700000" algn="ctr" rotWithShape="0">
              <a:schemeClr val="bg2"/>
            </a:outerShdw>
          </a:effec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167943" name="Rectangle 7"/>
          <p:cNvSpPr>
            <a:spLocks noChangeArrowheads="1"/>
          </p:cNvSpPr>
          <p:nvPr/>
        </p:nvSpPr>
        <p:spPr bwMode="auto">
          <a:xfrm>
            <a:off x="4696360" y="3871807"/>
            <a:ext cx="1211022" cy="77687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lgn="ctr">
              <a:lnSpc>
                <a:spcPct val="75000"/>
              </a:lnSpc>
              <a:defRPr/>
            </a:pPr>
            <a:r>
              <a:rPr lang="en-US" altLang="en-US" sz="1995" b="1" dirty="0">
                <a:effectLst>
                  <a:outerShdw blurRad="38100" dist="38100" dir="2700000" algn="tl">
                    <a:srgbClr val="FFFFFF"/>
                  </a:outerShdw>
                </a:effectLst>
              </a:rPr>
              <a:t>computer</a:t>
            </a:r>
            <a:endParaRPr lang="en-US" altLang="en-US" sz="1995" b="1" dirty="0">
              <a:effectLst>
                <a:outerShdw blurRad="38100" dist="38100" dir="2700000" algn="tl">
                  <a:srgbClr val="FFFFFF"/>
                </a:outerShdw>
              </a:effectLst>
            </a:endParaRPr>
          </a:p>
          <a:p>
            <a:pPr algn="ctr">
              <a:lnSpc>
                <a:spcPct val="75000"/>
              </a:lnSpc>
              <a:defRPr/>
            </a:pPr>
            <a:r>
              <a:rPr lang="en-US" altLang="en-US" sz="1995" b="1" dirty="0">
                <a:effectLst>
                  <a:outerShdw blurRad="38100" dist="38100" dir="2700000" algn="tl">
                    <a:srgbClr val="FFFFFF"/>
                  </a:outerShdw>
                </a:effectLst>
              </a:rPr>
              <a:t>based</a:t>
            </a:r>
            <a:endParaRPr lang="en-US" altLang="en-US" sz="1995" b="1" dirty="0">
              <a:effectLst>
                <a:outerShdw blurRad="38100" dist="38100" dir="2700000" algn="tl">
                  <a:srgbClr val="FFFFFF"/>
                </a:outerShdw>
              </a:effectLst>
            </a:endParaRPr>
          </a:p>
          <a:p>
            <a:pPr algn="ctr">
              <a:lnSpc>
                <a:spcPct val="75000"/>
              </a:lnSpc>
              <a:defRPr/>
            </a:pPr>
            <a:r>
              <a:rPr lang="en-US" altLang="en-US" sz="1995" b="1" dirty="0">
                <a:effectLst>
                  <a:outerShdw blurRad="38100" dist="38100" dir="2700000" algn="tl">
                    <a:srgbClr val="FFFFFF"/>
                  </a:outerShdw>
                </a:effectLst>
              </a:rPr>
              <a:t>system</a:t>
            </a:r>
            <a:endParaRPr lang="en-US" altLang="en-US" sz="1995" b="1" dirty="0">
              <a:effectLst>
                <a:outerShdw blurRad="38100" dist="38100" dir="2700000" algn="tl">
                  <a:srgbClr val="FFFFFF"/>
                </a:outerShdw>
              </a:effectLst>
            </a:endParaRPr>
          </a:p>
        </p:txBody>
      </p:sp>
      <p:sp>
        <p:nvSpPr>
          <p:cNvPr id="167944" name="Rectangle 8"/>
          <p:cNvSpPr>
            <a:spLocks noChangeArrowheads="1"/>
          </p:cNvSpPr>
          <p:nvPr/>
        </p:nvSpPr>
        <p:spPr bwMode="auto">
          <a:xfrm>
            <a:off x="2685081" y="4077418"/>
            <a:ext cx="744231" cy="39498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995" b="1">
                <a:effectLst>
                  <a:outerShdw blurRad="38100" dist="38100" dir="2700000" algn="tl">
                    <a:srgbClr val="FFFFFF"/>
                  </a:outerShdw>
                </a:effectLst>
              </a:rPr>
              <a:t>input</a:t>
            </a:r>
            <a:endParaRPr lang="en-US" altLang="en-US" sz="1995" b="1">
              <a:effectLst>
                <a:outerShdw blurRad="38100" dist="38100" dir="2700000" algn="tl">
                  <a:srgbClr val="FFFFFF"/>
                </a:outerShdw>
              </a:effectLst>
            </a:endParaRPr>
          </a:p>
        </p:txBody>
      </p:sp>
      <p:sp>
        <p:nvSpPr>
          <p:cNvPr id="167945" name="Rectangle 9"/>
          <p:cNvSpPr>
            <a:spLocks noChangeArrowheads="1"/>
          </p:cNvSpPr>
          <p:nvPr/>
        </p:nvSpPr>
        <p:spPr bwMode="auto">
          <a:xfrm>
            <a:off x="6696070" y="4099560"/>
            <a:ext cx="907133" cy="39498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995" b="1">
                <a:effectLst>
                  <a:outerShdw blurRad="38100" dist="38100" dir="2700000" algn="tl">
                    <a:srgbClr val="FFFFFF"/>
                  </a:outerShdw>
                </a:effectLst>
              </a:rPr>
              <a:t>output</a:t>
            </a:r>
            <a:endParaRPr lang="en-US" altLang="en-US" sz="1995" b="1">
              <a:effectLst>
                <a:outerShdw blurRad="38100" dist="38100" dir="2700000" algn="tl">
                  <a:srgbClr val="FFFFFF"/>
                </a:outerShdw>
              </a:effectLst>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60400" y="1511300"/>
            <a:ext cx="8458200" cy="4475712"/>
          </a:xfrm>
          <a:prstGeom prst="rect">
            <a:avLst/>
          </a:prstGeom>
        </p:spPr>
        <p:txBody>
          <a:bodyPr vert="horz" wrap="square" lIns="0" tIns="0" rIns="0" bIns="0" rtlCol="0">
            <a:spAutoFit/>
          </a:bodyPr>
          <a:lstStyle/>
          <a:p>
            <a:pPr>
              <a:lnSpc>
                <a:spcPct val="100000"/>
              </a:lnSpc>
              <a:spcBef>
                <a:spcPts val="10"/>
              </a:spcBef>
            </a:pPr>
            <a:endParaRPr sz="3850" dirty="0">
              <a:latin typeface="Times New Roman" panose="02020603050405020304"/>
              <a:cs typeface="Times New Roman" panose="02020603050405020304"/>
            </a:endParaRPr>
          </a:p>
          <a:p>
            <a:pPr marL="558800">
              <a:lnSpc>
                <a:spcPct val="100000"/>
              </a:lnSpc>
            </a:pPr>
            <a:r>
              <a:rPr sz="2800" b="1" u="sng" dirty="0">
                <a:latin typeface="Times New Roman" panose="02020603050405020304"/>
                <a:cs typeface="Times New Roman" panose="02020603050405020304"/>
              </a:rPr>
              <a:t>WHAT ARE DATA FLOW</a:t>
            </a:r>
            <a:r>
              <a:rPr sz="2800" b="1" u="sng" spc="-75" dirty="0">
                <a:latin typeface="Times New Roman" panose="02020603050405020304"/>
                <a:cs typeface="Times New Roman" panose="02020603050405020304"/>
              </a:rPr>
              <a:t> </a:t>
            </a:r>
            <a:r>
              <a:rPr sz="2800" b="1" u="sng" dirty="0">
                <a:latin typeface="Times New Roman" panose="02020603050405020304"/>
                <a:cs typeface="Times New Roman" panose="02020603050405020304"/>
              </a:rPr>
              <a:t>DIAGRAMS</a:t>
            </a:r>
            <a:r>
              <a:rPr sz="2800" b="1" u="sng" dirty="0" smtClean="0">
                <a:latin typeface="Times New Roman" panose="02020603050405020304"/>
                <a:cs typeface="Times New Roman" panose="02020603050405020304"/>
              </a:rPr>
              <a:t>?</a:t>
            </a:r>
            <a:endParaRPr sz="2900" dirty="0">
              <a:latin typeface="Times New Roman" panose="02020603050405020304"/>
              <a:cs typeface="Times New Roman" panose="02020603050405020304"/>
            </a:endParaRPr>
          </a:p>
          <a:p>
            <a:pPr marL="469900" indent="-457200">
              <a:lnSpc>
                <a:spcPct val="100000"/>
              </a:lnSpc>
              <a:buFont typeface="Wingdings" panose="05000000000000000000" pitchFamily="2" charset="2"/>
              <a:buChar char="q"/>
            </a:pPr>
            <a:r>
              <a:rPr sz="2800" spc="-5" dirty="0">
                <a:latin typeface="Times New Roman" panose="02020603050405020304"/>
                <a:cs typeface="Times New Roman" panose="02020603050405020304"/>
              </a:rPr>
              <a:t>DFDs models the system by</a:t>
            </a:r>
            <a:r>
              <a:rPr sz="2800" spc="-55"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depicting</a:t>
            </a:r>
            <a:endParaRPr sz="2800" dirty="0">
              <a:latin typeface="Times New Roman" panose="02020603050405020304"/>
              <a:cs typeface="Times New Roman" panose="02020603050405020304"/>
            </a:endParaRPr>
          </a:p>
          <a:p>
            <a:pPr marL="927100" marR="46990" lvl="1" indent="-457200">
              <a:spcBef>
                <a:spcPts val="1685"/>
              </a:spcBef>
              <a:buFont typeface="Wingdings" panose="05000000000000000000" pitchFamily="2" charset="2"/>
              <a:buChar char="§"/>
              <a:tabLst>
                <a:tab pos="264795" algn="l"/>
              </a:tabLst>
            </a:pPr>
            <a:r>
              <a:rPr sz="2800" b="1" spc="-5" dirty="0">
                <a:solidFill>
                  <a:srgbClr val="7030A0"/>
                </a:solidFill>
                <a:latin typeface="Times New Roman" panose="02020603050405020304"/>
                <a:cs typeface="Times New Roman" panose="02020603050405020304"/>
              </a:rPr>
              <a:t>External entities </a:t>
            </a:r>
            <a:r>
              <a:rPr sz="2800" spc="-5" dirty="0">
                <a:latin typeface="Times New Roman" panose="02020603050405020304"/>
                <a:cs typeface="Times New Roman" panose="02020603050405020304"/>
              </a:rPr>
              <a:t>from which the data flows and  where results</a:t>
            </a:r>
            <a:r>
              <a:rPr sz="2800" spc="-80"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terminate</a:t>
            </a:r>
            <a:endParaRPr sz="2800" dirty="0">
              <a:latin typeface="Times New Roman" panose="02020603050405020304"/>
              <a:cs typeface="Times New Roman" panose="02020603050405020304"/>
            </a:endParaRPr>
          </a:p>
          <a:p>
            <a:pPr marL="927100" lvl="1" indent="-457200">
              <a:spcBef>
                <a:spcPts val="1685"/>
              </a:spcBef>
              <a:buFont typeface="Wingdings" panose="05000000000000000000" pitchFamily="2" charset="2"/>
              <a:buChar char="§"/>
              <a:tabLst>
                <a:tab pos="264795" algn="l"/>
              </a:tabLst>
            </a:pPr>
            <a:r>
              <a:rPr sz="2800" b="1" spc="-5" dirty="0">
                <a:solidFill>
                  <a:srgbClr val="7030A0"/>
                </a:solidFill>
                <a:latin typeface="Times New Roman" panose="02020603050405020304"/>
                <a:cs typeface="Times New Roman" panose="02020603050405020304"/>
              </a:rPr>
              <a:t>Processes</a:t>
            </a:r>
            <a:r>
              <a:rPr sz="2800" spc="-5" dirty="0">
                <a:latin typeface="Times New Roman" panose="02020603050405020304"/>
                <a:cs typeface="Times New Roman" panose="02020603050405020304"/>
              </a:rPr>
              <a:t> which transform data</a:t>
            </a:r>
            <a:r>
              <a:rPr sz="2800" spc="-50"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flows</a:t>
            </a:r>
            <a:endParaRPr sz="2800" dirty="0">
              <a:latin typeface="Times New Roman" panose="02020603050405020304"/>
              <a:cs typeface="Times New Roman" panose="02020603050405020304"/>
            </a:endParaRPr>
          </a:p>
          <a:p>
            <a:pPr marL="927100" marR="5080" lvl="1" indent="-457200">
              <a:lnSpc>
                <a:spcPts val="5050"/>
              </a:lnSpc>
              <a:spcBef>
                <a:spcPts val="450"/>
              </a:spcBef>
              <a:buFont typeface="Wingdings" panose="05000000000000000000" pitchFamily="2" charset="2"/>
              <a:buChar char="§"/>
              <a:tabLst>
                <a:tab pos="264795" algn="l"/>
              </a:tabLst>
            </a:pPr>
            <a:r>
              <a:rPr sz="2800" b="1" spc="-5" dirty="0">
                <a:solidFill>
                  <a:srgbClr val="7030A0"/>
                </a:solidFill>
                <a:latin typeface="Times New Roman" panose="02020603050405020304"/>
                <a:cs typeface="Times New Roman" panose="02020603050405020304"/>
              </a:rPr>
              <a:t>Data stores </a:t>
            </a:r>
            <a:r>
              <a:rPr sz="2800" spc="-5" dirty="0">
                <a:latin typeface="Times New Roman" panose="02020603050405020304"/>
                <a:cs typeface="Times New Roman" panose="02020603050405020304"/>
              </a:rPr>
              <a:t>from which the data are read or into  which data are written by the</a:t>
            </a:r>
            <a:r>
              <a:rPr sz="2800" spc="-50" dirty="0">
                <a:latin typeface="Times New Roman" panose="02020603050405020304"/>
                <a:cs typeface="Times New Roman" panose="02020603050405020304"/>
              </a:rPr>
              <a:t> </a:t>
            </a:r>
            <a:r>
              <a:rPr sz="2800" spc="-5" dirty="0">
                <a:latin typeface="Times New Roman" panose="02020603050405020304"/>
                <a:cs typeface="Times New Roman" panose="02020603050405020304"/>
              </a:rPr>
              <a:t>processes.</a:t>
            </a:r>
            <a:endParaRPr sz="2800" dirty="0">
              <a:latin typeface="Times New Roman" panose="02020603050405020304"/>
              <a:cs typeface="Times New Roman" panose="02020603050405020304"/>
            </a:endParaRPr>
          </a:p>
        </p:txBody>
      </p:sp>
      <p:sp>
        <p:nvSpPr>
          <p:cNvPr id="3" name="Rectangle 2"/>
          <p:cNvSpPr/>
          <p:nvPr/>
        </p:nvSpPr>
        <p:spPr>
          <a:xfrm>
            <a:off x="0" y="825500"/>
            <a:ext cx="7785465" cy="923330"/>
          </a:xfrm>
          <a:prstGeom prst="rect">
            <a:avLst/>
          </a:prstGeom>
        </p:spPr>
        <p:txBody>
          <a:bodyPr wrap="none">
            <a:spAutoFit/>
          </a:bodyPr>
          <a:lstStyle/>
          <a:p>
            <a:pPr marL="1488440">
              <a:lnSpc>
                <a:spcPct val="100000"/>
              </a:lnSpc>
            </a:pPr>
            <a:r>
              <a:rPr lang="en-US" sz="5400" b="1" u="sng" spc="-5" dirty="0" smtClean="0">
                <a:solidFill>
                  <a:srgbClr val="002060"/>
                </a:solidFill>
                <a:latin typeface="Times New Roman" panose="02020603050405020304"/>
                <a:cs typeface="Times New Roman" panose="02020603050405020304"/>
              </a:rPr>
              <a:t>Data Flow</a:t>
            </a:r>
            <a:r>
              <a:rPr lang="en-US" sz="5400" b="1" u="sng" spc="-65" dirty="0" smtClean="0">
                <a:solidFill>
                  <a:srgbClr val="002060"/>
                </a:solidFill>
                <a:latin typeface="Times New Roman" panose="02020603050405020304"/>
                <a:cs typeface="Times New Roman" panose="02020603050405020304"/>
              </a:rPr>
              <a:t> </a:t>
            </a:r>
            <a:r>
              <a:rPr lang="en-US" sz="5400" b="1" u="sng" spc="-5" dirty="0" smtClean="0">
                <a:solidFill>
                  <a:srgbClr val="002060"/>
                </a:solidFill>
                <a:latin typeface="Times New Roman" panose="02020603050405020304"/>
                <a:cs typeface="Times New Roman" panose="02020603050405020304"/>
              </a:rPr>
              <a:t>Diagrams</a:t>
            </a:r>
            <a:endParaRPr lang="en-US" sz="5400" b="1" u="sng" dirty="0">
              <a:solidFill>
                <a:srgbClr val="002060"/>
              </a:solidFill>
              <a:latin typeface="Times New Roman" panose="02020603050405020304"/>
              <a:cs typeface="Times New Roman" panose="02020603050405020304"/>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106343" y="874088"/>
            <a:ext cx="6434032" cy="717299"/>
          </a:xfrm>
          <a:noFill/>
          <a:extLst>
            <a:ext uri="{91240B29-F687-4F45-9708-019B960494DF}">
              <a14:hiddenLine xmlns:a14="http://schemas.microsoft.com/office/drawing/2010/main" w="12700">
                <a:solidFill>
                  <a:schemeClr val="tx1"/>
                </a:solidFill>
                <a:miter lim="800000"/>
                <a:headEnd/>
                <a:tailEnd/>
              </a14:hiddenLine>
            </a:ext>
          </a:extLst>
        </p:spPr>
        <p:txBody>
          <a:bodyPr wrap="square" lIns="90152" tIns="44285" rIns="90152" bIns="44285" anchor="ctr">
            <a:spAutoFit/>
          </a:bodyPr>
          <a:lstStyle/>
          <a:p>
            <a:pPr eaLnBrk="1" hangingPunct="1"/>
            <a:r>
              <a:rPr lang="en-US" altLang="en-US" sz="4800" b="1" u="sng" dirty="0" smtClean="0">
                <a:solidFill>
                  <a:srgbClr val="002060"/>
                </a:solidFill>
                <a:latin typeface="Times New Roman" panose="02020603050405020304" pitchFamily="18" charset="0"/>
                <a:cs typeface="Times New Roman" panose="02020603050405020304" pitchFamily="18" charset="0"/>
              </a:rPr>
              <a:t>Flow Modeling Notation</a:t>
            </a:r>
            <a:endParaRPr lang="en-US" altLang="en-US" sz="4800" b="1" u="sng" dirty="0" smtClean="0">
              <a:solidFill>
                <a:srgbClr val="002060"/>
              </a:solidFill>
              <a:latin typeface="Times New Roman" panose="02020603050405020304" pitchFamily="18" charset="0"/>
              <a:cs typeface="Times New Roman" panose="02020603050405020304" pitchFamily="18" charset="0"/>
            </a:endParaRPr>
          </a:p>
        </p:txBody>
      </p:sp>
      <p:sp>
        <p:nvSpPr>
          <p:cNvPr id="13" name="Slide Number Placeholder 4"/>
          <p:cNvSpPr>
            <a:spLocks noGrp="1"/>
          </p:cNvSpPr>
          <p:nvPr>
            <p:ph type="sldNum" sz="quarter" idx="12"/>
          </p:nvPr>
        </p:nvSpPr>
        <p:spPr>
          <a:xfrm>
            <a:off x="7520093" y="6225258"/>
            <a:ext cx="1290602" cy="455507"/>
          </a:xfrm>
          <a:prstGeom prst="rect">
            <a:avLst/>
          </a:prstGeom>
        </p:spPr>
        <p:txBody>
          <a:bodyPr/>
          <a:lstStyle/>
          <a:p>
            <a:pPr>
              <a:defRPr/>
            </a:pPr>
            <a:fld id="{D97D4641-16E0-4460-8476-9ECCF379F885}" type="slidenum">
              <a:rPr lang="en-US" altLang="en-US"/>
            </a:fld>
            <a:endParaRPr lang="en-US" altLang="en-US"/>
          </a:p>
        </p:txBody>
      </p:sp>
      <p:sp>
        <p:nvSpPr>
          <p:cNvPr id="8196" name="Rectangle 3"/>
          <p:cNvSpPr>
            <a:spLocks noChangeArrowheads="1"/>
          </p:cNvSpPr>
          <p:nvPr/>
        </p:nvSpPr>
        <p:spPr bwMode="auto">
          <a:xfrm>
            <a:off x="2966609" y="1978608"/>
            <a:ext cx="961625" cy="895197"/>
          </a:xfrm>
          <a:prstGeom prst="rect">
            <a:avLst/>
          </a:prstGeom>
          <a:solidFill>
            <a:schemeClr val="folHlink"/>
          </a:solidFill>
          <a:ln w="25400">
            <a:solidFill>
              <a:schemeClr val="tx1"/>
            </a:solidFill>
            <a:miter lim="800000"/>
          </a:ln>
          <a:effectLst>
            <a:outerShdw dist="107763" dir="2700000" algn="ctr" rotWithShape="0">
              <a:schemeClr val="bg2"/>
            </a:outerShdw>
          </a:effec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8197" name="Oval 4"/>
          <p:cNvSpPr>
            <a:spLocks noChangeArrowheads="1"/>
          </p:cNvSpPr>
          <p:nvPr/>
        </p:nvSpPr>
        <p:spPr bwMode="auto">
          <a:xfrm>
            <a:off x="2889109" y="3264465"/>
            <a:ext cx="1126114" cy="1097645"/>
          </a:xfrm>
          <a:prstGeom prst="ellipse">
            <a:avLst/>
          </a:prstGeom>
          <a:solidFill>
            <a:schemeClr val="folHlink"/>
          </a:solidFill>
          <a:ln w="25400">
            <a:solidFill>
              <a:schemeClr val="tx1"/>
            </a:solidFill>
            <a:round/>
          </a:ln>
          <a:effectLst>
            <a:outerShdw dist="107763" dir="2700000" algn="ctr" rotWithShape="0">
              <a:schemeClr val="bg2"/>
            </a:outerShdw>
          </a:effec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8198" name="Line 5"/>
          <p:cNvSpPr>
            <a:spLocks noChangeShapeType="1"/>
          </p:cNvSpPr>
          <p:nvPr/>
        </p:nvSpPr>
        <p:spPr bwMode="auto">
          <a:xfrm flipV="1">
            <a:off x="2941303" y="4545577"/>
            <a:ext cx="1100808" cy="670607"/>
          </a:xfrm>
          <a:prstGeom prst="line">
            <a:avLst/>
          </a:prstGeom>
          <a:noFill/>
          <a:ln w="508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8199" name="Line 6"/>
          <p:cNvSpPr>
            <a:spLocks noChangeShapeType="1"/>
          </p:cNvSpPr>
          <p:nvPr/>
        </p:nvSpPr>
        <p:spPr bwMode="auto">
          <a:xfrm>
            <a:off x="2890691" y="5633732"/>
            <a:ext cx="1353867" cy="0"/>
          </a:xfrm>
          <a:prstGeom prst="line">
            <a:avLst/>
          </a:prstGeom>
          <a:noFill/>
          <a:ln w="508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8200" name="Line 7"/>
          <p:cNvSpPr>
            <a:spLocks noChangeShapeType="1"/>
          </p:cNvSpPr>
          <p:nvPr/>
        </p:nvSpPr>
        <p:spPr bwMode="auto">
          <a:xfrm>
            <a:off x="2903344" y="5950056"/>
            <a:ext cx="1353867" cy="0"/>
          </a:xfrm>
          <a:prstGeom prst="line">
            <a:avLst/>
          </a:prstGeom>
          <a:noFill/>
          <a:ln w="508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168968" name="Rectangle 8"/>
          <p:cNvSpPr>
            <a:spLocks noChangeArrowheads="1"/>
          </p:cNvSpPr>
          <p:nvPr/>
        </p:nvSpPr>
        <p:spPr bwMode="auto">
          <a:xfrm>
            <a:off x="4635218" y="2125698"/>
            <a:ext cx="1714536" cy="36534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795" b="1"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External </a:t>
            </a:r>
            <a:r>
              <a:rPr lang="en-US" altLang="en-US" sz="1795"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E</a:t>
            </a:r>
            <a:r>
              <a:rPr lang="en-US" altLang="en-US" sz="1795" b="1"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ntity</a:t>
            </a:r>
            <a:endParaRPr lang="en-US" altLang="en-US" sz="1795"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68969" name="Rectangle 9"/>
          <p:cNvSpPr>
            <a:spLocks noChangeArrowheads="1"/>
          </p:cNvSpPr>
          <p:nvPr/>
        </p:nvSpPr>
        <p:spPr bwMode="auto">
          <a:xfrm>
            <a:off x="4723789" y="3441606"/>
            <a:ext cx="921691" cy="36534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795" b="1"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Process</a:t>
            </a:r>
            <a:endParaRPr lang="en-US" altLang="en-US" sz="1795"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68970" name="Rectangle 10"/>
          <p:cNvSpPr>
            <a:spLocks noChangeArrowheads="1"/>
          </p:cNvSpPr>
          <p:nvPr/>
        </p:nvSpPr>
        <p:spPr bwMode="auto">
          <a:xfrm>
            <a:off x="4749095" y="4580372"/>
            <a:ext cx="1137455" cy="36534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795" b="1"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Data </a:t>
            </a:r>
            <a:r>
              <a:rPr lang="en-US" altLang="en-US" sz="1795"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flow</a:t>
            </a:r>
            <a:endParaRPr lang="en-US" altLang="en-US" sz="1795"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68971" name="Rectangle 11"/>
          <p:cNvSpPr>
            <a:spLocks noChangeArrowheads="1"/>
          </p:cNvSpPr>
          <p:nvPr/>
        </p:nvSpPr>
        <p:spPr bwMode="auto">
          <a:xfrm>
            <a:off x="4723788" y="5502458"/>
            <a:ext cx="1197407" cy="36534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795" b="1"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Data </a:t>
            </a:r>
            <a:r>
              <a:rPr lang="en-US" altLang="en-US" sz="1795"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store</a:t>
            </a:r>
            <a:endParaRPr lang="en-US" altLang="en-US" sz="1795"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type="title"/>
          </p:nvPr>
        </p:nvSpPr>
        <p:spPr>
          <a:xfrm>
            <a:off x="2016055" y="969859"/>
            <a:ext cx="6453011" cy="795782"/>
          </a:xfrm>
          <a:noFill/>
          <a:extLst>
            <a:ext uri="{91240B29-F687-4F45-9708-019B960494DF}">
              <a14:hiddenLine xmlns:a14="http://schemas.microsoft.com/office/drawing/2010/main" w="12700">
                <a:solidFill>
                  <a:schemeClr val="tx1"/>
                </a:solidFill>
                <a:miter lim="800000"/>
                <a:headEnd/>
                <a:tailEnd/>
              </a14:hiddenLine>
            </a:ext>
          </a:extLst>
        </p:spPr>
        <p:txBody>
          <a:bodyPr wrap="square" lIns="90152" tIns="44285" rIns="90152" bIns="44285" anchor="ctr">
            <a:spAutoFit/>
          </a:bodyPr>
          <a:lstStyle/>
          <a:p>
            <a:pPr eaLnBrk="1" hangingPunct="1"/>
            <a:r>
              <a:rPr lang="en-US" altLang="en-US" sz="5400" b="1" u="sng" dirty="0" smtClean="0">
                <a:solidFill>
                  <a:srgbClr val="002060"/>
                </a:solidFill>
                <a:latin typeface="Times New Roman" panose="02020603050405020304" pitchFamily="18" charset="0"/>
                <a:cs typeface="Times New Roman" panose="02020603050405020304" pitchFamily="18" charset="0"/>
              </a:rPr>
              <a:t>External Entity</a:t>
            </a:r>
            <a:endParaRPr lang="en-US" altLang="en-US" sz="5400" b="1" u="sng" dirty="0" smtClean="0">
              <a:solidFill>
                <a:srgbClr val="002060"/>
              </a:solidFill>
              <a:latin typeface="Times New Roman" panose="02020603050405020304" pitchFamily="18" charset="0"/>
              <a:cs typeface="Times New Roman" panose="02020603050405020304" pitchFamily="18" charset="0"/>
            </a:endParaRPr>
          </a:p>
        </p:txBody>
      </p:sp>
      <p:sp>
        <p:nvSpPr>
          <p:cNvPr id="9" name="Slide Number Placeholder 4"/>
          <p:cNvSpPr>
            <a:spLocks noGrp="1"/>
          </p:cNvSpPr>
          <p:nvPr>
            <p:ph type="sldNum" sz="quarter" idx="12"/>
          </p:nvPr>
        </p:nvSpPr>
        <p:spPr>
          <a:xfrm>
            <a:off x="7520093" y="6225258"/>
            <a:ext cx="1290602" cy="455507"/>
          </a:xfrm>
          <a:prstGeom prst="rect">
            <a:avLst/>
          </a:prstGeom>
        </p:spPr>
        <p:txBody>
          <a:bodyPr/>
          <a:lstStyle/>
          <a:p>
            <a:pPr>
              <a:defRPr/>
            </a:pPr>
            <a:fld id="{2F4D9530-62A4-4729-AA32-447C1C845098}" type="slidenum">
              <a:rPr lang="en-US" altLang="en-US"/>
            </a:fld>
            <a:endParaRPr lang="en-US" altLang="en-US"/>
          </a:p>
        </p:txBody>
      </p:sp>
      <p:sp>
        <p:nvSpPr>
          <p:cNvPr id="9219" name="Rectangle 2"/>
          <p:cNvSpPr>
            <a:spLocks noChangeArrowheads="1"/>
          </p:cNvSpPr>
          <p:nvPr/>
        </p:nvSpPr>
        <p:spPr bwMode="auto">
          <a:xfrm>
            <a:off x="2080901" y="1913761"/>
            <a:ext cx="986931" cy="923666"/>
          </a:xfrm>
          <a:prstGeom prst="rect">
            <a:avLst/>
          </a:prstGeom>
          <a:solidFill>
            <a:schemeClr val="folHlink"/>
          </a:solidFill>
          <a:ln>
            <a:noFill/>
          </a:ln>
          <a:effectLst>
            <a:outerShdw dist="107763" dir="2700000" algn="ctr" rotWithShape="0">
              <a:schemeClr val="bg2"/>
            </a:outerShdw>
          </a:effectLst>
          <a:extLst>
            <a:ext uri="{91240B29-F687-4F45-9708-019B960494DF}">
              <a14:hiddenLine xmlns:a14="http://schemas.microsoft.com/office/drawing/2010/main" w="25400">
                <a:solidFill>
                  <a:schemeClr val="tx1"/>
                </a:solidFill>
                <a:miter lim="800000"/>
                <a:headEnd/>
                <a:tailEnd/>
              </a14:hiddenLine>
            </a:ext>
          </a:ex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169988" name="Rectangle 4"/>
          <p:cNvSpPr>
            <a:spLocks noChangeArrowheads="1"/>
          </p:cNvSpPr>
          <p:nvPr/>
        </p:nvSpPr>
        <p:spPr bwMode="auto">
          <a:xfrm>
            <a:off x="2205850" y="2125698"/>
            <a:ext cx="5772249" cy="58187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32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A producer or consumer of </a:t>
            </a:r>
            <a:r>
              <a:rPr lang="en-US" altLang="en-US" sz="3200" b="1"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data</a:t>
            </a:r>
            <a:endParaRPr lang="en-US" altLang="en-US" sz="3200"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69989" name="Rectangle 5"/>
          <p:cNvSpPr>
            <a:spLocks noChangeArrowheads="1"/>
          </p:cNvSpPr>
          <p:nvPr/>
        </p:nvSpPr>
        <p:spPr bwMode="auto">
          <a:xfrm>
            <a:off x="2041360" y="3060436"/>
            <a:ext cx="5981729" cy="52032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2800" b="1" i="1" dirty="0">
                <a:effectLst>
                  <a:outerShdw blurRad="38100" dist="38100" dir="2700000" algn="tl">
                    <a:srgbClr val="FFFFFF"/>
                  </a:outerShdw>
                </a:effectLst>
                <a:latin typeface="Times New Roman" panose="02020603050405020304" pitchFamily="18" charset="0"/>
                <a:cs typeface="Times New Roman" panose="02020603050405020304" pitchFamily="18" charset="0"/>
              </a:rPr>
              <a:t>Examples:</a:t>
            </a:r>
            <a:r>
              <a:rPr lang="en-US" altLang="en-US" sz="28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 a person, a device, a sensor</a:t>
            </a:r>
            <a:endParaRPr lang="en-US" altLang="en-US" sz="2800"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69990" name="Rectangle 6"/>
          <p:cNvSpPr>
            <a:spLocks noChangeArrowheads="1"/>
          </p:cNvSpPr>
          <p:nvPr/>
        </p:nvSpPr>
        <p:spPr bwMode="auto">
          <a:xfrm>
            <a:off x="2041360" y="3732624"/>
            <a:ext cx="6251740" cy="45876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lIns="90152" tIns="44285" rIns="90152" bIns="44285">
            <a:spAutoFit/>
          </a:bodyPr>
          <a:lstStyle/>
          <a:p>
            <a:pPr>
              <a:defRPr/>
            </a:pPr>
            <a:r>
              <a:rPr lang="en-US" altLang="en-US" sz="2400" dirty="0">
                <a:effectLst>
                  <a:outerShdw blurRad="38100" dist="38100" dir="2700000" algn="tl">
                    <a:srgbClr val="FFFFFF"/>
                  </a:outerShdw>
                </a:effectLst>
                <a:latin typeface="Times New Roman" panose="02020603050405020304" pitchFamily="18" charset="0"/>
                <a:cs typeface="Times New Roman" panose="02020603050405020304" pitchFamily="18" charset="0"/>
              </a:rPr>
              <a:t>Another example: </a:t>
            </a:r>
            <a:r>
              <a:rPr lang="en-US" altLang="en-US" sz="2400"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computer-based system</a:t>
            </a:r>
            <a:endParaRPr lang="en-US" altLang="en-US" sz="2400"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69991" name="Rectangle 7"/>
          <p:cNvSpPr>
            <a:spLocks noChangeArrowheads="1"/>
          </p:cNvSpPr>
          <p:nvPr/>
        </p:nvSpPr>
        <p:spPr bwMode="auto">
          <a:xfrm>
            <a:off x="2016054" y="4719555"/>
            <a:ext cx="6048445" cy="951209"/>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lIns="90152" tIns="44285" rIns="90152" bIns="44285">
            <a:spAutoFit/>
          </a:bodyPr>
          <a:lstStyle/>
          <a:p>
            <a:pPr>
              <a:defRPr/>
            </a:pPr>
            <a:r>
              <a:rPr lang="en-US" altLang="en-US" sz="2800" b="1" i="1" dirty="0">
                <a:latin typeface="Times New Roman" panose="02020603050405020304" pitchFamily="18" charset="0"/>
                <a:cs typeface="Times New Roman" panose="02020603050405020304" pitchFamily="18" charset="0"/>
              </a:rPr>
              <a:t>Data must always originate </a:t>
            </a:r>
            <a:r>
              <a:rPr lang="en-US" altLang="en-US" sz="2800" b="1" i="1" dirty="0" smtClean="0">
                <a:latin typeface="Times New Roman" panose="02020603050405020304" pitchFamily="18" charset="0"/>
                <a:cs typeface="Times New Roman" panose="02020603050405020304" pitchFamily="18" charset="0"/>
              </a:rPr>
              <a:t>somewhere and </a:t>
            </a:r>
            <a:r>
              <a:rPr lang="en-US" altLang="en-US" sz="2800" b="1" i="1" dirty="0">
                <a:latin typeface="Times New Roman" panose="02020603050405020304" pitchFamily="18" charset="0"/>
                <a:cs typeface="Times New Roman" panose="02020603050405020304" pitchFamily="18" charset="0"/>
              </a:rPr>
              <a:t>must always be sent to something</a:t>
            </a:r>
            <a:endParaRPr lang="en-US" altLang="en-US" sz="2800" b="1" i="1" dirty="0">
              <a:effectLst>
                <a:outerShdw blurRad="38100" dist="38100" dir="2700000" algn="tl">
                  <a:srgbClr val="000000"/>
                </a:outerShdw>
              </a:effectLst>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1218918" y="1027942"/>
            <a:ext cx="5415468" cy="795782"/>
          </a:xfrm>
          <a:noFill/>
          <a:extLst>
            <a:ext uri="{91240B29-F687-4F45-9708-019B960494DF}">
              <a14:hiddenLine xmlns:a14="http://schemas.microsoft.com/office/drawing/2010/main" w="12700">
                <a:solidFill>
                  <a:schemeClr val="tx1"/>
                </a:solidFill>
                <a:miter lim="800000"/>
                <a:headEnd/>
                <a:tailEnd/>
              </a14:hiddenLine>
            </a:ext>
          </a:extLst>
        </p:spPr>
        <p:txBody>
          <a:bodyPr wrap="square" lIns="90152" tIns="44285" rIns="90152" bIns="44285" anchor="ctr">
            <a:spAutoFit/>
          </a:bodyPr>
          <a:lstStyle/>
          <a:p>
            <a:pPr algn="ctr" eaLnBrk="1" hangingPunct="1"/>
            <a:r>
              <a:rPr lang="en-US" altLang="en-US" sz="5400" b="1" u="sng" dirty="0" smtClean="0">
                <a:solidFill>
                  <a:srgbClr val="002060"/>
                </a:solidFill>
                <a:latin typeface="Times New Roman" panose="02020603050405020304" pitchFamily="18" charset="0"/>
                <a:cs typeface="Times New Roman" panose="02020603050405020304" pitchFamily="18" charset="0"/>
              </a:rPr>
              <a:t>Process</a:t>
            </a:r>
            <a:endParaRPr lang="en-US" altLang="en-US" sz="5400" b="1" u="sng" dirty="0" smtClean="0">
              <a:solidFill>
                <a:srgbClr val="002060"/>
              </a:solidFill>
              <a:latin typeface="Times New Roman" panose="02020603050405020304" pitchFamily="18" charset="0"/>
              <a:cs typeface="Times New Roman" panose="02020603050405020304" pitchFamily="18" charset="0"/>
            </a:endParaRPr>
          </a:p>
        </p:txBody>
      </p:sp>
      <p:sp>
        <p:nvSpPr>
          <p:cNvPr id="9" name="Slide Number Placeholder 4"/>
          <p:cNvSpPr>
            <a:spLocks noGrp="1"/>
          </p:cNvSpPr>
          <p:nvPr>
            <p:ph type="sldNum" sz="quarter" idx="12"/>
          </p:nvPr>
        </p:nvSpPr>
        <p:spPr>
          <a:xfrm>
            <a:off x="7520093" y="6225258"/>
            <a:ext cx="1290602" cy="455507"/>
          </a:xfrm>
          <a:prstGeom prst="rect">
            <a:avLst/>
          </a:prstGeom>
        </p:spPr>
        <p:txBody>
          <a:bodyPr/>
          <a:lstStyle/>
          <a:p>
            <a:pPr>
              <a:defRPr/>
            </a:pPr>
            <a:fld id="{12C1E55B-DF0B-4008-99D6-B5CFEDFF5465}" type="slidenum">
              <a:rPr lang="en-US" altLang="en-US">
                <a:solidFill>
                  <a:schemeClr val="tx1"/>
                </a:solidFill>
                <a:latin typeface="Times New Roman" panose="02020603050405020304" pitchFamily="18" charset="0"/>
                <a:cs typeface="Times New Roman" panose="02020603050405020304" pitchFamily="18" charset="0"/>
              </a:rPr>
            </a:fld>
            <a:endParaRPr lang="en-US" altLang="en-US">
              <a:solidFill>
                <a:schemeClr val="tx1"/>
              </a:solidFill>
              <a:latin typeface="Times New Roman" panose="02020603050405020304" pitchFamily="18" charset="0"/>
              <a:cs typeface="Times New Roman" panose="02020603050405020304" pitchFamily="18" charset="0"/>
            </a:endParaRPr>
          </a:p>
        </p:txBody>
      </p:sp>
      <p:sp>
        <p:nvSpPr>
          <p:cNvPr id="10244" name="Oval 3"/>
          <p:cNvSpPr>
            <a:spLocks noChangeArrowheads="1"/>
          </p:cNvSpPr>
          <p:nvPr/>
        </p:nvSpPr>
        <p:spPr bwMode="auto">
          <a:xfrm>
            <a:off x="1840495" y="1905853"/>
            <a:ext cx="1126114" cy="1126114"/>
          </a:xfrm>
          <a:prstGeom prst="ellipse">
            <a:avLst/>
          </a:prstGeom>
          <a:solidFill>
            <a:schemeClr val="folHlink"/>
          </a:solidFill>
          <a:ln>
            <a:noFill/>
          </a:ln>
          <a:effectLst>
            <a:outerShdw dist="107763" dir="2700000" algn="ctr" rotWithShape="0">
              <a:schemeClr val="bg2"/>
            </a:outerShdw>
          </a:effectLst>
          <a:extLst>
            <a:ext uri="{91240B29-F687-4F45-9708-019B960494DF}">
              <a14:hiddenLine xmlns:a14="http://schemas.microsoft.com/office/drawing/2010/main" w="25400">
                <a:solidFill>
                  <a:schemeClr val="tx1"/>
                </a:solidFill>
                <a:round/>
              </a14:hiddenLine>
            </a:ext>
          </a:ex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Times New Roman" panose="02020603050405020304" pitchFamily="18" charset="0"/>
              <a:cs typeface="Times New Roman" panose="02020603050405020304" pitchFamily="18" charset="0"/>
            </a:endParaRPr>
          </a:p>
        </p:txBody>
      </p:sp>
      <p:sp>
        <p:nvSpPr>
          <p:cNvPr id="10245" name="Rectangle 4"/>
          <p:cNvSpPr>
            <a:spLocks noChangeArrowheads="1"/>
          </p:cNvSpPr>
          <p:nvPr/>
        </p:nvSpPr>
        <p:spPr bwMode="auto">
          <a:xfrm>
            <a:off x="2406715" y="2479981"/>
            <a:ext cx="183468" cy="93316"/>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Times New Roman" panose="02020603050405020304" pitchFamily="18" charset="0"/>
              <a:cs typeface="Times New Roman" panose="02020603050405020304" pitchFamily="18" charset="0"/>
            </a:endParaRPr>
          </a:p>
        </p:txBody>
      </p:sp>
      <p:sp>
        <p:nvSpPr>
          <p:cNvPr id="171013" name="Rectangle 5"/>
          <p:cNvSpPr>
            <a:spLocks noChangeArrowheads="1"/>
          </p:cNvSpPr>
          <p:nvPr/>
        </p:nvSpPr>
        <p:spPr bwMode="auto">
          <a:xfrm>
            <a:off x="2357685" y="2125698"/>
            <a:ext cx="5485761" cy="82194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lnSpc>
                <a:spcPct val="85000"/>
              </a:lnSpc>
              <a:defRPr/>
            </a:pPr>
            <a:r>
              <a:rPr lang="en-US" altLang="en-US" sz="28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A data transformer (changes input</a:t>
            </a:r>
            <a:endParaRPr lang="en-US" altLang="en-US" sz="2800"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a:p>
            <a:pPr>
              <a:lnSpc>
                <a:spcPct val="85000"/>
              </a:lnSpc>
              <a:defRPr/>
            </a:pPr>
            <a:r>
              <a:rPr lang="en-US" altLang="en-US" sz="28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to output)</a:t>
            </a:r>
            <a:endParaRPr lang="en-US" altLang="en-US" sz="2800"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71014" name="Rectangle 6"/>
          <p:cNvSpPr>
            <a:spLocks noChangeArrowheads="1"/>
          </p:cNvSpPr>
          <p:nvPr/>
        </p:nvSpPr>
        <p:spPr bwMode="auto">
          <a:xfrm>
            <a:off x="1889524" y="3193292"/>
            <a:ext cx="6022575" cy="951209"/>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lIns="90152" tIns="44285" rIns="90152" bIns="44285">
            <a:spAutoFit/>
          </a:bodyPr>
          <a:lstStyle/>
          <a:p>
            <a:pPr>
              <a:defRPr/>
            </a:pPr>
            <a:r>
              <a:rPr lang="en-US" altLang="en-US" sz="2800" dirty="0">
                <a:effectLst>
                  <a:outerShdw blurRad="38100" dist="38100" dir="2700000" algn="tl">
                    <a:srgbClr val="FFFFFF"/>
                  </a:outerShdw>
                </a:effectLst>
                <a:latin typeface="Times New Roman" panose="02020603050405020304" pitchFamily="18" charset="0"/>
                <a:cs typeface="Times New Roman" panose="02020603050405020304" pitchFamily="18" charset="0"/>
              </a:rPr>
              <a:t>Examples: </a:t>
            </a:r>
            <a:r>
              <a:rPr lang="en-US" altLang="en-US" sz="2800" i="1" dirty="0">
                <a:effectLst>
                  <a:outerShdw blurRad="38100" dist="38100" dir="2700000" algn="tl">
                    <a:srgbClr val="FFFFFF"/>
                  </a:outerShdw>
                </a:effectLst>
                <a:latin typeface="Times New Roman" panose="02020603050405020304" pitchFamily="18" charset="0"/>
                <a:cs typeface="Times New Roman" panose="02020603050405020304" pitchFamily="18" charset="0"/>
              </a:rPr>
              <a:t>compute taxes, determine </a:t>
            </a:r>
            <a:r>
              <a:rPr lang="en-US" altLang="en-US" sz="2800" i="1"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area, format </a:t>
            </a:r>
            <a:r>
              <a:rPr lang="en-US" altLang="en-US" sz="2800" i="1" dirty="0">
                <a:effectLst>
                  <a:outerShdw blurRad="38100" dist="38100" dir="2700000" algn="tl">
                    <a:srgbClr val="FFFFFF"/>
                  </a:outerShdw>
                </a:effectLst>
                <a:latin typeface="Times New Roman" panose="02020603050405020304" pitchFamily="18" charset="0"/>
                <a:cs typeface="Times New Roman" panose="02020603050405020304" pitchFamily="18" charset="0"/>
              </a:rPr>
              <a:t>report, display graph</a:t>
            </a:r>
            <a:r>
              <a:rPr lang="en-US" altLang="en-US" sz="2800" dirty="0">
                <a:effectLst>
                  <a:outerShdw blurRad="38100" dist="38100" dir="2700000" algn="tl">
                    <a:srgbClr val="FFFFFF"/>
                  </a:outerShdw>
                </a:effectLst>
                <a:latin typeface="Times New Roman" panose="02020603050405020304" pitchFamily="18" charset="0"/>
                <a:cs typeface="Times New Roman" panose="02020603050405020304" pitchFamily="18" charset="0"/>
              </a:rPr>
              <a:t> </a:t>
            </a:r>
            <a:endParaRPr lang="en-US" altLang="en-US" sz="2800"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71015" name="Rectangle 7"/>
          <p:cNvSpPr>
            <a:spLocks noChangeArrowheads="1"/>
          </p:cNvSpPr>
          <p:nvPr/>
        </p:nvSpPr>
        <p:spPr bwMode="auto">
          <a:xfrm>
            <a:off x="1835756" y="4774222"/>
            <a:ext cx="6921859" cy="107432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3200" i="1" dirty="0">
                <a:latin typeface="Times New Roman" panose="02020603050405020304" pitchFamily="18" charset="0"/>
                <a:cs typeface="Times New Roman" panose="02020603050405020304" pitchFamily="18" charset="0"/>
              </a:rPr>
              <a:t>Data must always be processed in some </a:t>
            </a:r>
            <a:r>
              <a:rPr lang="en-US" altLang="en-US" sz="3200" i="1" dirty="0" smtClean="0">
                <a:latin typeface="Times New Roman" panose="02020603050405020304" pitchFamily="18" charset="0"/>
                <a:cs typeface="Times New Roman" panose="02020603050405020304" pitchFamily="18" charset="0"/>
              </a:rPr>
              <a:t> </a:t>
            </a:r>
            <a:endParaRPr lang="en-US" altLang="en-US" sz="3200" i="1" dirty="0" smtClean="0">
              <a:latin typeface="Times New Roman" panose="02020603050405020304" pitchFamily="18" charset="0"/>
              <a:cs typeface="Times New Roman" panose="02020603050405020304" pitchFamily="18" charset="0"/>
            </a:endParaRPr>
          </a:p>
          <a:p>
            <a:pPr>
              <a:defRPr/>
            </a:pPr>
            <a:r>
              <a:rPr lang="en-US" altLang="en-US" sz="3200" i="1" dirty="0" smtClean="0">
                <a:latin typeface="Times New Roman" panose="02020603050405020304" pitchFamily="18" charset="0"/>
                <a:cs typeface="Times New Roman" panose="02020603050405020304" pitchFamily="18" charset="0"/>
              </a:rPr>
              <a:t>way </a:t>
            </a:r>
            <a:r>
              <a:rPr lang="en-US" altLang="en-US" sz="3200" i="1" dirty="0">
                <a:latin typeface="Times New Roman" panose="02020603050405020304" pitchFamily="18" charset="0"/>
                <a:cs typeface="Times New Roman" panose="02020603050405020304" pitchFamily="18" charset="0"/>
              </a:rPr>
              <a:t>to achieve system function</a:t>
            </a:r>
            <a:endParaRPr lang="en-US" altLang="en-US" sz="3200" i="1" dirty="0">
              <a:effectLst>
                <a:outerShdw blurRad="38100" dist="38100" dir="2700000" algn="tl">
                  <a:srgbClr val="000000"/>
                </a:outerShdw>
              </a:effectLst>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1218918" y="1057201"/>
            <a:ext cx="5192460" cy="795782"/>
          </a:xfrm>
          <a:noFill/>
          <a:extLst>
            <a:ext uri="{91240B29-F687-4F45-9708-019B960494DF}">
              <a14:hiddenLine xmlns:a14="http://schemas.microsoft.com/office/drawing/2010/main" w="12700">
                <a:solidFill>
                  <a:schemeClr val="tx1"/>
                </a:solidFill>
                <a:miter lim="800000"/>
                <a:headEnd/>
                <a:tailEnd/>
              </a14:hiddenLine>
            </a:ext>
          </a:extLst>
        </p:spPr>
        <p:txBody>
          <a:bodyPr wrap="square" lIns="90152" tIns="44285" rIns="90152" bIns="44285" anchor="ctr">
            <a:spAutoFit/>
          </a:bodyPr>
          <a:lstStyle/>
          <a:p>
            <a:pPr algn="ctr" eaLnBrk="1" hangingPunct="1"/>
            <a:r>
              <a:rPr lang="en-US" altLang="en-US" sz="5400" b="1" u="sng" dirty="0" smtClean="0">
                <a:solidFill>
                  <a:srgbClr val="002060"/>
                </a:solidFill>
                <a:latin typeface="Times New Roman" panose="02020603050405020304" pitchFamily="18" charset="0"/>
                <a:cs typeface="Times New Roman" panose="02020603050405020304" pitchFamily="18" charset="0"/>
              </a:rPr>
              <a:t>Data Flow</a:t>
            </a:r>
            <a:endParaRPr lang="en-US" altLang="en-US" sz="5400" b="1" u="sng" dirty="0" smtClean="0">
              <a:solidFill>
                <a:srgbClr val="002060"/>
              </a:solidFill>
              <a:latin typeface="Times New Roman" panose="02020603050405020304" pitchFamily="18" charset="0"/>
              <a:cs typeface="Times New Roman" panose="02020603050405020304" pitchFamily="18" charset="0"/>
            </a:endParaRPr>
          </a:p>
        </p:txBody>
      </p:sp>
      <p:sp>
        <p:nvSpPr>
          <p:cNvPr id="14" name="Slide Number Placeholder 4"/>
          <p:cNvSpPr>
            <a:spLocks noGrp="1"/>
          </p:cNvSpPr>
          <p:nvPr>
            <p:ph type="sldNum" sz="quarter" idx="12"/>
          </p:nvPr>
        </p:nvSpPr>
        <p:spPr>
          <a:xfrm>
            <a:off x="7520093" y="6225258"/>
            <a:ext cx="1290602" cy="455507"/>
          </a:xfrm>
          <a:prstGeom prst="rect">
            <a:avLst/>
          </a:prstGeom>
        </p:spPr>
        <p:txBody>
          <a:bodyPr/>
          <a:lstStyle/>
          <a:p>
            <a:pPr>
              <a:defRPr/>
            </a:pPr>
            <a:fld id="{A1ED0B06-E885-455A-9949-7B7CC16F345A}" type="slidenum">
              <a:rPr lang="en-US" altLang="en-US"/>
            </a:fld>
            <a:endParaRPr lang="en-US" altLang="en-US"/>
          </a:p>
        </p:txBody>
      </p:sp>
      <p:sp>
        <p:nvSpPr>
          <p:cNvPr id="11268" name="AutoShape 3"/>
          <p:cNvSpPr>
            <a:spLocks noChangeArrowheads="1"/>
          </p:cNvSpPr>
          <p:nvPr/>
        </p:nvSpPr>
        <p:spPr bwMode="auto">
          <a:xfrm>
            <a:off x="1902178" y="2125698"/>
            <a:ext cx="1809374" cy="287855"/>
          </a:xfrm>
          <a:prstGeom prst="rightArrow">
            <a:avLst>
              <a:gd name="adj1" fmla="val 50000"/>
              <a:gd name="adj2" fmla="val 314315"/>
            </a:avLst>
          </a:prstGeom>
          <a:solidFill>
            <a:schemeClr val="folHlink"/>
          </a:solidFill>
          <a:ln w="25400">
            <a:solidFill>
              <a:schemeClr val="tx1"/>
            </a:solidFill>
            <a:miter lim="800000"/>
          </a:ln>
          <a:effectLst>
            <a:outerShdw dist="107763" dir="2700000" algn="ctr" rotWithShape="0">
              <a:schemeClr val="bg2"/>
            </a:outerShdw>
          </a:effec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172036" name="Rectangle 4"/>
          <p:cNvSpPr>
            <a:spLocks noChangeArrowheads="1"/>
          </p:cNvSpPr>
          <p:nvPr/>
        </p:nvSpPr>
        <p:spPr bwMode="auto">
          <a:xfrm>
            <a:off x="2166310" y="2386666"/>
            <a:ext cx="6225322" cy="951209"/>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28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Data flows through a system, beginning</a:t>
            </a:r>
            <a:endParaRPr lang="en-US" altLang="en-US" sz="2800"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a:p>
            <a:pPr>
              <a:defRPr/>
            </a:pPr>
            <a:r>
              <a:rPr lang="en-US" altLang="en-US" sz="28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as input and transformed into output.</a:t>
            </a:r>
            <a:endParaRPr lang="en-US" altLang="en-US" sz="2800"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p:txBody>
      </p:sp>
      <p:sp>
        <p:nvSpPr>
          <p:cNvPr id="11270" name="Oval 5"/>
          <p:cNvSpPr>
            <a:spLocks noChangeArrowheads="1"/>
          </p:cNvSpPr>
          <p:nvPr/>
        </p:nvSpPr>
        <p:spPr bwMode="auto">
          <a:xfrm>
            <a:off x="4027876" y="3756349"/>
            <a:ext cx="1568967" cy="1467744"/>
          </a:xfrm>
          <a:prstGeom prst="ellipse">
            <a:avLst/>
          </a:prstGeom>
          <a:solidFill>
            <a:schemeClr val="folHlink"/>
          </a:solidFill>
          <a:ln>
            <a:noFill/>
          </a:ln>
          <a:effectLst>
            <a:outerShdw dist="107763" dir="2700000" algn="ctr" rotWithShape="0">
              <a:schemeClr val="bg2"/>
            </a:outerShdw>
          </a:effectLst>
          <a:extLst>
            <a:ext uri="{91240B29-F687-4F45-9708-019B960494DF}">
              <a14:hiddenLine xmlns:a14="http://schemas.microsoft.com/office/drawing/2010/main" w="25400">
                <a:solidFill>
                  <a:schemeClr val="tx1"/>
                </a:solidFill>
                <a:round/>
              </a14:hiddenLine>
            </a:ext>
          </a:ex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172038" name="Rectangle 6"/>
          <p:cNvSpPr>
            <a:spLocks noChangeArrowheads="1"/>
          </p:cNvSpPr>
          <p:nvPr/>
        </p:nvSpPr>
        <p:spPr bwMode="auto">
          <a:xfrm>
            <a:off x="4307994" y="3947724"/>
            <a:ext cx="1024548" cy="118898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lgn="ctr">
              <a:defRPr/>
            </a:pPr>
            <a:r>
              <a:rPr lang="en-US" altLang="en-US" sz="1795" b="1">
                <a:solidFill>
                  <a:schemeClr val="bg1"/>
                </a:solidFill>
                <a:effectLst>
                  <a:outerShdw blurRad="38100" dist="38100" dir="2700000" algn="tl">
                    <a:srgbClr val="000000"/>
                  </a:outerShdw>
                </a:effectLst>
              </a:rPr>
              <a:t>compute</a:t>
            </a:r>
            <a:endParaRPr lang="en-US" altLang="en-US" sz="1795" b="1">
              <a:solidFill>
                <a:schemeClr val="bg1"/>
              </a:solidFill>
              <a:effectLst>
                <a:outerShdw blurRad="38100" dist="38100" dir="2700000" algn="tl">
                  <a:srgbClr val="000000"/>
                </a:outerShdw>
              </a:effectLst>
            </a:endParaRPr>
          </a:p>
          <a:p>
            <a:pPr algn="ctr">
              <a:defRPr/>
            </a:pPr>
            <a:r>
              <a:rPr lang="en-US" altLang="en-US" sz="1795" b="1">
                <a:solidFill>
                  <a:schemeClr val="bg1"/>
                </a:solidFill>
                <a:effectLst>
                  <a:outerShdw blurRad="38100" dist="38100" dir="2700000" algn="tl">
                    <a:srgbClr val="000000"/>
                  </a:outerShdw>
                </a:effectLst>
              </a:rPr>
              <a:t>triangle </a:t>
            </a:r>
            <a:endParaRPr lang="en-US" altLang="en-US" sz="1795" b="1">
              <a:solidFill>
                <a:schemeClr val="bg1"/>
              </a:solidFill>
              <a:effectLst>
                <a:outerShdw blurRad="38100" dist="38100" dir="2700000" algn="tl">
                  <a:srgbClr val="000000"/>
                </a:outerShdw>
              </a:effectLst>
            </a:endParaRPr>
          </a:p>
          <a:p>
            <a:pPr algn="ctr">
              <a:defRPr/>
            </a:pPr>
            <a:r>
              <a:rPr lang="en-US" altLang="en-US" sz="1795" b="1">
                <a:solidFill>
                  <a:schemeClr val="bg1"/>
                </a:solidFill>
                <a:effectLst>
                  <a:outerShdw blurRad="38100" dist="38100" dir="2700000" algn="tl">
                    <a:srgbClr val="000000"/>
                  </a:outerShdw>
                </a:effectLst>
              </a:rPr>
              <a:t>area</a:t>
            </a:r>
            <a:endParaRPr lang="en-US" altLang="en-US" sz="1795" b="1">
              <a:solidFill>
                <a:schemeClr val="bg1"/>
              </a:solidFill>
              <a:effectLst>
                <a:outerShdw blurRad="38100" dist="38100" dir="2700000" algn="tl">
                  <a:srgbClr val="000000"/>
                </a:outerShdw>
              </a:effectLst>
            </a:endParaRPr>
          </a:p>
          <a:p>
            <a:pPr algn="ctr">
              <a:defRPr/>
            </a:pPr>
            <a:endParaRPr lang="en-US" altLang="en-US" sz="1795" b="1">
              <a:solidFill>
                <a:schemeClr val="bg1"/>
              </a:solidFill>
              <a:effectLst>
                <a:outerShdw blurRad="38100" dist="38100" dir="2700000" algn="tl">
                  <a:srgbClr val="000000"/>
                </a:outerShdw>
              </a:effectLst>
            </a:endParaRPr>
          </a:p>
        </p:txBody>
      </p:sp>
      <p:sp>
        <p:nvSpPr>
          <p:cNvPr id="11272" name="Line 7"/>
          <p:cNvSpPr>
            <a:spLocks noChangeShapeType="1"/>
          </p:cNvSpPr>
          <p:nvPr/>
        </p:nvSpPr>
        <p:spPr bwMode="auto">
          <a:xfrm>
            <a:off x="2863803" y="3862318"/>
            <a:ext cx="1164073" cy="346375"/>
          </a:xfrm>
          <a:prstGeom prst="line">
            <a:avLst/>
          </a:prstGeom>
          <a:noFill/>
          <a:ln w="508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11273" name="Line 8"/>
          <p:cNvSpPr>
            <a:spLocks noChangeShapeType="1"/>
          </p:cNvSpPr>
          <p:nvPr/>
        </p:nvSpPr>
        <p:spPr bwMode="auto">
          <a:xfrm flipV="1">
            <a:off x="2851150" y="4806545"/>
            <a:ext cx="1202031" cy="265712"/>
          </a:xfrm>
          <a:prstGeom prst="line">
            <a:avLst/>
          </a:prstGeom>
          <a:noFill/>
          <a:ln w="508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11274" name="Line 9"/>
          <p:cNvSpPr>
            <a:spLocks noChangeShapeType="1"/>
          </p:cNvSpPr>
          <p:nvPr/>
        </p:nvSpPr>
        <p:spPr bwMode="auto">
          <a:xfrm>
            <a:off x="5672761" y="4517108"/>
            <a:ext cx="1151420" cy="0"/>
          </a:xfrm>
          <a:prstGeom prst="line">
            <a:avLst/>
          </a:prstGeom>
          <a:noFill/>
          <a:ln w="508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172042" name="Rectangle 10"/>
          <p:cNvSpPr>
            <a:spLocks noChangeArrowheads="1"/>
          </p:cNvSpPr>
          <p:nvPr/>
        </p:nvSpPr>
        <p:spPr bwMode="auto">
          <a:xfrm>
            <a:off x="2963445" y="3564972"/>
            <a:ext cx="624453" cy="36432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795" b="1">
                <a:effectLst>
                  <a:outerShdw blurRad="38100" dist="38100" dir="2700000" algn="tl">
                    <a:srgbClr val="FFFFFF"/>
                  </a:outerShdw>
                </a:effectLst>
              </a:rPr>
              <a:t>base</a:t>
            </a:r>
            <a:endParaRPr lang="en-US" altLang="en-US" sz="1795" b="1">
              <a:effectLst>
                <a:outerShdw blurRad="38100" dist="38100" dir="2700000" algn="tl">
                  <a:srgbClr val="FFFFFF"/>
                </a:outerShdw>
              </a:effectLst>
            </a:endParaRPr>
          </a:p>
        </p:txBody>
      </p:sp>
      <p:sp>
        <p:nvSpPr>
          <p:cNvPr id="172043" name="Rectangle 11"/>
          <p:cNvSpPr>
            <a:spLocks noChangeArrowheads="1"/>
          </p:cNvSpPr>
          <p:nvPr/>
        </p:nvSpPr>
        <p:spPr bwMode="auto">
          <a:xfrm>
            <a:off x="2773652" y="4602515"/>
            <a:ext cx="785244" cy="36432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795" b="1">
                <a:effectLst>
                  <a:outerShdw blurRad="38100" dist="38100" dir="2700000" algn="tl">
                    <a:srgbClr val="FFFFFF"/>
                  </a:outerShdw>
                </a:effectLst>
              </a:rPr>
              <a:t>height</a:t>
            </a:r>
            <a:endParaRPr lang="en-US" altLang="en-US" sz="1795" b="1">
              <a:effectLst>
                <a:outerShdw blurRad="38100" dist="38100" dir="2700000" algn="tl">
                  <a:srgbClr val="FFFFFF"/>
                </a:outerShdw>
              </a:effectLst>
            </a:endParaRPr>
          </a:p>
        </p:txBody>
      </p:sp>
      <p:sp>
        <p:nvSpPr>
          <p:cNvPr id="172044" name="Rectangle 12"/>
          <p:cNvSpPr>
            <a:spLocks noChangeArrowheads="1"/>
          </p:cNvSpPr>
          <p:nvPr/>
        </p:nvSpPr>
        <p:spPr bwMode="auto">
          <a:xfrm>
            <a:off x="5860975" y="4121703"/>
            <a:ext cx="602732" cy="36432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795" b="1">
                <a:effectLst>
                  <a:outerShdw blurRad="38100" dist="38100" dir="2700000" algn="tl">
                    <a:srgbClr val="FFFFFF"/>
                  </a:outerShdw>
                </a:effectLst>
              </a:rPr>
              <a:t>area</a:t>
            </a:r>
            <a:endParaRPr lang="en-US" altLang="en-US" sz="1795" b="1">
              <a:effectLst>
                <a:outerShdw blurRad="38100" dist="38100" dir="2700000" algn="tl">
                  <a:srgbClr val="FFFFFF"/>
                </a:outerShdw>
              </a:effectLst>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1902178" y="1004294"/>
            <a:ext cx="4808126" cy="714927"/>
          </a:xfrm>
          <a:noFill/>
          <a:extLst>
            <a:ext uri="{91240B29-F687-4F45-9708-019B960494DF}">
              <a14:hiddenLine xmlns:a14="http://schemas.microsoft.com/office/drawing/2010/main" w="12700">
                <a:solidFill>
                  <a:schemeClr val="tx1"/>
                </a:solidFill>
                <a:miter lim="800000"/>
                <a:headEnd/>
                <a:tailEnd/>
              </a14:hiddenLine>
            </a:ext>
          </a:extLst>
        </p:spPr>
        <p:txBody>
          <a:bodyPr wrap="square" lIns="90152" tIns="44285" rIns="90152" bIns="44285" anchor="ctr">
            <a:spAutoFit/>
          </a:bodyPr>
          <a:lstStyle/>
          <a:p>
            <a:pPr algn="ctr" eaLnBrk="1" hangingPunct="1"/>
            <a:r>
              <a:rPr lang="en-US" altLang="en-US" sz="4800" b="1" u="sng" dirty="0" smtClean="0">
                <a:solidFill>
                  <a:srgbClr val="002060"/>
                </a:solidFill>
                <a:latin typeface="Times New Roman" panose="02020603050405020304" pitchFamily="18" charset="0"/>
                <a:cs typeface="Times New Roman" panose="02020603050405020304" pitchFamily="18" charset="0"/>
              </a:rPr>
              <a:t>Data Stores</a:t>
            </a:r>
            <a:endParaRPr lang="en-US" altLang="en-US" sz="4800" b="1" u="sng" dirty="0" smtClean="0">
              <a:solidFill>
                <a:srgbClr val="002060"/>
              </a:solidFill>
              <a:latin typeface="Times New Roman" panose="02020603050405020304" pitchFamily="18" charset="0"/>
              <a:cs typeface="Times New Roman" panose="02020603050405020304" pitchFamily="18" charset="0"/>
            </a:endParaRPr>
          </a:p>
        </p:txBody>
      </p:sp>
      <p:sp>
        <p:nvSpPr>
          <p:cNvPr id="22" name="Slide Number Placeholder 4"/>
          <p:cNvSpPr>
            <a:spLocks noGrp="1"/>
          </p:cNvSpPr>
          <p:nvPr>
            <p:ph type="sldNum" sz="quarter" idx="12"/>
          </p:nvPr>
        </p:nvSpPr>
        <p:spPr>
          <a:xfrm>
            <a:off x="7520093" y="6225258"/>
            <a:ext cx="1290602" cy="455507"/>
          </a:xfrm>
          <a:prstGeom prst="rect">
            <a:avLst/>
          </a:prstGeom>
        </p:spPr>
        <p:txBody>
          <a:bodyPr/>
          <a:lstStyle/>
          <a:p>
            <a:pPr>
              <a:defRPr/>
            </a:pPr>
            <a:fld id="{DBE41BC2-8587-4E83-BF58-07DF03831692}" type="slidenum">
              <a:rPr lang="en-US" altLang="en-US"/>
            </a:fld>
            <a:endParaRPr lang="en-US" altLang="en-US"/>
          </a:p>
        </p:txBody>
      </p:sp>
      <p:sp>
        <p:nvSpPr>
          <p:cNvPr id="12292" name="Rectangle 3"/>
          <p:cNvSpPr>
            <a:spLocks noChangeArrowheads="1"/>
          </p:cNvSpPr>
          <p:nvPr/>
        </p:nvSpPr>
        <p:spPr bwMode="auto">
          <a:xfrm>
            <a:off x="2144166" y="2018148"/>
            <a:ext cx="1720803" cy="85408"/>
          </a:xfrm>
          <a:prstGeom prst="rect">
            <a:avLst/>
          </a:prstGeom>
          <a:solidFill>
            <a:schemeClr val="folHlink"/>
          </a:solidFill>
          <a:ln w="25400">
            <a:solidFill>
              <a:schemeClr val="tx1"/>
            </a:solidFill>
            <a:miter lim="800000"/>
          </a:ln>
          <a:effectLst>
            <a:outerShdw dist="107763" dir="2700000" algn="ctr" rotWithShape="0">
              <a:schemeClr val="bg2"/>
            </a:outerShdw>
          </a:effec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12293" name="Rectangle 4"/>
          <p:cNvSpPr>
            <a:spLocks noChangeArrowheads="1"/>
          </p:cNvSpPr>
          <p:nvPr/>
        </p:nvSpPr>
        <p:spPr bwMode="auto">
          <a:xfrm>
            <a:off x="2144166" y="2627072"/>
            <a:ext cx="1720803" cy="85408"/>
          </a:xfrm>
          <a:prstGeom prst="rect">
            <a:avLst/>
          </a:prstGeom>
          <a:solidFill>
            <a:schemeClr val="folHlink"/>
          </a:solidFill>
          <a:ln w="25400">
            <a:solidFill>
              <a:schemeClr val="tx1"/>
            </a:solidFill>
            <a:miter lim="800000"/>
          </a:ln>
          <a:effectLst>
            <a:outerShdw dist="107763" dir="2700000" algn="ctr" rotWithShape="0">
              <a:schemeClr val="bg2"/>
            </a:outerShdw>
          </a:effec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173061" name="Rectangle 5"/>
          <p:cNvSpPr>
            <a:spLocks noChangeArrowheads="1"/>
          </p:cNvSpPr>
          <p:nvPr/>
        </p:nvSpPr>
        <p:spPr bwMode="auto">
          <a:xfrm>
            <a:off x="2737273" y="2125698"/>
            <a:ext cx="3300624" cy="36432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795" b="1">
                <a:effectLst>
                  <a:outerShdw blurRad="38100" dist="38100" dir="2700000" algn="tl">
                    <a:srgbClr val="FFFFFF"/>
                  </a:outerShdw>
                </a:effectLst>
              </a:rPr>
              <a:t>Data</a:t>
            </a:r>
            <a:r>
              <a:rPr lang="en-US" altLang="en-US" sz="1795" b="1">
                <a:solidFill>
                  <a:schemeClr val="bg1"/>
                </a:solidFill>
                <a:effectLst>
                  <a:outerShdw blurRad="38100" dist="38100" dir="2700000" algn="tl">
                    <a:srgbClr val="000000"/>
                  </a:outerShdw>
                </a:effectLst>
              </a:rPr>
              <a:t> </a:t>
            </a:r>
            <a:r>
              <a:rPr lang="en-US" altLang="en-US" sz="1795" b="1">
                <a:effectLst>
                  <a:outerShdw blurRad="38100" dist="38100" dir="2700000" algn="tl">
                    <a:srgbClr val="FFFFFF"/>
                  </a:outerShdw>
                </a:effectLst>
              </a:rPr>
              <a:t>is often stored for later use.</a:t>
            </a:r>
            <a:endParaRPr lang="en-US" altLang="en-US" sz="1795" b="1">
              <a:solidFill>
                <a:schemeClr val="bg1"/>
              </a:solidFill>
              <a:effectLst>
                <a:outerShdw blurRad="38100" dist="38100" dir="2700000" algn="tl">
                  <a:srgbClr val="000000"/>
                </a:outerShdw>
              </a:effectLst>
            </a:endParaRPr>
          </a:p>
        </p:txBody>
      </p:sp>
      <p:sp>
        <p:nvSpPr>
          <p:cNvPr id="12295" name="Oval 6"/>
          <p:cNvSpPr>
            <a:spLocks noChangeArrowheads="1"/>
          </p:cNvSpPr>
          <p:nvPr/>
        </p:nvSpPr>
        <p:spPr bwMode="auto">
          <a:xfrm>
            <a:off x="3978846" y="3205945"/>
            <a:ext cx="1568967" cy="1467744"/>
          </a:xfrm>
          <a:prstGeom prst="ellipse">
            <a:avLst/>
          </a:prstGeom>
          <a:solidFill>
            <a:schemeClr val="folHlink"/>
          </a:solidFill>
          <a:ln>
            <a:noFill/>
          </a:ln>
          <a:effectLst>
            <a:outerShdw dist="107763" dir="2700000" algn="ctr" rotWithShape="0">
              <a:schemeClr val="bg2"/>
            </a:outerShdw>
          </a:effectLst>
          <a:extLst>
            <a:ext uri="{91240B29-F687-4F45-9708-019B960494DF}">
              <a14:hiddenLine xmlns:a14="http://schemas.microsoft.com/office/drawing/2010/main" w="25400">
                <a:solidFill>
                  <a:schemeClr val="tx1"/>
                </a:solidFill>
                <a:round/>
              </a14:hiddenLine>
            </a:ext>
          </a:ex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173063" name="Rectangle 7"/>
          <p:cNvSpPr>
            <a:spLocks noChangeArrowheads="1"/>
          </p:cNvSpPr>
          <p:nvPr/>
        </p:nvSpPr>
        <p:spPr bwMode="auto">
          <a:xfrm>
            <a:off x="4339798" y="3430535"/>
            <a:ext cx="910327" cy="1188984"/>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lgn="ctr">
              <a:defRPr/>
            </a:pPr>
            <a:r>
              <a:rPr lang="en-US" altLang="en-US" sz="1795" b="1">
                <a:solidFill>
                  <a:schemeClr val="bg1"/>
                </a:solidFill>
                <a:effectLst>
                  <a:outerShdw blurRad="38100" dist="38100" dir="2700000" algn="tl">
                    <a:srgbClr val="000000"/>
                  </a:outerShdw>
                </a:effectLst>
              </a:rPr>
              <a:t>look-up</a:t>
            </a:r>
            <a:endParaRPr lang="en-US" altLang="en-US" sz="1795" b="1">
              <a:solidFill>
                <a:schemeClr val="bg1"/>
              </a:solidFill>
              <a:effectLst>
                <a:outerShdw blurRad="38100" dist="38100" dir="2700000" algn="tl">
                  <a:srgbClr val="000000"/>
                </a:outerShdw>
              </a:effectLst>
            </a:endParaRPr>
          </a:p>
          <a:p>
            <a:pPr algn="ctr">
              <a:defRPr/>
            </a:pPr>
            <a:r>
              <a:rPr lang="en-US" altLang="en-US" sz="1795" b="1">
                <a:solidFill>
                  <a:schemeClr val="bg1"/>
                </a:solidFill>
                <a:effectLst>
                  <a:outerShdw blurRad="38100" dist="38100" dir="2700000" algn="tl">
                    <a:srgbClr val="000000"/>
                  </a:outerShdw>
                </a:effectLst>
              </a:rPr>
              <a:t>sensor</a:t>
            </a:r>
            <a:endParaRPr lang="en-US" altLang="en-US" sz="1795" b="1">
              <a:solidFill>
                <a:schemeClr val="bg1"/>
              </a:solidFill>
              <a:effectLst>
                <a:outerShdw blurRad="38100" dist="38100" dir="2700000" algn="tl">
                  <a:srgbClr val="000000"/>
                </a:outerShdw>
              </a:effectLst>
            </a:endParaRPr>
          </a:p>
          <a:p>
            <a:pPr algn="ctr">
              <a:defRPr/>
            </a:pPr>
            <a:r>
              <a:rPr lang="en-US" altLang="en-US" sz="1795" b="1">
                <a:solidFill>
                  <a:schemeClr val="bg1"/>
                </a:solidFill>
                <a:effectLst>
                  <a:outerShdw blurRad="38100" dist="38100" dir="2700000" algn="tl">
                    <a:srgbClr val="000000"/>
                  </a:outerShdw>
                </a:effectLst>
              </a:rPr>
              <a:t>data</a:t>
            </a:r>
            <a:endParaRPr lang="en-US" altLang="en-US" sz="1795" b="1">
              <a:solidFill>
                <a:schemeClr val="bg1"/>
              </a:solidFill>
              <a:effectLst>
                <a:outerShdw blurRad="38100" dist="38100" dir="2700000" algn="tl">
                  <a:srgbClr val="000000"/>
                </a:outerShdw>
              </a:effectLst>
            </a:endParaRPr>
          </a:p>
          <a:p>
            <a:pPr algn="ctr">
              <a:defRPr/>
            </a:pPr>
            <a:endParaRPr lang="en-US" altLang="en-US" sz="1795" b="1">
              <a:solidFill>
                <a:schemeClr val="bg1"/>
              </a:solidFill>
              <a:effectLst>
                <a:outerShdw blurRad="38100" dist="38100" dir="2700000" algn="tl">
                  <a:srgbClr val="000000"/>
                </a:outerShdw>
              </a:effectLst>
            </a:endParaRPr>
          </a:p>
        </p:txBody>
      </p:sp>
      <p:sp>
        <p:nvSpPr>
          <p:cNvPr id="12297" name="Line 8"/>
          <p:cNvSpPr>
            <a:spLocks noChangeShapeType="1"/>
          </p:cNvSpPr>
          <p:nvPr/>
        </p:nvSpPr>
        <p:spPr bwMode="auto">
          <a:xfrm>
            <a:off x="2814773" y="3310332"/>
            <a:ext cx="1164073" cy="347956"/>
          </a:xfrm>
          <a:prstGeom prst="line">
            <a:avLst/>
          </a:prstGeom>
          <a:noFill/>
          <a:ln w="508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12298" name="Line 9"/>
          <p:cNvSpPr>
            <a:spLocks noChangeShapeType="1"/>
          </p:cNvSpPr>
          <p:nvPr/>
        </p:nvSpPr>
        <p:spPr bwMode="auto">
          <a:xfrm flipV="1">
            <a:off x="2802121" y="4256141"/>
            <a:ext cx="1202031" cy="265712"/>
          </a:xfrm>
          <a:prstGeom prst="line">
            <a:avLst/>
          </a:prstGeom>
          <a:noFill/>
          <a:ln w="508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12299" name="Line 10"/>
          <p:cNvSpPr>
            <a:spLocks noChangeShapeType="1"/>
          </p:cNvSpPr>
          <p:nvPr/>
        </p:nvSpPr>
        <p:spPr bwMode="auto">
          <a:xfrm>
            <a:off x="5623731" y="3965123"/>
            <a:ext cx="1151420" cy="0"/>
          </a:xfrm>
          <a:prstGeom prst="line">
            <a:avLst/>
          </a:prstGeom>
          <a:noFill/>
          <a:ln w="508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173067" name="Rectangle 11"/>
          <p:cNvSpPr>
            <a:spLocks noChangeArrowheads="1"/>
          </p:cNvSpPr>
          <p:nvPr/>
        </p:nvSpPr>
        <p:spPr bwMode="auto">
          <a:xfrm>
            <a:off x="3066250" y="3039874"/>
            <a:ext cx="886371" cy="33385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595" b="1">
                <a:effectLst>
                  <a:outerShdw blurRad="38100" dist="38100" dir="2700000" algn="tl">
                    <a:srgbClr val="FFFFFF"/>
                  </a:outerShdw>
                </a:effectLst>
              </a:rPr>
              <a:t>sensor #</a:t>
            </a:r>
            <a:endParaRPr lang="en-US" altLang="en-US" sz="1595" b="1">
              <a:effectLst>
                <a:outerShdw blurRad="38100" dist="38100" dir="2700000" algn="tl">
                  <a:srgbClr val="FFFFFF"/>
                </a:outerShdw>
              </a:effectLst>
            </a:endParaRPr>
          </a:p>
        </p:txBody>
      </p:sp>
      <p:sp>
        <p:nvSpPr>
          <p:cNvPr id="173068" name="Rectangle 12"/>
          <p:cNvSpPr>
            <a:spLocks noChangeArrowheads="1"/>
          </p:cNvSpPr>
          <p:nvPr/>
        </p:nvSpPr>
        <p:spPr bwMode="auto">
          <a:xfrm>
            <a:off x="1902178" y="3987265"/>
            <a:ext cx="1479968" cy="33385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595" b="1">
                <a:effectLst>
                  <a:outerShdw blurRad="38100" dist="38100" dir="2700000" algn="tl">
                    <a:srgbClr val="FFFFFF"/>
                  </a:outerShdw>
                </a:effectLst>
              </a:rPr>
              <a:t>report required</a:t>
            </a:r>
            <a:endParaRPr lang="en-US" altLang="en-US" sz="1595" b="1">
              <a:effectLst>
                <a:outerShdw blurRad="38100" dist="38100" dir="2700000" algn="tl">
                  <a:srgbClr val="FFFFFF"/>
                </a:outerShdw>
              </a:effectLst>
            </a:endParaRPr>
          </a:p>
        </p:txBody>
      </p:sp>
      <p:sp>
        <p:nvSpPr>
          <p:cNvPr id="173069" name="Rectangle 13"/>
          <p:cNvSpPr>
            <a:spLocks noChangeArrowheads="1"/>
          </p:cNvSpPr>
          <p:nvPr/>
        </p:nvSpPr>
        <p:spPr bwMode="auto">
          <a:xfrm>
            <a:off x="5596843" y="3215435"/>
            <a:ext cx="1461315" cy="57826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595" b="1">
                <a:effectLst>
                  <a:outerShdw blurRad="38100" dist="38100" dir="2700000" algn="tl">
                    <a:srgbClr val="FFFFFF"/>
                  </a:outerShdw>
                </a:effectLst>
              </a:rPr>
              <a:t>sensor #, type, </a:t>
            </a:r>
            <a:endParaRPr lang="en-US" altLang="en-US" sz="1595" b="1">
              <a:effectLst>
                <a:outerShdw blurRad="38100" dist="38100" dir="2700000" algn="tl">
                  <a:srgbClr val="FFFFFF"/>
                </a:outerShdw>
              </a:effectLst>
            </a:endParaRPr>
          </a:p>
          <a:p>
            <a:pPr>
              <a:defRPr/>
            </a:pPr>
            <a:r>
              <a:rPr lang="en-US" altLang="en-US" sz="1595" b="1">
                <a:effectLst>
                  <a:outerShdw blurRad="38100" dist="38100" dir="2700000" algn="tl">
                    <a:srgbClr val="FFFFFF"/>
                  </a:outerShdw>
                </a:effectLst>
              </a:rPr>
              <a:t>location, age</a:t>
            </a:r>
            <a:endParaRPr lang="en-US" altLang="en-US" sz="1595" b="1">
              <a:effectLst>
                <a:outerShdw blurRad="38100" dist="38100" dir="2700000" algn="tl">
                  <a:srgbClr val="FFFFFF"/>
                </a:outerShdw>
              </a:effectLst>
            </a:endParaRPr>
          </a:p>
        </p:txBody>
      </p:sp>
      <p:sp>
        <p:nvSpPr>
          <p:cNvPr id="12303" name="Rectangle 14"/>
          <p:cNvSpPr>
            <a:spLocks noChangeArrowheads="1"/>
          </p:cNvSpPr>
          <p:nvPr/>
        </p:nvSpPr>
        <p:spPr bwMode="auto">
          <a:xfrm>
            <a:off x="5206183" y="5307918"/>
            <a:ext cx="1657538" cy="34796"/>
          </a:xfrm>
          <a:prstGeom prst="rect">
            <a:avLst/>
          </a:prstGeom>
          <a:solidFill>
            <a:schemeClr val="accent2"/>
          </a:solidFill>
          <a:ln w="25400">
            <a:solidFill>
              <a:schemeClr val="tx1"/>
            </a:solidFill>
            <a:miter lim="800000"/>
          </a:ln>
          <a:effectLst>
            <a:outerShdw dist="107763" dir="2700000" algn="ctr" rotWithShape="0">
              <a:schemeClr val="bg2"/>
            </a:outerShdw>
          </a:effec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12304" name="Rectangle 15"/>
          <p:cNvSpPr>
            <a:spLocks noChangeArrowheads="1"/>
          </p:cNvSpPr>
          <p:nvPr/>
        </p:nvSpPr>
        <p:spPr bwMode="auto">
          <a:xfrm>
            <a:off x="5244142" y="5864649"/>
            <a:ext cx="1657538" cy="36378"/>
          </a:xfrm>
          <a:prstGeom prst="rect">
            <a:avLst/>
          </a:prstGeom>
          <a:solidFill>
            <a:schemeClr val="accent2"/>
          </a:solidFill>
          <a:ln w="25400">
            <a:solidFill>
              <a:schemeClr val="tx1"/>
            </a:solidFill>
            <a:miter lim="800000"/>
          </a:ln>
          <a:effectLst>
            <a:outerShdw dist="107763" dir="2700000" algn="ctr" rotWithShape="0">
              <a:schemeClr val="bg2"/>
            </a:outerShdw>
          </a:effectLst>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tLang="en-US" sz="2390">
              <a:latin typeface="Arial" panose="020B0604020202020204" pitchFamily="34" charset="0"/>
            </a:endParaRPr>
          </a:p>
        </p:txBody>
      </p:sp>
      <p:sp>
        <p:nvSpPr>
          <p:cNvPr id="12305" name="Line 16"/>
          <p:cNvSpPr>
            <a:spLocks noChangeShapeType="1"/>
          </p:cNvSpPr>
          <p:nvPr/>
        </p:nvSpPr>
        <p:spPr bwMode="auto">
          <a:xfrm>
            <a:off x="5269448" y="4588281"/>
            <a:ext cx="619995" cy="638975"/>
          </a:xfrm>
          <a:prstGeom prst="line">
            <a:avLst/>
          </a:prstGeom>
          <a:noFill/>
          <a:ln w="508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173073" name="Rectangle 17"/>
          <p:cNvSpPr>
            <a:spLocks noChangeArrowheads="1"/>
          </p:cNvSpPr>
          <p:nvPr/>
        </p:nvSpPr>
        <p:spPr bwMode="auto">
          <a:xfrm>
            <a:off x="5356437" y="5405978"/>
            <a:ext cx="1160363" cy="33385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595" b="1">
                <a:effectLst>
                  <a:outerShdw blurRad="38100" dist="38100" dir="2700000" algn="tl">
                    <a:srgbClr val="FFFFFF"/>
                  </a:outerShdw>
                </a:effectLst>
              </a:rPr>
              <a:t>sensor data</a:t>
            </a:r>
            <a:endParaRPr lang="en-US" altLang="en-US" sz="1595" b="1">
              <a:effectLst>
                <a:outerShdw blurRad="38100" dist="38100" dir="2700000" algn="tl">
                  <a:srgbClr val="FFFFFF"/>
                </a:outerShdw>
              </a:effectLst>
            </a:endParaRPr>
          </a:p>
        </p:txBody>
      </p:sp>
      <p:sp>
        <p:nvSpPr>
          <p:cNvPr id="173074" name="Rectangle 18"/>
          <p:cNvSpPr>
            <a:spLocks noChangeArrowheads="1"/>
          </p:cNvSpPr>
          <p:nvPr/>
        </p:nvSpPr>
        <p:spPr bwMode="auto">
          <a:xfrm>
            <a:off x="3817521" y="4797055"/>
            <a:ext cx="1450135" cy="33385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595" b="1">
                <a:effectLst>
                  <a:outerShdw blurRad="38100" dist="38100" dir="2700000" algn="tl">
                    <a:srgbClr val="FFFFFF"/>
                  </a:outerShdw>
                </a:effectLst>
              </a:rPr>
              <a:t>sensor number</a:t>
            </a:r>
            <a:endParaRPr lang="en-US" altLang="en-US" sz="1595" b="1">
              <a:effectLst>
                <a:outerShdw blurRad="38100" dist="38100" dir="2700000" algn="tl">
                  <a:srgbClr val="FFFFFF"/>
                </a:outerShdw>
              </a:effectLst>
            </a:endParaRPr>
          </a:p>
        </p:txBody>
      </p:sp>
      <p:sp>
        <p:nvSpPr>
          <p:cNvPr id="12308" name="Line 19"/>
          <p:cNvSpPr>
            <a:spLocks noChangeShapeType="1"/>
          </p:cNvSpPr>
          <p:nvPr/>
        </p:nvSpPr>
        <p:spPr bwMode="auto">
          <a:xfrm>
            <a:off x="5433936" y="4436446"/>
            <a:ext cx="809790" cy="816116"/>
          </a:xfrm>
          <a:prstGeom prst="line">
            <a:avLst/>
          </a:prstGeom>
          <a:noFill/>
          <a:ln w="508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en-US" sz="1795"/>
          </a:p>
        </p:txBody>
      </p:sp>
      <p:sp>
        <p:nvSpPr>
          <p:cNvPr id="173076" name="Rectangle 20"/>
          <p:cNvSpPr>
            <a:spLocks noChangeArrowheads="1"/>
          </p:cNvSpPr>
          <p:nvPr/>
        </p:nvSpPr>
        <p:spPr bwMode="auto">
          <a:xfrm>
            <a:off x="5925820" y="4381089"/>
            <a:ext cx="1257976" cy="57826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152" tIns="44285" rIns="90152" bIns="44285">
            <a:spAutoFit/>
          </a:bodyPr>
          <a:lstStyle/>
          <a:p>
            <a:pPr>
              <a:defRPr/>
            </a:pPr>
            <a:r>
              <a:rPr lang="en-US" altLang="en-US" sz="1595" b="1">
                <a:effectLst>
                  <a:outerShdw blurRad="38100" dist="38100" dir="2700000" algn="tl">
                    <a:srgbClr val="FFFFFF"/>
                  </a:outerShdw>
                </a:effectLst>
              </a:rPr>
              <a:t>type, </a:t>
            </a:r>
            <a:endParaRPr lang="en-US" altLang="en-US" sz="1595" b="1">
              <a:effectLst>
                <a:outerShdw blurRad="38100" dist="38100" dir="2700000" algn="tl">
                  <a:srgbClr val="FFFFFF"/>
                </a:outerShdw>
              </a:effectLst>
            </a:endParaRPr>
          </a:p>
          <a:p>
            <a:pPr>
              <a:defRPr/>
            </a:pPr>
            <a:r>
              <a:rPr lang="en-US" altLang="en-US" sz="1595" b="1">
                <a:effectLst>
                  <a:outerShdw blurRad="38100" dist="38100" dir="2700000" algn="tl">
                    <a:srgbClr val="FFFFFF"/>
                  </a:outerShdw>
                </a:effectLst>
              </a:rPr>
              <a:t>location, age</a:t>
            </a:r>
            <a:endParaRPr lang="en-US" altLang="en-US" sz="1595" b="1">
              <a:effectLst>
                <a:outerShdw blurRad="38100" dist="38100" dir="2700000" algn="tl">
                  <a:srgbClr val="FFFFFF"/>
                </a:outerShdw>
              </a:effectLst>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3100" y="2197100"/>
            <a:ext cx="7903845" cy="3939540"/>
          </a:xfrm>
          <a:prstGeom prst="rect">
            <a:avLst/>
          </a:prstGeom>
        </p:spPr>
        <p:txBody>
          <a:bodyPr vert="horz" wrap="square" lIns="0" tIns="0" rIns="0" bIns="0" rtlCol="0">
            <a:spAutoFit/>
          </a:bodyPr>
          <a:lstStyle/>
          <a:p>
            <a:pPr marL="457200" indent="-457200">
              <a:buFont typeface="Wingdings" panose="05000000000000000000" pitchFamily="2" charset="2"/>
              <a:buChar char="q"/>
            </a:pPr>
            <a:r>
              <a:rPr lang="en-US" sz="3200" dirty="0">
                <a:latin typeface="Times New Roman" panose="02020603050405020304" pitchFamily="18" charset="0"/>
                <a:ea typeface="Tahoma" panose="020B0604030504040204" pitchFamily="34" charset="0"/>
                <a:cs typeface="Times New Roman" panose="02020603050405020304" pitchFamily="18" charset="0"/>
              </a:rPr>
              <a:t>Each process should have at least one input and an output.</a:t>
            </a:r>
            <a:endParaRPr lang="en-US" sz="32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Font typeface="Wingdings" panose="05000000000000000000" pitchFamily="2" charset="2"/>
              <a:buChar char="q"/>
            </a:pPr>
            <a:r>
              <a:rPr lang="en-US" sz="3200" dirty="0">
                <a:latin typeface="Times New Roman" panose="02020603050405020304" pitchFamily="18" charset="0"/>
                <a:ea typeface="Tahoma" panose="020B0604030504040204" pitchFamily="34" charset="0"/>
                <a:cs typeface="Times New Roman" panose="02020603050405020304" pitchFamily="18" charset="0"/>
              </a:rPr>
              <a:t>Each data store should have at least one data flow in and one data flow out.</a:t>
            </a:r>
            <a:endParaRPr lang="en-US" sz="32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Font typeface="Wingdings" panose="05000000000000000000" pitchFamily="2" charset="2"/>
              <a:buChar char="q"/>
            </a:pPr>
            <a:r>
              <a:rPr lang="en-US" sz="3200" dirty="0">
                <a:latin typeface="Times New Roman" panose="02020603050405020304" pitchFamily="18" charset="0"/>
                <a:ea typeface="Tahoma" panose="020B0604030504040204" pitchFamily="34" charset="0"/>
                <a:cs typeface="Times New Roman" panose="02020603050405020304" pitchFamily="18" charset="0"/>
              </a:rPr>
              <a:t>Data stored in a system must go through a process.</a:t>
            </a:r>
            <a:endParaRPr lang="en-US" sz="32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Font typeface="Wingdings" panose="05000000000000000000" pitchFamily="2" charset="2"/>
              <a:buChar char="q"/>
            </a:pPr>
            <a:r>
              <a:rPr lang="en-US" sz="3200" dirty="0">
                <a:latin typeface="Times New Roman" panose="02020603050405020304" pitchFamily="18" charset="0"/>
                <a:ea typeface="Tahoma" panose="020B0604030504040204" pitchFamily="34" charset="0"/>
                <a:cs typeface="Times New Roman" panose="02020603050405020304" pitchFamily="18" charset="0"/>
              </a:rPr>
              <a:t>All processes in a DFD go to another process or a data store.</a:t>
            </a:r>
            <a:endParaRPr lang="en-US" sz="3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2"/>
          <p:cNvSpPr/>
          <p:nvPr/>
        </p:nvSpPr>
        <p:spPr>
          <a:xfrm>
            <a:off x="1587500" y="901700"/>
            <a:ext cx="5516510" cy="830997"/>
          </a:xfrm>
          <a:prstGeom prst="rect">
            <a:avLst/>
          </a:prstGeom>
        </p:spPr>
        <p:txBody>
          <a:bodyPr wrap="none">
            <a:spAutoFit/>
          </a:bodyPr>
          <a:lstStyle/>
          <a:p>
            <a:r>
              <a:rPr lang="en-US" sz="4800" b="1" u="sng" dirty="0">
                <a:solidFill>
                  <a:srgbClr val="002060"/>
                </a:solidFill>
                <a:latin typeface="Times New Roman" panose="02020603050405020304" pitchFamily="18" charset="0"/>
                <a:cs typeface="Times New Roman" panose="02020603050405020304" pitchFamily="18" charset="0"/>
              </a:rPr>
              <a:t>DFD </a:t>
            </a:r>
            <a:r>
              <a:rPr lang="en-US" sz="4800" b="1" u="sng" dirty="0" smtClean="0">
                <a:solidFill>
                  <a:srgbClr val="002060"/>
                </a:solidFill>
                <a:latin typeface="Times New Roman" panose="02020603050405020304" pitchFamily="18" charset="0"/>
                <a:cs typeface="Times New Roman" panose="02020603050405020304" pitchFamily="18" charset="0"/>
              </a:rPr>
              <a:t>Rules </a:t>
            </a:r>
            <a:r>
              <a:rPr lang="en-US" sz="4800" b="1" u="sng" dirty="0">
                <a:solidFill>
                  <a:srgbClr val="002060"/>
                </a:solidFill>
                <a:latin typeface="Times New Roman" panose="02020603050405020304" pitchFamily="18" charset="0"/>
                <a:cs typeface="Times New Roman" panose="02020603050405020304" pitchFamily="18" charset="0"/>
              </a:rPr>
              <a:t>and </a:t>
            </a:r>
            <a:r>
              <a:rPr lang="en-US" sz="4800" b="1" u="sng" dirty="0" smtClean="0">
                <a:solidFill>
                  <a:srgbClr val="002060"/>
                </a:solidFill>
                <a:latin typeface="Times New Roman" panose="02020603050405020304" pitchFamily="18" charset="0"/>
                <a:cs typeface="Times New Roman" panose="02020603050405020304" pitchFamily="18" charset="0"/>
              </a:rPr>
              <a:t>Tips</a:t>
            </a:r>
            <a:endParaRPr lang="en-US" sz="4800" b="1" i="0" u="sng" dirty="0">
              <a:solidFill>
                <a:srgbClr val="002060"/>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3099" y="2654300"/>
            <a:ext cx="7903845" cy="2462213"/>
          </a:xfrm>
          <a:prstGeom prst="rect">
            <a:avLst/>
          </a:prstGeom>
        </p:spPr>
        <p:txBody>
          <a:bodyPr vert="horz" wrap="square" lIns="0" tIns="0" rIns="0" bIns="0" rtlCol="0">
            <a:spAutoFit/>
          </a:bodyPr>
          <a:lstStyle/>
          <a:p>
            <a:pPr marL="457200" indent="-457200" algn="just">
              <a:buFont typeface="Wingdings" panose="05000000000000000000" pitchFamily="2" charset="2"/>
              <a:buChar char="q"/>
            </a:pPr>
            <a:r>
              <a:rPr lang="en-US" sz="3200" dirty="0">
                <a:latin typeface="Times New Roman" panose="02020603050405020304" pitchFamily="18" charset="0"/>
                <a:ea typeface="Tahoma" panose="020B0604030504040204" pitchFamily="34" charset="0"/>
                <a:cs typeface="Times New Roman" panose="02020603050405020304" pitchFamily="18" charset="0"/>
              </a:rPr>
              <a:t>A data flow diagram can dive into progressively more detail by using levels and layers, zeroing in on a particular piece.  </a:t>
            </a:r>
            <a:endParaRPr lang="en-US" sz="3200" dirty="0" smtClean="0">
              <a:latin typeface="Times New Roman" panose="02020603050405020304" pitchFamily="18" charset="0"/>
              <a:ea typeface="Tahoma" panose="020B0604030504040204" pitchFamily="34" charset="0"/>
              <a:cs typeface="Times New Roman" panose="02020603050405020304" pitchFamily="18" charset="0"/>
            </a:endParaRPr>
          </a:p>
          <a:p>
            <a:pPr marL="457200" indent="-457200" algn="just">
              <a:buFont typeface="Wingdings" panose="05000000000000000000" pitchFamily="2" charset="2"/>
              <a:buChar char="q"/>
            </a:pPr>
            <a:r>
              <a:rPr lang="en-US" sz="3200" dirty="0" smtClean="0">
                <a:latin typeface="Times New Roman" panose="02020603050405020304" pitchFamily="18" charset="0"/>
                <a:ea typeface="Tahoma" panose="020B0604030504040204" pitchFamily="34" charset="0"/>
                <a:cs typeface="Times New Roman" panose="02020603050405020304" pitchFamily="18" charset="0"/>
              </a:rPr>
              <a:t>DFD </a:t>
            </a:r>
            <a:r>
              <a:rPr lang="en-US" sz="3200" dirty="0">
                <a:latin typeface="Times New Roman" panose="02020603050405020304" pitchFamily="18" charset="0"/>
                <a:ea typeface="Tahoma" panose="020B0604030504040204" pitchFamily="34" charset="0"/>
                <a:cs typeface="Times New Roman" panose="02020603050405020304" pitchFamily="18" charset="0"/>
              </a:rPr>
              <a:t>levels are numbered 0, 1 or 2, and occasionally go to even Level 3 or beyond. </a:t>
            </a:r>
            <a:endParaRPr lang="en-US" sz="3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2"/>
          <p:cNvSpPr/>
          <p:nvPr/>
        </p:nvSpPr>
        <p:spPr>
          <a:xfrm>
            <a:off x="360714" y="520700"/>
            <a:ext cx="8528617" cy="1323439"/>
          </a:xfrm>
          <a:prstGeom prst="rect">
            <a:avLst/>
          </a:prstGeom>
        </p:spPr>
        <p:txBody>
          <a:bodyPr wrap="none">
            <a:spAutoFit/>
          </a:bodyPr>
          <a:lstStyle/>
          <a:p>
            <a:pPr algn="ctr"/>
            <a:r>
              <a:rPr lang="en-US" sz="4000" b="1" u="sng" dirty="0">
                <a:solidFill>
                  <a:srgbClr val="002060"/>
                </a:solidFill>
                <a:latin typeface="Times New Roman" panose="02020603050405020304" pitchFamily="18" charset="0"/>
                <a:cs typeface="Times New Roman" panose="02020603050405020304" pitchFamily="18" charset="0"/>
              </a:rPr>
              <a:t>DFD levels and layers: </a:t>
            </a:r>
            <a:endParaRPr lang="en-US" sz="4000" b="1" u="sng" dirty="0" smtClean="0">
              <a:solidFill>
                <a:srgbClr val="002060"/>
              </a:solidFill>
              <a:latin typeface="Times New Roman" panose="02020603050405020304" pitchFamily="18" charset="0"/>
              <a:cs typeface="Times New Roman" panose="02020603050405020304" pitchFamily="18" charset="0"/>
            </a:endParaRPr>
          </a:p>
          <a:p>
            <a:pPr algn="ctr"/>
            <a:r>
              <a:rPr lang="en-US" sz="4000" b="1" u="sng" dirty="0" smtClean="0">
                <a:solidFill>
                  <a:srgbClr val="002060"/>
                </a:solidFill>
                <a:latin typeface="Times New Roman" panose="02020603050405020304" pitchFamily="18" charset="0"/>
                <a:cs typeface="Times New Roman" panose="02020603050405020304" pitchFamily="18" charset="0"/>
              </a:rPr>
              <a:t>From </a:t>
            </a:r>
            <a:r>
              <a:rPr lang="en-US" sz="4000" b="1" u="sng" dirty="0">
                <a:solidFill>
                  <a:srgbClr val="002060"/>
                </a:solidFill>
                <a:latin typeface="Times New Roman" panose="02020603050405020304" pitchFamily="18" charset="0"/>
                <a:cs typeface="Times New Roman" panose="02020603050405020304" pitchFamily="18" charset="0"/>
              </a:rPr>
              <a:t>context diagrams to </a:t>
            </a:r>
            <a:r>
              <a:rPr lang="en-US" sz="4000" b="1" u="sng" dirty="0" err="1">
                <a:solidFill>
                  <a:srgbClr val="002060"/>
                </a:solidFill>
                <a:latin typeface="Times New Roman" panose="02020603050405020304" pitchFamily="18" charset="0"/>
                <a:cs typeface="Times New Roman" panose="02020603050405020304" pitchFamily="18" charset="0"/>
              </a:rPr>
              <a:t>pseudocode</a:t>
            </a:r>
            <a:endParaRPr lang="en-US" sz="4000" b="1" u="sng"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9300" y="2197100"/>
            <a:ext cx="8001000" cy="3877985"/>
          </a:xfrm>
          <a:prstGeom prst="rect">
            <a:avLst/>
          </a:prstGeom>
        </p:spPr>
        <p:txBody>
          <a:bodyPr vert="horz" wrap="square" lIns="0" tIns="0" rIns="0" bIns="0" rtlCol="0">
            <a:spAutoFit/>
          </a:bodyPr>
          <a:lstStyle/>
          <a:p>
            <a:pPr marL="457200" indent="-457200" algn="just">
              <a:buFont typeface="Wingdings" panose="05000000000000000000" pitchFamily="2" charset="2"/>
              <a:buChar char="q"/>
            </a:pPr>
            <a:r>
              <a:rPr lang="en-US" sz="2800" dirty="0">
                <a:latin typeface="Times New Roman" panose="02020603050405020304" pitchFamily="18" charset="0"/>
                <a:ea typeface="Tahoma" panose="020B0604030504040204" pitchFamily="34" charset="0"/>
                <a:cs typeface="Times New Roman" panose="02020603050405020304" pitchFamily="18" charset="0"/>
              </a:rPr>
              <a:t>DFD Level 0 is also called a </a:t>
            </a:r>
            <a:r>
              <a:rPr lang="en-US" sz="2800" b="1" dirty="0">
                <a:latin typeface="Times New Roman" panose="02020603050405020304" pitchFamily="18" charset="0"/>
                <a:ea typeface="Tahoma" panose="020B0604030504040204" pitchFamily="34" charset="0"/>
                <a:cs typeface="Times New Roman" panose="02020603050405020304" pitchFamily="18" charset="0"/>
              </a:rPr>
              <a:t>Context Diagram</a:t>
            </a:r>
            <a:r>
              <a:rPr lang="en-US" sz="2800" dirty="0">
                <a:latin typeface="Times New Roman" panose="02020603050405020304" pitchFamily="18" charset="0"/>
                <a:ea typeface="Tahoma" panose="020B0604030504040204" pitchFamily="34" charset="0"/>
                <a:cs typeface="Times New Roman" panose="02020603050405020304" pitchFamily="18" charset="0"/>
              </a:rPr>
              <a:t>. It’s a basic overview of the whole system or process being analyzed or modeled. </a:t>
            </a:r>
            <a:endParaRPr lang="en-US" sz="2800" dirty="0" smtClean="0">
              <a:latin typeface="Times New Roman" panose="02020603050405020304" pitchFamily="18" charset="0"/>
              <a:ea typeface="Tahoma" panose="020B0604030504040204" pitchFamily="34" charset="0"/>
              <a:cs typeface="Times New Roman" panose="02020603050405020304" pitchFamily="18" charset="0"/>
            </a:endParaRPr>
          </a:p>
          <a:p>
            <a:pPr marL="457200" indent="-457200" algn="just">
              <a:buFont typeface="Wingdings" panose="05000000000000000000" pitchFamily="2" charset="2"/>
              <a:buChar char="q"/>
            </a:pPr>
            <a:r>
              <a:rPr lang="en-US" sz="2800" dirty="0" smtClean="0">
                <a:latin typeface="Times New Roman" panose="02020603050405020304" pitchFamily="18" charset="0"/>
                <a:ea typeface="Tahoma" panose="020B0604030504040204" pitchFamily="34" charset="0"/>
                <a:cs typeface="Times New Roman" panose="02020603050405020304" pitchFamily="18" charset="0"/>
              </a:rPr>
              <a:t>It’s </a:t>
            </a:r>
            <a:r>
              <a:rPr lang="en-US" sz="2800" dirty="0">
                <a:latin typeface="Times New Roman" panose="02020603050405020304" pitchFamily="18" charset="0"/>
                <a:ea typeface="Tahoma" panose="020B0604030504040204" pitchFamily="34" charset="0"/>
                <a:cs typeface="Times New Roman" panose="02020603050405020304" pitchFamily="18" charset="0"/>
              </a:rPr>
              <a:t>designed to be an at-a-glance view, showing the system as a single high-level process, with its </a:t>
            </a:r>
            <a:r>
              <a:rPr lang="en-US" sz="2800" b="1" dirty="0">
                <a:latin typeface="Times New Roman" panose="02020603050405020304" pitchFamily="18" charset="0"/>
                <a:ea typeface="Tahoma" panose="020B0604030504040204" pitchFamily="34" charset="0"/>
                <a:cs typeface="Times New Roman" panose="02020603050405020304" pitchFamily="18" charset="0"/>
              </a:rPr>
              <a:t>relationship to external entities. </a:t>
            </a:r>
            <a:endParaRPr lang="en-US" sz="2800" b="1" dirty="0" smtClean="0">
              <a:latin typeface="Times New Roman" panose="02020603050405020304" pitchFamily="18" charset="0"/>
              <a:ea typeface="Tahoma" panose="020B0604030504040204" pitchFamily="34" charset="0"/>
              <a:cs typeface="Times New Roman" panose="02020603050405020304" pitchFamily="18" charset="0"/>
            </a:endParaRPr>
          </a:p>
          <a:p>
            <a:pPr marL="457200" indent="-457200" algn="just">
              <a:buFont typeface="Wingdings" panose="05000000000000000000" pitchFamily="2" charset="2"/>
              <a:buChar char="q"/>
            </a:pPr>
            <a:r>
              <a:rPr lang="en-US" sz="2800" dirty="0" smtClean="0">
                <a:latin typeface="Times New Roman" panose="02020603050405020304" pitchFamily="18" charset="0"/>
                <a:ea typeface="Tahoma" panose="020B0604030504040204" pitchFamily="34" charset="0"/>
                <a:cs typeface="Times New Roman" panose="02020603050405020304" pitchFamily="18" charset="0"/>
              </a:rPr>
              <a:t>It </a:t>
            </a:r>
            <a:r>
              <a:rPr lang="en-US" sz="2800" dirty="0">
                <a:latin typeface="Times New Roman" panose="02020603050405020304" pitchFamily="18" charset="0"/>
                <a:ea typeface="Tahoma" panose="020B0604030504040204" pitchFamily="34" charset="0"/>
                <a:cs typeface="Times New Roman" panose="02020603050405020304" pitchFamily="18" charset="0"/>
              </a:rPr>
              <a:t>should be easily understood by a wide audience, including stakeholders, business analysts, data analysts and developers. </a:t>
            </a:r>
            <a:endParaRPr lang="en-US" sz="28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2"/>
          <p:cNvSpPr/>
          <p:nvPr/>
        </p:nvSpPr>
        <p:spPr>
          <a:xfrm>
            <a:off x="3263900" y="901700"/>
            <a:ext cx="2127506" cy="923330"/>
          </a:xfrm>
          <a:prstGeom prst="rect">
            <a:avLst/>
          </a:prstGeom>
        </p:spPr>
        <p:txBody>
          <a:bodyPr wrap="none">
            <a:spAutoFit/>
          </a:bodyPr>
          <a:lstStyle/>
          <a:p>
            <a:pPr algn="ctr"/>
            <a:r>
              <a:rPr lang="en-US" sz="5400" b="1" u="sng" dirty="0">
                <a:solidFill>
                  <a:srgbClr val="002060"/>
                </a:solidFill>
                <a:latin typeface="Times New Roman" panose="02020603050405020304" pitchFamily="18" charset="0"/>
                <a:cs typeface="Times New Roman" panose="02020603050405020304" pitchFamily="18" charset="0"/>
              </a:rPr>
              <a:t>DFD </a:t>
            </a:r>
            <a:r>
              <a:rPr lang="en-US" sz="5400" b="1" u="sng" dirty="0" smtClean="0">
                <a:solidFill>
                  <a:srgbClr val="002060"/>
                </a:solidFill>
                <a:latin typeface="Times New Roman" panose="02020603050405020304" pitchFamily="18" charset="0"/>
                <a:cs typeface="Times New Roman" panose="02020603050405020304" pitchFamily="18" charset="0"/>
              </a:rPr>
              <a:t>0</a:t>
            </a:r>
            <a:endParaRPr lang="en-US" sz="5400" b="1" u="sng" dirty="0" smtClean="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9300" y="2120900"/>
            <a:ext cx="8001000" cy="3877985"/>
          </a:xfrm>
          <a:prstGeom prst="rect">
            <a:avLst/>
          </a:prstGeom>
        </p:spPr>
        <p:txBody>
          <a:bodyPr vert="horz" wrap="square" lIns="0" tIns="0" rIns="0" bIns="0" rtlCol="0">
            <a:spAutoFit/>
          </a:bodyPr>
          <a:lstStyle/>
          <a:p>
            <a:pPr marL="457200" indent="-457200" algn="just">
              <a:buFont typeface="Wingdings" panose="05000000000000000000" pitchFamily="2" charset="2"/>
              <a:buChar char="q"/>
            </a:pPr>
            <a:r>
              <a:rPr lang="en-US" sz="2800" dirty="0">
                <a:latin typeface="Times New Roman" panose="02020603050405020304" pitchFamily="18" charset="0"/>
                <a:ea typeface="Tahoma" panose="020B0604030504040204" pitchFamily="34" charset="0"/>
                <a:cs typeface="Times New Roman" panose="02020603050405020304" pitchFamily="18" charset="0"/>
              </a:rPr>
              <a:t>DFD Level 0 is also called a Context Diagram. It’s a basic overview of the whole system or process being analyzed or modeled. </a:t>
            </a:r>
            <a:endParaRPr lang="en-US" sz="2800" dirty="0" smtClean="0">
              <a:latin typeface="Times New Roman" panose="02020603050405020304" pitchFamily="18" charset="0"/>
              <a:ea typeface="Tahoma" panose="020B0604030504040204" pitchFamily="34" charset="0"/>
              <a:cs typeface="Times New Roman" panose="02020603050405020304" pitchFamily="18" charset="0"/>
            </a:endParaRPr>
          </a:p>
          <a:p>
            <a:pPr marL="457200" indent="-457200" algn="just">
              <a:buFont typeface="Wingdings" panose="05000000000000000000" pitchFamily="2" charset="2"/>
              <a:buChar char="q"/>
            </a:pPr>
            <a:r>
              <a:rPr lang="en-US" sz="2800" dirty="0" smtClean="0">
                <a:latin typeface="Times New Roman" panose="02020603050405020304" pitchFamily="18" charset="0"/>
                <a:ea typeface="Tahoma" panose="020B0604030504040204" pitchFamily="34" charset="0"/>
                <a:cs typeface="Times New Roman" panose="02020603050405020304" pitchFamily="18" charset="0"/>
              </a:rPr>
              <a:t>It’s </a:t>
            </a:r>
            <a:r>
              <a:rPr lang="en-US" sz="2800" dirty="0">
                <a:latin typeface="Times New Roman" panose="02020603050405020304" pitchFamily="18" charset="0"/>
                <a:ea typeface="Tahoma" panose="020B0604030504040204" pitchFamily="34" charset="0"/>
                <a:cs typeface="Times New Roman" panose="02020603050405020304" pitchFamily="18" charset="0"/>
              </a:rPr>
              <a:t>designed to be an at-a-glance view, showing the system as a single high-level process, with its relationship to external entities. </a:t>
            </a:r>
            <a:endParaRPr lang="en-US" sz="2800" dirty="0" smtClean="0">
              <a:latin typeface="Times New Roman" panose="02020603050405020304" pitchFamily="18" charset="0"/>
              <a:ea typeface="Tahoma" panose="020B0604030504040204" pitchFamily="34" charset="0"/>
              <a:cs typeface="Times New Roman" panose="02020603050405020304" pitchFamily="18" charset="0"/>
            </a:endParaRPr>
          </a:p>
          <a:p>
            <a:pPr marL="457200" indent="-457200" algn="just">
              <a:buFont typeface="Wingdings" panose="05000000000000000000" pitchFamily="2" charset="2"/>
              <a:buChar char="q"/>
            </a:pPr>
            <a:r>
              <a:rPr lang="en-US" sz="2800" dirty="0" smtClean="0">
                <a:latin typeface="Times New Roman" panose="02020603050405020304" pitchFamily="18" charset="0"/>
                <a:ea typeface="Tahoma" panose="020B0604030504040204" pitchFamily="34" charset="0"/>
                <a:cs typeface="Times New Roman" panose="02020603050405020304" pitchFamily="18" charset="0"/>
              </a:rPr>
              <a:t>It </a:t>
            </a:r>
            <a:r>
              <a:rPr lang="en-US" sz="2800" dirty="0">
                <a:latin typeface="Times New Roman" panose="02020603050405020304" pitchFamily="18" charset="0"/>
                <a:ea typeface="Tahoma" panose="020B0604030504040204" pitchFamily="34" charset="0"/>
                <a:cs typeface="Times New Roman" panose="02020603050405020304" pitchFamily="18" charset="0"/>
              </a:rPr>
              <a:t>should be easily understood by a wide audience, including stakeholders, business analysts, data analysts and developers. </a:t>
            </a:r>
            <a:endParaRPr lang="en-US" sz="28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2"/>
          <p:cNvSpPr/>
          <p:nvPr/>
        </p:nvSpPr>
        <p:spPr>
          <a:xfrm>
            <a:off x="3317716" y="1054100"/>
            <a:ext cx="1766830" cy="769441"/>
          </a:xfrm>
          <a:prstGeom prst="rect">
            <a:avLst/>
          </a:prstGeom>
        </p:spPr>
        <p:txBody>
          <a:bodyPr wrap="none">
            <a:spAutoFit/>
          </a:bodyPr>
          <a:lstStyle/>
          <a:p>
            <a:pPr algn="ctr"/>
            <a:r>
              <a:rPr lang="en-US" sz="4400" b="1" u="sng" dirty="0">
                <a:solidFill>
                  <a:srgbClr val="002060"/>
                </a:solidFill>
                <a:latin typeface="Times New Roman" panose="02020603050405020304" pitchFamily="18" charset="0"/>
                <a:cs typeface="Times New Roman" panose="02020603050405020304" pitchFamily="18" charset="0"/>
              </a:rPr>
              <a:t>DFD </a:t>
            </a:r>
            <a:r>
              <a:rPr lang="en-US" sz="4400" b="1" u="sng" dirty="0" smtClean="0">
                <a:solidFill>
                  <a:srgbClr val="002060"/>
                </a:solidFill>
                <a:latin typeface="Times New Roman" panose="02020603050405020304" pitchFamily="18" charset="0"/>
                <a:cs typeface="Times New Roman" panose="02020603050405020304" pitchFamily="18" charset="0"/>
              </a:rPr>
              <a:t>0</a:t>
            </a:r>
            <a:endParaRPr lang="en-US" sz="4400" b="1" u="sng" dirty="0" smtClean="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93916" y="1063083"/>
            <a:ext cx="1766830" cy="769441"/>
          </a:xfrm>
          <a:prstGeom prst="rect">
            <a:avLst/>
          </a:prstGeom>
        </p:spPr>
        <p:txBody>
          <a:bodyPr wrap="none">
            <a:spAutoFit/>
          </a:bodyPr>
          <a:lstStyle/>
          <a:p>
            <a:pPr algn="ctr"/>
            <a:r>
              <a:rPr lang="en-US" sz="4400" b="1" u="sng" dirty="0">
                <a:solidFill>
                  <a:srgbClr val="002060"/>
                </a:solidFill>
                <a:latin typeface="Times New Roman" panose="02020603050405020304" pitchFamily="18" charset="0"/>
                <a:cs typeface="Times New Roman" panose="02020603050405020304" pitchFamily="18" charset="0"/>
              </a:rPr>
              <a:t>DFD </a:t>
            </a:r>
            <a:r>
              <a:rPr lang="en-US" sz="4400" b="1" u="sng" dirty="0" smtClean="0">
                <a:solidFill>
                  <a:srgbClr val="002060"/>
                </a:solidFill>
                <a:latin typeface="Times New Roman" panose="02020603050405020304" pitchFamily="18" charset="0"/>
                <a:cs typeface="Times New Roman" panose="02020603050405020304" pitchFamily="18" charset="0"/>
              </a:rPr>
              <a:t>0</a:t>
            </a:r>
            <a:endParaRPr lang="en-US" sz="4400" b="1" u="sng" dirty="0" smtClean="0">
              <a:solidFill>
                <a:srgbClr val="002060"/>
              </a:solidFill>
              <a:latin typeface="Times New Roman" panose="02020603050405020304" pitchFamily="18" charset="0"/>
              <a:cs typeface="Times New Roman" panose="02020603050405020304" pitchFamily="18" charset="0"/>
            </a:endParaRPr>
          </a:p>
        </p:txBody>
      </p:sp>
      <p:sp>
        <p:nvSpPr>
          <p:cNvPr id="4" name="AutoShape 2" descr="https://d2slcw3kip6qmk.cloudfront.net/marketing/pages/chart/seo/data-flow-diagram/discovery/data-flow-diagram-3.svg"/>
          <p:cNvSpPr>
            <a:spLocks noChangeAspect="1" noChangeArrowheads="1"/>
          </p:cNvSpPr>
          <p:nvPr/>
        </p:nvSpPr>
        <p:spPr bwMode="auto">
          <a:xfrm>
            <a:off x="155574" y="-144463"/>
            <a:ext cx="3184525" cy="318453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6" name="Picture 5"/>
          <p:cNvPicPr>
            <a:picLocks noChangeAspect="1"/>
          </p:cNvPicPr>
          <p:nvPr/>
        </p:nvPicPr>
        <p:blipFill>
          <a:blip r:embed="rId1"/>
          <a:stretch>
            <a:fillRect/>
          </a:stretch>
        </p:blipFill>
        <p:spPr>
          <a:xfrm>
            <a:off x="163976" y="2197100"/>
            <a:ext cx="8674100" cy="303847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9300" y="2501900"/>
            <a:ext cx="8001000" cy="3447098"/>
          </a:xfrm>
          <a:prstGeom prst="rect">
            <a:avLst/>
          </a:prstGeom>
        </p:spPr>
        <p:txBody>
          <a:bodyPr vert="horz" wrap="square" lIns="0" tIns="0" rIns="0" bIns="0" rtlCol="0">
            <a:spAutoFit/>
          </a:bodyPr>
          <a:lstStyle/>
          <a:p>
            <a:pPr marL="457200" indent="-457200" algn="just">
              <a:buFont typeface="Wingdings" panose="05000000000000000000" pitchFamily="2" charset="2"/>
              <a:buChar char="q"/>
            </a:pPr>
            <a:r>
              <a:rPr lang="en-US" sz="3200" dirty="0">
                <a:latin typeface="Times New Roman" panose="02020603050405020304" pitchFamily="18" charset="0"/>
                <a:ea typeface="Tahoma" panose="020B0604030504040204" pitchFamily="34" charset="0"/>
                <a:cs typeface="Times New Roman" panose="02020603050405020304" pitchFamily="18" charset="0"/>
              </a:rPr>
              <a:t>DFD Level 1 provides a </a:t>
            </a:r>
            <a:r>
              <a:rPr lang="en-US" sz="3200" b="1" dirty="0">
                <a:latin typeface="Times New Roman" panose="02020603050405020304" pitchFamily="18" charset="0"/>
                <a:ea typeface="Tahoma" panose="020B0604030504040204" pitchFamily="34" charset="0"/>
                <a:cs typeface="Times New Roman" panose="02020603050405020304" pitchFamily="18" charset="0"/>
              </a:rPr>
              <a:t>more detailed breakout of pieces </a:t>
            </a:r>
            <a:r>
              <a:rPr lang="en-US" sz="3200" dirty="0">
                <a:latin typeface="Times New Roman" panose="02020603050405020304" pitchFamily="18" charset="0"/>
                <a:ea typeface="Tahoma" panose="020B0604030504040204" pitchFamily="34" charset="0"/>
                <a:cs typeface="Times New Roman" panose="02020603050405020304" pitchFamily="18" charset="0"/>
              </a:rPr>
              <a:t>of the Context Level Diagram. </a:t>
            </a:r>
            <a:endParaRPr lang="en-US" sz="3200" dirty="0" smtClean="0">
              <a:latin typeface="Times New Roman" panose="02020603050405020304" pitchFamily="18" charset="0"/>
              <a:ea typeface="Tahoma" panose="020B0604030504040204" pitchFamily="34" charset="0"/>
              <a:cs typeface="Times New Roman" panose="02020603050405020304" pitchFamily="18" charset="0"/>
            </a:endParaRPr>
          </a:p>
          <a:p>
            <a:pPr marL="457200" indent="-457200" algn="just">
              <a:buFont typeface="Wingdings" panose="05000000000000000000" pitchFamily="2" charset="2"/>
              <a:buChar char="q"/>
            </a:pPr>
            <a:r>
              <a:rPr lang="en-US" sz="3200" dirty="0" smtClean="0">
                <a:latin typeface="Times New Roman" panose="02020603050405020304" pitchFamily="18" charset="0"/>
                <a:ea typeface="Tahoma" panose="020B0604030504040204" pitchFamily="34" charset="0"/>
                <a:cs typeface="Times New Roman" panose="02020603050405020304" pitchFamily="18" charset="0"/>
              </a:rPr>
              <a:t>You </a:t>
            </a:r>
            <a:r>
              <a:rPr lang="en-US" sz="3200" dirty="0">
                <a:latin typeface="Times New Roman" panose="02020603050405020304" pitchFamily="18" charset="0"/>
                <a:ea typeface="Tahoma" panose="020B0604030504040204" pitchFamily="34" charset="0"/>
                <a:cs typeface="Times New Roman" panose="02020603050405020304" pitchFamily="18" charset="0"/>
              </a:rPr>
              <a:t>will highlight the main functions carried out by the system, as you break down the high-level process of the Context Diagram into its </a:t>
            </a:r>
            <a:r>
              <a:rPr lang="en-US" sz="3200" dirty="0" smtClean="0">
                <a:latin typeface="Times New Roman" panose="02020603050405020304" pitchFamily="18" charset="0"/>
                <a:ea typeface="Tahoma" panose="020B0604030504040204" pitchFamily="34" charset="0"/>
                <a:cs typeface="Times New Roman" panose="02020603050405020304" pitchFamily="18" charset="0"/>
              </a:rPr>
              <a:t>sub-processes</a:t>
            </a:r>
            <a:r>
              <a:rPr lang="en-US" sz="3200" dirty="0">
                <a:latin typeface="Times New Roman" panose="02020603050405020304" pitchFamily="18" charset="0"/>
                <a:ea typeface="Tahoma" panose="020B0604030504040204" pitchFamily="34" charset="0"/>
                <a:cs typeface="Times New Roman" panose="02020603050405020304" pitchFamily="18" charset="0"/>
              </a:rPr>
              <a:t>.</a:t>
            </a:r>
            <a:endParaRPr lang="en-US" sz="3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2"/>
          <p:cNvSpPr/>
          <p:nvPr/>
        </p:nvSpPr>
        <p:spPr>
          <a:xfrm>
            <a:off x="3370672" y="901700"/>
            <a:ext cx="1813317" cy="769441"/>
          </a:xfrm>
          <a:prstGeom prst="rect">
            <a:avLst/>
          </a:prstGeom>
        </p:spPr>
        <p:txBody>
          <a:bodyPr wrap="none">
            <a:spAutoFit/>
          </a:bodyPr>
          <a:lstStyle/>
          <a:p>
            <a:pPr algn="ctr"/>
            <a:r>
              <a:rPr lang="en-US" sz="4400" b="1" u="sng" dirty="0" smtClean="0">
                <a:solidFill>
                  <a:srgbClr val="002060"/>
                </a:solidFill>
                <a:latin typeface="Times New Roman" panose="02020603050405020304" pitchFamily="18" charset="0"/>
                <a:cs typeface="Times New Roman" panose="02020603050405020304" pitchFamily="18" charset="0"/>
              </a:rPr>
              <a:t>DFD-1</a:t>
            </a:r>
            <a:endParaRPr lang="en-US" sz="4400" b="1" u="sng" dirty="0" smtClean="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72333" y="292100"/>
            <a:ext cx="1962397" cy="830997"/>
          </a:xfrm>
          <a:prstGeom prst="rect">
            <a:avLst/>
          </a:prstGeom>
        </p:spPr>
        <p:txBody>
          <a:bodyPr wrap="none">
            <a:spAutoFit/>
          </a:bodyPr>
          <a:lstStyle/>
          <a:p>
            <a:pPr algn="ctr"/>
            <a:r>
              <a:rPr lang="en-US" sz="4800" b="1" u="sng" dirty="0" smtClean="0">
                <a:solidFill>
                  <a:srgbClr val="002060"/>
                </a:solidFill>
                <a:latin typeface="Times New Roman" panose="02020603050405020304" pitchFamily="18" charset="0"/>
                <a:cs typeface="Times New Roman" panose="02020603050405020304" pitchFamily="18" charset="0"/>
              </a:rPr>
              <a:t>DFD-1</a:t>
            </a:r>
            <a:endParaRPr lang="en-US" sz="4800" b="1" u="sng" dirty="0" smtClean="0">
              <a:solidFill>
                <a:srgbClr val="002060"/>
              </a:solidFill>
              <a:latin typeface="Times New Roman" panose="02020603050405020304" pitchFamily="18" charset="0"/>
              <a:cs typeface="Times New Roman" panose="02020603050405020304" pitchFamily="18" charset="0"/>
            </a:endParaRPr>
          </a:p>
        </p:txBody>
      </p:sp>
      <p:sp>
        <p:nvSpPr>
          <p:cNvPr id="4" name="AutoShape 2" descr="https://d2slcw3kip6qmk.cloudfront.net/marketing/pages/chart/seo/data-flow-diagram/discovery/data-flow-diagram-3.svg"/>
          <p:cNvSpPr>
            <a:spLocks noChangeAspect="1" noChangeArrowheads="1"/>
          </p:cNvSpPr>
          <p:nvPr/>
        </p:nvSpPr>
        <p:spPr bwMode="auto">
          <a:xfrm>
            <a:off x="155574" y="-144463"/>
            <a:ext cx="3184525" cy="318453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2" name="Picture 1"/>
          <p:cNvPicPr>
            <a:picLocks noChangeAspect="1"/>
          </p:cNvPicPr>
          <p:nvPr/>
        </p:nvPicPr>
        <p:blipFill>
          <a:blip r:embed="rId1"/>
          <a:stretch>
            <a:fillRect/>
          </a:stretch>
        </p:blipFill>
        <p:spPr>
          <a:xfrm>
            <a:off x="1663700" y="1282700"/>
            <a:ext cx="5496908" cy="5010761"/>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3100" y="2425700"/>
            <a:ext cx="8001000" cy="3077766"/>
          </a:xfrm>
          <a:prstGeom prst="rect">
            <a:avLst/>
          </a:prstGeom>
        </p:spPr>
        <p:txBody>
          <a:bodyPr vert="horz" wrap="square" lIns="0" tIns="0" rIns="0" bIns="0" rtlCol="0">
            <a:spAutoFit/>
          </a:bodyPr>
          <a:lstStyle/>
          <a:p>
            <a:pPr marL="457200" indent="-457200" algn="just">
              <a:buFont typeface="Wingdings" panose="05000000000000000000" pitchFamily="2" charset="2"/>
              <a:buChar char="q"/>
            </a:pPr>
            <a:r>
              <a:rPr lang="en-US" sz="4000" dirty="0">
                <a:latin typeface="Times New Roman" panose="02020603050405020304" pitchFamily="18" charset="0"/>
                <a:ea typeface="Tahoma" panose="020B0604030504040204" pitchFamily="34" charset="0"/>
                <a:cs typeface="Times New Roman" panose="02020603050405020304" pitchFamily="18" charset="0"/>
              </a:rPr>
              <a:t>DFD Level 2 then goes one </a:t>
            </a:r>
            <a:r>
              <a:rPr lang="en-US" sz="4000" b="1" dirty="0">
                <a:latin typeface="Times New Roman" panose="02020603050405020304" pitchFamily="18" charset="0"/>
                <a:ea typeface="Tahoma" panose="020B0604030504040204" pitchFamily="34" charset="0"/>
                <a:cs typeface="Times New Roman" panose="02020603050405020304" pitchFamily="18" charset="0"/>
              </a:rPr>
              <a:t>step deeper into parts of Level 1</a:t>
            </a:r>
            <a:r>
              <a:rPr lang="en-US" sz="4000" dirty="0">
                <a:latin typeface="Times New Roman" panose="02020603050405020304" pitchFamily="18" charset="0"/>
                <a:ea typeface="Tahoma" panose="020B0604030504040204" pitchFamily="34" charset="0"/>
                <a:cs typeface="Times New Roman" panose="02020603050405020304" pitchFamily="18" charset="0"/>
              </a:rPr>
              <a:t>. </a:t>
            </a:r>
            <a:endParaRPr lang="en-US" sz="4000" dirty="0" smtClean="0">
              <a:latin typeface="Times New Roman" panose="02020603050405020304" pitchFamily="18" charset="0"/>
              <a:ea typeface="Tahoma" panose="020B0604030504040204" pitchFamily="34" charset="0"/>
              <a:cs typeface="Times New Roman" panose="02020603050405020304" pitchFamily="18" charset="0"/>
            </a:endParaRPr>
          </a:p>
          <a:p>
            <a:pPr marL="457200" indent="-457200" algn="just">
              <a:buFont typeface="Wingdings" panose="05000000000000000000" pitchFamily="2" charset="2"/>
              <a:buChar char="q"/>
            </a:pPr>
            <a:r>
              <a:rPr lang="en-US" sz="4000" dirty="0" smtClean="0">
                <a:latin typeface="Times New Roman" panose="02020603050405020304" pitchFamily="18" charset="0"/>
                <a:ea typeface="Tahoma" panose="020B0604030504040204" pitchFamily="34" charset="0"/>
                <a:cs typeface="Times New Roman" panose="02020603050405020304" pitchFamily="18" charset="0"/>
              </a:rPr>
              <a:t>It </a:t>
            </a:r>
            <a:r>
              <a:rPr lang="en-US" sz="4000" dirty="0">
                <a:latin typeface="Times New Roman" panose="02020603050405020304" pitchFamily="18" charset="0"/>
                <a:ea typeface="Tahoma" panose="020B0604030504040204" pitchFamily="34" charset="0"/>
                <a:cs typeface="Times New Roman" panose="02020603050405020304" pitchFamily="18" charset="0"/>
              </a:rPr>
              <a:t>may require more text to reach the necessary level of detail about the system’s functioning.</a:t>
            </a:r>
            <a:endParaRPr lang="en-US" sz="4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2"/>
          <p:cNvSpPr/>
          <p:nvPr/>
        </p:nvSpPr>
        <p:spPr>
          <a:xfrm>
            <a:off x="3218272" y="901700"/>
            <a:ext cx="1813317" cy="769441"/>
          </a:xfrm>
          <a:prstGeom prst="rect">
            <a:avLst/>
          </a:prstGeom>
        </p:spPr>
        <p:txBody>
          <a:bodyPr wrap="none">
            <a:spAutoFit/>
          </a:bodyPr>
          <a:lstStyle/>
          <a:p>
            <a:pPr algn="ctr"/>
            <a:r>
              <a:rPr lang="en-US" sz="4400" b="1" u="sng" dirty="0" smtClean="0">
                <a:solidFill>
                  <a:srgbClr val="002060"/>
                </a:solidFill>
                <a:latin typeface="Times New Roman" panose="02020603050405020304" pitchFamily="18" charset="0"/>
                <a:cs typeface="Times New Roman" panose="02020603050405020304" pitchFamily="18" charset="0"/>
              </a:rPr>
              <a:t>DFD-2</a:t>
            </a:r>
            <a:endParaRPr lang="en-US" sz="4400" b="1" u="sng" dirty="0" smtClean="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446872" y="292100"/>
            <a:ext cx="1813317" cy="769441"/>
          </a:xfrm>
          <a:prstGeom prst="rect">
            <a:avLst/>
          </a:prstGeom>
        </p:spPr>
        <p:txBody>
          <a:bodyPr wrap="none">
            <a:spAutoFit/>
          </a:bodyPr>
          <a:lstStyle/>
          <a:p>
            <a:pPr algn="ctr"/>
            <a:r>
              <a:rPr lang="en-US" sz="4400" b="1" u="sng" dirty="0" smtClean="0">
                <a:solidFill>
                  <a:srgbClr val="002060"/>
                </a:solidFill>
                <a:latin typeface="Times New Roman" panose="02020603050405020304" pitchFamily="18" charset="0"/>
                <a:cs typeface="Times New Roman" panose="02020603050405020304" pitchFamily="18" charset="0"/>
              </a:rPr>
              <a:t>DFD-2</a:t>
            </a:r>
            <a:endParaRPr lang="en-US" sz="4400" b="1" u="sng" dirty="0" smtClean="0">
              <a:solidFill>
                <a:srgbClr val="002060"/>
              </a:solidFill>
              <a:latin typeface="Times New Roman" panose="02020603050405020304" pitchFamily="18" charset="0"/>
              <a:cs typeface="Times New Roman" panose="02020603050405020304" pitchFamily="18" charset="0"/>
            </a:endParaRPr>
          </a:p>
        </p:txBody>
      </p:sp>
      <p:sp>
        <p:nvSpPr>
          <p:cNvPr id="4" name="AutoShape 2" descr="https://d2slcw3kip6qmk.cloudfront.net/marketing/pages/chart/seo/data-flow-diagram/discovery/data-flow-diagram-3.svg"/>
          <p:cNvSpPr>
            <a:spLocks noChangeAspect="1" noChangeArrowheads="1"/>
          </p:cNvSpPr>
          <p:nvPr/>
        </p:nvSpPr>
        <p:spPr bwMode="auto">
          <a:xfrm>
            <a:off x="155574" y="-144463"/>
            <a:ext cx="3184525" cy="318453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5" name="Picture 4"/>
          <p:cNvPicPr>
            <a:picLocks noChangeAspect="1"/>
          </p:cNvPicPr>
          <p:nvPr/>
        </p:nvPicPr>
        <p:blipFill>
          <a:blip r:embed="rId1"/>
          <a:stretch>
            <a:fillRect/>
          </a:stretch>
        </p:blipFill>
        <p:spPr>
          <a:xfrm>
            <a:off x="749300" y="1061541"/>
            <a:ext cx="7010400" cy="5631359"/>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1700" y="2120900"/>
            <a:ext cx="8001000" cy="3323987"/>
          </a:xfrm>
          <a:prstGeom prst="rect">
            <a:avLst/>
          </a:prstGeom>
        </p:spPr>
        <p:txBody>
          <a:bodyPr vert="horz" wrap="square" lIns="0" tIns="0" rIns="0" bIns="0" rtlCol="0">
            <a:spAutoFit/>
          </a:bodyPr>
          <a:lstStyle/>
          <a:p>
            <a:pPr marL="457200" indent="-457200">
              <a:buFont typeface="Wingdings" panose="05000000000000000000" pitchFamily="2" charset="2"/>
              <a:buChar char="q"/>
            </a:pPr>
            <a:r>
              <a:rPr lang="en-US" sz="3600" dirty="0">
                <a:latin typeface="Times New Roman" panose="02020603050405020304" pitchFamily="18" charset="0"/>
                <a:ea typeface="Tahoma" panose="020B0604030504040204" pitchFamily="34" charset="0"/>
                <a:cs typeface="Times New Roman" panose="02020603050405020304" pitchFamily="18" charset="0"/>
              </a:rPr>
              <a:t>Progression to Levels 3, 4 and beyond is possible, but going beyond Level 3 is uncommon. </a:t>
            </a:r>
            <a:endParaRPr lang="en-US" sz="3600" dirty="0" smtClean="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Font typeface="Wingdings" panose="05000000000000000000" pitchFamily="2" charset="2"/>
              <a:buChar char="q"/>
            </a:pPr>
            <a:r>
              <a:rPr lang="en-US" sz="3600" dirty="0" smtClean="0">
                <a:latin typeface="Times New Roman" panose="02020603050405020304" pitchFamily="18" charset="0"/>
                <a:ea typeface="Tahoma" panose="020B0604030504040204" pitchFamily="34" charset="0"/>
                <a:cs typeface="Times New Roman" panose="02020603050405020304" pitchFamily="18" charset="0"/>
              </a:rPr>
              <a:t>Doing </a:t>
            </a:r>
            <a:r>
              <a:rPr lang="en-US" sz="3600" dirty="0">
                <a:latin typeface="Times New Roman" panose="02020603050405020304" pitchFamily="18" charset="0"/>
                <a:ea typeface="Tahoma" panose="020B0604030504040204" pitchFamily="34" charset="0"/>
                <a:cs typeface="Times New Roman" panose="02020603050405020304" pitchFamily="18" charset="0"/>
              </a:rPr>
              <a:t>so can create complexity that makes it difficult to communicate, compare or model effectively.</a:t>
            </a:r>
            <a:endParaRPr lang="en-US" sz="36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2"/>
          <p:cNvSpPr/>
          <p:nvPr/>
        </p:nvSpPr>
        <p:spPr>
          <a:xfrm>
            <a:off x="2959100" y="977900"/>
            <a:ext cx="2526654" cy="830997"/>
          </a:xfrm>
          <a:prstGeom prst="rect">
            <a:avLst/>
          </a:prstGeom>
        </p:spPr>
        <p:txBody>
          <a:bodyPr wrap="none">
            <a:spAutoFit/>
          </a:bodyPr>
          <a:lstStyle/>
          <a:p>
            <a:pPr algn="ctr"/>
            <a:r>
              <a:rPr lang="en-US" sz="4800" b="1" u="sng" dirty="0">
                <a:solidFill>
                  <a:srgbClr val="002060"/>
                </a:solidFill>
                <a:latin typeface="Times New Roman" panose="02020603050405020304" pitchFamily="18" charset="0"/>
                <a:cs typeface="Times New Roman" panose="02020603050405020304" pitchFamily="18" charset="0"/>
              </a:rPr>
              <a:t>DFD </a:t>
            </a:r>
            <a:r>
              <a:rPr lang="en-US" sz="4800" b="1" u="sng" dirty="0" smtClean="0">
                <a:solidFill>
                  <a:srgbClr val="002060"/>
                </a:solidFill>
                <a:latin typeface="Times New Roman" panose="02020603050405020304" pitchFamily="18" charset="0"/>
                <a:cs typeface="Times New Roman" panose="02020603050405020304" pitchFamily="18" charset="0"/>
              </a:rPr>
              <a:t>3, 4</a:t>
            </a:r>
            <a:endParaRPr lang="en-US" sz="4800" b="1" u="sng" dirty="0" smtClean="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5000" y="2044700"/>
            <a:ext cx="8229600" cy="3877985"/>
          </a:xfrm>
          <a:prstGeom prst="rect">
            <a:avLst/>
          </a:prstGeom>
        </p:spPr>
        <p:txBody>
          <a:bodyPr vert="horz" wrap="square" lIns="0" tIns="0" rIns="0" bIns="0" rtlCol="0">
            <a:spAutoFit/>
          </a:bodyPr>
          <a:lstStyle/>
          <a:p>
            <a:pPr marL="457200" indent="-457200" algn="just">
              <a:buFont typeface="Wingdings" panose="05000000000000000000" pitchFamily="2" charset="2"/>
              <a:buChar char="q"/>
            </a:pPr>
            <a:r>
              <a:rPr lang="en-US" sz="2800" dirty="0">
                <a:latin typeface="Times New Roman" panose="02020603050405020304" pitchFamily="18" charset="0"/>
                <a:ea typeface="Tahoma" panose="020B0604030504040204" pitchFamily="34" charset="0"/>
                <a:cs typeface="Times New Roman" panose="02020603050405020304" pitchFamily="18" charset="0"/>
              </a:rPr>
              <a:t> A Logical DFD </a:t>
            </a:r>
            <a:r>
              <a:rPr lang="en-US" sz="2800"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visualizes</a:t>
            </a:r>
            <a:r>
              <a:rPr lang="en-US" sz="2800" dirty="0">
                <a:latin typeface="Times New Roman" panose="02020603050405020304" pitchFamily="18" charset="0"/>
                <a:ea typeface="Tahoma" panose="020B0604030504040204" pitchFamily="34" charset="0"/>
                <a:cs typeface="Times New Roman" panose="02020603050405020304" pitchFamily="18" charset="0"/>
              </a:rPr>
              <a:t> the data flow that is essential for a </a:t>
            </a:r>
            <a:r>
              <a:rPr lang="en-US" sz="2800"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business to operate</a:t>
            </a:r>
            <a:r>
              <a:rPr lang="en-US" sz="2800" dirty="0">
                <a:latin typeface="Times New Roman" panose="02020603050405020304" pitchFamily="18" charset="0"/>
                <a:ea typeface="Tahoma" panose="020B0604030504040204" pitchFamily="34" charset="0"/>
                <a:cs typeface="Times New Roman" panose="02020603050405020304" pitchFamily="18" charset="0"/>
              </a:rPr>
              <a:t>. It focuses on the business and the information needed, not on how the system works or is proposed to work. </a:t>
            </a:r>
            <a:endParaRPr lang="en-US" sz="2800" dirty="0" smtClean="0">
              <a:latin typeface="Times New Roman" panose="02020603050405020304" pitchFamily="18" charset="0"/>
              <a:ea typeface="Tahoma" panose="020B0604030504040204" pitchFamily="34" charset="0"/>
              <a:cs typeface="Times New Roman" panose="02020603050405020304" pitchFamily="18" charset="0"/>
            </a:endParaRPr>
          </a:p>
          <a:p>
            <a:pPr marL="457200" indent="-457200" algn="just">
              <a:buFont typeface="Wingdings" panose="05000000000000000000" pitchFamily="2" charset="2"/>
              <a:buChar char="q"/>
            </a:pPr>
            <a:r>
              <a:rPr lang="en-US" sz="2800" dirty="0" smtClean="0">
                <a:latin typeface="Times New Roman" panose="02020603050405020304" pitchFamily="18" charset="0"/>
                <a:ea typeface="Tahoma" panose="020B0604030504040204" pitchFamily="34" charset="0"/>
                <a:cs typeface="Times New Roman" panose="02020603050405020304" pitchFamily="18" charset="0"/>
              </a:rPr>
              <a:t>A Physical </a:t>
            </a:r>
            <a:r>
              <a:rPr lang="en-US" sz="2800" dirty="0">
                <a:latin typeface="Times New Roman" panose="02020603050405020304" pitchFamily="18" charset="0"/>
                <a:ea typeface="Tahoma" panose="020B0604030504040204" pitchFamily="34" charset="0"/>
                <a:cs typeface="Times New Roman" panose="02020603050405020304" pitchFamily="18" charset="0"/>
              </a:rPr>
              <a:t>DFD shows how the system is </a:t>
            </a:r>
            <a:r>
              <a:rPr lang="en-US" sz="2800"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actually implemented</a:t>
            </a:r>
            <a:r>
              <a:rPr lang="en-US" sz="2800" dirty="0">
                <a:latin typeface="Times New Roman" panose="02020603050405020304" pitchFamily="18" charset="0"/>
                <a:ea typeface="Tahoma" panose="020B0604030504040204" pitchFamily="34" charset="0"/>
                <a:cs typeface="Times New Roman" panose="02020603050405020304" pitchFamily="18" charset="0"/>
              </a:rPr>
              <a:t> now, or how it will be. For example, in a Logical DFD, the processes would be business activities, while in a Physical DFD, the processes would be programs and manual procedures.</a:t>
            </a:r>
            <a:endParaRPr lang="en-US" sz="28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2"/>
          <p:cNvSpPr/>
          <p:nvPr/>
        </p:nvSpPr>
        <p:spPr>
          <a:xfrm>
            <a:off x="997812" y="977900"/>
            <a:ext cx="7503977" cy="769441"/>
          </a:xfrm>
          <a:prstGeom prst="rect">
            <a:avLst/>
          </a:prstGeom>
        </p:spPr>
        <p:txBody>
          <a:bodyPr wrap="none">
            <a:spAutoFit/>
          </a:bodyPr>
          <a:lstStyle/>
          <a:p>
            <a:pPr algn="ctr"/>
            <a:r>
              <a:rPr lang="en-US" sz="4400" b="1" u="sng" dirty="0">
                <a:solidFill>
                  <a:srgbClr val="002060"/>
                </a:solidFill>
                <a:latin typeface="Times New Roman" panose="02020603050405020304" pitchFamily="18" charset="0"/>
                <a:cs typeface="Times New Roman" panose="02020603050405020304" pitchFamily="18" charset="0"/>
              </a:rPr>
              <a:t>Logical DFD vs. Physical </a:t>
            </a:r>
            <a:r>
              <a:rPr lang="en-US" sz="4400" b="1" u="sng" dirty="0" smtClean="0">
                <a:solidFill>
                  <a:srgbClr val="002060"/>
                </a:solidFill>
                <a:latin typeface="Times New Roman" panose="02020603050405020304" pitchFamily="18" charset="0"/>
                <a:cs typeface="Times New Roman" panose="02020603050405020304" pitchFamily="18" charset="0"/>
              </a:rPr>
              <a:t>DFD</a:t>
            </a:r>
            <a:endParaRPr lang="en-US" sz="4400" b="1" u="sng"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63900" y="63500"/>
            <a:ext cx="2631618" cy="769441"/>
          </a:xfrm>
          <a:prstGeom prst="rect">
            <a:avLst/>
          </a:prstGeom>
        </p:spPr>
        <p:txBody>
          <a:bodyPr wrap="none">
            <a:spAutoFit/>
          </a:bodyPr>
          <a:lstStyle/>
          <a:p>
            <a:pPr algn="ctr"/>
            <a:r>
              <a:rPr lang="en-US" sz="4400" b="1" u="sng" dirty="0" smtClean="0"/>
              <a:t>Example-1</a:t>
            </a:r>
            <a:endParaRPr lang="en-US" sz="4400" b="1" u="sng" dirty="0"/>
          </a:p>
        </p:txBody>
      </p:sp>
      <p:pic>
        <p:nvPicPr>
          <p:cNvPr id="5" name="Picture 4"/>
          <p:cNvPicPr>
            <a:picLocks noChangeAspect="1"/>
          </p:cNvPicPr>
          <p:nvPr/>
        </p:nvPicPr>
        <p:blipFill rotWithShape="1">
          <a:blip r:embed="rId1">
            <a:extLst>
              <a:ext uri="{BEBA8EAE-BF5A-486C-A8C5-ECC9F3942E4B}">
                <a14:imgProps xmlns:a14="http://schemas.microsoft.com/office/drawing/2010/main">
                  <a14:imgLayer r:embed="rId2">
                    <a14:imgEffect>
                      <a14:brightnessContrast bright="40000" contrast="-20000"/>
                    </a14:imgEffect>
                  </a14:imgLayer>
                </a14:imgProps>
              </a:ext>
              <a:ext uri="{28A0092B-C50C-407E-A947-70E740481C1C}">
                <a14:useLocalDpi xmlns:a14="http://schemas.microsoft.com/office/drawing/2010/main" val="0"/>
              </a:ext>
            </a:extLst>
          </a:blip>
          <a:srcRect l="3395" t="40489" b="6967"/>
          <a:stretch>
            <a:fillRect/>
          </a:stretch>
        </p:blipFill>
        <p:spPr>
          <a:xfrm>
            <a:off x="0" y="2864266"/>
            <a:ext cx="9118600" cy="3968334"/>
          </a:xfrm>
          <a:prstGeom prst="rect">
            <a:avLst/>
          </a:prstGeom>
        </p:spPr>
      </p:pic>
      <p:sp>
        <p:nvSpPr>
          <p:cNvPr id="2" name="TextBox 1"/>
          <p:cNvSpPr txBox="1"/>
          <p:nvPr/>
        </p:nvSpPr>
        <p:spPr>
          <a:xfrm>
            <a:off x="0" y="832941"/>
            <a:ext cx="8978900" cy="2031325"/>
          </a:xfrm>
          <a:prstGeom prst="rect">
            <a:avLst/>
          </a:prstGeom>
          <a:noFill/>
        </p:spPr>
        <p:txBody>
          <a:bodyPr wrap="square" rtlCol="0">
            <a:spAutoFit/>
          </a:bodyPr>
          <a:lstStyle/>
          <a:p>
            <a:pPr algn="just"/>
            <a:r>
              <a:rPr lang="en-US" b="1" dirty="0" smtClean="0">
                <a:latin typeface="Times New Roman" panose="02020603050405020304" pitchFamily="18" charset="0"/>
                <a:cs typeface="Times New Roman" panose="02020603050405020304" pitchFamily="18" charset="0"/>
              </a:rPr>
              <a:t>An advertisement is issued giving essential qualifications for the course , the last date for receipt of application, and the fee to be enclosed with the application. A clerk in the Registrar’s office checks the received applications to see if </a:t>
            </a:r>
            <a:r>
              <a:rPr lang="en-US" b="1" dirty="0" err="1" smtClean="0">
                <a:latin typeface="Times New Roman" panose="02020603050405020304" pitchFamily="18" charset="0"/>
                <a:cs typeface="Times New Roman" panose="02020603050405020304" pitchFamily="18" charset="0"/>
              </a:rPr>
              <a:t>marksheet</a:t>
            </a:r>
            <a:r>
              <a:rPr lang="en-US" b="1" dirty="0" smtClean="0">
                <a:latin typeface="Times New Roman" panose="02020603050405020304" pitchFamily="18" charset="0"/>
                <a:cs typeface="Times New Roman" panose="02020603050405020304" pitchFamily="18" charset="0"/>
              </a:rPr>
              <a:t> and fee are enclosed and sends valid applications to the concerned academic department. The department checks the application in details and decides the applications to be admitted, those to be put in the waiting list, and those rejected. Appropriate letters are sent to the Registrar’s office which intimates the applicant. </a:t>
            </a:r>
            <a:endParaRPr lang="en-US"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11500" y="0"/>
            <a:ext cx="2631618" cy="769441"/>
          </a:xfrm>
          <a:prstGeom prst="rect">
            <a:avLst/>
          </a:prstGeom>
        </p:spPr>
        <p:txBody>
          <a:bodyPr wrap="none">
            <a:spAutoFit/>
          </a:bodyPr>
          <a:lstStyle/>
          <a:p>
            <a:pPr algn="ctr"/>
            <a:r>
              <a:rPr lang="en-US" sz="4400" b="1" u="sng" dirty="0" smtClean="0"/>
              <a:t>Example-2</a:t>
            </a:r>
            <a:endParaRPr lang="en-US" sz="4400" b="1" u="sng" dirty="0"/>
          </a:p>
        </p:txBody>
      </p:sp>
      <p:pic>
        <p:nvPicPr>
          <p:cNvPr id="5" name="Picture 4"/>
          <p:cNvPicPr>
            <a:picLocks noChangeAspect="1"/>
          </p:cNvPicPr>
          <p:nvPr/>
        </p:nvPicPr>
        <p:blipFill rotWithShape="1">
          <a:blip r:embed="rId1">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rcRect l="19091" t="23283" r="909"/>
          <a:stretch>
            <a:fillRect/>
          </a:stretch>
        </p:blipFill>
        <p:spPr>
          <a:xfrm>
            <a:off x="0" y="2368646"/>
            <a:ext cx="9055100" cy="4400454"/>
          </a:xfrm>
          <a:prstGeom prst="rect">
            <a:avLst/>
          </a:prstGeom>
        </p:spPr>
      </p:pic>
      <p:sp>
        <p:nvSpPr>
          <p:cNvPr id="2" name="TextBox 1"/>
          <p:cNvSpPr txBox="1"/>
          <p:nvPr/>
        </p:nvSpPr>
        <p:spPr>
          <a:xfrm>
            <a:off x="215900" y="825500"/>
            <a:ext cx="8839200" cy="1477328"/>
          </a:xfrm>
          <a:prstGeom prst="rect">
            <a:avLst/>
          </a:prstGeom>
          <a:noFill/>
        </p:spPr>
        <p:txBody>
          <a:bodyPr wrap="square" rtlCol="0">
            <a:spAutoFit/>
          </a:bodyPr>
          <a:lstStyle/>
          <a:p>
            <a:pPr algn="just"/>
            <a:r>
              <a:rPr lang="en-US" b="1" dirty="0" smtClean="0">
                <a:latin typeface="Times New Roman" panose="02020603050405020304" pitchFamily="18" charset="0"/>
                <a:cs typeface="Times New Roman" panose="02020603050405020304" pitchFamily="18" charset="0"/>
              </a:rPr>
              <a:t>A magazine is published monthly and is sent by post to its subscribers. Two months before the expiry of subscriptions, a reminder is sent to the subscribers. If subscription is not received within a month, another reminder is send. If renewal subscription is not received up to two weeks before the expiry of the subscriptions, the subscribers name is removed from the mailing list and the subscriber informed. </a:t>
            </a:r>
            <a:endParaRPr lang="en-US"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63900" y="114861"/>
            <a:ext cx="2631618" cy="769441"/>
          </a:xfrm>
          <a:prstGeom prst="rect">
            <a:avLst/>
          </a:prstGeom>
        </p:spPr>
        <p:txBody>
          <a:bodyPr wrap="none">
            <a:spAutoFit/>
          </a:bodyPr>
          <a:lstStyle/>
          <a:p>
            <a:pPr algn="ctr"/>
            <a:r>
              <a:rPr lang="en-US" sz="4400" b="1" u="sng" dirty="0" smtClean="0"/>
              <a:t>Example-3</a:t>
            </a:r>
            <a:endParaRPr lang="en-US" sz="4400" b="1" u="sng" dirty="0"/>
          </a:p>
        </p:txBody>
      </p:sp>
      <p:pic>
        <p:nvPicPr>
          <p:cNvPr id="2" name="Picture 1"/>
          <p:cNvPicPr>
            <a:picLocks noChangeAspect="1"/>
          </p:cNvPicPr>
          <p:nvPr/>
        </p:nvPicPr>
        <p:blipFill rotWithShape="1">
          <a:blip r:embed="rId1">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rcRect l="7292" t="26249" r="9770" b="3207"/>
          <a:stretch>
            <a:fillRect/>
          </a:stretch>
        </p:blipFill>
        <p:spPr>
          <a:xfrm>
            <a:off x="471259" y="2654804"/>
            <a:ext cx="8216900" cy="3962400"/>
          </a:xfrm>
          <a:prstGeom prst="rect">
            <a:avLst/>
          </a:prstGeom>
        </p:spPr>
      </p:pic>
      <p:sp>
        <p:nvSpPr>
          <p:cNvPr id="4" name="TextBox 3"/>
          <p:cNvSpPr txBox="1"/>
          <p:nvPr/>
        </p:nvSpPr>
        <p:spPr>
          <a:xfrm>
            <a:off x="139700" y="884302"/>
            <a:ext cx="8915400" cy="1754326"/>
          </a:xfrm>
          <a:prstGeom prst="rect">
            <a:avLst/>
          </a:prstGeom>
          <a:noFill/>
        </p:spPr>
        <p:txBody>
          <a:bodyPr wrap="square" rtlCol="0">
            <a:spAutoFit/>
          </a:bodyPr>
          <a:lstStyle/>
          <a:p>
            <a:pPr algn="just"/>
            <a:r>
              <a:rPr lang="en-US" b="1" dirty="0" smtClean="0">
                <a:latin typeface="Times New Roman" panose="02020603050405020304" pitchFamily="18" charset="0"/>
                <a:cs typeface="Times New Roman" panose="02020603050405020304" pitchFamily="18" charset="0"/>
              </a:rPr>
              <a:t>A list of employees with their basic pay is sent to a clerk. He calculates the gross pay using standard allowances which are known for each pay slab. Deduction statements such as loan payment subscription to association etc. are also sent to another clerk who matches these slips with the slips of gross pay and calculates net pay. This slip is used by another clerk to write out pay </a:t>
            </a:r>
            <a:r>
              <a:rPr lang="en-US" b="1" dirty="0" err="1" smtClean="0">
                <a:latin typeface="Times New Roman" panose="02020603050405020304" pitchFamily="18" charset="0"/>
                <a:cs typeface="Times New Roman" panose="02020603050405020304" pitchFamily="18" charset="0"/>
              </a:rPr>
              <a:t>cheques</a:t>
            </a:r>
            <a:r>
              <a:rPr lang="en-US" b="1" dirty="0" smtClean="0">
                <a:latin typeface="Times New Roman" panose="02020603050405020304" pitchFamily="18" charset="0"/>
                <a:cs typeface="Times New Roman" panose="02020603050405020304" pitchFamily="18" charset="0"/>
              </a:rPr>
              <a:t> for each employee and sent to respective employees. The total pay bills paid are also computed. </a:t>
            </a:r>
            <a:endParaRPr lang="en-US"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87700" y="82472"/>
            <a:ext cx="2631618" cy="769441"/>
          </a:xfrm>
          <a:prstGeom prst="rect">
            <a:avLst/>
          </a:prstGeom>
        </p:spPr>
        <p:txBody>
          <a:bodyPr wrap="none">
            <a:spAutoFit/>
          </a:bodyPr>
          <a:lstStyle/>
          <a:p>
            <a:pPr algn="ctr"/>
            <a:r>
              <a:rPr lang="en-US" sz="4400" b="1" u="sng" dirty="0" smtClean="0"/>
              <a:t>Example-4</a:t>
            </a:r>
            <a:endParaRPr lang="en-US" sz="4400" b="1" u="sng" dirty="0"/>
          </a:p>
        </p:txBody>
      </p:sp>
      <p:pic>
        <p:nvPicPr>
          <p:cNvPr id="2" name="Picture 1"/>
          <p:cNvPicPr>
            <a:picLocks noChangeAspect="1"/>
          </p:cNvPicPr>
          <p:nvPr/>
        </p:nvPicPr>
        <p:blipFill rotWithShape="1">
          <a:blip r:embed="rId1">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rcRect l="10318" t="25293" r="2380" b="1378"/>
          <a:stretch>
            <a:fillRect/>
          </a:stretch>
        </p:blipFill>
        <p:spPr>
          <a:xfrm>
            <a:off x="825500" y="2611986"/>
            <a:ext cx="8293100" cy="4220613"/>
          </a:xfrm>
          <a:prstGeom prst="rect">
            <a:avLst/>
          </a:prstGeom>
        </p:spPr>
      </p:pic>
      <p:sp>
        <p:nvSpPr>
          <p:cNvPr id="4" name="TextBox 3"/>
          <p:cNvSpPr txBox="1"/>
          <p:nvPr/>
        </p:nvSpPr>
        <p:spPr>
          <a:xfrm>
            <a:off x="63500" y="857661"/>
            <a:ext cx="9055100" cy="1754326"/>
          </a:xfrm>
          <a:prstGeom prst="rect">
            <a:avLst/>
          </a:prstGeom>
          <a:noFill/>
        </p:spPr>
        <p:txBody>
          <a:bodyPr wrap="square" rtlCol="0">
            <a:spAutoFit/>
          </a:bodyPr>
          <a:lstStyle/>
          <a:p>
            <a:pPr algn="just"/>
            <a:r>
              <a:rPr lang="en-US" b="1" dirty="0" smtClean="0">
                <a:latin typeface="Times New Roman" panose="02020603050405020304" pitchFamily="18" charset="0"/>
                <a:cs typeface="Times New Roman" panose="02020603050405020304" pitchFamily="18" charset="0"/>
              </a:rPr>
              <a:t>A list of teachers with their class schedule is sent to the concerned teachers. He calculates the total teacher load using the practice of the department. Projects that are supervised by the teachers are also sent to Registrar. He matches the class schedule and projects and calculates total load per week for each teacher. This slip is used by the VC to justify total class load for each teacher and sent to the respective teachers. The complete routines are also generated. </a:t>
            </a:r>
            <a:endParaRPr lang="en-US"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87700" y="82472"/>
            <a:ext cx="2631618" cy="769441"/>
          </a:xfrm>
          <a:prstGeom prst="rect">
            <a:avLst/>
          </a:prstGeom>
        </p:spPr>
        <p:txBody>
          <a:bodyPr wrap="none">
            <a:spAutoFit/>
          </a:bodyPr>
          <a:lstStyle/>
          <a:p>
            <a:pPr algn="ctr"/>
            <a:r>
              <a:rPr lang="en-US" sz="4400" b="1" u="sng" dirty="0" smtClean="0"/>
              <a:t>Example-5</a:t>
            </a:r>
            <a:endParaRPr lang="en-US" sz="4400" b="1" u="sng" dirty="0"/>
          </a:p>
        </p:txBody>
      </p:sp>
      <p:pic>
        <p:nvPicPr>
          <p:cNvPr id="4" name="Picture 3"/>
          <p:cNvPicPr>
            <a:picLocks noChangeAspect="1"/>
          </p:cNvPicPr>
          <p:nvPr/>
        </p:nvPicPr>
        <p:blipFill>
          <a:blip r:embed="rId1"/>
          <a:stretch>
            <a:fillRect/>
          </a:stretch>
        </p:blipFill>
        <p:spPr>
          <a:xfrm>
            <a:off x="2578100" y="749300"/>
            <a:ext cx="6019800" cy="6006418"/>
          </a:xfrm>
          <a:prstGeom prst="rect">
            <a:avLst/>
          </a:prstGeom>
        </p:spPr>
      </p:pic>
      <p:sp>
        <p:nvSpPr>
          <p:cNvPr id="5" name="Rectangle 4"/>
          <p:cNvSpPr/>
          <p:nvPr/>
        </p:nvSpPr>
        <p:spPr>
          <a:xfrm>
            <a:off x="215900" y="2654300"/>
            <a:ext cx="2173406" cy="923330"/>
          </a:xfrm>
          <a:prstGeom prst="rect">
            <a:avLst/>
          </a:prstGeom>
        </p:spPr>
        <p:txBody>
          <a:bodyPr wrap="square">
            <a:spAutoFit/>
          </a:bodyPr>
          <a:lstStyle/>
          <a:p>
            <a:r>
              <a:rPr lang="en-US" b="1" dirty="0">
                <a:solidFill>
                  <a:srgbClr val="000000"/>
                </a:solidFill>
                <a:latin typeface="Times New Roman" panose="02020603050405020304" pitchFamily="18" charset="0"/>
              </a:rPr>
              <a:t>Context Diagram for Airline Reservation System </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2425700" y="0"/>
            <a:ext cx="6324600" cy="6774550"/>
          </a:xfrm>
          <a:prstGeom prst="rect">
            <a:avLst/>
          </a:prstGeom>
        </p:spPr>
      </p:pic>
      <p:sp>
        <p:nvSpPr>
          <p:cNvPr id="6" name="Rectangle 5"/>
          <p:cNvSpPr/>
          <p:nvPr/>
        </p:nvSpPr>
        <p:spPr>
          <a:xfrm>
            <a:off x="63500" y="2273300"/>
            <a:ext cx="2209800" cy="923330"/>
          </a:xfrm>
          <a:prstGeom prst="rect">
            <a:avLst/>
          </a:prstGeom>
        </p:spPr>
        <p:txBody>
          <a:bodyPr wrap="square">
            <a:spAutoFit/>
          </a:bodyPr>
          <a:lstStyle/>
          <a:p>
            <a:r>
              <a:rPr lang="en-US" b="1" dirty="0">
                <a:solidFill>
                  <a:srgbClr val="000000"/>
                </a:solidFill>
                <a:latin typeface="Times New Roman" panose="02020603050405020304" pitchFamily="18" charset="0"/>
              </a:rPr>
              <a:t>Level One Data Flow Diagram for Reservation Process </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6205</Words>
  <Application>WPS Presentation</Application>
  <PresentationFormat>Custom</PresentationFormat>
  <Paragraphs>199</Paragraphs>
  <Slides>27</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27</vt:i4>
      </vt:variant>
    </vt:vector>
  </HeadingPairs>
  <TitlesOfParts>
    <vt:vector size="45" baseType="lpstr">
      <vt:lpstr>Arial</vt:lpstr>
      <vt:lpstr>SimSun</vt:lpstr>
      <vt:lpstr>Wingdings</vt:lpstr>
      <vt:lpstr>Calibri</vt:lpstr>
      <vt:lpstr>Times New Roman</vt:lpstr>
      <vt:lpstr>Arial Black</vt:lpstr>
      <vt:lpstr>Cooper Black</vt:lpstr>
      <vt:lpstr>Aharoni</vt:lpstr>
      <vt:lpstr>Segoe Print</vt:lpstr>
      <vt:lpstr>Times New Roman</vt:lpstr>
      <vt:lpstr>Palatino</vt:lpstr>
      <vt:lpstr>Palatino Linotype</vt:lpstr>
      <vt:lpstr>Helvetica</vt:lpstr>
      <vt:lpstr>Microsoft YaHei</vt:lpstr>
      <vt:lpstr>Arial Unicode MS</vt:lpstr>
      <vt:lpstr>Calibri Light</vt:lpstr>
      <vt:lpstr>Tahoma</vt:lpstr>
      <vt:lpstr>Retrospect</vt:lpstr>
      <vt:lpstr>Chapter 4</vt:lpstr>
      <vt:lpstr> Learning Goals</vt:lpstr>
      <vt:lpstr>Flow-Oriented Modeling</vt:lpstr>
      <vt:lpstr>The Flow Model</vt:lpstr>
      <vt:lpstr>PowerPoint 演示文稿</vt:lpstr>
      <vt:lpstr>Flow Modeling Notation</vt:lpstr>
      <vt:lpstr>External Entity</vt:lpstr>
      <vt:lpstr>Process</vt:lpstr>
      <vt:lpstr>Data Flow</vt:lpstr>
      <vt:lpstr>Data Stores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CADL</dc:creator>
  <cp:lastModifiedBy>MMR</cp:lastModifiedBy>
  <cp:revision>80</cp:revision>
  <dcterms:created xsi:type="dcterms:W3CDTF">2017-05-14T23:30:00Z</dcterms:created>
  <dcterms:modified xsi:type="dcterms:W3CDTF">2025-05-25T04:58:42Z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2007-12-10T06:00:00Z</vt:filetime>
  </property>
  <property fmtid="{D5CDD505-2E9C-101B-9397-08002B2CF9AE}" pid="3" name="Creator">
    <vt:lpwstr>Acrobat PDFMaker 7.0 for PowerPoint</vt:lpwstr>
  </property>
  <property fmtid="{D5CDD505-2E9C-101B-9397-08002B2CF9AE}" pid="4" name="LastSaved">
    <vt:filetime>2017-05-14T06:00:00Z</vt:filetime>
  </property>
  <property fmtid="{D5CDD505-2E9C-101B-9397-08002B2CF9AE}" pid="5" name="ICV">
    <vt:lpwstr>87338ED7DE474DEC8CCB68AE8D31F0FF_12</vt:lpwstr>
  </property>
  <property fmtid="{D5CDD505-2E9C-101B-9397-08002B2CF9AE}" pid="6" name="KSOProductBuildVer">
    <vt:lpwstr>1033-12.2.0.21179</vt:lpwstr>
  </property>
</Properties>
</file>