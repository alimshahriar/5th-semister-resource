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314" r:id="rId2"/>
    <p:sldId id="261" r:id="rId3"/>
    <p:sldId id="315" r:id="rId4"/>
    <p:sldId id="262" r:id="rId5"/>
    <p:sldId id="317" r:id="rId6"/>
    <p:sldId id="318" r:id="rId7"/>
    <p:sldId id="320" r:id="rId8"/>
    <p:sldId id="319" r:id="rId9"/>
    <p:sldId id="316" r:id="rId10"/>
    <p:sldId id="263" r:id="rId11"/>
    <p:sldId id="280" r:id="rId12"/>
    <p:sldId id="309" r:id="rId13"/>
    <p:sldId id="310" r:id="rId14"/>
    <p:sldId id="311" r:id="rId15"/>
    <p:sldId id="312" r:id="rId16"/>
    <p:sldId id="313" r:id="rId17"/>
    <p:sldId id="321" r:id="rId18"/>
  </p:sldIdLst>
  <p:sldSz cx="9118600" cy="6832600"/>
  <p:notesSz cx="9118600" cy="6832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86" d="100"/>
          <a:sy n="86" d="100"/>
        </p:scale>
        <p:origin x="-1500" y="-78"/>
      </p:cViewPr>
      <p:guideLst>
        <p:guide orient="horz" pos="2880"/>
        <p:guide pos="2160"/>
      </p:guideLst>
    </p:cSldViewPr>
  </p:slideViewPr>
  <p:notesTextViewPr>
    <p:cViewPr>
      <p:scale>
        <a:sx n="100" d="100"/>
        <a:sy n="100" d="100"/>
      </p:scale>
      <p:origin x="0" y="0"/>
    </p:cViewPr>
  </p:notesTextViewPr>
  <p:notesViewPr>
    <p:cSldViewPr>
      <p:cViewPr varScale="1">
        <p:scale>
          <a:sx n="51" d="100"/>
          <a:sy n="51" d="100"/>
        </p:scale>
        <p:origin x="-1596" y="-90"/>
      </p:cViewPr>
      <p:guideLst>
        <p:guide orient="horz" pos="2152"/>
        <p:guide pos="2872"/>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51288" cy="3413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65725" y="0"/>
            <a:ext cx="3951288" cy="341313"/>
          </a:xfrm>
          <a:prstGeom prst="rect">
            <a:avLst/>
          </a:prstGeom>
        </p:spPr>
        <p:txBody>
          <a:bodyPr vert="horz" lIns="91440" tIns="45720" rIns="91440" bIns="45720" rtlCol="0"/>
          <a:lstStyle>
            <a:lvl1pPr algn="r">
              <a:defRPr sz="1200"/>
            </a:lvl1pPr>
          </a:lstStyle>
          <a:p>
            <a:fld id="{BD9CC398-0F56-43FD-83E4-1C217FE14B86}" type="datetimeFigureOut">
              <a:rPr lang="en-US" smtClean="0"/>
              <a:pPr/>
              <a:t>6/15/2025</a:t>
            </a:fld>
            <a:endParaRPr lang="en-US"/>
          </a:p>
        </p:txBody>
      </p:sp>
      <p:sp>
        <p:nvSpPr>
          <p:cNvPr id="4" name="Slide Image Placeholder 3"/>
          <p:cNvSpPr>
            <a:spLocks noGrp="1" noRot="1" noChangeAspect="1"/>
          </p:cNvSpPr>
          <p:nvPr>
            <p:ph type="sldImg" idx="2"/>
          </p:nvPr>
        </p:nvSpPr>
        <p:spPr>
          <a:xfrm>
            <a:off x="2849563" y="512763"/>
            <a:ext cx="3419475" cy="25622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1225" y="3244850"/>
            <a:ext cx="7296150" cy="307498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489700"/>
            <a:ext cx="3951288" cy="34131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65725" y="6489700"/>
            <a:ext cx="3951288" cy="341313"/>
          </a:xfrm>
          <a:prstGeom prst="rect">
            <a:avLst/>
          </a:prstGeom>
        </p:spPr>
        <p:txBody>
          <a:bodyPr vert="horz" lIns="91440" tIns="45720" rIns="91440" bIns="45720" rtlCol="0" anchor="b"/>
          <a:lstStyle>
            <a:lvl1pPr algn="r">
              <a:defRPr sz="1200"/>
            </a:lvl1pPr>
          </a:lstStyle>
          <a:p>
            <a:fld id="{774BFA1D-B525-4233-8D03-292210C69DF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2377" y="6377093"/>
            <a:ext cx="9116226" cy="4555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6310856"/>
            <a:ext cx="9116226" cy="637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0674" y="756141"/>
            <a:ext cx="7522845" cy="3552952"/>
          </a:xfrm>
        </p:spPr>
        <p:txBody>
          <a:bodyPr anchor="b">
            <a:normAutofit/>
          </a:bodyPr>
          <a:lstStyle>
            <a:lvl1pPr algn="l">
              <a:lnSpc>
                <a:spcPct val="85000"/>
              </a:lnSpc>
              <a:defRPr sz="797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22746" y="4439119"/>
            <a:ext cx="7522845" cy="1138767"/>
          </a:xfrm>
        </p:spPr>
        <p:txBody>
          <a:bodyPr lIns="91440" rIns="91440">
            <a:normAutofit/>
          </a:bodyPr>
          <a:lstStyle>
            <a:lvl1pPr marL="0" indent="0" algn="l">
              <a:buNone/>
              <a:defRPr sz="2390" cap="all" spc="199" baseline="0">
                <a:solidFill>
                  <a:schemeClr val="tx2"/>
                </a:solidFill>
                <a:latin typeface="+mj-lt"/>
              </a:defRPr>
            </a:lvl1pPr>
            <a:lvl2pPr marL="455295" indent="0" algn="ctr">
              <a:buNone/>
              <a:defRPr sz="2390"/>
            </a:lvl2pPr>
            <a:lvl3pPr marL="911225" indent="0" algn="ctr">
              <a:buNone/>
              <a:defRPr sz="2390"/>
            </a:lvl3pPr>
            <a:lvl4pPr marL="1366520" indent="0" algn="ctr">
              <a:buNone/>
              <a:defRPr sz="1995"/>
            </a:lvl4pPr>
            <a:lvl5pPr marL="1821815" indent="0" algn="ctr">
              <a:buNone/>
              <a:defRPr sz="1995"/>
            </a:lvl5pPr>
            <a:lvl6pPr marL="2277745" indent="0" algn="ctr">
              <a:buNone/>
              <a:defRPr sz="1995"/>
            </a:lvl6pPr>
            <a:lvl7pPr marL="2733040" indent="0" algn="ctr">
              <a:buNone/>
              <a:defRPr sz="1995"/>
            </a:lvl7pPr>
            <a:lvl8pPr marL="3188335" indent="0" algn="ctr">
              <a:buNone/>
              <a:defRPr sz="1995"/>
            </a:lvl8pPr>
            <a:lvl9pPr marL="3644265" indent="0" algn="ctr">
              <a:buNone/>
              <a:defRPr sz="1995"/>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a:off x="903228" y="4327313"/>
            <a:ext cx="7386066"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2377" y="6377093"/>
            <a:ext cx="9116226" cy="4555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6310856"/>
            <a:ext cx="9116226" cy="637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0674" y="756141"/>
            <a:ext cx="7522845" cy="3552952"/>
          </a:xfrm>
        </p:spPr>
        <p:txBody>
          <a:bodyPr anchor="b" anchorCtr="0">
            <a:normAutofit/>
          </a:bodyPr>
          <a:lstStyle>
            <a:lvl1pPr>
              <a:lnSpc>
                <a:spcPct val="85000"/>
              </a:lnSpc>
              <a:defRPr sz="797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20674" y="4436635"/>
            <a:ext cx="7522845" cy="1138767"/>
          </a:xfrm>
        </p:spPr>
        <p:txBody>
          <a:bodyPr lIns="91440" rIns="91440" anchor="t" anchorCtr="0">
            <a:normAutofit/>
          </a:bodyPr>
          <a:lstStyle>
            <a:lvl1pPr marL="0" indent="0">
              <a:buNone/>
              <a:defRPr sz="2390" cap="all" spc="199" baseline="0">
                <a:solidFill>
                  <a:schemeClr val="tx2"/>
                </a:solidFill>
                <a:latin typeface="+mj-lt"/>
              </a:defRPr>
            </a:lvl1pPr>
            <a:lvl2pPr marL="455295" indent="0">
              <a:buNone/>
              <a:defRPr sz="1795">
                <a:solidFill>
                  <a:schemeClr val="tx1">
                    <a:tint val="75000"/>
                  </a:schemeClr>
                </a:solidFill>
              </a:defRPr>
            </a:lvl2pPr>
            <a:lvl3pPr marL="911225" indent="0">
              <a:buNone/>
              <a:defRPr sz="1595">
                <a:solidFill>
                  <a:schemeClr val="tx1">
                    <a:tint val="75000"/>
                  </a:schemeClr>
                </a:solidFill>
              </a:defRPr>
            </a:lvl3pPr>
            <a:lvl4pPr marL="1366520" indent="0">
              <a:buNone/>
              <a:defRPr sz="1395">
                <a:solidFill>
                  <a:schemeClr val="tx1">
                    <a:tint val="75000"/>
                  </a:schemeClr>
                </a:solidFill>
              </a:defRPr>
            </a:lvl4pPr>
            <a:lvl5pPr marL="1821815" indent="0">
              <a:buNone/>
              <a:defRPr sz="1395">
                <a:solidFill>
                  <a:schemeClr val="tx1">
                    <a:tint val="75000"/>
                  </a:schemeClr>
                </a:solidFill>
              </a:defRPr>
            </a:lvl5pPr>
            <a:lvl6pPr marL="2277745" indent="0">
              <a:buNone/>
              <a:defRPr sz="1395">
                <a:solidFill>
                  <a:schemeClr val="tx1">
                    <a:tint val="75000"/>
                  </a:schemeClr>
                </a:solidFill>
              </a:defRPr>
            </a:lvl6pPr>
            <a:lvl7pPr marL="2733040" indent="0">
              <a:buNone/>
              <a:defRPr sz="1395">
                <a:solidFill>
                  <a:schemeClr val="tx1">
                    <a:tint val="75000"/>
                  </a:schemeClr>
                </a:solidFill>
              </a:defRPr>
            </a:lvl7pPr>
            <a:lvl8pPr marL="3188335" indent="0">
              <a:buNone/>
              <a:defRPr sz="1395">
                <a:solidFill>
                  <a:schemeClr val="tx1">
                    <a:tint val="75000"/>
                  </a:schemeClr>
                </a:solidFill>
              </a:defRPr>
            </a:lvl8pPr>
            <a:lvl9pPr marL="3644265" indent="0">
              <a:buNone/>
              <a:defRPr sz="1395">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a:off x="903228" y="4327313"/>
            <a:ext cx="7386066"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0674" y="285545"/>
            <a:ext cx="7522845" cy="1445384"/>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0674" y="1838898"/>
            <a:ext cx="3693033" cy="40084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50486" y="1838902"/>
            <a:ext cx="3693033" cy="400845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0674" y="285545"/>
            <a:ext cx="7522845" cy="1445384"/>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0674" y="1839215"/>
            <a:ext cx="3693033" cy="733555"/>
          </a:xfrm>
        </p:spPr>
        <p:txBody>
          <a:bodyPr lIns="91440" rIns="91440" anchor="ctr">
            <a:normAutofit/>
          </a:bodyPr>
          <a:lstStyle>
            <a:lvl1pPr marL="0" indent="0">
              <a:buNone/>
              <a:defRPr sz="1995" b="0" cap="all" baseline="0">
                <a:solidFill>
                  <a:schemeClr val="tx2"/>
                </a:solidFill>
              </a:defRPr>
            </a:lvl1pPr>
            <a:lvl2pPr marL="455295" indent="0">
              <a:buNone/>
              <a:defRPr sz="1995" b="1"/>
            </a:lvl2pPr>
            <a:lvl3pPr marL="911225" indent="0">
              <a:buNone/>
              <a:defRPr sz="1795" b="1"/>
            </a:lvl3pPr>
            <a:lvl4pPr marL="1366520" indent="0">
              <a:buNone/>
              <a:defRPr sz="1595" b="1"/>
            </a:lvl4pPr>
            <a:lvl5pPr marL="1821815" indent="0">
              <a:buNone/>
              <a:defRPr sz="1595" b="1"/>
            </a:lvl5pPr>
            <a:lvl6pPr marL="2277745" indent="0">
              <a:buNone/>
              <a:defRPr sz="1595" b="1"/>
            </a:lvl6pPr>
            <a:lvl7pPr marL="2733040" indent="0">
              <a:buNone/>
              <a:defRPr sz="1595" b="1"/>
            </a:lvl7pPr>
            <a:lvl8pPr marL="3188335" indent="0">
              <a:buNone/>
              <a:defRPr sz="1595" b="1"/>
            </a:lvl8pPr>
            <a:lvl9pPr marL="3644265" indent="0">
              <a:buNone/>
              <a:defRPr sz="1595" b="1"/>
            </a:lvl9pPr>
          </a:lstStyle>
          <a:p>
            <a:pPr lvl="0"/>
            <a:r>
              <a:rPr lang="en-US" smtClean="0"/>
              <a:t>Click to edit Master text styles</a:t>
            </a:r>
          </a:p>
        </p:txBody>
      </p:sp>
      <p:sp>
        <p:nvSpPr>
          <p:cNvPr id="4" name="Content Placeholder 3"/>
          <p:cNvSpPr>
            <a:spLocks noGrp="1"/>
          </p:cNvSpPr>
          <p:nvPr>
            <p:ph sz="half" idx="2"/>
          </p:nvPr>
        </p:nvSpPr>
        <p:spPr>
          <a:xfrm>
            <a:off x="820674" y="2572770"/>
            <a:ext cx="3693033" cy="32745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50486" y="1839215"/>
            <a:ext cx="3693033" cy="733555"/>
          </a:xfrm>
        </p:spPr>
        <p:txBody>
          <a:bodyPr lIns="91440" rIns="91440" anchor="ctr">
            <a:normAutofit/>
          </a:bodyPr>
          <a:lstStyle>
            <a:lvl1pPr marL="0" indent="0">
              <a:buNone/>
              <a:defRPr sz="1995" b="0" cap="all" baseline="0">
                <a:solidFill>
                  <a:schemeClr val="tx2"/>
                </a:solidFill>
              </a:defRPr>
            </a:lvl1pPr>
            <a:lvl2pPr marL="455295" indent="0">
              <a:buNone/>
              <a:defRPr sz="1995" b="1"/>
            </a:lvl2pPr>
            <a:lvl3pPr marL="911225" indent="0">
              <a:buNone/>
              <a:defRPr sz="1795" b="1"/>
            </a:lvl3pPr>
            <a:lvl4pPr marL="1366520" indent="0">
              <a:buNone/>
              <a:defRPr sz="1595" b="1"/>
            </a:lvl4pPr>
            <a:lvl5pPr marL="1821815" indent="0">
              <a:buNone/>
              <a:defRPr sz="1595" b="1"/>
            </a:lvl5pPr>
            <a:lvl6pPr marL="2277745" indent="0">
              <a:buNone/>
              <a:defRPr sz="1595" b="1"/>
            </a:lvl6pPr>
            <a:lvl7pPr marL="2733040" indent="0">
              <a:buNone/>
              <a:defRPr sz="1595" b="1"/>
            </a:lvl7pPr>
            <a:lvl8pPr marL="3188335" indent="0">
              <a:buNone/>
              <a:defRPr sz="1595" b="1"/>
            </a:lvl8pPr>
            <a:lvl9pPr marL="3644265" indent="0">
              <a:buNone/>
              <a:defRPr sz="1595" b="1"/>
            </a:lvl9pPr>
          </a:lstStyle>
          <a:p>
            <a:pPr lvl="0"/>
            <a:r>
              <a:rPr lang="en-US" smtClean="0"/>
              <a:t>Click to edit Master text styles</a:t>
            </a:r>
          </a:p>
        </p:txBody>
      </p:sp>
      <p:sp>
        <p:nvSpPr>
          <p:cNvPr id="6" name="Content Placeholder 5"/>
          <p:cNvSpPr>
            <a:spLocks noGrp="1"/>
          </p:cNvSpPr>
          <p:nvPr>
            <p:ph sz="quarter" idx="4"/>
          </p:nvPr>
        </p:nvSpPr>
        <p:spPr>
          <a:xfrm>
            <a:off x="4650486" y="2572770"/>
            <a:ext cx="3693033" cy="32745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6/15/2025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6/15/2025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2377" y="6377093"/>
            <a:ext cx="9116226" cy="4555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10856"/>
            <a:ext cx="9116226" cy="637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pPr/>
              <a:t>6/15/2025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4" y="0"/>
            <a:ext cx="3029654" cy="6832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21636" y="0"/>
            <a:ext cx="47873" cy="6832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1947" y="592158"/>
            <a:ext cx="2393633" cy="2277533"/>
          </a:xfrm>
        </p:spPr>
        <p:txBody>
          <a:bodyPr anchor="b">
            <a:normAutofit/>
          </a:bodyPr>
          <a:lstStyle>
            <a:lvl1pPr>
              <a:defRPr sz="3585"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450627" y="728811"/>
            <a:ext cx="4995478" cy="523832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41947" y="2915243"/>
            <a:ext cx="2393633" cy="3366609"/>
          </a:xfrm>
        </p:spPr>
        <p:txBody>
          <a:bodyPr lIns="91440" rIns="91440">
            <a:normAutofit/>
          </a:bodyPr>
          <a:lstStyle>
            <a:lvl1pPr marL="0" indent="0">
              <a:buNone/>
              <a:defRPr sz="1495">
                <a:solidFill>
                  <a:srgbClr val="FFFFFF"/>
                </a:solidFill>
              </a:defRPr>
            </a:lvl1pPr>
            <a:lvl2pPr marL="455295" indent="0">
              <a:buNone/>
              <a:defRPr sz="1195"/>
            </a:lvl2pPr>
            <a:lvl3pPr marL="911225" indent="0">
              <a:buNone/>
              <a:defRPr sz="995"/>
            </a:lvl3pPr>
            <a:lvl4pPr marL="1366520" indent="0">
              <a:buNone/>
              <a:defRPr sz="895"/>
            </a:lvl4pPr>
            <a:lvl5pPr marL="1821815" indent="0">
              <a:buNone/>
              <a:defRPr sz="895"/>
            </a:lvl5pPr>
            <a:lvl6pPr marL="2277745" indent="0">
              <a:buNone/>
              <a:defRPr sz="895"/>
            </a:lvl6pPr>
            <a:lvl7pPr marL="2733040" indent="0">
              <a:buNone/>
              <a:defRPr sz="895"/>
            </a:lvl7pPr>
            <a:lvl8pPr marL="3188335" indent="0">
              <a:buNone/>
              <a:defRPr sz="895"/>
            </a:lvl8pPr>
            <a:lvl9pPr marL="3644265" indent="0">
              <a:buNone/>
              <a:defRPr sz="895"/>
            </a:lvl9pPr>
          </a:lstStyle>
          <a:p>
            <a:pPr lvl="0"/>
            <a:r>
              <a:rPr lang="en-US" smtClean="0"/>
              <a:t>Click to edit Master text styles</a:t>
            </a:r>
          </a:p>
        </p:txBody>
      </p:sp>
      <p:sp>
        <p:nvSpPr>
          <p:cNvPr id="5" name="Date Placeholder 4"/>
          <p:cNvSpPr>
            <a:spLocks noGrp="1"/>
          </p:cNvSpPr>
          <p:nvPr>
            <p:ph type="dt" sz="half" idx="10"/>
          </p:nvPr>
        </p:nvSpPr>
        <p:spPr>
          <a:xfrm>
            <a:off x="348166" y="6435863"/>
            <a:ext cx="1958428" cy="363773"/>
          </a:xfrm>
        </p:spPr>
        <p:txBody>
          <a:bodyPr/>
          <a:lstStyle>
            <a:lvl1pPr algn="l">
              <a:defRPr/>
            </a:lvl1pPr>
          </a:lstStyle>
          <a:p>
            <a:fld id="{1D8BD707-D9CF-40AE-B4C6-C98DA3205C09}" type="datetimeFigureOut">
              <a:rPr lang="en-US" smtClean="0"/>
              <a:pPr/>
              <a:t>6/15/2025</a:t>
            </a:fld>
            <a:endParaRPr lang="en-US"/>
          </a:p>
        </p:txBody>
      </p:sp>
      <p:sp>
        <p:nvSpPr>
          <p:cNvPr id="6" name="Footer Placeholder 5"/>
          <p:cNvSpPr>
            <a:spLocks noGrp="1"/>
          </p:cNvSpPr>
          <p:nvPr>
            <p:ph type="ftr" sz="quarter" idx="11"/>
          </p:nvPr>
        </p:nvSpPr>
        <p:spPr>
          <a:xfrm>
            <a:off x="3590449" y="6435863"/>
            <a:ext cx="3476466" cy="363773"/>
          </a:xfrm>
        </p:spPr>
        <p:txBody>
          <a:bodyPr/>
          <a:lstStyle>
            <a:lvl1pPr algn="l">
              <a:defRPr>
                <a:solidFill>
                  <a:schemeClr val="tx2"/>
                </a:solidFill>
              </a:defRPr>
            </a:lvl1pPr>
          </a:lstStyle>
          <a:p>
            <a:endParaRPr lang="en-US">
              <a:solidFill>
                <a:srgbClr val="637052"/>
              </a:solidFill>
            </a:endParaRP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solidFill>
                  <a:srgbClr val="637052"/>
                </a:solidFill>
              </a:rPr>
              <a:pPr/>
              <a:t>‹#›</a:t>
            </a:fld>
            <a:endParaRPr lang="en-US">
              <a:solidFill>
                <a:srgbClr val="637052"/>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34656"/>
            <a:ext cx="9116226" cy="18979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3" y="4896872"/>
            <a:ext cx="9116226" cy="637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0674" y="5056124"/>
            <a:ext cx="7568438" cy="819912"/>
          </a:xfrm>
        </p:spPr>
        <p:txBody>
          <a:bodyPr tIns="0" bIns="0" anchor="b">
            <a:noAutofit/>
          </a:bodyPr>
          <a:lstStyle>
            <a:lvl1pPr>
              <a:defRPr sz="3585"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 y="0"/>
            <a:ext cx="9118589" cy="4896872"/>
          </a:xfrm>
          <a:blipFill>
            <a:blip r:embed="rId2"/>
            <a:stretch>
              <a:fillRect/>
            </a:stretch>
          </a:blipFill>
        </p:spPr>
        <p:txBody>
          <a:bodyPr lIns="457200" tIns="457200" anchor="t"/>
          <a:lstStyle>
            <a:lvl1pPr marL="0" indent="0">
              <a:buNone/>
              <a:defRPr sz="3190">
                <a:solidFill>
                  <a:schemeClr val="bg1"/>
                </a:solidFill>
              </a:defRPr>
            </a:lvl1pPr>
            <a:lvl2pPr marL="455295" indent="0">
              <a:buNone/>
              <a:defRPr sz="2790"/>
            </a:lvl2pPr>
            <a:lvl3pPr marL="911225" indent="0">
              <a:buNone/>
              <a:defRPr sz="2390"/>
            </a:lvl3pPr>
            <a:lvl4pPr marL="1366520" indent="0">
              <a:buNone/>
              <a:defRPr sz="1995"/>
            </a:lvl4pPr>
            <a:lvl5pPr marL="1821815" indent="0">
              <a:buNone/>
              <a:defRPr sz="1995"/>
            </a:lvl5pPr>
            <a:lvl6pPr marL="2277745" indent="0">
              <a:buNone/>
              <a:defRPr sz="1995"/>
            </a:lvl6pPr>
            <a:lvl7pPr marL="2733040" indent="0">
              <a:buNone/>
              <a:defRPr sz="1995"/>
            </a:lvl7pPr>
            <a:lvl8pPr marL="3188335" indent="0">
              <a:buNone/>
              <a:defRPr sz="1995"/>
            </a:lvl8pPr>
            <a:lvl9pPr marL="3644265" indent="0">
              <a:buNone/>
              <a:defRPr sz="1995"/>
            </a:lvl9pPr>
          </a:lstStyle>
          <a:p>
            <a:r>
              <a:rPr lang="en-US" smtClean="0"/>
              <a:t>Click icon to add picture</a:t>
            </a:r>
            <a:endParaRPr lang="en-US" dirty="0"/>
          </a:p>
        </p:txBody>
      </p:sp>
      <p:sp>
        <p:nvSpPr>
          <p:cNvPr id="4" name="Text Placeholder 3"/>
          <p:cNvSpPr>
            <a:spLocks noGrp="1"/>
          </p:cNvSpPr>
          <p:nvPr>
            <p:ph type="body" sz="half" idx="2"/>
          </p:nvPr>
        </p:nvSpPr>
        <p:spPr>
          <a:xfrm>
            <a:off x="820673" y="5885146"/>
            <a:ext cx="7568438" cy="592159"/>
          </a:xfrm>
        </p:spPr>
        <p:txBody>
          <a:bodyPr lIns="91440" tIns="0" rIns="91440" bIns="0">
            <a:normAutofit/>
          </a:bodyPr>
          <a:lstStyle>
            <a:lvl1pPr marL="0" indent="0">
              <a:spcBef>
                <a:spcPts val="0"/>
              </a:spcBef>
              <a:spcAft>
                <a:spcPts val="600"/>
              </a:spcAft>
              <a:buNone/>
              <a:defRPr sz="1495">
                <a:solidFill>
                  <a:srgbClr val="FFFFFF"/>
                </a:solidFill>
              </a:defRPr>
            </a:lvl1pPr>
            <a:lvl2pPr marL="455295" indent="0">
              <a:buNone/>
              <a:defRPr sz="1195"/>
            </a:lvl2pPr>
            <a:lvl3pPr marL="911225" indent="0">
              <a:buNone/>
              <a:defRPr sz="995"/>
            </a:lvl3pPr>
            <a:lvl4pPr marL="1366520" indent="0">
              <a:buNone/>
              <a:defRPr sz="895"/>
            </a:lvl4pPr>
            <a:lvl5pPr marL="1821815" indent="0">
              <a:buNone/>
              <a:defRPr sz="895"/>
            </a:lvl5pPr>
            <a:lvl6pPr marL="2277745" indent="0">
              <a:buNone/>
              <a:defRPr sz="895"/>
            </a:lvl6pPr>
            <a:lvl7pPr marL="2733040" indent="0">
              <a:buNone/>
              <a:defRPr sz="895"/>
            </a:lvl7pPr>
            <a:lvl8pPr marL="3188335" indent="0">
              <a:buNone/>
              <a:defRPr sz="895"/>
            </a:lvl8pPr>
            <a:lvl9pPr marL="3644265" indent="0">
              <a:buNone/>
              <a:defRPr sz="89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77" y="6377093"/>
            <a:ext cx="9116226" cy="4555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6310856"/>
            <a:ext cx="9116226" cy="637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25500" y="413245"/>
            <a:ext cx="1966198" cy="5736097"/>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6905" y="413243"/>
            <a:ext cx="5784612" cy="5736096"/>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30">
          <a:fgClr>
            <a:schemeClr val="accent1"/>
          </a:fgClr>
          <a:bgClr>
            <a:schemeClr val="bg1"/>
          </a:bgClr>
        </a:pattFill>
        <a:effectLst/>
      </p:bgPr>
    </p:bg>
    <p:spTree>
      <p:nvGrpSpPr>
        <p:cNvPr id="1" name=""/>
        <p:cNvGrpSpPr/>
        <p:nvPr/>
      </p:nvGrpSpPr>
      <p:grpSpPr>
        <a:xfrm>
          <a:off x="0" y="0"/>
          <a:ext cx="0" cy="0"/>
          <a:chOff x="0" y="0"/>
          <a:chExt cx="0" cy="0"/>
        </a:xfrm>
      </p:grpSpPr>
      <p:sp>
        <p:nvSpPr>
          <p:cNvPr id="7" name="Rectangle 6"/>
          <p:cNvSpPr/>
          <p:nvPr/>
        </p:nvSpPr>
        <p:spPr>
          <a:xfrm>
            <a:off x="1" y="6377093"/>
            <a:ext cx="9118601" cy="4555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310857"/>
            <a:ext cx="9118601" cy="65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0674" y="285545"/>
            <a:ext cx="7522845" cy="144538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20673" y="1838898"/>
            <a:ext cx="7522846" cy="4008459"/>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0677" y="6435863"/>
            <a:ext cx="1849052" cy="363773"/>
          </a:xfrm>
          <a:prstGeom prst="rect">
            <a:avLst/>
          </a:prstGeom>
        </p:spPr>
        <p:txBody>
          <a:bodyPr vert="horz" lIns="91440" tIns="45720" rIns="91440" bIns="45720" rtlCol="0" anchor="ctr"/>
          <a:lstStyle>
            <a:lvl1pPr algn="l">
              <a:defRPr sz="895">
                <a:solidFill>
                  <a:srgbClr val="FFFFFF"/>
                </a:solidFill>
              </a:defRPr>
            </a:lvl1pPr>
          </a:lstStyle>
          <a:p>
            <a:fld id="{1D8BD707-D9CF-40AE-B4C6-C98DA3205C09}" type="datetimeFigureOut">
              <a:rPr lang="en-US" smtClean="0"/>
              <a:pPr/>
              <a:t>6/15/2025</a:t>
            </a:fld>
            <a:endParaRPr lang="en-US"/>
          </a:p>
        </p:txBody>
      </p:sp>
      <p:sp>
        <p:nvSpPr>
          <p:cNvPr id="5" name="Footer Placeholder 4"/>
          <p:cNvSpPr>
            <a:spLocks noGrp="1"/>
          </p:cNvSpPr>
          <p:nvPr>
            <p:ph type="ftr" sz="quarter" idx="3"/>
          </p:nvPr>
        </p:nvSpPr>
        <p:spPr>
          <a:xfrm>
            <a:off x="2756961" y="6435863"/>
            <a:ext cx="3607055" cy="363773"/>
          </a:xfrm>
          <a:prstGeom prst="rect">
            <a:avLst/>
          </a:prstGeom>
        </p:spPr>
        <p:txBody>
          <a:bodyPr vert="horz" lIns="91440" tIns="45720" rIns="91440" bIns="45720" rtlCol="0" anchor="ctr"/>
          <a:lstStyle>
            <a:lvl1pPr algn="ctr">
              <a:defRPr sz="89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04719" y="6435863"/>
            <a:ext cx="981286" cy="363773"/>
          </a:xfrm>
          <a:prstGeom prst="rect">
            <a:avLst/>
          </a:prstGeom>
        </p:spPr>
        <p:txBody>
          <a:bodyPr vert="horz" lIns="91440" tIns="45720" rIns="91440" bIns="45720" rtlCol="0" anchor="ctr"/>
          <a:lstStyle>
            <a:lvl1pPr algn="r">
              <a:defRPr sz="1045">
                <a:solidFill>
                  <a:srgbClr val="FFFFFF"/>
                </a:solidFill>
              </a:defRPr>
            </a:lvl1pPr>
          </a:lstStyle>
          <a:p>
            <a:fld id="{B6F15528-21DE-4FAA-801E-634DDDAF4B2B}" type="slidenum">
              <a:rPr lang="en-US" smtClean="0"/>
              <a:pPr/>
              <a:t>‹#›</a:t>
            </a:fld>
            <a:endParaRPr lang="en-US"/>
          </a:p>
        </p:txBody>
      </p:sp>
      <p:cxnSp>
        <p:nvCxnSpPr>
          <p:cNvPr id="10" name="Straight Connector 9"/>
          <p:cNvCxnSpPr/>
          <p:nvPr/>
        </p:nvCxnSpPr>
        <p:spPr>
          <a:xfrm>
            <a:off x="892662" y="1731409"/>
            <a:ext cx="7454456"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1225" rtl="0" eaLnBrk="1" latinLnBrk="0" hangingPunct="1">
        <a:lnSpc>
          <a:spcPct val="85000"/>
        </a:lnSpc>
        <a:spcBef>
          <a:spcPct val="0"/>
        </a:spcBef>
        <a:buNone/>
        <a:defRPr sz="4780" kern="1200" spc="-50" baseline="0">
          <a:solidFill>
            <a:schemeClr val="tx1">
              <a:lumMod val="75000"/>
              <a:lumOff val="25000"/>
            </a:schemeClr>
          </a:solidFill>
          <a:latin typeface="+mj-lt"/>
          <a:ea typeface="+mj-ea"/>
          <a:cs typeface="+mj-cs"/>
        </a:defRPr>
      </a:lvl1pPr>
    </p:titleStyle>
    <p:bodyStyle>
      <a:lvl1pPr marL="90805" indent="-90805" algn="l" defTabSz="911225" rtl="0" eaLnBrk="1" latinLnBrk="0" hangingPunct="1">
        <a:lnSpc>
          <a:spcPct val="90000"/>
        </a:lnSpc>
        <a:spcBef>
          <a:spcPts val="1195"/>
        </a:spcBef>
        <a:spcAft>
          <a:spcPts val="200"/>
        </a:spcAft>
        <a:buClr>
          <a:schemeClr val="accent1"/>
        </a:buClr>
        <a:buSzPct val="100000"/>
        <a:buFont typeface="Calibri" panose="020F0502020204030204" pitchFamily="34" charset="0"/>
        <a:buChar char=" "/>
        <a:defRPr sz="1995" kern="1200">
          <a:solidFill>
            <a:schemeClr val="tx1">
              <a:lumMod val="75000"/>
              <a:lumOff val="25000"/>
            </a:schemeClr>
          </a:solidFill>
          <a:latin typeface="+mn-lt"/>
          <a:ea typeface="+mn-ea"/>
          <a:cs typeface="+mn-cs"/>
        </a:defRPr>
      </a:lvl1pPr>
      <a:lvl2pPr marL="382905" indent="-182245" algn="l" defTabSz="911225" rtl="0" eaLnBrk="1" latinLnBrk="0" hangingPunct="1">
        <a:lnSpc>
          <a:spcPct val="90000"/>
        </a:lnSpc>
        <a:spcBef>
          <a:spcPts val="200"/>
        </a:spcBef>
        <a:spcAft>
          <a:spcPts val="400"/>
        </a:spcAft>
        <a:buClr>
          <a:schemeClr val="accent1"/>
        </a:buClr>
        <a:buFont typeface="Calibri" panose="020F0502020204030204" pitchFamily="34" charset="0"/>
        <a:buChar char="◦"/>
        <a:defRPr sz="1795" kern="1200">
          <a:solidFill>
            <a:schemeClr val="tx1">
              <a:lumMod val="75000"/>
              <a:lumOff val="25000"/>
            </a:schemeClr>
          </a:solidFill>
          <a:latin typeface="+mn-lt"/>
          <a:ea typeface="+mn-ea"/>
          <a:cs typeface="+mn-cs"/>
        </a:defRPr>
      </a:lvl2pPr>
      <a:lvl3pPr marL="564515" indent="-182245" algn="l" defTabSz="911225" rtl="0" eaLnBrk="1" latinLnBrk="0" hangingPunct="1">
        <a:lnSpc>
          <a:spcPct val="90000"/>
        </a:lnSpc>
        <a:spcBef>
          <a:spcPts val="200"/>
        </a:spcBef>
        <a:spcAft>
          <a:spcPts val="400"/>
        </a:spcAft>
        <a:buClr>
          <a:schemeClr val="accent1"/>
        </a:buClr>
        <a:buFont typeface="Calibri" panose="020F0502020204030204" pitchFamily="34" charset="0"/>
        <a:buChar char="◦"/>
        <a:defRPr sz="1395" kern="1200">
          <a:solidFill>
            <a:schemeClr val="tx1">
              <a:lumMod val="75000"/>
              <a:lumOff val="25000"/>
            </a:schemeClr>
          </a:solidFill>
          <a:latin typeface="+mn-lt"/>
          <a:ea typeface="+mn-ea"/>
          <a:cs typeface="+mn-cs"/>
        </a:defRPr>
      </a:lvl3pPr>
      <a:lvl4pPr marL="746760" indent="-182245" algn="l" defTabSz="911225" rtl="0" eaLnBrk="1" latinLnBrk="0" hangingPunct="1">
        <a:lnSpc>
          <a:spcPct val="90000"/>
        </a:lnSpc>
        <a:spcBef>
          <a:spcPts val="200"/>
        </a:spcBef>
        <a:spcAft>
          <a:spcPts val="400"/>
        </a:spcAft>
        <a:buClr>
          <a:schemeClr val="accent1"/>
        </a:buClr>
        <a:buFont typeface="Calibri" panose="020F0502020204030204" pitchFamily="34" charset="0"/>
        <a:buChar char="◦"/>
        <a:defRPr sz="1395" kern="1200">
          <a:solidFill>
            <a:schemeClr val="tx1">
              <a:lumMod val="75000"/>
              <a:lumOff val="25000"/>
            </a:schemeClr>
          </a:solidFill>
          <a:latin typeface="+mn-lt"/>
          <a:ea typeface="+mn-ea"/>
          <a:cs typeface="+mn-cs"/>
        </a:defRPr>
      </a:lvl4pPr>
      <a:lvl5pPr marL="929005" indent="-182245" algn="l" defTabSz="911225" rtl="0" eaLnBrk="1" latinLnBrk="0" hangingPunct="1">
        <a:lnSpc>
          <a:spcPct val="90000"/>
        </a:lnSpc>
        <a:spcBef>
          <a:spcPts val="200"/>
        </a:spcBef>
        <a:spcAft>
          <a:spcPts val="400"/>
        </a:spcAft>
        <a:buClr>
          <a:schemeClr val="accent1"/>
        </a:buClr>
        <a:buFont typeface="Calibri" panose="020F0502020204030204" pitchFamily="34" charset="0"/>
        <a:buChar char="◦"/>
        <a:defRPr sz="1395" kern="1200">
          <a:solidFill>
            <a:schemeClr val="tx1">
              <a:lumMod val="75000"/>
              <a:lumOff val="25000"/>
            </a:schemeClr>
          </a:solidFill>
          <a:latin typeface="+mn-lt"/>
          <a:ea typeface="+mn-ea"/>
          <a:cs typeface="+mn-cs"/>
        </a:defRPr>
      </a:lvl5pPr>
      <a:lvl6pPr marL="1096010" indent="-227965" algn="l" defTabSz="911225" rtl="0" eaLnBrk="1" latinLnBrk="0" hangingPunct="1">
        <a:lnSpc>
          <a:spcPct val="90000"/>
        </a:lnSpc>
        <a:spcBef>
          <a:spcPts val="200"/>
        </a:spcBef>
        <a:spcAft>
          <a:spcPts val="400"/>
        </a:spcAft>
        <a:buClr>
          <a:schemeClr val="accent1"/>
        </a:buClr>
        <a:buFont typeface="Calibri" panose="020F0502020204030204" pitchFamily="34" charset="0"/>
        <a:buChar char="◦"/>
        <a:defRPr sz="1395" kern="1200">
          <a:solidFill>
            <a:schemeClr val="tx1">
              <a:lumMod val="75000"/>
              <a:lumOff val="25000"/>
            </a:schemeClr>
          </a:solidFill>
          <a:latin typeface="+mn-lt"/>
          <a:ea typeface="+mn-ea"/>
          <a:cs typeface="+mn-cs"/>
        </a:defRPr>
      </a:lvl6pPr>
      <a:lvl7pPr marL="1295400" indent="-227965" algn="l" defTabSz="911225" rtl="0" eaLnBrk="1" latinLnBrk="0" hangingPunct="1">
        <a:lnSpc>
          <a:spcPct val="90000"/>
        </a:lnSpc>
        <a:spcBef>
          <a:spcPts val="200"/>
        </a:spcBef>
        <a:spcAft>
          <a:spcPts val="400"/>
        </a:spcAft>
        <a:buClr>
          <a:schemeClr val="accent1"/>
        </a:buClr>
        <a:buFont typeface="Calibri" panose="020F0502020204030204" pitchFamily="34" charset="0"/>
        <a:buChar char="◦"/>
        <a:defRPr sz="1395" kern="1200">
          <a:solidFill>
            <a:schemeClr val="tx1">
              <a:lumMod val="75000"/>
              <a:lumOff val="25000"/>
            </a:schemeClr>
          </a:solidFill>
          <a:latin typeface="+mn-lt"/>
          <a:ea typeface="+mn-ea"/>
          <a:cs typeface="+mn-cs"/>
        </a:defRPr>
      </a:lvl7pPr>
      <a:lvl8pPr marL="1494155" indent="-227965" algn="l" defTabSz="911225" rtl="0" eaLnBrk="1" latinLnBrk="0" hangingPunct="1">
        <a:lnSpc>
          <a:spcPct val="90000"/>
        </a:lnSpc>
        <a:spcBef>
          <a:spcPts val="200"/>
        </a:spcBef>
        <a:spcAft>
          <a:spcPts val="400"/>
        </a:spcAft>
        <a:buClr>
          <a:schemeClr val="accent1"/>
        </a:buClr>
        <a:buFont typeface="Calibri" panose="020F0502020204030204" pitchFamily="34" charset="0"/>
        <a:buChar char="◦"/>
        <a:defRPr sz="1395" kern="1200">
          <a:solidFill>
            <a:schemeClr val="tx1">
              <a:lumMod val="75000"/>
              <a:lumOff val="25000"/>
            </a:schemeClr>
          </a:solidFill>
          <a:latin typeface="+mn-lt"/>
          <a:ea typeface="+mn-ea"/>
          <a:cs typeface="+mn-cs"/>
        </a:defRPr>
      </a:lvl8pPr>
      <a:lvl9pPr marL="1693545" indent="-227965" algn="l" defTabSz="911225" rtl="0" eaLnBrk="1" latinLnBrk="0" hangingPunct="1">
        <a:lnSpc>
          <a:spcPct val="90000"/>
        </a:lnSpc>
        <a:spcBef>
          <a:spcPts val="200"/>
        </a:spcBef>
        <a:spcAft>
          <a:spcPts val="400"/>
        </a:spcAft>
        <a:buClr>
          <a:schemeClr val="accent1"/>
        </a:buClr>
        <a:buFont typeface="Calibri" panose="020F0502020204030204" pitchFamily="34" charset="0"/>
        <a:buChar char="◦"/>
        <a:defRPr sz="1395" kern="1200">
          <a:solidFill>
            <a:schemeClr val="tx1">
              <a:lumMod val="75000"/>
              <a:lumOff val="25000"/>
            </a:schemeClr>
          </a:solidFill>
          <a:latin typeface="+mn-lt"/>
          <a:ea typeface="+mn-ea"/>
          <a:cs typeface="+mn-cs"/>
        </a:defRPr>
      </a:lvl9pPr>
    </p:bodyStyle>
    <p:otherStyle>
      <a:defPPr>
        <a:defRPr lang="en-US"/>
      </a:defPPr>
      <a:lvl1pPr marL="0" algn="l" defTabSz="911225" rtl="0" eaLnBrk="1" latinLnBrk="0" hangingPunct="1">
        <a:defRPr sz="1795" kern="1200">
          <a:solidFill>
            <a:schemeClr val="tx1"/>
          </a:solidFill>
          <a:latin typeface="+mn-lt"/>
          <a:ea typeface="+mn-ea"/>
          <a:cs typeface="+mn-cs"/>
        </a:defRPr>
      </a:lvl1pPr>
      <a:lvl2pPr marL="455295" algn="l" defTabSz="911225" rtl="0" eaLnBrk="1" latinLnBrk="0" hangingPunct="1">
        <a:defRPr sz="1795" kern="1200">
          <a:solidFill>
            <a:schemeClr val="tx1"/>
          </a:solidFill>
          <a:latin typeface="+mn-lt"/>
          <a:ea typeface="+mn-ea"/>
          <a:cs typeface="+mn-cs"/>
        </a:defRPr>
      </a:lvl2pPr>
      <a:lvl3pPr marL="911225" algn="l" defTabSz="911225" rtl="0" eaLnBrk="1" latinLnBrk="0" hangingPunct="1">
        <a:defRPr sz="1795" kern="1200">
          <a:solidFill>
            <a:schemeClr val="tx1"/>
          </a:solidFill>
          <a:latin typeface="+mn-lt"/>
          <a:ea typeface="+mn-ea"/>
          <a:cs typeface="+mn-cs"/>
        </a:defRPr>
      </a:lvl3pPr>
      <a:lvl4pPr marL="1366520" algn="l" defTabSz="911225" rtl="0" eaLnBrk="1" latinLnBrk="0" hangingPunct="1">
        <a:defRPr sz="1795" kern="1200">
          <a:solidFill>
            <a:schemeClr val="tx1"/>
          </a:solidFill>
          <a:latin typeface="+mn-lt"/>
          <a:ea typeface="+mn-ea"/>
          <a:cs typeface="+mn-cs"/>
        </a:defRPr>
      </a:lvl4pPr>
      <a:lvl5pPr marL="1821815" algn="l" defTabSz="911225" rtl="0" eaLnBrk="1" latinLnBrk="0" hangingPunct="1">
        <a:defRPr sz="1795" kern="1200">
          <a:solidFill>
            <a:schemeClr val="tx1"/>
          </a:solidFill>
          <a:latin typeface="+mn-lt"/>
          <a:ea typeface="+mn-ea"/>
          <a:cs typeface="+mn-cs"/>
        </a:defRPr>
      </a:lvl5pPr>
      <a:lvl6pPr marL="2277745" algn="l" defTabSz="911225" rtl="0" eaLnBrk="1" latinLnBrk="0" hangingPunct="1">
        <a:defRPr sz="1795" kern="1200">
          <a:solidFill>
            <a:schemeClr val="tx1"/>
          </a:solidFill>
          <a:latin typeface="+mn-lt"/>
          <a:ea typeface="+mn-ea"/>
          <a:cs typeface="+mn-cs"/>
        </a:defRPr>
      </a:lvl6pPr>
      <a:lvl7pPr marL="2733040" algn="l" defTabSz="911225" rtl="0" eaLnBrk="1" latinLnBrk="0" hangingPunct="1">
        <a:defRPr sz="1795" kern="1200">
          <a:solidFill>
            <a:schemeClr val="tx1"/>
          </a:solidFill>
          <a:latin typeface="+mn-lt"/>
          <a:ea typeface="+mn-ea"/>
          <a:cs typeface="+mn-cs"/>
        </a:defRPr>
      </a:lvl7pPr>
      <a:lvl8pPr marL="3188335" algn="l" defTabSz="911225" rtl="0" eaLnBrk="1" latinLnBrk="0" hangingPunct="1">
        <a:defRPr sz="1795" kern="1200">
          <a:solidFill>
            <a:schemeClr val="tx1"/>
          </a:solidFill>
          <a:latin typeface="+mn-lt"/>
          <a:ea typeface="+mn-ea"/>
          <a:cs typeface="+mn-cs"/>
        </a:defRPr>
      </a:lvl8pPr>
      <a:lvl9pPr marL="3644265" algn="l" defTabSz="911225" rtl="0" eaLnBrk="1" latinLnBrk="0" hangingPunct="1">
        <a:defRPr sz="17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tutorialspoint.com/system_analysis_and_design/system_analysis_and_design_structured.ht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2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395643" y="2654415"/>
            <a:ext cx="4175478" cy="688005"/>
          </a:xfrm>
        </p:spPr>
        <p:txBody>
          <a:bodyPr>
            <a:noAutofit/>
          </a:bodyPr>
          <a:lstStyle/>
          <a:p>
            <a:pPr algn="ctr"/>
            <a:r>
              <a:rPr lang="en-US" sz="5380" b="1" dirty="0">
                <a:solidFill>
                  <a:srgbClr val="7030A0"/>
                </a:solidFill>
                <a:latin typeface="Times New Roman" panose="02020603050405020304" pitchFamily="18" charset="0"/>
                <a:cs typeface="Times New Roman" panose="02020603050405020304" pitchFamily="18" charset="0"/>
              </a:rPr>
              <a:t>Chapter 4</a:t>
            </a:r>
          </a:p>
        </p:txBody>
      </p:sp>
      <p:sp>
        <p:nvSpPr>
          <p:cNvPr id="3" name="Subtitle 2"/>
          <p:cNvSpPr>
            <a:spLocks noGrp="1"/>
          </p:cNvSpPr>
          <p:nvPr>
            <p:ph type="subTitle" idx="1"/>
          </p:nvPr>
        </p:nvSpPr>
        <p:spPr>
          <a:xfrm>
            <a:off x="292100" y="3570006"/>
            <a:ext cx="8686800" cy="762564"/>
          </a:xfrm>
        </p:spPr>
        <p:txBody>
          <a:bodyPr>
            <a:noAutofit/>
          </a:bodyPr>
          <a:lstStyle/>
          <a:p>
            <a:pPr algn="ctr"/>
            <a:r>
              <a:rPr lang="en-US" sz="4400" b="1" cap="none" dirty="0" smtClean="0">
                <a:solidFill>
                  <a:srgbClr val="0070C0"/>
                </a:solidFill>
                <a:latin typeface="Arial Black" panose="020B0A04020102020204" pitchFamily="34" charset="0"/>
                <a:cs typeface="Times New Roman" panose="02020603050405020304" pitchFamily="18" charset="0"/>
              </a:rPr>
              <a:t>Process Specification</a:t>
            </a:r>
            <a:endParaRPr lang="en-US" sz="4400" b="1" cap="none" dirty="0">
              <a:solidFill>
                <a:srgbClr val="0070C0"/>
              </a:solidFill>
              <a:latin typeface="Arial Black" panose="020B0A04020102020204" pitchFamily="34" charset="0"/>
              <a:cs typeface="Times New Roman" panose="02020603050405020304" pitchFamily="18" charset="0"/>
            </a:endParaRPr>
          </a:p>
        </p:txBody>
      </p:sp>
      <p:sp>
        <p:nvSpPr>
          <p:cNvPr id="4" name="Title 1"/>
          <p:cNvSpPr txBox="1"/>
          <p:nvPr/>
        </p:nvSpPr>
        <p:spPr>
          <a:xfrm>
            <a:off x="573405" y="451485"/>
            <a:ext cx="8122920" cy="1921510"/>
          </a:xfrm>
          <a:prstGeom prst="rect">
            <a:avLst/>
          </a:prstGeom>
        </p:spPr>
        <p:txBody>
          <a:bodyPr vert="horz" lIns="91101" tIns="45551" rIns="91101" bIns="45551" rtlCol="0" anchor="b">
            <a:noAutofit/>
          </a:bodyPr>
          <a:lstStyle>
            <a:lvl1pPr algn="l" defTabSz="914400" rtl="0" eaLnBrk="1" latinLnBrk="0" hangingPunct="1">
              <a:spcBef>
                <a:spcPct val="0"/>
              </a:spcBef>
              <a:buNone/>
              <a:defRPr sz="6600" kern="1200" cap="none" spc="-100" baseline="0">
                <a:ln>
                  <a:noFill/>
                </a:ln>
                <a:solidFill>
                  <a:schemeClr val="tx2"/>
                </a:solidFill>
                <a:effectLst/>
                <a:latin typeface="+mj-lt"/>
                <a:ea typeface="+mj-ea"/>
                <a:cs typeface="+mj-cs"/>
              </a:defRPr>
            </a:lvl1pPr>
          </a:lstStyle>
          <a:p>
            <a:pPr algn="ctr"/>
            <a:r>
              <a:rPr lang="en-US" sz="5380" u="sng" dirty="0">
                <a:solidFill>
                  <a:srgbClr val="002060"/>
                </a:solidFill>
                <a:latin typeface="Cooper Black" panose="0208090404030B020404" pitchFamily="18" charset="0"/>
                <a:cs typeface="Aharoni" pitchFamily="2" charset="-79"/>
              </a:rPr>
              <a:t>System Analysis And Design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970697" y="2044700"/>
            <a:ext cx="8153400" cy="3877985"/>
          </a:xfrm>
          <a:prstGeom prst="rect">
            <a:avLst/>
          </a:prstGeom>
        </p:spPr>
        <p:txBody>
          <a:bodyPr vert="horz" wrap="square" lIns="0" tIns="0" rIns="0" bIns="0" rtlCol="0">
            <a:spAutoFit/>
          </a:bodyPr>
          <a:lstStyle/>
          <a:p>
            <a:pPr marL="469900" marR="472440" indent="-457200">
              <a:lnSpc>
                <a:spcPct val="100000"/>
              </a:lnSpc>
              <a:buFont typeface="Wingdings" panose="05000000000000000000" pitchFamily="2" charset="2"/>
              <a:buChar char="§"/>
              <a:tabLst>
                <a:tab pos="353060" algn="l"/>
                <a:tab pos="353695" algn="l"/>
              </a:tabLst>
            </a:pPr>
            <a:r>
              <a:rPr sz="2800" spc="-5" smtClean="0">
                <a:latin typeface="Times New Roman" panose="02020603050405020304"/>
                <a:cs typeface="Times New Roman" panose="02020603050405020304"/>
              </a:rPr>
              <a:t>.</a:t>
            </a:r>
            <a:r>
              <a:rPr lang="en-US" sz="2800" spc="-5" dirty="0" smtClean="0">
                <a:latin typeface="Times New Roman" panose="02020603050405020304"/>
                <a:cs typeface="Times New Roman" panose="02020603050405020304"/>
              </a:rPr>
              <a:t> </a:t>
            </a:r>
            <a:r>
              <a:rPr lang="en-US" sz="2800" spc="-5" dirty="0" smtClean="0">
                <a:latin typeface="Times New Roman" panose="02020603050405020304"/>
                <a:cs typeface="Times New Roman" panose="02020603050405020304"/>
              </a:rPr>
              <a:t>Once </a:t>
            </a:r>
            <a:r>
              <a:rPr lang="en-US" sz="2800" dirty="0" smtClean="0">
                <a:latin typeface="Times New Roman" panose="02020603050405020304"/>
                <a:cs typeface="Times New Roman" panose="02020603050405020304"/>
              </a:rPr>
              <a:t>a </a:t>
            </a:r>
            <a:r>
              <a:rPr lang="en-US" sz="2800" spc="-5" dirty="0" smtClean="0">
                <a:latin typeface="Times New Roman" panose="02020603050405020304"/>
                <a:cs typeface="Times New Roman" panose="02020603050405020304"/>
              </a:rPr>
              <a:t>DFD is obtained the next step is to precisely  specify the</a:t>
            </a:r>
            <a:r>
              <a:rPr lang="en-US" sz="2800" spc="-90" dirty="0" smtClean="0">
                <a:latin typeface="Times New Roman" panose="02020603050405020304"/>
                <a:cs typeface="Times New Roman" panose="02020603050405020304"/>
              </a:rPr>
              <a:t> </a:t>
            </a:r>
            <a:r>
              <a:rPr lang="en-US" sz="2800" spc="-5" dirty="0" smtClean="0">
                <a:latin typeface="Times New Roman" panose="02020603050405020304"/>
                <a:cs typeface="Times New Roman" panose="02020603050405020304"/>
              </a:rPr>
              <a:t>process</a:t>
            </a:r>
            <a:endParaRPr lang="en-US" sz="2800" dirty="0">
              <a:latin typeface="Times New Roman" panose="02020603050405020304"/>
              <a:cs typeface="Times New Roman" panose="02020603050405020304"/>
            </a:endParaRPr>
          </a:p>
          <a:p>
            <a:pPr marL="469900" marR="472440" indent="-457200">
              <a:lnSpc>
                <a:spcPct val="100000"/>
              </a:lnSpc>
              <a:buFont typeface="Wingdings" panose="05000000000000000000" pitchFamily="2" charset="2"/>
              <a:buChar char="§"/>
              <a:tabLst>
                <a:tab pos="353060" algn="l"/>
                <a:tab pos="353695" algn="l"/>
              </a:tabLst>
            </a:pPr>
            <a:r>
              <a:rPr sz="2800" b="1" spc="-5" dirty="0" smtClean="0">
                <a:latin typeface="Times New Roman" panose="02020603050405020304"/>
                <a:cs typeface="Times New Roman" panose="02020603050405020304"/>
              </a:rPr>
              <a:t>Structured </a:t>
            </a:r>
            <a:r>
              <a:rPr sz="2800" b="1" spc="-5" dirty="0">
                <a:latin typeface="Times New Roman" panose="02020603050405020304"/>
                <a:cs typeface="Times New Roman" panose="02020603050405020304"/>
              </a:rPr>
              <a:t>English</a:t>
            </a:r>
            <a:r>
              <a:rPr sz="2800" spc="-5" dirty="0">
                <a:latin typeface="Times New Roman" panose="02020603050405020304"/>
                <a:cs typeface="Times New Roman" panose="02020603050405020304"/>
              </a:rPr>
              <a:t>, Decision tables and Decision Trees  are used to describe</a:t>
            </a:r>
            <a:r>
              <a:rPr sz="2800" spc="-70" dirty="0">
                <a:latin typeface="Times New Roman" panose="02020603050405020304"/>
                <a:cs typeface="Times New Roman" panose="02020603050405020304"/>
              </a:rPr>
              <a:t> </a:t>
            </a:r>
            <a:r>
              <a:rPr sz="2800" spc="-5" dirty="0" smtClean="0">
                <a:latin typeface="Times New Roman" panose="02020603050405020304"/>
                <a:cs typeface="Times New Roman" panose="02020603050405020304"/>
              </a:rPr>
              <a:t>process.</a:t>
            </a:r>
            <a:endParaRPr lang="en-US" sz="2800" dirty="0">
              <a:latin typeface="Times New Roman" panose="02020603050405020304"/>
              <a:cs typeface="Times New Roman" panose="02020603050405020304"/>
            </a:endParaRPr>
          </a:p>
          <a:p>
            <a:pPr marL="469900" marR="472440" indent="-457200">
              <a:lnSpc>
                <a:spcPct val="100000"/>
              </a:lnSpc>
              <a:buFont typeface="Wingdings" panose="05000000000000000000" pitchFamily="2" charset="2"/>
              <a:buChar char="§"/>
              <a:tabLst>
                <a:tab pos="353060" algn="l"/>
                <a:tab pos="353695" algn="l"/>
              </a:tabLst>
            </a:pPr>
            <a:r>
              <a:rPr sz="2800" b="1" spc="-5" smtClean="0">
                <a:latin typeface="Times New Roman" panose="02020603050405020304"/>
                <a:cs typeface="Times New Roman" panose="02020603050405020304"/>
              </a:rPr>
              <a:t>Decision </a:t>
            </a:r>
            <a:r>
              <a:rPr lang="en-US" sz="2800" b="1" spc="-5" dirty="0" smtClean="0">
                <a:latin typeface="Times New Roman" panose="02020603050405020304"/>
                <a:cs typeface="Times New Roman" panose="02020603050405020304"/>
              </a:rPr>
              <a:t>Trees </a:t>
            </a:r>
            <a:r>
              <a:rPr sz="2800" spc="-5" smtClean="0">
                <a:latin typeface="Times New Roman" panose="02020603050405020304"/>
                <a:cs typeface="Times New Roman" panose="02020603050405020304"/>
              </a:rPr>
              <a:t>are </a:t>
            </a:r>
            <a:r>
              <a:rPr sz="2800" spc="-5" dirty="0">
                <a:latin typeface="Times New Roman" panose="02020603050405020304"/>
                <a:cs typeface="Times New Roman" panose="02020603050405020304"/>
              </a:rPr>
              <a:t>used </a:t>
            </a:r>
            <a:r>
              <a:rPr sz="2800" dirty="0">
                <a:latin typeface="Times New Roman" panose="02020603050405020304"/>
                <a:cs typeface="Times New Roman" panose="02020603050405020304"/>
              </a:rPr>
              <a:t>when </a:t>
            </a:r>
            <a:r>
              <a:rPr sz="2800" spc="-5" dirty="0">
                <a:latin typeface="Times New Roman" panose="02020603050405020304"/>
                <a:cs typeface="Times New Roman" panose="02020603050405020304"/>
              </a:rPr>
              <a:t>the process is logically  complex involving large number of conditions and  alternate</a:t>
            </a:r>
            <a:r>
              <a:rPr sz="2800" spc="-95" dirty="0">
                <a:latin typeface="Times New Roman" panose="02020603050405020304"/>
                <a:cs typeface="Times New Roman" panose="02020603050405020304"/>
              </a:rPr>
              <a:t> </a:t>
            </a:r>
            <a:r>
              <a:rPr sz="2800" spc="-5" dirty="0" smtClean="0">
                <a:latin typeface="Times New Roman" panose="02020603050405020304"/>
                <a:cs typeface="Times New Roman" panose="02020603050405020304"/>
              </a:rPr>
              <a:t>solutions</a:t>
            </a:r>
            <a:endParaRPr lang="en-US" sz="2800" dirty="0">
              <a:latin typeface="Times New Roman" panose="02020603050405020304"/>
              <a:cs typeface="Times New Roman" panose="02020603050405020304"/>
            </a:endParaRPr>
          </a:p>
          <a:p>
            <a:pPr marL="469900" marR="472440" indent="-457200">
              <a:lnSpc>
                <a:spcPct val="100000"/>
              </a:lnSpc>
              <a:buFont typeface="Wingdings" panose="05000000000000000000" pitchFamily="2" charset="2"/>
              <a:buChar char="§"/>
              <a:tabLst>
                <a:tab pos="353060" algn="l"/>
                <a:tab pos="353695" algn="l"/>
              </a:tabLst>
            </a:pPr>
            <a:r>
              <a:rPr sz="2800" b="1" spc="-5" smtClean="0">
                <a:latin typeface="Times New Roman" panose="02020603050405020304"/>
                <a:cs typeface="Times New Roman" panose="02020603050405020304"/>
              </a:rPr>
              <a:t>Decision </a:t>
            </a:r>
            <a:r>
              <a:rPr lang="en-US" sz="2800" b="1" spc="-5" dirty="0" smtClean="0">
                <a:latin typeface="Times New Roman" panose="02020603050405020304"/>
                <a:cs typeface="Times New Roman" panose="02020603050405020304"/>
              </a:rPr>
              <a:t>Table </a:t>
            </a:r>
            <a:r>
              <a:rPr sz="2800" spc="-5" smtClean="0">
                <a:latin typeface="Times New Roman" panose="02020603050405020304"/>
                <a:cs typeface="Times New Roman" panose="02020603050405020304"/>
              </a:rPr>
              <a:t>are </a:t>
            </a:r>
            <a:r>
              <a:rPr sz="2800" spc="-5" dirty="0">
                <a:latin typeface="Times New Roman" panose="02020603050405020304"/>
                <a:cs typeface="Times New Roman" panose="02020603050405020304"/>
              </a:rPr>
              <a:t>used when conditions to be tested  must follow </a:t>
            </a:r>
            <a:r>
              <a:rPr sz="2800" dirty="0">
                <a:latin typeface="Times New Roman" panose="02020603050405020304"/>
                <a:cs typeface="Times New Roman" panose="02020603050405020304"/>
              </a:rPr>
              <a:t>a </a:t>
            </a:r>
            <a:r>
              <a:rPr sz="2800" spc="-5" dirty="0">
                <a:latin typeface="Times New Roman" panose="02020603050405020304"/>
                <a:cs typeface="Times New Roman" panose="02020603050405020304"/>
              </a:rPr>
              <a:t>strict time</a:t>
            </a:r>
            <a:r>
              <a:rPr sz="2800" spc="-75" dirty="0">
                <a:latin typeface="Times New Roman" panose="02020603050405020304"/>
                <a:cs typeface="Times New Roman" panose="02020603050405020304"/>
              </a:rPr>
              <a:t> </a:t>
            </a:r>
            <a:r>
              <a:rPr sz="2800" spc="-5" dirty="0">
                <a:latin typeface="Times New Roman" panose="02020603050405020304"/>
                <a:cs typeface="Times New Roman" panose="02020603050405020304"/>
              </a:rPr>
              <a:t>sequence.</a:t>
            </a:r>
            <a:endParaRPr sz="2800" dirty="0">
              <a:latin typeface="Times New Roman" panose="02020603050405020304"/>
              <a:cs typeface="Times New Roman" panose="02020603050405020304"/>
            </a:endParaRPr>
          </a:p>
        </p:txBody>
      </p:sp>
      <p:sp>
        <p:nvSpPr>
          <p:cNvPr id="11" name="Title 10"/>
          <p:cNvSpPr>
            <a:spLocks noGrp="1"/>
          </p:cNvSpPr>
          <p:nvPr>
            <p:ph type="title"/>
          </p:nvPr>
        </p:nvSpPr>
        <p:spPr>
          <a:xfrm>
            <a:off x="1206500" y="977900"/>
            <a:ext cx="6894323" cy="782598"/>
          </a:xfrm>
        </p:spPr>
        <p:txBody>
          <a:bodyPr>
            <a:noAutofit/>
          </a:bodyPr>
          <a:lstStyle/>
          <a:p>
            <a:pPr algn="ctr"/>
            <a:r>
              <a:rPr lang="en-US" sz="5400" b="1" u="sng" spc="-5" dirty="0" smtClean="0">
                <a:solidFill>
                  <a:srgbClr val="002060"/>
                </a:solidFill>
                <a:latin typeface="Times New Roman" panose="02020603050405020304" pitchFamily="18" charset="0"/>
                <a:cs typeface="Times New Roman" panose="02020603050405020304" pitchFamily="18" charset="0"/>
              </a:rPr>
              <a:t>Process</a:t>
            </a:r>
            <a:r>
              <a:rPr lang="en-US" sz="5400" b="1" u="sng" spc="-80" dirty="0" smtClean="0">
                <a:solidFill>
                  <a:srgbClr val="002060"/>
                </a:solidFill>
                <a:latin typeface="Times New Roman" panose="02020603050405020304" pitchFamily="18" charset="0"/>
                <a:cs typeface="Times New Roman" panose="02020603050405020304" pitchFamily="18" charset="0"/>
              </a:rPr>
              <a:t> </a:t>
            </a:r>
            <a:r>
              <a:rPr lang="en-US" sz="5400" b="1" u="sng" spc="-5" dirty="0" smtClean="0">
                <a:solidFill>
                  <a:srgbClr val="002060"/>
                </a:solidFill>
                <a:latin typeface="Times New Roman" panose="02020603050405020304" pitchFamily="18" charset="0"/>
                <a:cs typeface="Times New Roman" panose="02020603050405020304" pitchFamily="18" charset="0"/>
              </a:rPr>
              <a:t>Specification</a:t>
            </a:r>
            <a:endParaRPr lang="en-US" sz="5400" b="1" u="sng"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8300" y="825500"/>
            <a:ext cx="7620000" cy="969496"/>
          </a:xfrm>
          <a:prstGeom prst="rect">
            <a:avLst/>
          </a:prstGeom>
        </p:spPr>
        <p:txBody>
          <a:bodyPr vert="horz" wrap="square" lIns="0" tIns="228600" rIns="0" bIns="0" rtlCol="0">
            <a:spAutoFit/>
          </a:bodyPr>
          <a:lstStyle/>
          <a:p>
            <a:pPr marL="2349500" algn="l">
              <a:lnSpc>
                <a:spcPct val="100000"/>
              </a:lnSpc>
            </a:pPr>
            <a:r>
              <a:rPr lang="en-US" sz="4800" b="1" u="sng" spc="-5" dirty="0" smtClean="0">
                <a:solidFill>
                  <a:srgbClr val="002060"/>
                </a:solidFill>
                <a:latin typeface="Times New Roman" panose="02020603050405020304" pitchFamily="18" charset="0"/>
                <a:cs typeface="Times New Roman" panose="02020603050405020304" pitchFamily="18" charset="0"/>
              </a:rPr>
              <a:t>Data Dictionary </a:t>
            </a:r>
            <a:endParaRPr lang="en-US" sz="4800" b="1" u="sng" spc="-5" dirty="0">
              <a:solidFill>
                <a:srgbClr val="002060"/>
              </a:solidFill>
              <a:latin typeface="Times New Roman" panose="02020603050405020304" pitchFamily="18" charset="0"/>
              <a:cs typeface="Times New Roman" panose="02020603050405020304" pitchFamily="18" charset="0"/>
            </a:endParaRPr>
          </a:p>
        </p:txBody>
      </p:sp>
      <p:sp>
        <p:nvSpPr>
          <p:cNvPr id="7" name="object 7"/>
          <p:cNvSpPr txBox="1"/>
          <p:nvPr/>
        </p:nvSpPr>
        <p:spPr>
          <a:xfrm>
            <a:off x="749300" y="2044700"/>
            <a:ext cx="8226299" cy="1846659"/>
          </a:xfrm>
          <a:prstGeom prst="rect">
            <a:avLst/>
          </a:prstGeom>
        </p:spPr>
        <p:txBody>
          <a:bodyPr vert="horz" wrap="square" lIns="0" tIns="0" rIns="0" bIns="0" rtlCol="0">
            <a:spAutoFit/>
          </a:bodyPr>
          <a:lstStyle/>
          <a:p>
            <a:pPr marL="469900" marR="622935" indent="-457200" algn="just">
              <a:lnSpc>
                <a:spcPct val="100000"/>
              </a:lnSpc>
              <a:buFont typeface="Wingdings" panose="05000000000000000000" pitchFamily="2" charset="2"/>
              <a:buChar char="§"/>
              <a:tabLst>
                <a:tab pos="353060" algn="l"/>
                <a:tab pos="353695" algn="l"/>
              </a:tabLst>
            </a:pPr>
            <a:r>
              <a:rPr lang="en-US" sz="2400" dirty="0">
                <a:latin typeface="Times New Roman" panose="02020603050405020304" pitchFamily="18" charset="0"/>
                <a:cs typeface="Times New Roman" panose="02020603050405020304" pitchFamily="18" charset="0"/>
              </a:rPr>
              <a:t>A data dictionary is a structured repository of data elements in the system. It stores the descriptions of all DFD data elements that is, details and definitions of data flows, data stores, data stored in data stores, and the processes.</a:t>
            </a:r>
          </a:p>
        </p:txBody>
      </p:sp>
      <p:graphicFrame>
        <p:nvGraphicFramePr>
          <p:cNvPr id="3" name="Table 2"/>
          <p:cNvGraphicFramePr>
            <a:graphicFrameLocks noGrp="1"/>
          </p:cNvGraphicFramePr>
          <p:nvPr/>
        </p:nvGraphicFramePr>
        <p:xfrm>
          <a:off x="1206500" y="3891359"/>
          <a:ext cx="7120732" cy="1990496"/>
        </p:xfrm>
        <a:graphic>
          <a:graphicData uri="http://schemas.openxmlformats.org/drawingml/2006/table">
            <a:tbl>
              <a:tblPr>
                <a:tableStyleId>{08FB837D-C827-4EFA-A057-4D05807E0F7C}</a:tableStyleId>
              </a:tblPr>
              <a:tblGrid>
                <a:gridCol w="1780183"/>
                <a:gridCol w="1780183"/>
                <a:gridCol w="1780183"/>
                <a:gridCol w="1780183"/>
              </a:tblGrid>
              <a:tr h="363141">
                <a:tc>
                  <a:txBody>
                    <a:bodyPr/>
                    <a:lstStyle/>
                    <a:p>
                      <a:pPr algn="ctr" fontAlgn="t"/>
                      <a:r>
                        <a:rPr lang="en-US" sz="1600" b="1" dirty="0" err="1">
                          <a:effectLst/>
                          <a:latin typeface="Times New Roman" panose="02020603050405020304" pitchFamily="18" charset="0"/>
                          <a:cs typeface="Times New Roman" panose="02020603050405020304" pitchFamily="18" charset="0"/>
                        </a:rPr>
                        <a:t>Sr.No</a:t>
                      </a:r>
                      <a:r>
                        <a:rPr lang="en-US" sz="1600" b="1" dirty="0">
                          <a:effectLst/>
                          <a:latin typeface="Times New Roman" panose="02020603050405020304" pitchFamily="18" charset="0"/>
                          <a:cs typeface="Times New Roman" panose="02020603050405020304" pitchFamily="18" charset="0"/>
                        </a:rPr>
                        <a:t>.</a:t>
                      </a:r>
                    </a:p>
                  </a:txBody>
                  <a:tcPr marL="76200" marR="76200" marT="76200" marB="76200"/>
                </a:tc>
                <a:tc>
                  <a:txBody>
                    <a:bodyPr/>
                    <a:lstStyle/>
                    <a:p>
                      <a:pPr algn="ctr" fontAlgn="t"/>
                      <a:r>
                        <a:rPr lang="en-US" sz="1600" b="1" dirty="0">
                          <a:effectLst/>
                          <a:latin typeface="Times New Roman" panose="02020603050405020304" pitchFamily="18" charset="0"/>
                          <a:cs typeface="Times New Roman" panose="02020603050405020304" pitchFamily="18" charset="0"/>
                        </a:rPr>
                        <a:t>Data Name</a:t>
                      </a:r>
                    </a:p>
                  </a:txBody>
                  <a:tcPr marL="76200" marR="76200" marT="76200" marB="76200"/>
                </a:tc>
                <a:tc>
                  <a:txBody>
                    <a:bodyPr/>
                    <a:lstStyle/>
                    <a:p>
                      <a:pPr algn="ctr" fontAlgn="t"/>
                      <a:r>
                        <a:rPr lang="en-US" sz="1600" b="1" dirty="0">
                          <a:effectLst/>
                          <a:latin typeface="Times New Roman" panose="02020603050405020304" pitchFamily="18" charset="0"/>
                          <a:cs typeface="Times New Roman" panose="02020603050405020304" pitchFamily="18" charset="0"/>
                        </a:rPr>
                        <a:t>Description</a:t>
                      </a:r>
                    </a:p>
                  </a:txBody>
                  <a:tcPr marL="76200" marR="76200" marT="76200" marB="76200"/>
                </a:tc>
                <a:tc>
                  <a:txBody>
                    <a:bodyPr/>
                    <a:lstStyle/>
                    <a:p>
                      <a:pPr algn="ctr" fontAlgn="t"/>
                      <a:r>
                        <a:rPr lang="en-US" sz="1600" b="1" dirty="0">
                          <a:effectLst/>
                          <a:latin typeface="Times New Roman" panose="02020603050405020304" pitchFamily="18" charset="0"/>
                          <a:cs typeface="Times New Roman" panose="02020603050405020304" pitchFamily="18" charset="0"/>
                        </a:rPr>
                        <a:t>No. of Characters</a:t>
                      </a:r>
                    </a:p>
                  </a:txBody>
                  <a:tcPr marL="76200" marR="76200" marT="76200" marB="76200"/>
                </a:tc>
              </a:tr>
              <a:tr h="326883">
                <a:tc>
                  <a:txBody>
                    <a:bodyPr/>
                    <a:lstStyle/>
                    <a:p>
                      <a:pPr algn="ctr" fontAlgn="t"/>
                      <a:r>
                        <a:rPr lang="en-US" sz="1600">
                          <a:effectLst/>
                          <a:latin typeface="Times New Roman" panose="02020603050405020304" pitchFamily="18" charset="0"/>
                          <a:cs typeface="Times New Roman" panose="02020603050405020304" pitchFamily="18" charset="0"/>
                        </a:rPr>
                        <a:t>1</a:t>
                      </a:r>
                    </a:p>
                  </a:txBody>
                  <a:tcPr marL="76200" marR="76200" marT="76200" marB="76200"/>
                </a:tc>
                <a:tc>
                  <a:txBody>
                    <a:bodyPr/>
                    <a:lstStyle/>
                    <a:p>
                      <a:pPr algn="ctr" fontAlgn="t"/>
                      <a:r>
                        <a:rPr lang="en-US" sz="1600">
                          <a:effectLst/>
                          <a:latin typeface="Times New Roman" panose="02020603050405020304" pitchFamily="18" charset="0"/>
                          <a:cs typeface="Times New Roman" panose="02020603050405020304" pitchFamily="18" charset="0"/>
                        </a:rPr>
                        <a:t>ISBN</a:t>
                      </a:r>
                    </a:p>
                  </a:txBody>
                  <a:tcPr marL="76200" marR="76200" marT="76200" marB="76200"/>
                </a:tc>
                <a:tc>
                  <a:txBody>
                    <a:bodyPr/>
                    <a:lstStyle/>
                    <a:p>
                      <a:pPr algn="ctr" fontAlgn="t"/>
                      <a:r>
                        <a:rPr lang="en-US" sz="1600" dirty="0">
                          <a:effectLst/>
                          <a:latin typeface="Times New Roman" panose="02020603050405020304" pitchFamily="18" charset="0"/>
                          <a:cs typeface="Times New Roman" panose="02020603050405020304" pitchFamily="18" charset="0"/>
                        </a:rPr>
                        <a:t>ISBN Number</a:t>
                      </a:r>
                    </a:p>
                  </a:txBody>
                  <a:tcPr marL="76200" marR="76200" marT="76200" marB="76200"/>
                </a:tc>
                <a:tc>
                  <a:txBody>
                    <a:bodyPr/>
                    <a:lstStyle/>
                    <a:p>
                      <a:pPr algn="ctr" fontAlgn="t"/>
                      <a:r>
                        <a:rPr lang="en-US" sz="1600">
                          <a:effectLst/>
                          <a:latin typeface="Times New Roman" panose="02020603050405020304" pitchFamily="18" charset="0"/>
                          <a:cs typeface="Times New Roman" panose="02020603050405020304" pitchFamily="18" charset="0"/>
                        </a:rPr>
                        <a:t>10</a:t>
                      </a:r>
                    </a:p>
                  </a:txBody>
                  <a:tcPr marL="76200" marR="76200" marT="76200" marB="76200"/>
                </a:tc>
              </a:tr>
              <a:tr h="326883">
                <a:tc>
                  <a:txBody>
                    <a:bodyPr/>
                    <a:lstStyle/>
                    <a:p>
                      <a:pPr algn="ctr" fontAlgn="t"/>
                      <a:r>
                        <a:rPr lang="en-US" sz="1600">
                          <a:effectLst/>
                          <a:latin typeface="Times New Roman" panose="02020603050405020304" pitchFamily="18" charset="0"/>
                          <a:cs typeface="Times New Roman" panose="02020603050405020304" pitchFamily="18" charset="0"/>
                        </a:rPr>
                        <a:t>2</a:t>
                      </a:r>
                    </a:p>
                  </a:txBody>
                  <a:tcPr marL="76200" marR="76200" marT="76200" marB="76200"/>
                </a:tc>
                <a:tc>
                  <a:txBody>
                    <a:bodyPr/>
                    <a:lstStyle/>
                    <a:p>
                      <a:pPr algn="ctr" fontAlgn="t"/>
                      <a:r>
                        <a:rPr lang="en-US" sz="1600" dirty="0">
                          <a:effectLst/>
                          <a:latin typeface="Times New Roman" panose="02020603050405020304" pitchFamily="18" charset="0"/>
                          <a:cs typeface="Times New Roman" panose="02020603050405020304" pitchFamily="18" charset="0"/>
                        </a:rPr>
                        <a:t>TITLE</a:t>
                      </a:r>
                    </a:p>
                  </a:txBody>
                  <a:tcPr marL="76200" marR="76200" marT="76200" marB="76200"/>
                </a:tc>
                <a:tc>
                  <a:txBody>
                    <a:bodyPr/>
                    <a:lstStyle/>
                    <a:p>
                      <a:pPr algn="ctr" fontAlgn="t"/>
                      <a:r>
                        <a:rPr lang="en-US" sz="1600">
                          <a:effectLst/>
                          <a:latin typeface="Times New Roman" panose="02020603050405020304" pitchFamily="18" charset="0"/>
                          <a:cs typeface="Times New Roman" panose="02020603050405020304" pitchFamily="18" charset="0"/>
                        </a:rPr>
                        <a:t>title</a:t>
                      </a:r>
                    </a:p>
                  </a:txBody>
                  <a:tcPr marL="76200" marR="76200" marT="76200" marB="76200"/>
                </a:tc>
                <a:tc>
                  <a:txBody>
                    <a:bodyPr/>
                    <a:lstStyle/>
                    <a:p>
                      <a:pPr algn="ctr" fontAlgn="t"/>
                      <a:r>
                        <a:rPr lang="en-US" sz="1600">
                          <a:effectLst/>
                          <a:latin typeface="Times New Roman" panose="02020603050405020304" pitchFamily="18" charset="0"/>
                          <a:cs typeface="Times New Roman" panose="02020603050405020304" pitchFamily="18" charset="0"/>
                        </a:rPr>
                        <a:t>60</a:t>
                      </a:r>
                    </a:p>
                  </a:txBody>
                  <a:tcPr marL="76200" marR="76200" marT="76200" marB="76200"/>
                </a:tc>
              </a:tr>
              <a:tr h="405536">
                <a:tc>
                  <a:txBody>
                    <a:bodyPr/>
                    <a:lstStyle/>
                    <a:p>
                      <a:pPr algn="ctr" fontAlgn="t"/>
                      <a:r>
                        <a:rPr lang="en-US" sz="1600" dirty="0">
                          <a:effectLst/>
                          <a:latin typeface="Times New Roman" panose="02020603050405020304" pitchFamily="18" charset="0"/>
                          <a:cs typeface="Times New Roman" panose="02020603050405020304" pitchFamily="18" charset="0"/>
                        </a:rPr>
                        <a:t>3</a:t>
                      </a:r>
                    </a:p>
                  </a:txBody>
                  <a:tcPr marL="76200" marR="76200" marT="76200" marB="76200"/>
                </a:tc>
                <a:tc>
                  <a:txBody>
                    <a:bodyPr/>
                    <a:lstStyle/>
                    <a:p>
                      <a:pPr algn="ctr" fontAlgn="t"/>
                      <a:r>
                        <a:rPr lang="en-US" sz="1600" dirty="0">
                          <a:effectLst/>
                          <a:latin typeface="Times New Roman" panose="02020603050405020304" pitchFamily="18" charset="0"/>
                          <a:cs typeface="Times New Roman" panose="02020603050405020304" pitchFamily="18" charset="0"/>
                        </a:rPr>
                        <a:t>SUB</a:t>
                      </a:r>
                    </a:p>
                  </a:txBody>
                  <a:tcPr marL="76200" marR="76200" marT="76200" marB="76200"/>
                </a:tc>
                <a:tc>
                  <a:txBody>
                    <a:bodyPr/>
                    <a:lstStyle/>
                    <a:p>
                      <a:pPr algn="ctr" fontAlgn="t"/>
                      <a:r>
                        <a:rPr lang="en-US" sz="1600">
                          <a:effectLst/>
                          <a:latin typeface="Times New Roman" panose="02020603050405020304" pitchFamily="18" charset="0"/>
                          <a:cs typeface="Times New Roman" panose="02020603050405020304" pitchFamily="18" charset="0"/>
                        </a:rPr>
                        <a:t>Book Subjects</a:t>
                      </a:r>
                    </a:p>
                  </a:txBody>
                  <a:tcPr marL="76200" marR="76200" marT="76200" marB="76200"/>
                </a:tc>
                <a:tc>
                  <a:txBody>
                    <a:bodyPr/>
                    <a:lstStyle/>
                    <a:p>
                      <a:pPr algn="ctr" fontAlgn="t"/>
                      <a:r>
                        <a:rPr lang="en-US" sz="1600" dirty="0">
                          <a:effectLst/>
                          <a:latin typeface="Times New Roman" panose="02020603050405020304" pitchFamily="18" charset="0"/>
                          <a:cs typeface="Times New Roman" panose="02020603050405020304" pitchFamily="18" charset="0"/>
                        </a:rPr>
                        <a:t>80</a:t>
                      </a:r>
                    </a:p>
                  </a:txBody>
                  <a:tcPr marL="76200" marR="76200" marT="76200" marB="76200"/>
                </a:tc>
              </a:tr>
              <a:tr h="326883">
                <a:tc>
                  <a:txBody>
                    <a:bodyPr/>
                    <a:lstStyle/>
                    <a:p>
                      <a:pPr algn="ctr" fontAlgn="t"/>
                      <a:r>
                        <a:rPr lang="en-US" sz="1600" dirty="0">
                          <a:effectLst/>
                          <a:latin typeface="Times New Roman" panose="02020603050405020304" pitchFamily="18" charset="0"/>
                          <a:cs typeface="Times New Roman" panose="02020603050405020304" pitchFamily="18" charset="0"/>
                        </a:rPr>
                        <a:t>4</a:t>
                      </a:r>
                    </a:p>
                  </a:txBody>
                  <a:tcPr marL="76200" marR="76200" marT="76200" marB="76200"/>
                </a:tc>
                <a:tc>
                  <a:txBody>
                    <a:bodyPr/>
                    <a:lstStyle/>
                    <a:p>
                      <a:pPr algn="ctr" fontAlgn="t"/>
                      <a:r>
                        <a:rPr lang="en-US" sz="1600" dirty="0">
                          <a:effectLst/>
                          <a:latin typeface="Times New Roman" panose="02020603050405020304" pitchFamily="18" charset="0"/>
                          <a:cs typeface="Times New Roman" panose="02020603050405020304" pitchFamily="18" charset="0"/>
                        </a:rPr>
                        <a:t>ANAME</a:t>
                      </a:r>
                    </a:p>
                  </a:txBody>
                  <a:tcPr marL="76200" marR="76200" marT="76200" marB="76200"/>
                </a:tc>
                <a:tc>
                  <a:txBody>
                    <a:bodyPr/>
                    <a:lstStyle/>
                    <a:p>
                      <a:pPr algn="ctr" fontAlgn="t"/>
                      <a:r>
                        <a:rPr lang="en-US" sz="1600" dirty="0">
                          <a:effectLst/>
                          <a:latin typeface="Times New Roman" panose="02020603050405020304" pitchFamily="18" charset="0"/>
                          <a:cs typeface="Times New Roman" panose="02020603050405020304" pitchFamily="18" charset="0"/>
                        </a:rPr>
                        <a:t>Author Name</a:t>
                      </a:r>
                    </a:p>
                  </a:txBody>
                  <a:tcPr marL="76200" marR="76200" marT="76200" marB="76200"/>
                </a:tc>
                <a:tc>
                  <a:txBody>
                    <a:bodyPr/>
                    <a:lstStyle/>
                    <a:p>
                      <a:pPr algn="ctr" fontAlgn="t"/>
                      <a:r>
                        <a:rPr lang="en-US" sz="1600" dirty="0">
                          <a:effectLst/>
                          <a:latin typeface="Times New Roman" panose="02020603050405020304" pitchFamily="18" charset="0"/>
                          <a:cs typeface="Times New Roman" panose="02020603050405020304" pitchFamily="18" charset="0"/>
                        </a:rPr>
                        <a:t>15</a:t>
                      </a:r>
                    </a:p>
                  </a:txBody>
                  <a:tcPr marL="76200" marR="76200" marT="76200" marB="76200"/>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3700" y="749300"/>
            <a:ext cx="5715000" cy="856325"/>
          </a:xfrm>
          <a:prstGeom prst="rect">
            <a:avLst/>
          </a:prstGeom>
        </p:spPr>
        <p:txBody>
          <a:bodyPr vert="horz" wrap="square" lIns="0" tIns="228600" rIns="0" bIns="0" rtlCol="0">
            <a:spAutoFit/>
          </a:bodyPr>
          <a:lstStyle/>
          <a:p>
            <a:pPr algn="ctr"/>
            <a:r>
              <a:rPr lang="en-US" sz="4800" b="1" u="sng"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Decision Trees</a:t>
            </a:r>
          </a:p>
        </p:txBody>
      </p:sp>
      <p:sp>
        <p:nvSpPr>
          <p:cNvPr id="7" name="object 7"/>
          <p:cNvSpPr txBox="1"/>
          <p:nvPr/>
        </p:nvSpPr>
        <p:spPr>
          <a:xfrm>
            <a:off x="567489" y="2044700"/>
            <a:ext cx="8335211" cy="4062730"/>
          </a:xfrm>
          <a:prstGeom prst="rect">
            <a:avLst/>
          </a:prstGeom>
        </p:spPr>
        <p:txBody>
          <a:bodyPr vert="horz" wrap="square" lIns="0" tIns="0" rIns="0" bIns="0" rtlCol="0">
            <a:spAutoFit/>
          </a:bodyPr>
          <a:lstStyle/>
          <a:p>
            <a:pPr marL="342900" indent="-342900">
              <a:buFont typeface="Wingdings" panose="05000000000000000000" pitchFamily="2" charset="2"/>
              <a:buChar char="q"/>
            </a:pPr>
            <a:r>
              <a:rPr lang="en-US" sz="2200" b="1" dirty="0">
                <a:latin typeface="Times New Roman" panose="02020603050405020304" pitchFamily="18" charset="0"/>
                <a:cs typeface="Times New Roman" panose="02020603050405020304" pitchFamily="18" charset="0"/>
              </a:rPr>
              <a:t>A decision </a:t>
            </a:r>
            <a:r>
              <a:rPr lang="en-US" sz="2200" dirty="0" smtClean="0">
                <a:latin typeface="Times New Roman" panose="02020603050405020304" pitchFamily="18" charset="0"/>
                <a:cs typeface="Times New Roman" panose="02020603050405020304" pitchFamily="18" charset="0"/>
                <a:sym typeface="+mn-ea"/>
              </a:rPr>
              <a:t>tree </a:t>
            </a:r>
            <a:r>
              <a:rPr lang="en-US" sz="2200" dirty="0" smtClean="0">
                <a:latin typeface="Times New Roman" panose="02020603050405020304" pitchFamily="18" charset="0"/>
                <a:cs typeface="Times New Roman" panose="02020603050405020304" pitchFamily="18" charset="0"/>
              </a:rPr>
              <a:t>is </a:t>
            </a:r>
            <a:r>
              <a:rPr lang="en-US" sz="2200" dirty="0">
                <a:latin typeface="Times New Roman" panose="02020603050405020304" pitchFamily="18" charset="0"/>
                <a:cs typeface="Times New Roman" panose="02020603050405020304" pitchFamily="18" charset="0"/>
              </a:rPr>
              <a:t>a </a:t>
            </a:r>
            <a:r>
              <a:rPr lang="en-US" sz="2200" dirty="0" smtClean="0">
                <a:latin typeface="Times New Roman" panose="02020603050405020304" pitchFamily="18" charset="0"/>
                <a:cs typeface="Times New Roman" panose="02020603050405020304" pitchFamily="18" charset="0"/>
              </a:rPr>
              <a:t>tree that </a:t>
            </a:r>
            <a:r>
              <a:rPr lang="en-US" sz="2200" dirty="0">
                <a:latin typeface="Times New Roman" panose="02020603050405020304" pitchFamily="18" charset="0"/>
                <a:cs typeface="Times New Roman" panose="02020603050405020304" pitchFamily="18" charset="0"/>
              </a:rPr>
              <a:t>indicates conditions and actions in a simplified and orderly manner. By presenting logical alternative courses of action under various operating conditions, a decision table enables an individual to think through a problem and present its solution in compact </a:t>
            </a:r>
            <a:r>
              <a:rPr lang="en-US" sz="2200" dirty="0" smtClean="0">
                <a:latin typeface="Times New Roman" panose="02020603050405020304" pitchFamily="18" charset="0"/>
                <a:cs typeface="Times New Roman" panose="02020603050405020304" pitchFamily="18" charset="0"/>
              </a:rPr>
              <a:t>notation.</a:t>
            </a:r>
          </a:p>
          <a:p>
            <a:pPr marL="342900" indent="-342900">
              <a:buFont typeface="Wingdings" panose="05000000000000000000" pitchFamily="2" charset="2"/>
              <a:buChar char="q"/>
            </a:pPr>
            <a:r>
              <a:rPr lang="en-US" sz="2200" dirty="0" smtClean="0">
                <a:latin typeface="Times New Roman" panose="02020603050405020304" pitchFamily="18" charset="0"/>
                <a:cs typeface="Times New Roman" panose="02020603050405020304" pitchFamily="18" charset="0"/>
              </a:rPr>
              <a:t>Decision </a:t>
            </a:r>
            <a:r>
              <a:rPr lang="en-US" sz="2200" dirty="0" smtClean="0">
                <a:latin typeface="Times New Roman" panose="02020603050405020304" pitchFamily="18" charset="0"/>
                <a:cs typeface="Times New Roman" panose="02020603050405020304" pitchFamily="18" charset="0"/>
              </a:rPr>
              <a:t>tree are </a:t>
            </a:r>
            <a:r>
              <a:rPr lang="en-US" sz="2200" dirty="0">
                <a:latin typeface="Times New Roman" panose="02020603050405020304" pitchFamily="18" charset="0"/>
                <a:cs typeface="Times New Roman" panose="02020603050405020304" pitchFamily="18" charset="0"/>
              </a:rPr>
              <a:t>used to model complicated logic. They can make it easy to see that all possible combinations of conditions have been considered and when conditions are not met, it is easy to </a:t>
            </a:r>
            <a:r>
              <a:rPr lang="en-US" sz="2200" dirty="0" smtClean="0">
                <a:latin typeface="Times New Roman" panose="02020603050405020304" pitchFamily="18" charset="0"/>
                <a:cs typeface="Times New Roman" panose="02020603050405020304" pitchFamily="18" charset="0"/>
              </a:rPr>
              <a:t>see.</a:t>
            </a:r>
          </a:p>
          <a:p>
            <a:pPr marL="342900" indent="-342900">
              <a:buFont typeface="Wingdings" panose="05000000000000000000" pitchFamily="2" charset="2"/>
              <a:buChar char="q"/>
            </a:pPr>
            <a:r>
              <a:rPr lang="en-US" sz="2200" dirty="0" smtClean="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major limitation of a decision tree is that it lacks information in its format to describe what other combinations of conditions you can take for testing. It is a single representation of the relationships between conditions and actions.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2150322"/>
            <a:ext cx="2044700" cy="1277273"/>
          </a:xfrm>
          <a:prstGeom prst="rect">
            <a:avLst/>
          </a:prstGeom>
        </p:spPr>
        <p:txBody>
          <a:bodyPr vert="horz" wrap="square" lIns="0" tIns="228600" rIns="0" bIns="0" rtlCol="0">
            <a:spAutoFit/>
          </a:bodyPr>
          <a:lstStyle/>
          <a:p>
            <a:pPr algn="ctr"/>
            <a:r>
              <a:rPr lang="en-US" sz="4000" b="1" u="sng"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Decision Trees</a:t>
            </a:r>
          </a:p>
        </p:txBody>
      </p:sp>
      <p:pic>
        <p:nvPicPr>
          <p:cNvPr id="1026" name="Picture 2" descr="Decision Tree"/>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9333" t="11941" r="17334" b="9254"/>
          <a:stretch>
            <a:fillRect/>
          </a:stretch>
        </p:blipFill>
        <p:spPr bwMode="auto">
          <a:xfrm>
            <a:off x="2260600" y="0"/>
            <a:ext cx="6858000" cy="3340099"/>
          </a:xfrm>
          <a:prstGeom prst="rect">
            <a:avLst/>
          </a:prstGeom>
          <a:noFill/>
          <a:extLst>
            <a:ext uri="{909E8E84-426E-40DD-AFC4-6F175D3DCCD1}">
              <a14:hiddenFill xmlns:a14="http://schemas.microsoft.com/office/drawing/2010/main" xmlns="">
                <a:solidFill>
                  <a:srgbClr val="FFFFFF"/>
                </a:solidFill>
              </a14:hiddenFill>
            </a:ext>
          </a:extLst>
        </p:spPr>
      </p:pic>
      <p:pic>
        <p:nvPicPr>
          <p:cNvPr id="1028" name="Picture 4" descr="Decision Example"/>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273066" y="3340032"/>
            <a:ext cx="6858000" cy="3380808"/>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35100" y="292100"/>
            <a:ext cx="5715000" cy="856325"/>
          </a:xfrm>
          <a:prstGeom prst="rect">
            <a:avLst/>
          </a:prstGeom>
        </p:spPr>
        <p:txBody>
          <a:bodyPr vert="horz" wrap="square" lIns="0" tIns="228600" rIns="0" bIns="0" rtlCol="0">
            <a:spAutoFit/>
          </a:bodyPr>
          <a:lstStyle/>
          <a:p>
            <a:pPr algn="ctr"/>
            <a:r>
              <a:rPr lang="en-US" sz="4800" b="1" u="sng"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Decision </a:t>
            </a:r>
            <a:r>
              <a:rPr lang="en-US" sz="4800" b="1" u="sng" dirty="0" smtClean="0">
                <a:solidFill>
                  <a:schemeClr val="tx1"/>
                </a:solidFill>
                <a:latin typeface="Times New Roman" panose="02020603050405020304" pitchFamily="18" charset="0"/>
                <a:ea typeface="Tahoma" panose="020B0604030504040204" pitchFamily="34" charset="0"/>
                <a:cs typeface="Times New Roman" panose="02020603050405020304" pitchFamily="18" charset="0"/>
              </a:rPr>
              <a:t>Table</a:t>
            </a:r>
            <a:endParaRPr lang="en-US" sz="4800" b="1" u="sng"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7" name="object 7"/>
          <p:cNvSpPr txBox="1"/>
          <p:nvPr/>
        </p:nvSpPr>
        <p:spPr>
          <a:xfrm>
            <a:off x="444500" y="1358900"/>
            <a:ext cx="8597900" cy="4924425"/>
          </a:xfrm>
          <a:prstGeom prst="rect">
            <a:avLst/>
          </a:prstGeom>
        </p:spPr>
        <p:txBody>
          <a:bodyPr vert="horz" wrap="square" lIns="0" tIns="0" rIns="0" bIns="0" rtlCol="0">
            <a:spAutoFit/>
          </a:bodyPr>
          <a:lstStyle/>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Decision tables are a method of describing the complex logical relationship in a precise manner which is easily </a:t>
            </a:r>
            <a:r>
              <a:rPr lang="en-US" sz="2000" dirty="0" smtClean="0">
                <a:latin typeface="Times New Roman" panose="02020603050405020304" pitchFamily="18" charset="0"/>
                <a:cs typeface="Times New Roman" panose="02020603050405020304" pitchFamily="18" charset="0"/>
              </a:rPr>
              <a:t>understandable.</a:t>
            </a:r>
          </a:p>
          <a:p>
            <a:pPr marL="800100" lvl="1" indent="-342900">
              <a:buFont typeface="Wingdings" panose="05000000000000000000" pitchFamily="2" charset="2"/>
              <a:buChar char="q"/>
            </a:pPr>
            <a:r>
              <a:rPr lang="en-US" sz="2000" dirty="0" smtClean="0">
                <a:latin typeface="Times New Roman" panose="02020603050405020304" pitchFamily="18" charset="0"/>
                <a:cs typeface="Times New Roman" panose="02020603050405020304" pitchFamily="18" charset="0"/>
              </a:rPr>
              <a:t>It </a:t>
            </a:r>
            <a:r>
              <a:rPr lang="en-US" sz="2000" dirty="0">
                <a:latin typeface="Times New Roman" panose="02020603050405020304" pitchFamily="18" charset="0"/>
                <a:cs typeface="Times New Roman" panose="02020603050405020304" pitchFamily="18" charset="0"/>
              </a:rPr>
              <a:t>is useful in situations where the resulting actions depend on the occurrence of one or several combinations of independent </a:t>
            </a:r>
            <a:r>
              <a:rPr lang="en-US" sz="2000" dirty="0" smtClean="0">
                <a:latin typeface="Times New Roman" panose="02020603050405020304" pitchFamily="18" charset="0"/>
                <a:cs typeface="Times New Roman" panose="02020603050405020304" pitchFamily="18" charset="0"/>
              </a:rPr>
              <a:t>conditions.</a:t>
            </a:r>
          </a:p>
          <a:p>
            <a:pPr marL="800100" lvl="1" indent="-342900">
              <a:buFont typeface="Wingdings" panose="05000000000000000000" pitchFamily="2" charset="2"/>
              <a:buChar char="q"/>
            </a:pPr>
            <a:r>
              <a:rPr lang="en-US" sz="2000" dirty="0" smtClean="0">
                <a:latin typeface="Times New Roman" panose="02020603050405020304" pitchFamily="18" charset="0"/>
                <a:cs typeface="Times New Roman" panose="02020603050405020304" pitchFamily="18" charset="0"/>
              </a:rPr>
              <a:t>It </a:t>
            </a:r>
            <a:r>
              <a:rPr lang="en-US" sz="2000" dirty="0">
                <a:latin typeface="Times New Roman" panose="02020603050405020304" pitchFamily="18" charset="0"/>
                <a:cs typeface="Times New Roman" panose="02020603050405020304" pitchFamily="18" charset="0"/>
              </a:rPr>
              <a:t>is a matrix containing row or columns for defining a problem and the actions.</a:t>
            </a:r>
          </a:p>
          <a:p>
            <a:pPr marL="342900" indent="-342900">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Components of a Decision </a:t>
            </a:r>
            <a:r>
              <a:rPr lang="en-US" sz="2000" b="1" dirty="0" smtClean="0">
                <a:latin typeface="Times New Roman" panose="02020603050405020304" pitchFamily="18" charset="0"/>
                <a:cs typeface="Times New Roman" panose="02020603050405020304" pitchFamily="18" charset="0"/>
              </a:rPr>
              <a:t>Table: </a:t>
            </a:r>
            <a:endParaRPr lang="en-US" sz="2000" b="1"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Condition Stub</a:t>
            </a:r>
            <a:r>
              <a:rPr lang="en-US" sz="2000" dirty="0">
                <a:latin typeface="Times New Roman" panose="02020603050405020304" pitchFamily="18" charset="0"/>
                <a:cs typeface="Times New Roman" panose="02020603050405020304" pitchFamily="18" charset="0"/>
              </a:rPr>
              <a:t> − It is in the upper left quadrant which lists all the condition to be checked.</a:t>
            </a:r>
          </a:p>
          <a:p>
            <a:pPr marL="800100" lvl="1"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Action Stub</a:t>
            </a:r>
            <a:r>
              <a:rPr lang="en-US" sz="2000" dirty="0">
                <a:latin typeface="Times New Roman" panose="02020603050405020304" pitchFamily="18" charset="0"/>
                <a:cs typeface="Times New Roman" panose="02020603050405020304" pitchFamily="18" charset="0"/>
              </a:rPr>
              <a:t> − It is in the lower left quadrant which outlines all the action to be carried out to meet such condition.</a:t>
            </a:r>
          </a:p>
          <a:p>
            <a:pPr marL="800100" lvl="1"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Condition Entry</a:t>
            </a:r>
            <a:r>
              <a:rPr lang="en-US" sz="2000" dirty="0">
                <a:latin typeface="Times New Roman" panose="02020603050405020304" pitchFamily="18" charset="0"/>
                <a:cs typeface="Times New Roman" panose="02020603050405020304" pitchFamily="18" charset="0"/>
              </a:rPr>
              <a:t> − It is in upper right quadrant which provides answers to questions asked in condition stub quadrant.</a:t>
            </a:r>
          </a:p>
          <a:p>
            <a:pPr marL="800100" lvl="1"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Action Entry</a:t>
            </a:r>
            <a:r>
              <a:rPr lang="en-US" sz="2000" dirty="0">
                <a:latin typeface="Times New Roman" panose="02020603050405020304" pitchFamily="18" charset="0"/>
                <a:cs typeface="Times New Roman" panose="02020603050405020304" pitchFamily="18" charset="0"/>
              </a:rPr>
              <a:t> − It is in lower right quadrant which indicates the appropriate action resulting from the answers to the conditions in the condition entry quadrant</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4226" y="215900"/>
            <a:ext cx="7543800" cy="553998"/>
          </a:xfrm>
          <a:prstGeom prst="rect">
            <a:avLst/>
          </a:prstGeom>
        </p:spPr>
        <p:txBody>
          <a:bodyPr vert="horz" wrap="square" lIns="0" tIns="0" rIns="0" bIns="0" rtlCol="0">
            <a:spAutoFit/>
          </a:bodyPr>
          <a:lstStyle/>
          <a:p>
            <a:pPr marL="685800">
              <a:lnSpc>
                <a:spcPct val="100000"/>
              </a:lnSpc>
            </a:pPr>
            <a:r>
              <a:rPr lang="en-US" sz="3600" b="1" u="sng" spc="-5" dirty="0" smtClean="0">
                <a:solidFill>
                  <a:srgbClr val="002060"/>
                </a:solidFill>
                <a:latin typeface="Times New Roman" panose="02020603050405020304" pitchFamily="18" charset="0"/>
                <a:cs typeface="Times New Roman" panose="02020603050405020304" pitchFamily="18" charset="0"/>
              </a:rPr>
              <a:t>Decision Table Notation</a:t>
            </a:r>
            <a:r>
              <a:rPr lang="en-US" sz="3600" b="1" u="sng" spc="-55" dirty="0" smtClean="0">
                <a:solidFill>
                  <a:srgbClr val="002060"/>
                </a:solidFill>
                <a:latin typeface="Times New Roman" panose="02020603050405020304" pitchFamily="18" charset="0"/>
                <a:cs typeface="Times New Roman" panose="02020603050405020304" pitchFamily="18" charset="0"/>
              </a:rPr>
              <a:t> </a:t>
            </a:r>
            <a:r>
              <a:rPr lang="en-US" sz="3600" b="1" u="sng" spc="-5" dirty="0" smtClean="0">
                <a:solidFill>
                  <a:srgbClr val="002060"/>
                </a:solidFill>
                <a:latin typeface="Times New Roman" panose="02020603050405020304" pitchFamily="18" charset="0"/>
                <a:cs typeface="Times New Roman" panose="02020603050405020304" pitchFamily="18" charset="0"/>
              </a:rPr>
              <a:t>Explained</a:t>
            </a:r>
            <a:endParaRPr lang="en-US" sz="3600" b="1" u="sng" spc="-5" dirty="0">
              <a:solidFill>
                <a:srgbClr val="002060"/>
              </a:solidFill>
              <a:latin typeface="Times New Roman" panose="02020603050405020304" pitchFamily="18" charset="0"/>
              <a:cs typeface="Times New Roman" panose="02020603050405020304" pitchFamily="18" charset="0"/>
            </a:endParaRPr>
          </a:p>
        </p:txBody>
      </p:sp>
      <p:sp>
        <p:nvSpPr>
          <p:cNvPr id="10" name="object 10"/>
          <p:cNvSpPr txBox="1"/>
          <p:nvPr/>
        </p:nvSpPr>
        <p:spPr>
          <a:xfrm>
            <a:off x="247015" y="2873375"/>
            <a:ext cx="8827135" cy="5619750"/>
          </a:xfrm>
          <a:prstGeom prst="rect">
            <a:avLst/>
          </a:prstGeom>
        </p:spPr>
        <p:txBody>
          <a:bodyPr vert="horz" wrap="square" lIns="0" tIns="0" rIns="0" bIns="0" rtlCol="0">
            <a:noAutofit/>
          </a:bodyPr>
          <a:lstStyle/>
          <a:p>
            <a:pPr marL="355600" indent="-342900">
              <a:lnSpc>
                <a:spcPct val="100000"/>
              </a:lnSpc>
              <a:buFont typeface="Wingdings" panose="05000000000000000000" pitchFamily="2" charset="2"/>
              <a:buChar char="§"/>
              <a:tabLst>
                <a:tab pos="165100" algn="l"/>
              </a:tabLst>
            </a:pPr>
            <a:r>
              <a:rPr sz="2000" spc="-5" dirty="0" smtClean="0">
                <a:latin typeface="Times New Roman" panose="02020603050405020304"/>
                <a:cs typeface="Times New Roman" panose="02020603050405020304"/>
              </a:rPr>
              <a:t>4 </a:t>
            </a:r>
            <a:r>
              <a:rPr sz="2000" spc="-5" dirty="0">
                <a:latin typeface="Times New Roman" panose="02020603050405020304"/>
                <a:cs typeface="Times New Roman" panose="02020603050405020304"/>
              </a:rPr>
              <a:t>Quadrants-demarcated by two double</a:t>
            </a:r>
            <a:r>
              <a:rPr sz="2000" spc="55"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lines</a:t>
            </a:r>
            <a:endParaRPr sz="2000" dirty="0">
              <a:latin typeface="Times New Roman" panose="02020603050405020304"/>
              <a:cs typeface="Times New Roman" panose="02020603050405020304"/>
            </a:endParaRPr>
          </a:p>
          <a:p>
            <a:pPr marL="355600" indent="-342900">
              <a:lnSpc>
                <a:spcPct val="100000"/>
              </a:lnSpc>
              <a:buFont typeface="Wingdings" panose="05000000000000000000" pitchFamily="2" charset="2"/>
              <a:buChar char="§"/>
            </a:pPr>
            <a:r>
              <a:rPr sz="1400" spc="-5" dirty="0" smtClean="0">
                <a:latin typeface="Times New Roman" panose="02020603050405020304"/>
                <a:cs typeface="Times New Roman" panose="02020603050405020304"/>
              </a:rPr>
              <a:t>CONDITION </a:t>
            </a:r>
            <a:r>
              <a:rPr sz="1400" spc="-5" dirty="0">
                <a:latin typeface="Times New Roman" panose="02020603050405020304"/>
                <a:cs typeface="Times New Roman" panose="02020603050405020304"/>
              </a:rPr>
              <a:t>STUB LISTS ALL CONDITIONS TO BE</a:t>
            </a:r>
            <a:r>
              <a:rPr sz="1400" spc="114" dirty="0">
                <a:latin typeface="Times New Roman" panose="02020603050405020304"/>
                <a:cs typeface="Times New Roman" panose="02020603050405020304"/>
              </a:rPr>
              <a:t> </a:t>
            </a:r>
            <a:r>
              <a:rPr sz="1400" spc="-5" dirty="0">
                <a:latin typeface="Times New Roman" panose="02020603050405020304"/>
                <a:cs typeface="Times New Roman" panose="02020603050405020304"/>
              </a:rPr>
              <a:t>CHECKED</a:t>
            </a:r>
            <a:endParaRPr sz="1400" dirty="0">
              <a:latin typeface="Times New Roman" panose="02020603050405020304"/>
              <a:cs typeface="Times New Roman" panose="02020603050405020304"/>
            </a:endParaRPr>
          </a:p>
          <a:p>
            <a:pPr marL="355600" indent="-342900">
              <a:lnSpc>
                <a:spcPct val="100000"/>
              </a:lnSpc>
              <a:buFont typeface="Wingdings" panose="05000000000000000000" pitchFamily="2" charset="2"/>
              <a:buChar char="§"/>
            </a:pPr>
            <a:r>
              <a:rPr sz="1400" spc="-5" dirty="0" smtClean="0">
                <a:latin typeface="Times New Roman" panose="02020603050405020304"/>
                <a:cs typeface="Times New Roman" panose="02020603050405020304"/>
              </a:rPr>
              <a:t>ACTION </a:t>
            </a:r>
            <a:r>
              <a:rPr sz="1400" spc="-5" dirty="0">
                <a:latin typeface="Times New Roman" panose="02020603050405020304"/>
                <a:cs typeface="Times New Roman" panose="02020603050405020304"/>
              </a:rPr>
              <a:t>STUB LISTS ALL ACTIONS TO BE CARRIED</a:t>
            </a:r>
            <a:r>
              <a:rPr sz="1400" spc="114" dirty="0">
                <a:latin typeface="Times New Roman" panose="02020603050405020304"/>
                <a:cs typeface="Times New Roman" panose="02020603050405020304"/>
              </a:rPr>
              <a:t> </a:t>
            </a:r>
            <a:r>
              <a:rPr sz="1400" spc="-5" dirty="0">
                <a:latin typeface="Times New Roman" panose="02020603050405020304"/>
                <a:cs typeface="Times New Roman" panose="02020603050405020304"/>
              </a:rPr>
              <a:t>OUT</a:t>
            </a:r>
            <a:endParaRPr sz="1400" dirty="0">
              <a:latin typeface="Times New Roman" panose="02020603050405020304"/>
              <a:cs typeface="Times New Roman" panose="02020603050405020304"/>
            </a:endParaRPr>
          </a:p>
          <a:p>
            <a:pPr marL="355600" marR="5080" indent="-342900">
              <a:lnSpc>
                <a:spcPct val="100000"/>
              </a:lnSpc>
              <a:buFont typeface="Wingdings" panose="05000000000000000000" pitchFamily="2" charset="2"/>
              <a:buChar char="§"/>
            </a:pPr>
            <a:r>
              <a:rPr sz="1400" spc="-5" dirty="0" smtClean="0">
                <a:latin typeface="Times New Roman" panose="02020603050405020304"/>
                <a:cs typeface="Times New Roman" panose="02020603050405020304"/>
              </a:rPr>
              <a:t>LIMITED </a:t>
            </a:r>
            <a:r>
              <a:rPr sz="1400" spc="-5" dirty="0">
                <a:latin typeface="Times New Roman" panose="02020603050405020304"/>
                <a:cs typeface="Times New Roman" panose="02020603050405020304"/>
              </a:rPr>
              <a:t>ENTRY DECISION TABLE:ENTRIES ARE Y or N or -.Y-YES,N-  NO,-IRRELEVANT(DON’T</a:t>
            </a:r>
            <a:r>
              <a:rPr sz="1400" spc="-10" dirty="0">
                <a:latin typeface="Times New Roman" panose="02020603050405020304"/>
                <a:cs typeface="Times New Roman" panose="02020603050405020304"/>
              </a:rPr>
              <a:t> </a:t>
            </a:r>
            <a:r>
              <a:rPr sz="1400" spc="-5" dirty="0">
                <a:latin typeface="Times New Roman" panose="02020603050405020304"/>
                <a:cs typeface="Times New Roman" panose="02020603050405020304"/>
              </a:rPr>
              <a:t>CARE</a:t>
            </a:r>
            <a:r>
              <a:rPr sz="2000" spc="-5" dirty="0">
                <a:latin typeface="Times New Roman" panose="02020603050405020304"/>
                <a:cs typeface="Times New Roman" panose="02020603050405020304"/>
              </a:rPr>
              <a:t>)</a:t>
            </a:r>
            <a:endParaRPr sz="2000" dirty="0">
              <a:latin typeface="Times New Roman" panose="02020603050405020304"/>
              <a:cs typeface="Times New Roman" panose="02020603050405020304"/>
            </a:endParaRPr>
          </a:p>
          <a:p>
            <a:pPr marL="355600" indent="-342900">
              <a:lnSpc>
                <a:spcPct val="100000"/>
              </a:lnSpc>
              <a:buFont typeface="Wingdings" panose="05000000000000000000" pitchFamily="2" charset="2"/>
              <a:buChar char="§"/>
            </a:pPr>
            <a:r>
              <a:rPr sz="2000" spc="-5" dirty="0" smtClean="0">
                <a:latin typeface="Times New Roman" panose="02020603050405020304"/>
                <a:cs typeface="Times New Roman" panose="02020603050405020304"/>
              </a:rPr>
              <a:t>X </a:t>
            </a:r>
            <a:r>
              <a:rPr sz="2000" spc="-10" dirty="0">
                <a:latin typeface="Times New Roman" panose="02020603050405020304"/>
                <a:cs typeface="Times New Roman" panose="02020603050405020304"/>
              </a:rPr>
              <a:t>against action </a:t>
            </a:r>
            <a:r>
              <a:rPr sz="2000" spc="-5" dirty="0">
                <a:latin typeface="Times New Roman" panose="02020603050405020304"/>
                <a:cs typeface="Times New Roman" panose="02020603050405020304"/>
              </a:rPr>
              <a:t>states it is to be carried</a:t>
            </a:r>
            <a:r>
              <a:rPr sz="2000" spc="-1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out.</a:t>
            </a:r>
            <a:r>
              <a:rPr lang="en-US" sz="2000" spc="-10" dirty="0">
                <a:latin typeface="Times New Roman" panose="02020603050405020304"/>
                <a:cs typeface="Times New Roman" panose="02020603050405020304"/>
              </a:rPr>
              <a:t> </a:t>
            </a:r>
            <a:r>
              <a:rPr sz="2000" spc="-10" dirty="0" smtClean="0">
                <a:latin typeface="Times New Roman" panose="02020603050405020304"/>
                <a:cs typeface="Times New Roman" panose="02020603050405020304"/>
              </a:rPr>
              <a:t>-</a:t>
            </a:r>
            <a:r>
              <a:rPr sz="2000" spc="-10" dirty="0">
                <a:latin typeface="Times New Roman" panose="02020603050405020304"/>
                <a:cs typeface="Times New Roman" panose="02020603050405020304"/>
              </a:rPr>
              <a:t>against </a:t>
            </a:r>
            <a:r>
              <a:rPr sz="2000" spc="-5" dirty="0">
                <a:latin typeface="Times New Roman" panose="02020603050405020304"/>
                <a:cs typeface="Times New Roman" panose="02020603050405020304"/>
              </a:rPr>
              <a:t>action states it is to be</a:t>
            </a:r>
            <a:r>
              <a:rPr sz="2000" spc="-3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ignored.</a:t>
            </a:r>
            <a:endParaRPr sz="2000" dirty="0">
              <a:latin typeface="Times New Roman" panose="02020603050405020304"/>
              <a:cs typeface="Times New Roman" panose="02020603050405020304"/>
            </a:endParaRP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sym typeface="+mn-ea"/>
              </a:rPr>
              <a:t>The entries in decision table are given by Decision Rules which define the relationships between combinations of conditions and courses of action. In rules section,</a:t>
            </a:r>
            <a:endParaRPr lang="en-US"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sym typeface="+mn-ea"/>
              </a:rPr>
              <a:t>Y shows the existence of a condition.</a:t>
            </a:r>
            <a:endParaRPr lang="en-US"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sym typeface="+mn-ea"/>
              </a:rPr>
              <a:t>N represents the condition, which is not satisfied.</a:t>
            </a:r>
            <a:endParaRPr lang="en-US"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sym typeface="+mn-ea"/>
              </a:rPr>
              <a:t>A blank - against action states it is to be ignored.</a:t>
            </a:r>
            <a:endParaRPr lang="en-US"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sym typeface="+mn-ea"/>
              </a:rPr>
              <a:t>X (or a check mark will do) against action states it is to be carried out.</a:t>
            </a:r>
            <a:endParaRPr lang="en-US" sz="2000" dirty="0">
              <a:latin typeface="Times New Roman" panose="02020603050405020304" pitchFamily="18" charset="0"/>
              <a:cs typeface="Times New Roman" panose="02020603050405020304" pitchFamily="18" charset="0"/>
            </a:endParaRPr>
          </a:p>
          <a:p>
            <a:pPr marL="355600" indent="-342900">
              <a:lnSpc>
                <a:spcPct val="100000"/>
              </a:lnSpc>
              <a:buFont typeface="Wingdings" panose="05000000000000000000" pitchFamily="2" charset="2"/>
              <a:buChar char="§"/>
            </a:pPr>
            <a:endParaRPr sz="2000" dirty="0">
              <a:latin typeface="Times New Roman" panose="02020603050405020304"/>
              <a:cs typeface="Times New Roman" panose="02020603050405020304"/>
            </a:endParaRPr>
          </a:p>
        </p:txBody>
      </p:sp>
      <p:pic>
        <p:nvPicPr>
          <p:cNvPr id="3" name="Picture 2"/>
          <p:cNvPicPr>
            <a:picLocks noChangeAspect="1"/>
          </p:cNvPicPr>
          <p:nvPr/>
        </p:nvPicPr>
        <p:blipFill>
          <a:blip r:embed="rId2"/>
          <a:stretch>
            <a:fillRect/>
          </a:stretch>
        </p:blipFill>
        <p:spPr>
          <a:xfrm>
            <a:off x="596900" y="901700"/>
            <a:ext cx="8210550" cy="18402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8635" y="3810"/>
            <a:ext cx="5715000" cy="699135"/>
          </a:xfrm>
          <a:prstGeom prst="rect">
            <a:avLst/>
          </a:prstGeom>
        </p:spPr>
        <p:txBody>
          <a:bodyPr vert="horz" wrap="square" lIns="0" tIns="228600" rIns="0" bIns="0" rtlCol="0">
            <a:noAutofit/>
          </a:bodyPr>
          <a:lstStyle/>
          <a:p>
            <a:pPr algn="ctr"/>
            <a:r>
              <a:rPr lang="en-US" sz="4800" b="1" u="sng"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Decision </a:t>
            </a:r>
            <a:r>
              <a:rPr lang="en-US" sz="4800" b="1" u="sng" dirty="0" smtClean="0">
                <a:solidFill>
                  <a:schemeClr val="tx1"/>
                </a:solidFill>
                <a:latin typeface="Times New Roman" panose="02020603050405020304" pitchFamily="18" charset="0"/>
                <a:ea typeface="Tahoma" panose="020B0604030504040204" pitchFamily="34" charset="0"/>
                <a:cs typeface="Times New Roman" panose="02020603050405020304" pitchFamily="18" charset="0"/>
              </a:rPr>
              <a:t>Table</a:t>
            </a:r>
            <a:endParaRPr lang="en-US" sz="4800" b="1" u="sng"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7" name="object 7"/>
          <p:cNvSpPr txBox="1"/>
          <p:nvPr/>
        </p:nvSpPr>
        <p:spPr>
          <a:xfrm>
            <a:off x="0" y="1664335"/>
            <a:ext cx="3644900" cy="4767580"/>
          </a:xfrm>
          <a:prstGeom prst="rect">
            <a:avLst/>
          </a:prstGeom>
        </p:spPr>
        <p:txBody>
          <a:bodyPr vert="horz" wrap="square" lIns="0" tIns="0" rIns="0" bIns="0" rtlCol="0">
            <a:noAutofit/>
          </a:bodyPr>
          <a:lstStyle/>
          <a:p>
            <a:pPr marL="342900" indent="-342900">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825500" y="3111500"/>
            <a:ext cx="8180705" cy="3572510"/>
          </a:xfrm>
          <a:prstGeom prst="rect">
            <a:avLst/>
          </a:prstGeom>
        </p:spPr>
      </p:pic>
      <p:pic>
        <p:nvPicPr>
          <p:cNvPr id="1028" name="Picture 4" descr="Decision Example"/>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825500" y="749300"/>
            <a:ext cx="8129905" cy="2292985"/>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8300" y="825500"/>
            <a:ext cx="7620000" cy="969496"/>
          </a:xfrm>
          <a:prstGeom prst="rect">
            <a:avLst/>
          </a:prstGeom>
        </p:spPr>
        <p:txBody>
          <a:bodyPr vert="horz" wrap="square" lIns="0" tIns="228600" rIns="0" bIns="0" rtlCol="0">
            <a:spAutoFit/>
          </a:bodyPr>
          <a:lstStyle/>
          <a:p>
            <a:pPr marL="2349500" algn="l">
              <a:lnSpc>
                <a:spcPct val="100000"/>
              </a:lnSpc>
            </a:pPr>
            <a:r>
              <a:rPr lang="en-US" sz="4800" b="1" u="sng" spc="-5" dirty="0" smtClean="0">
                <a:solidFill>
                  <a:srgbClr val="002060"/>
                </a:solidFill>
                <a:latin typeface="Times New Roman" panose="02020603050405020304" pitchFamily="18" charset="0"/>
                <a:cs typeface="Times New Roman" panose="02020603050405020304" pitchFamily="18" charset="0"/>
              </a:rPr>
              <a:t>Structured</a:t>
            </a:r>
            <a:r>
              <a:rPr lang="en-US" sz="4800" b="1" u="sng" spc="-80" dirty="0" smtClean="0">
                <a:solidFill>
                  <a:srgbClr val="002060"/>
                </a:solidFill>
                <a:latin typeface="Times New Roman" panose="02020603050405020304" pitchFamily="18" charset="0"/>
                <a:cs typeface="Times New Roman" panose="02020603050405020304" pitchFamily="18" charset="0"/>
              </a:rPr>
              <a:t> </a:t>
            </a:r>
            <a:r>
              <a:rPr lang="en-US" sz="4800" b="1" u="sng" spc="-5" dirty="0" smtClean="0">
                <a:solidFill>
                  <a:srgbClr val="002060"/>
                </a:solidFill>
                <a:latin typeface="Times New Roman" panose="02020603050405020304" pitchFamily="18" charset="0"/>
                <a:cs typeface="Times New Roman" panose="02020603050405020304" pitchFamily="18" charset="0"/>
              </a:rPr>
              <a:t>English</a:t>
            </a:r>
            <a:endParaRPr lang="en-US" sz="4800" b="1" u="sng" spc="-5" dirty="0">
              <a:solidFill>
                <a:srgbClr val="002060"/>
              </a:solidFill>
              <a:latin typeface="Times New Roman" panose="02020603050405020304" pitchFamily="18" charset="0"/>
              <a:cs typeface="Times New Roman" panose="02020603050405020304" pitchFamily="18" charset="0"/>
            </a:endParaRPr>
          </a:p>
        </p:txBody>
      </p:sp>
      <p:sp>
        <p:nvSpPr>
          <p:cNvPr id="7" name="object 7"/>
          <p:cNvSpPr txBox="1"/>
          <p:nvPr/>
        </p:nvSpPr>
        <p:spPr>
          <a:xfrm>
            <a:off x="749300" y="2044700"/>
            <a:ext cx="8226299" cy="3883114"/>
          </a:xfrm>
          <a:prstGeom prst="rect">
            <a:avLst/>
          </a:prstGeom>
        </p:spPr>
        <p:txBody>
          <a:bodyPr vert="horz" wrap="square" lIns="0" tIns="0" rIns="0" bIns="0" rtlCol="0">
            <a:spAutoFit/>
          </a:bodyPr>
          <a:lstStyle/>
          <a:p>
            <a:pPr marL="469900" marR="622935" indent="-457200" algn="just">
              <a:lnSpc>
                <a:spcPct val="100000"/>
              </a:lnSpc>
              <a:buFont typeface="Wingdings" panose="05000000000000000000" pitchFamily="2" charset="2"/>
              <a:buChar char="§"/>
              <a:tabLst>
                <a:tab pos="353060" algn="l"/>
                <a:tab pos="353695" algn="l"/>
              </a:tabLst>
            </a:pPr>
            <a:r>
              <a:rPr sz="2800" spc="-5" dirty="0">
                <a:latin typeface="Times New Roman" panose="02020603050405020304"/>
                <a:cs typeface="Times New Roman" panose="02020603050405020304"/>
              </a:rPr>
              <a:t>Structured English is similar to </a:t>
            </a:r>
            <a:r>
              <a:rPr sz="2800" dirty="0">
                <a:latin typeface="Times New Roman" panose="02020603050405020304"/>
                <a:cs typeface="Times New Roman" panose="02020603050405020304"/>
              </a:rPr>
              <a:t>a </a:t>
            </a:r>
            <a:r>
              <a:rPr sz="2800" spc="-5" dirty="0">
                <a:latin typeface="Times New Roman" panose="02020603050405020304"/>
                <a:cs typeface="Times New Roman" panose="02020603050405020304"/>
              </a:rPr>
              <a:t>programming  language such as</a:t>
            </a:r>
            <a:r>
              <a:rPr sz="2800" spc="-80" dirty="0">
                <a:latin typeface="Times New Roman" panose="02020603050405020304"/>
                <a:cs typeface="Times New Roman" panose="02020603050405020304"/>
              </a:rPr>
              <a:t> </a:t>
            </a:r>
            <a:r>
              <a:rPr sz="2800" spc="-5" dirty="0">
                <a:latin typeface="Times New Roman" panose="02020603050405020304"/>
                <a:cs typeface="Times New Roman" panose="02020603050405020304"/>
              </a:rPr>
              <a:t>Pascal</a:t>
            </a:r>
            <a:endParaRPr sz="2800" dirty="0">
              <a:latin typeface="Times New Roman" panose="02020603050405020304"/>
              <a:cs typeface="Times New Roman" panose="02020603050405020304"/>
            </a:endParaRPr>
          </a:p>
          <a:p>
            <a:pPr marL="469900" marR="51435" indent="-457200" algn="just">
              <a:lnSpc>
                <a:spcPct val="100000"/>
              </a:lnSpc>
              <a:spcBef>
                <a:spcPts val="1680"/>
              </a:spcBef>
              <a:buFont typeface="Wingdings" panose="05000000000000000000" pitchFamily="2" charset="2"/>
              <a:buChar char="§"/>
              <a:tabLst>
                <a:tab pos="353060" algn="l"/>
                <a:tab pos="353695" algn="l"/>
              </a:tabLst>
            </a:pPr>
            <a:r>
              <a:rPr sz="2800" spc="-5" dirty="0">
                <a:latin typeface="Times New Roman" panose="02020603050405020304"/>
                <a:cs typeface="Times New Roman" panose="02020603050405020304"/>
              </a:rPr>
              <a:t>It does not have strict syntax rules as programming  language</a:t>
            </a:r>
            <a:endParaRPr sz="2800" dirty="0">
              <a:latin typeface="Times New Roman" panose="02020603050405020304"/>
              <a:cs typeface="Times New Roman" panose="02020603050405020304"/>
            </a:endParaRPr>
          </a:p>
          <a:p>
            <a:pPr marL="469900" indent="-457200" algn="just">
              <a:lnSpc>
                <a:spcPct val="100000"/>
              </a:lnSpc>
              <a:spcBef>
                <a:spcPts val="1680"/>
              </a:spcBef>
              <a:buFont typeface="Wingdings" panose="05000000000000000000" pitchFamily="2" charset="2"/>
              <a:buChar char="§"/>
              <a:tabLst>
                <a:tab pos="264795" algn="l"/>
                <a:tab pos="6262370" algn="l"/>
                <a:tab pos="6597650" algn="l"/>
              </a:tabLst>
            </a:pPr>
            <a:r>
              <a:rPr sz="2800" spc="-5" dirty="0">
                <a:latin typeface="Times New Roman" panose="02020603050405020304"/>
                <a:cs typeface="Times New Roman" panose="02020603050405020304"/>
              </a:rPr>
              <a:t>Intentio</a:t>
            </a:r>
            <a:r>
              <a:rPr sz="2800" dirty="0">
                <a:latin typeface="Times New Roman" panose="02020603050405020304"/>
                <a:cs typeface="Times New Roman" panose="02020603050405020304"/>
              </a:rPr>
              <a:t>n</a:t>
            </a:r>
            <a:r>
              <a:rPr sz="2800" spc="-5" dirty="0">
                <a:latin typeface="Times New Roman" panose="02020603050405020304"/>
                <a:cs typeface="Times New Roman" panose="02020603050405020304"/>
              </a:rPr>
              <a:t> i</a:t>
            </a:r>
            <a:r>
              <a:rPr sz="2800" dirty="0">
                <a:latin typeface="Times New Roman" panose="02020603050405020304"/>
                <a:cs typeface="Times New Roman" panose="02020603050405020304"/>
              </a:rPr>
              <a:t>s</a:t>
            </a:r>
            <a:r>
              <a:rPr sz="2800" spc="-5" dirty="0">
                <a:latin typeface="Times New Roman" panose="02020603050405020304"/>
                <a:cs typeface="Times New Roman" panose="02020603050405020304"/>
              </a:rPr>
              <a:t> t</a:t>
            </a:r>
            <a:r>
              <a:rPr sz="2800" dirty="0">
                <a:latin typeface="Times New Roman" panose="02020603050405020304"/>
                <a:cs typeface="Times New Roman" panose="02020603050405020304"/>
              </a:rPr>
              <a:t>o</a:t>
            </a:r>
            <a:r>
              <a:rPr sz="2800" spc="-5" dirty="0">
                <a:latin typeface="Times New Roman" panose="02020603050405020304"/>
                <a:cs typeface="Times New Roman" panose="02020603050405020304"/>
              </a:rPr>
              <a:t> giv</a:t>
            </a:r>
            <a:r>
              <a:rPr sz="2800" dirty="0">
                <a:latin typeface="Times New Roman" panose="02020603050405020304"/>
                <a:cs typeface="Times New Roman" panose="02020603050405020304"/>
              </a:rPr>
              <a:t>e</a:t>
            </a:r>
            <a:r>
              <a:rPr sz="2800" spc="-5" dirty="0">
                <a:latin typeface="Times New Roman" panose="02020603050405020304"/>
                <a:cs typeface="Times New Roman" panose="02020603050405020304"/>
              </a:rPr>
              <a:t> precis</a:t>
            </a:r>
            <a:r>
              <a:rPr sz="2800" dirty="0">
                <a:latin typeface="Times New Roman" panose="02020603050405020304"/>
                <a:cs typeface="Times New Roman" panose="02020603050405020304"/>
              </a:rPr>
              <a:t>e </a:t>
            </a:r>
            <a:r>
              <a:rPr sz="2800" spc="-5" dirty="0">
                <a:latin typeface="Times New Roman" panose="02020603050405020304"/>
                <a:cs typeface="Times New Roman" panose="02020603050405020304"/>
              </a:rPr>
              <a:t>descriptio</a:t>
            </a:r>
            <a:r>
              <a:rPr sz="2800" dirty="0">
                <a:latin typeface="Times New Roman" panose="02020603050405020304"/>
                <a:cs typeface="Times New Roman" panose="02020603050405020304"/>
              </a:rPr>
              <a:t>n</a:t>
            </a:r>
            <a:r>
              <a:rPr sz="2800" spc="-5" dirty="0">
                <a:latin typeface="Times New Roman" panose="02020603050405020304"/>
                <a:cs typeface="Times New Roman" panose="02020603050405020304"/>
              </a:rPr>
              <a:t> </a:t>
            </a:r>
            <a:r>
              <a:rPr sz="2800" spc="-5" dirty="0" smtClean="0">
                <a:latin typeface="Times New Roman" panose="02020603050405020304"/>
                <a:cs typeface="Times New Roman" panose="02020603050405020304"/>
              </a:rPr>
              <a:t>o</a:t>
            </a:r>
            <a:r>
              <a:rPr sz="2800" dirty="0" smtClean="0">
                <a:latin typeface="Times New Roman" panose="02020603050405020304"/>
                <a:cs typeface="Times New Roman" panose="02020603050405020304"/>
              </a:rPr>
              <a:t>f</a:t>
            </a:r>
            <a:r>
              <a:rPr lang="en-US" sz="2800" dirty="0">
                <a:latin typeface="Times New Roman" panose="02020603050405020304"/>
                <a:cs typeface="Times New Roman" panose="02020603050405020304"/>
              </a:rPr>
              <a:t> </a:t>
            </a:r>
            <a:r>
              <a:rPr sz="2800" dirty="0" smtClean="0">
                <a:latin typeface="Times New Roman" panose="02020603050405020304"/>
                <a:cs typeface="Times New Roman" panose="02020603050405020304"/>
              </a:rPr>
              <a:t>a</a:t>
            </a:r>
            <a:r>
              <a:rPr lang="en-US" sz="2800" dirty="0" smtClean="0">
                <a:latin typeface="Times New Roman" panose="02020603050405020304"/>
                <a:cs typeface="Times New Roman" panose="02020603050405020304"/>
              </a:rPr>
              <a:t> </a:t>
            </a:r>
            <a:r>
              <a:rPr sz="2800" spc="-5" dirty="0" smtClean="0">
                <a:latin typeface="Times New Roman" panose="02020603050405020304"/>
                <a:cs typeface="Times New Roman" panose="02020603050405020304"/>
              </a:rPr>
              <a:t>process</a:t>
            </a:r>
            <a:endParaRPr sz="2800" dirty="0">
              <a:latin typeface="Times New Roman" panose="02020603050405020304"/>
              <a:cs typeface="Times New Roman" panose="02020603050405020304"/>
            </a:endParaRPr>
          </a:p>
          <a:p>
            <a:pPr marL="457200" indent="-457200" algn="just">
              <a:lnSpc>
                <a:spcPct val="100000"/>
              </a:lnSpc>
              <a:spcBef>
                <a:spcPts val="20"/>
              </a:spcBef>
              <a:buFont typeface="Wingdings" panose="05000000000000000000" pitchFamily="2" charset="2"/>
              <a:buChar char="§"/>
            </a:pPr>
            <a:endParaRPr sz="2800" dirty="0">
              <a:latin typeface="Times New Roman" panose="02020603050405020304"/>
              <a:cs typeface="Times New Roman" panose="02020603050405020304"/>
            </a:endParaRPr>
          </a:p>
          <a:p>
            <a:pPr marL="469900" marR="1040765" indent="-457200" algn="just">
              <a:lnSpc>
                <a:spcPct val="100000"/>
              </a:lnSpc>
              <a:buFont typeface="Wingdings" panose="05000000000000000000" pitchFamily="2" charset="2"/>
              <a:buChar char="§"/>
              <a:tabLst>
                <a:tab pos="264795" algn="l"/>
              </a:tabLst>
            </a:pPr>
            <a:r>
              <a:rPr sz="2800" spc="-5" dirty="0">
                <a:latin typeface="Times New Roman" panose="02020603050405020304"/>
                <a:cs typeface="Times New Roman" panose="02020603050405020304"/>
              </a:rPr>
              <a:t>The structured English description should be  understandable to the</a:t>
            </a:r>
            <a:r>
              <a:rPr sz="2800" spc="-75" dirty="0">
                <a:latin typeface="Times New Roman" panose="02020603050405020304"/>
                <a:cs typeface="Times New Roman" panose="02020603050405020304"/>
              </a:rPr>
              <a:t> </a:t>
            </a:r>
            <a:r>
              <a:rPr sz="2800" spc="-5" dirty="0">
                <a:latin typeface="Times New Roman" panose="02020603050405020304"/>
                <a:cs typeface="Times New Roman" panose="02020603050405020304"/>
              </a:rPr>
              <a:t>user</a:t>
            </a:r>
            <a:endParaRPr sz="2800" dirty="0">
              <a:latin typeface="Times New Roman" panose="02020603050405020304"/>
              <a:cs typeface="Times New Roman" panose="02020603050405020304"/>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8100" y="717034"/>
            <a:ext cx="10230104" cy="969496"/>
          </a:xfrm>
          <a:prstGeom prst="rect">
            <a:avLst/>
          </a:prstGeom>
        </p:spPr>
        <p:txBody>
          <a:bodyPr vert="horz" wrap="square" lIns="0" tIns="228600" rIns="0" bIns="0" rtlCol="0">
            <a:spAutoFit/>
          </a:bodyPr>
          <a:lstStyle/>
          <a:p>
            <a:pPr marL="2349500">
              <a:lnSpc>
                <a:spcPct val="100000"/>
              </a:lnSpc>
            </a:pPr>
            <a:r>
              <a:rPr lang="en-US" sz="4800" b="1" u="sng" spc="-5" dirty="0" smtClean="0">
                <a:solidFill>
                  <a:srgbClr val="002060"/>
                </a:solidFill>
                <a:latin typeface="Times New Roman" panose="02020603050405020304" pitchFamily="18" charset="0"/>
                <a:cs typeface="Times New Roman" panose="02020603050405020304" pitchFamily="18" charset="0"/>
              </a:rPr>
              <a:t>Example: Structured</a:t>
            </a:r>
            <a:r>
              <a:rPr lang="en-US" sz="4800" b="1" u="sng" spc="-80" dirty="0" smtClean="0">
                <a:solidFill>
                  <a:srgbClr val="002060"/>
                </a:solidFill>
                <a:latin typeface="Times New Roman" panose="02020603050405020304" pitchFamily="18" charset="0"/>
                <a:cs typeface="Times New Roman" panose="02020603050405020304" pitchFamily="18" charset="0"/>
              </a:rPr>
              <a:t> </a:t>
            </a:r>
            <a:r>
              <a:rPr lang="en-US" sz="4800" b="1" u="sng" spc="-5" dirty="0" smtClean="0">
                <a:solidFill>
                  <a:srgbClr val="002060"/>
                </a:solidFill>
                <a:latin typeface="Times New Roman" panose="02020603050405020304" pitchFamily="18" charset="0"/>
                <a:cs typeface="Times New Roman" panose="02020603050405020304" pitchFamily="18" charset="0"/>
              </a:rPr>
              <a:t>English</a:t>
            </a:r>
            <a:endParaRPr lang="en-US" sz="4800" b="1" u="sng" spc="-5" dirty="0">
              <a:solidFill>
                <a:srgbClr val="002060"/>
              </a:solidFill>
              <a:latin typeface="Times New Roman" panose="02020603050405020304" pitchFamily="18" charset="0"/>
              <a:cs typeface="Times New Roman" panose="02020603050405020304" pitchFamily="18" charset="0"/>
            </a:endParaRPr>
          </a:p>
        </p:txBody>
      </p:sp>
      <p:sp>
        <p:nvSpPr>
          <p:cNvPr id="7" name="object 7"/>
          <p:cNvSpPr txBox="1"/>
          <p:nvPr/>
        </p:nvSpPr>
        <p:spPr>
          <a:xfrm>
            <a:off x="2289174" y="1816100"/>
            <a:ext cx="6003926" cy="4275401"/>
          </a:xfrm>
          <a:prstGeom prst="rect">
            <a:avLst/>
          </a:prstGeom>
        </p:spPr>
        <p:txBody>
          <a:bodyPr vert="horz" wrap="square" lIns="0" tIns="0" rIns="0" bIns="0" rtlCol="0">
            <a:spAutoFit/>
          </a:bodyPr>
          <a:lstStyle/>
          <a:p>
            <a:pPr marL="241300" marR="2062480" indent="-228600">
              <a:lnSpc>
                <a:spcPct val="111000"/>
              </a:lnSpc>
            </a:pPr>
            <a:r>
              <a:rPr sz="2400" b="1" u="heavy" spc="-5" dirty="0">
                <a:latin typeface="Times New Roman" panose="02020603050405020304"/>
                <a:cs typeface="Times New Roman" panose="02020603050405020304"/>
              </a:rPr>
              <a:t>if </a:t>
            </a:r>
            <a:r>
              <a:rPr sz="2400" b="1" dirty="0">
                <a:latin typeface="Times New Roman" panose="02020603050405020304"/>
                <a:cs typeface="Times New Roman" panose="02020603050405020304"/>
              </a:rPr>
              <a:t>customer </a:t>
            </a:r>
            <a:r>
              <a:rPr sz="2400" b="1" spc="-5" dirty="0">
                <a:latin typeface="Times New Roman" panose="02020603050405020304"/>
                <a:cs typeface="Times New Roman" panose="02020603050405020304"/>
              </a:rPr>
              <a:t>pays</a:t>
            </a:r>
            <a:r>
              <a:rPr sz="2400" b="1" spc="-95" dirty="0">
                <a:latin typeface="Times New Roman" panose="02020603050405020304"/>
                <a:cs typeface="Times New Roman" panose="02020603050405020304"/>
              </a:rPr>
              <a:t> </a:t>
            </a:r>
            <a:r>
              <a:rPr sz="2400" b="1" spc="-5" dirty="0">
                <a:latin typeface="Times New Roman" panose="02020603050405020304"/>
                <a:cs typeface="Times New Roman" panose="02020603050405020304"/>
              </a:rPr>
              <a:t>advance  </a:t>
            </a:r>
            <a:r>
              <a:rPr sz="2400" b="1" u="heavy" spc="-10" dirty="0">
                <a:latin typeface="Times New Roman" panose="02020603050405020304"/>
                <a:cs typeface="Times New Roman" panose="02020603050405020304"/>
              </a:rPr>
              <a:t>then</a:t>
            </a:r>
            <a:endParaRPr sz="2400" dirty="0">
              <a:latin typeface="Times New Roman" panose="02020603050405020304"/>
              <a:cs typeface="Times New Roman" panose="02020603050405020304"/>
            </a:endParaRPr>
          </a:p>
          <a:p>
            <a:pPr marL="317500" marR="2132330" indent="304165">
              <a:lnSpc>
                <a:spcPts val="1800"/>
              </a:lnSpc>
            </a:pPr>
            <a:r>
              <a:rPr sz="2400" b="1" dirty="0">
                <a:latin typeface="Times New Roman" panose="02020603050405020304"/>
                <a:cs typeface="Times New Roman" panose="02020603050405020304"/>
              </a:rPr>
              <a:t>Give 5%</a:t>
            </a:r>
            <a:r>
              <a:rPr sz="2400" b="1" spc="-65" dirty="0">
                <a:latin typeface="Times New Roman" panose="02020603050405020304"/>
                <a:cs typeface="Times New Roman" panose="02020603050405020304"/>
              </a:rPr>
              <a:t> </a:t>
            </a:r>
            <a:r>
              <a:rPr sz="2400" b="1" spc="-5" dirty="0">
                <a:latin typeface="Times New Roman" panose="02020603050405020304"/>
                <a:cs typeface="Times New Roman" panose="02020603050405020304"/>
              </a:rPr>
              <a:t>Discount  </a:t>
            </a:r>
            <a:r>
              <a:rPr sz="2400" b="1" u="heavy" spc="-5" dirty="0">
                <a:latin typeface="Times New Roman" panose="02020603050405020304"/>
                <a:cs typeface="Times New Roman" panose="02020603050405020304"/>
              </a:rPr>
              <a:t>else</a:t>
            </a:r>
            <a:endParaRPr sz="2400" dirty="0">
              <a:latin typeface="Times New Roman" panose="02020603050405020304"/>
              <a:cs typeface="Times New Roman" panose="02020603050405020304"/>
            </a:endParaRPr>
          </a:p>
          <a:p>
            <a:pPr marL="603250" marR="1148080" indent="-57150">
              <a:lnSpc>
                <a:spcPct val="111000"/>
              </a:lnSpc>
            </a:pPr>
            <a:r>
              <a:rPr sz="2400" b="1" u="heavy" spc="-5" dirty="0">
                <a:latin typeface="Times New Roman" panose="02020603050405020304"/>
                <a:cs typeface="Times New Roman" panose="02020603050405020304"/>
              </a:rPr>
              <a:t>if </a:t>
            </a:r>
            <a:r>
              <a:rPr sz="2400" b="1" spc="-5" dirty="0">
                <a:latin typeface="Times New Roman" panose="02020603050405020304"/>
                <a:cs typeface="Times New Roman" panose="02020603050405020304"/>
              </a:rPr>
              <a:t>purchase </a:t>
            </a:r>
            <a:r>
              <a:rPr sz="2400" b="1" dirty="0">
                <a:latin typeface="Times New Roman" panose="02020603050405020304"/>
                <a:cs typeface="Times New Roman" panose="02020603050405020304"/>
              </a:rPr>
              <a:t>amount</a:t>
            </a:r>
            <a:r>
              <a:rPr sz="2400" b="1" spc="-60" dirty="0">
                <a:latin typeface="Times New Roman" panose="02020603050405020304"/>
                <a:cs typeface="Times New Roman" panose="02020603050405020304"/>
              </a:rPr>
              <a:t> </a:t>
            </a:r>
            <a:r>
              <a:rPr sz="2400" b="1" dirty="0">
                <a:latin typeface="Times New Roman" panose="02020603050405020304"/>
                <a:cs typeface="Times New Roman" panose="02020603050405020304"/>
              </a:rPr>
              <a:t>&gt;=10,000  </a:t>
            </a:r>
            <a:r>
              <a:rPr sz="2400" b="1" u="heavy" spc="-10" dirty="0">
                <a:latin typeface="Times New Roman" panose="02020603050405020304"/>
                <a:cs typeface="Times New Roman" panose="02020603050405020304"/>
              </a:rPr>
              <a:t>then</a:t>
            </a:r>
            <a:endParaRPr sz="2400" dirty="0">
              <a:latin typeface="Times New Roman" panose="02020603050405020304"/>
              <a:cs typeface="Times New Roman" panose="02020603050405020304"/>
            </a:endParaRPr>
          </a:p>
          <a:p>
            <a:pPr marL="946150">
              <a:lnSpc>
                <a:spcPts val="1800"/>
              </a:lnSpc>
            </a:pPr>
            <a:r>
              <a:rPr sz="2400" b="1" u="heavy" spc="-5" dirty="0">
                <a:latin typeface="Times New Roman" panose="02020603050405020304"/>
                <a:cs typeface="Times New Roman" panose="02020603050405020304"/>
              </a:rPr>
              <a:t>if </a:t>
            </a:r>
            <a:r>
              <a:rPr sz="2400" b="1" spc="-5" dirty="0">
                <a:latin typeface="Times New Roman" panose="02020603050405020304"/>
                <a:cs typeface="Times New Roman" panose="02020603050405020304"/>
              </a:rPr>
              <a:t>the </a:t>
            </a:r>
            <a:r>
              <a:rPr sz="2400" b="1" dirty="0">
                <a:latin typeface="Times New Roman" panose="02020603050405020304"/>
                <a:cs typeface="Times New Roman" panose="02020603050405020304"/>
              </a:rPr>
              <a:t>customer </a:t>
            </a:r>
            <a:r>
              <a:rPr sz="2400" b="1" spc="-5" dirty="0">
                <a:latin typeface="Times New Roman" panose="02020603050405020304"/>
                <a:cs typeface="Times New Roman" panose="02020603050405020304"/>
              </a:rPr>
              <a:t>is </a:t>
            </a:r>
            <a:r>
              <a:rPr sz="2400" b="1" dirty="0">
                <a:latin typeface="Times New Roman" panose="02020603050405020304"/>
                <a:cs typeface="Times New Roman" panose="02020603050405020304"/>
              </a:rPr>
              <a:t>a regular</a:t>
            </a:r>
            <a:r>
              <a:rPr sz="2400" b="1" spc="-60" dirty="0">
                <a:latin typeface="Times New Roman" panose="02020603050405020304"/>
                <a:cs typeface="Times New Roman" panose="02020603050405020304"/>
              </a:rPr>
              <a:t> </a:t>
            </a:r>
            <a:r>
              <a:rPr sz="2400" b="1" dirty="0">
                <a:latin typeface="Times New Roman" panose="02020603050405020304"/>
                <a:cs typeface="Times New Roman" panose="02020603050405020304"/>
              </a:rPr>
              <a:t>customer</a:t>
            </a:r>
            <a:endParaRPr sz="2400" dirty="0">
              <a:latin typeface="Times New Roman" panose="02020603050405020304"/>
              <a:cs typeface="Times New Roman" panose="02020603050405020304"/>
            </a:endParaRPr>
          </a:p>
          <a:p>
            <a:pPr marL="1155700" marR="1141730" indent="-152400">
              <a:lnSpc>
                <a:spcPct val="111000"/>
              </a:lnSpc>
            </a:pPr>
            <a:r>
              <a:rPr sz="2400" b="1" u="heavy" dirty="0">
                <a:latin typeface="Times New Roman" panose="02020603050405020304"/>
                <a:cs typeface="Times New Roman" panose="02020603050405020304"/>
              </a:rPr>
              <a:t> </a:t>
            </a:r>
            <a:r>
              <a:rPr sz="2400" b="1" u="heavy" spc="-5" dirty="0">
                <a:latin typeface="Times New Roman" panose="02020603050405020304"/>
                <a:cs typeface="Times New Roman" panose="02020603050405020304"/>
              </a:rPr>
              <a:t>then </a:t>
            </a:r>
            <a:r>
              <a:rPr sz="2400" b="1" dirty="0">
                <a:latin typeface="Times New Roman" panose="02020603050405020304"/>
                <a:cs typeface="Times New Roman" panose="02020603050405020304"/>
              </a:rPr>
              <a:t>Give 5% </a:t>
            </a:r>
            <a:r>
              <a:rPr sz="2400" b="1" spc="-5" dirty="0">
                <a:latin typeface="Times New Roman" panose="02020603050405020304"/>
                <a:cs typeface="Times New Roman" panose="02020603050405020304"/>
              </a:rPr>
              <a:t>Discount  </a:t>
            </a:r>
            <a:r>
              <a:rPr sz="2400" b="1" u="heavy" spc="-5" dirty="0">
                <a:latin typeface="Times New Roman" panose="02020603050405020304"/>
                <a:cs typeface="Times New Roman" panose="02020603050405020304"/>
              </a:rPr>
              <a:t>else  </a:t>
            </a:r>
            <a:r>
              <a:rPr sz="2400" b="1" spc="-5" dirty="0">
                <a:latin typeface="Times New Roman" panose="02020603050405020304"/>
                <a:cs typeface="Times New Roman" panose="02020603050405020304"/>
              </a:rPr>
              <a:t>No</a:t>
            </a:r>
            <a:r>
              <a:rPr sz="2400" b="1" spc="-125" dirty="0">
                <a:latin typeface="Times New Roman" panose="02020603050405020304"/>
                <a:cs typeface="Times New Roman" panose="02020603050405020304"/>
              </a:rPr>
              <a:t> </a:t>
            </a:r>
            <a:r>
              <a:rPr sz="2400" b="1" spc="-5" dirty="0">
                <a:latin typeface="Times New Roman" panose="02020603050405020304"/>
                <a:cs typeface="Times New Roman" panose="02020603050405020304"/>
              </a:rPr>
              <a:t>Discount</a:t>
            </a:r>
            <a:endParaRPr sz="2400" dirty="0">
              <a:latin typeface="Times New Roman" panose="02020603050405020304"/>
              <a:cs typeface="Times New Roman" panose="02020603050405020304"/>
            </a:endParaRPr>
          </a:p>
          <a:p>
            <a:pPr marL="927100">
              <a:lnSpc>
                <a:spcPct val="100000"/>
              </a:lnSpc>
              <a:spcBef>
                <a:spcPts val="240"/>
              </a:spcBef>
            </a:pPr>
            <a:r>
              <a:rPr sz="2400" b="1" u="heavy" spc="-5" dirty="0">
                <a:latin typeface="Times New Roman" panose="02020603050405020304"/>
                <a:cs typeface="Times New Roman" panose="02020603050405020304"/>
              </a:rPr>
              <a:t>end</a:t>
            </a:r>
            <a:r>
              <a:rPr sz="2400" b="1" u="heavy" spc="-95" dirty="0">
                <a:latin typeface="Times New Roman" panose="02020603050405020304"/>
                <a:cs typeface="Times New Roman" panose="02020603050405020304"/>
              </a:rPr>
              <a:t> </a:t>
            </a:r>
            <a:r>
              <a:rPr sz="2400" b="1" u="heavy" spc="-5" dirty="0">
                <a:latin typeface="Times New Roman" panose="02020603050405020304"/>
                <a:cs typeface="Times New Roman" panose="02020603050405020304"/>
              </a:rPr>
              <a:t>if</a:t>
            </a:r>
            <a:endParaRPr sz="2400" dirty="0">
              <a:latin typeface="Times New Roman" panose="02020603050405020304"/>
              <a:cs typeface="Times New Roman" panose="02020603050405020304"/>
            </a:endParaRPr>
          </a:p>
          <a:p>
            <a:pPr marL="469900" marR="2182495" indent="152400">
              <a:lnSpc>
                <a:spcPct val="111000"/>
              </a:lnSpc>
              <a:spcBef>
                <a:spcPts val="600"/>
              </a:spcBef>
              <a:tabLst>
                <a:tab pos="1148715" algn="l"/>
              </a:tabLst>
            </a:pPr>
            <a:r>
              <a:rPr sz="2400" b="1" u="heavy" dirty="0">
                <a:latin typeface="Times New Roman" panose="02020603050405020304"/>
                <a:cs typeface="Times New Roman" panose="02020603050405020304"/>
              </a:rPr>
              <a:t>else</a:t>
            </a:r>
            <a:r>
              <a:rPr sz="2400" b="1" dirty="0">
                <a:latin typeface="Times New Roman" panose="02020603050405020304"/>
                <a:cs typeface="Times New Roman" panose="02020603050405020304"/>
              </a:rPr>
              <a:t>	</a:t>
            </a:r>
            <a:r>
              <a:rPr sz="2400" b="1" spc="-5" dirty="0">
                <a:latin typeface="Times New Roman" panose="02020603050405020304"/>
                <a:cs typeface="Times New Roman" panose="02020603050405020304"/>
              </a:rPr>
              <a:t>No</a:t>
            </a:r>
            <a:r>
              <a:rPr sz="2400" b="1" spc="-55" dirty="0">
                <a:latin typeface="Times New Roman" panose="02020603050405020304"/>
                <a:cs typeface="Times New Roman" panose="02020603050405020304"/>
              </a:rPr>
              <a:t> </a:t>
            </a:r>
            <a:r>
              <a:rPr sz="2400" b="1" spc="-5" dirty="0">
                <a:latin typeface="Times New Roman" panose="02020603050405020304"/>
                <a:cs typeface="Times New Roman" panose="02020603050405020304"/>
              </a:rPr>
              <a:t>Discount </a:t>
            </a:r>
            <a:r>
              <a:rPr sz="2400" b="1" dirty="0">
                <a:latin typeface="Times New Roman" panose="02020603050405020304"/>
                <a:cs typeface="Times New Roman" panose="02020603050405020304"/>
              </a:rPr>
              <a:t> </a:t>
            </a:r>
            <a:r>
              <a:rPr sz="2400" b="1" u="heavy" spc="-5" dirty="0">
                <a:latin typeface="Times New Roman" panose="02020603050405020304"/>
                <a:cs typeface="Times New Roman" panose="02020603050405020304"/>
              </a:rPr>
              <a:t>end</a:t>
            </a:r>
            <a:r>
              <a:rPr sz="2400" b="1" u="heavy" spc="-95" dirty="0">
                <a:latin typeface="Times New Roman" panose="02020603050405020304"/>
                <a:cs typeface="Times New Roman" panose="02020603050405020304"/>
              </a:rPr>
              <a:t> </a:t>
            </a:r>
            <a:r>
              <a:rPr sz="2400" b="1" u="heavy" spc="-5" dirty="0">
                <a:latin typeface="Times New Roman" panose="02020603050405020304"/>
                <a:cs typeface="Times New Roman" panose="02020603050405020304"/>
              </a:rPr>
              <a:t>if</a:t>
            </a:r>
            <a:endParaRPr sz="2400" dirty="0">
              <a:latin typeface="Times New Roman" panose="02020603050405020304"/>
              <a:cs typeface="Times New Roman" panose="02020603050405020304"/>
            </a:endParaRPr>
          </a:p>
          <a:p>
            <a:pPr marL="88900">
              <a:lnSpc>
                <a:spcPct val="100000"/>
              </a:lnSpc>
              <a:spcBef>
                <a:spcPts val="840"/>
              </a:spcBef>
            </a:pPr>
            <a:r>
              <a:rPr sz="2400" b="1" u="heavy" spc="-5" dirty="0">
                <a:latin typeface="Times New Roman" panose="02020603050405020304"/>
                <a:cs typeface="Times New Roman" panose="02020603050405020304"/>
              </a:rPr>
              <a:t>end</a:t>
            </a:r>
            <a:r>
              <a:rPr sz="2400" b="1" u="heavy" spc="-95" dirty="0">
                <a:latin typeface="Times New Roman" panose="02020603050405020304"/>
                <a:cs typeface="Times New Roman" panose="02020603050405020304"/>
              </a:rPr>
              <a:t> </a:t>
            </a:r>
            <a:r>
              <a:rPr sz="2400" b="1" u="heavy" spc="-5" dirty="0">
                <a:latin typeface="Times New Roman" panose="02020603050405020304"/>
                <a:cs typeface="Times New Roman" panose="02020603050405020304"/>
              </a:rPr>
              <a:t>if</a:t>
            </a:r>
            <a:endParaRPr sz="2400" dirty="0">
              <a:latin typeface="Times New Roman" panose="02020603050405020304"/>
              <a:cs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4100" y="261144"/>
            <a:ext cx="7087870" cy="1231106"/>
          </a:xfrm>
          <a:prstGeom prst="rect">
            <a:avLst/>
          </a:prstGeom>
        </p:spPr>
        <p:txBody>
          <a:bodyPr vert="horz" wrap="square" lIns="0" tIns="0" rIns="0" bIns="0" rtlCol="0">
            <a:spAutoFit/>
          </a:bodyPr>
          <a:lstStyle/>
          <a:p>
            <a:pPr marL="12700" algn="ctr">
              <a:lnSpc>
                <a:spcPct val="100000"/>
              </a:lnSpc>
              <a:tabLst>
                <a:tab pos="3242310" algn="l"/>
              </a:tabLst>
            </a:pPr>
            <a:r>
              <a:rPr lang="en-US" sz="4000" b="1" u="sng" spc="-5" dirty="0" smtClean="0">
                <a:solidFill>
                  <a:srgbClr val="002060"/>
                </a:solidFill>
                <a:latin typeface="Times New Roman" panose="02020603050405020304" pitchFamily="18" charset="0"/>
                <a:cs typeface="Times New Roman" panose="02020603050405020304" pitchFamily="18" charset="0"/>
              </a:rPr>
              <a:t>Decision</a:t>
            </a:r>
            <a:r>
              <a:rPr lang="en-US" sz="4000" b="1" u="sng" spc="5" dirty="0" smtClean="0">
                <a:solidFill>
                  <a:srgbClr val="002060"/>
                </a:solidFill>
                <a:latin typeface="Times New Roman" panose="02020603050405020304" pitchFamily="18" charset="0"/>
                <a:cs typeface="Times New Roman" panose="02020603050405020304" pitchFamily="18" charset="0"/>
              </a:rPr>
              <a:t> </a:t>
            </a:r>
            <a:r>
              <a:rPr lang="en-US" sz="4000" b="1" u="sng" spc="-5" dirty="0" smtClean="0">
                <a:solidFill>
                  <a:srgbClr val="002060"/>
                </a:solidFill>
                <a:latin typeface="Times New Roman" panose="02020603050405020304" pitchFamily="18" charset="0"/>
                <a:cs typeface="Times New Roman" panose="02020603050405020304" pitchFamily="18" charset="0"/>
              </a:rPr>
              <a:t>Table	For </a:t>
            </a:r>
            <a:br>
              <a:rPr lang="en-US" sz="4000" b="1" u="sng" spc="-5" dirty="0" smtClean="0">
                <a:solidFill>
                  <a:srgbClr val="002060"/>
                </a:solidFill>
                <a:latin typeface="Times New Roman" panose="02020603050405020304" pitchFamily="18" charset="0"/>
                <a:cs typeface="Times New Roman" panose="02020603050405020304" pitchFamily="18" charset="0"/>
              </a:rPr>
            </a:br>
            <a:r>
              <a:rPr lang="en-US" sz="4000" b="1" u="sng" spc="-5" dirty="0" smtClean="0">
                <a:solidFill>
                  <a:srgbClr val="002060"/>
                </a:solidFill>
                <a:latin typeface="Times New Roman" panose="02020603050405020304" pitchFamily="18" charset="0"/>
                <a:cs typeface="Times New Roman" panose="02020603050405020304" pitchFamily="18" charset="0"/>
              </a:rPr>
              <a:t>Shipping</a:t>
            </a:r>
            <a:r>
              <a:rPr lang="en-US" sz="4000" b="1" u="sng" spc="-70" dirty="0" smtClean="0">
                <a:solidFill>
                  <a:srgbClr val="002060"/>
                </a:solidFill>
                <a:latin typeface="Times New Roman" panose="02020603050405020304" pitchFamily="18" charset="0"/>
                <a:cs typeface="Times New Roman" panose="02020603050405020304" pitchFamily="18" charset="0"/>
              </a:rPr>
              <a:t> </a:t>
            </a:r>
            <a:r>
              <a:rPr lang="en-US" sz="4000" b="1" u="sng" spc="-5" dirty="0" smtClean="0">
                <a:solidFill>
                  <a:srgbClr val="002060"/>
                </a:solidFill>
                <a:latin typeface="Times New Roman" panose="02020603050405020304" pitchFamily="18" charset="0"/>
                <a:cs typeface="Times New Roman" panose="02020603050405020304" pitchFamily="18" charset="0"/>
              </a:rPr>
              <a:t>Rules</a:t>
            </a:r>
            <a:endParaRPr lang="en-US" sz="4000" b="1" u="sng" spc="-5" dirty="0">
              <a:solidFill>
                <a:srgbClr val="002060"/>
              </a:solidFill>
              <a:latin typeface="Times New Roman" panose="02020603050405020304" pitchFamily="18" charset="0"/>
              <a:cs typeface="Times New Roman" panose="02020603050405020304" pitchFamily="18" charset="0"/>
            </a:endParaRPr>
          </a:p>
        </p:txBody>
      </p:sp>
      <p:graphicFrame>
        <p:nvGraphicFramePr>
          <p:cNvPr id="7" name="object 7"/>
          <p:cNvGraphicFramePr>
            <a:graphicFrameLocks noGrp="1"/>
          </p:cNvGraphicFramePr>
          <p:nvPr/>
        </p:nvGraphicFramePr>
        <p:xfrm>
          <a:off x="983741" y="1816100"/>
          <a:ext cx="7086598" cy="4389114"/>
        </p:xfrm>
        <a:graphic>
          <a:graphicData uri="http://schemas.openxmlformats.org/drawingml/2006/table">
            <a:tbl>
              <a:tblPr firstRow="1" bandRow="1">
                <a:tableStyleId>{2D5ABB26-0587-4C30-8999-92F81FD0307C}</a:tableStyleId>
              </a:tblPr>
              <a:tblGrid>
                <a:gridCol w="3276600"/>
                <a:gridCol w="76200"/>
                <a:gridCol w="1530629"/>
                <a:gridCol w="982498"/>
                <a:gridCol w="1220671"/>
              </a:tblGrid>
              <a:tr h="385476">
                <a:tc>
                  <a:txBody>
                    <a:bodyPr/>
                    <a:lstStyle/>
                    <a:p>
                      <a:endParaRPr dirty="0"/>
                    </a:p>
                  </a:txBody>
                  <a:tcPr marL="0" marR="0" marT="0" marB="0">
                    <a:lnR w="19050">
                      <a:solidFill>
                        <a:srgbClr val="000000"/>
                      </a:solidFill>
                      <a:prstDash val="solid"/>
                    </a:lnR>
                  </a:tcPr>
                </a:tc>
                <a:tc rowSpan="4">
                  <a:txBody>
                    <a:bodyPr/>
                    <a:lstStyle/>
                    <a:p>
                      <a:endParaRPr/>
                    </a:p>
                  </a:txBody>
                  <a:tcPr marL="0" marR="0" marT="0" marB="0">
                    <a:lnL w="19050">
                      <a:solidFill>
                        <a:srgbClr val="000000"/>
                      </a:solidFill>
                      <a:prstDash val="solid"/>
                    </a:lnL>
                    <a:lnR w="19050">
                      <a:solidFill>
                        <a:srgbClr val="000000"/>
                      </a:solidFill>
                      <a:prstDash val="solid"/>
                    </a:lnR>
                    <a:lnB w="19050">
                      <a:solidFill>
                        <a:srgbClr val="000000"/>
                      </a:solidFill>
                      <a:prstDash val="solid"/>
                    </a:lnB>
                  </a:tcPr>
                </a:tc>
                <a:tc>
                  <a:txBody>
                    <a:bodyPr/>
                    <a:lstStyle/>
                    <a:p>
                      <a:pPr marR="307340" algn="r">
                        <a:lnSpc>
                          <a:spcPct val="100000"/>
                        </a:lnSpc>
                        <a:spcBef>
                          <a:spcPts val="300"/>
                        </a:spcBef>
                        <a:tabLst>
                          <a:tab pos="781050" algn="l"/>
                        </a:tabLst>
                      </a:pPr>
                      <a:r>
                        <a:rPr sz="1800" dirty="0">
                          <a:latin typeface="Times New Roman" panose="02020603050405020304"/>
                          <a:cs typeface="Times New Roman" panose="02020603050405020304"/>
                        </a:rPr>
                        <a:t>R1	R2</a:t>
                      </a:r>
                      <a:endParaRPr sz="1800">
                        <a:latin typeface="Times New Roman" panose="02020603050405020304"/>
                        <a:cs typeface="Times New Roman" panose="02020603050405020304"/>
                      </a:endParaRPr>
                    </a:p>
                  </a:txBody>
                  <a:tcPr marL="0" marR="0" marT="0" marB="0">
                    <a:lnL w="19050">
                      <a:solidFill>
                        <a:srgbClr val="000000"/>
                      </a:solidFill>
                      <a:prstDash val="solid"/>
                    </a:lnL>
                  </a:tcPr>
                </a:tc>
                <a:tc>
                  <a:txBody>
                    <a:bodyPr/>
                    <a:lstStyle/>
                    <a:p>
                      <a:pPr marL="314325">
                        <a:lnSpc>
                          <a:spcPct val="100000"/>
                        </a:lnSpc>
                        <a:spcBef>
                          <a:spcPts val="300"/>
                        </a:spcBef>
                      </a:pPr>
                      <a:r>
                        <a:rPr sz="1800" dirty="0">
                          <a:latin typeface="Times New Roman" panose="02020603050405020304"/>
                          <a:cs typeface="Times New Roman" panose="02020603050405020304"/>
                        </a:rPr>
                        <a:t>R3</a:t>
                      </a:r>
                      <a:endParaRPr sz="1800">
                        <a:latin typeface="Times New Roman" panose="02020603050405020304"/>
                        <a:cs typeface="Times New Roman" panose="02020603050405020304"/>
                      </a:endParaRPr>
                    </a:p>
                  </a:txBody>
                  <a:tcPr marL="0" marR="0" marT="0" marB="0"/>
                </a:tc>
                <a:tc>
                  <a:txBody>
                    <a:bodyPr/>
                    <a:lstStyle/>
                    <a:p>
                      <a:pPr marL="398145">
                        <a:lnSpc>
                          <a:spcPct val="100000"/>
                        </a:lnSpc>
                        <a:spcBef>
                          <a:spcPts val="300"/>
                        </a:spcBef>
                      </a:pPr>
                      <a:r>
                        <a:rPr sz="1800" dirty="0">
                          <a:latin typeface="Times New Roman" panose="02020603050405020304"/>
                          <a:cs typeface="Times New Roman" panose="02020603050405020304"/>
                        </a:rPr>
                        <a:t>R4</a:t>
                      </a:r>
                      <a:endParaRPr sz="1800">
                        <a:latin typeface="Times New Roman" panose="02020603050405020304"/>
                        <a:cs typeface="Times New Roman" panose="02020603050405020304"/>
                      </a:endParaRPr>
                    </a:p>
                  </a:txBody>
                  <a:tcPr marL="0" marR="0" marT="0" marB="0"/>
                </a:tc>
              </a:tr>
              <a:tr h="526708">
                <a:tc>
                  <a:txBody>
                    <a:bodyPr/>
                    <a:lstStyle/>
                    <a:p>
                      <a:pPr marL="295275" marR="466090" indent="-51435">
                        <a:lnSpc>
                          <a:spcPct val="100000"/>
                        </a:lnSpc>
                        <a:spcBef>
                          <a:spcPts val="270"/>
                        </a:spcBef>
                      </a:pPr>
                      <a:r>
                        <a:rPr sz="1600" b="1" dirty="0">
                          <a:latin typeface="Times New Roman" panose="02020603050405020304"/>
                          <a:cs typeface="Times New Roman" panose="02020603050405020304"/>
                        </a:rPr>
                        <a:t>C1: Qty ordered &lt;=</a:t>
                      </a:r>
                      <a:r>
                        <a:rPr sz="1600" b="1" spc="-60" dirty="0">
                          <a:latin typeface="Times New Roman" panose="02020603050405020304"/>
                          <a:cs typeface="Times New Roman" panose="02020603050405020304"/>
                        </a:rPr>
                        <a:t> </a:t>
                      </a:r>
                      <a:r>
                        <a:rPr sz="1600" b="1" spc="-5" dirty="0">
                          <a:latin typeface="Times New Roman" panose="02020603050405020304"/>
                          <a:cs typeface="Times New Roman" panose="02020603050405020304"/>
                        </a:rPr>
                        <a:t>Quantity  </a:t>
                      </a:r>
                      <a:r>
                        <a:rPr sz="1600" b="1" dirty="0">
                          <a:latin typeface="Times New Roman" panose="02020603050405020304"/>
                          <a:cs typeface="Times New Roman" panose="02020603050405020304"/>
                        </a:rPr>
                        <a:t>in</a:t>
                      </a:r>
                      <a:r>
                        <a:rPr sz="1600" b="1" spc="-95" dirty="0">
                          <a:latin typeface="Times New Roman" panose="02020603050405020304"/>
                          <a:cs typeface="Times New Roman" panose="02020603050405020304"/>
                        </a:rPr>
                        <a:t> </a:t>
                      </a:r>
                      <a:r>
                        <a:rPr sz="1600" b="1" spc="-5" dirty="0">
                          <a:latin typeface="Times New Roman" panose="02020603050405020304"/>
                          <a:cs typeface="Times New Roman" panose="02020603050405020304"/>
                        </a:rPr>
                        <a:t>stock?</a:t>
                      </a:r>
                      <a:endParaRPr sz="1600" dirty="0">
                        <a:latin typeface="Times New Roman" panose="02020603050405020304"/>
                        <a:cs typeface="Times New Roman" panose="02020603050405020304"/>
                      </a:endParaRPr>
                    </a:p>
                  </a:txBody>
                  <a:tcPr marL="0" marR="0" marT="0" marB="0">
                    <a:lnR w="19050">
                      <a:solidFill>
                        <a:srgbClr val="000000"/>
                      </a:solidFill>
                      <a:prstDash val="solid"/>
                    </a:lnR>
                  </a:tcPr>
                </a:tc>
                <a:tc vMerge="1">
                  <a:txBody>
                    <a:bodyPr/>
                    <a:lstStyle/>
                    <a:p>
                      <a:endParaRPr lang="en-US"/>
                    </a:p>
                  </a:txBody>
                  <a:tcPr marL="0" marR="0" marT="0" marB="0">
                    <a:lnL w="19050">
                      <a:solidFill>
                        <a:srgbClr val="000000"/>
                      </a:solidFill>
                      <a:prstDash val="solid"/>
                    </a:lnL>
                    <a:lnR w="19050">
                      <a:solidFill>
                        <a:srgbClr val="000000"/>
                      </a:solidFill>
                      <a:prstDash val="solid"/>
                    </a:lnR>
                    <a:lnB w="19050">
                      <a:solidFill>
                        <a:srgbClr val="000000"/>
                      </a:solidFill>
                      <a:prstDash val="solid"/>
                    </a:lnB>
                  </a:tcPr>
                </a:tc>
                <a:tc>
                  <a:txBody>
                    <a:bodyPr/>
                    <a:lstStyle/>
                    <a:p>
                      <a:pPr marR="338455" algn="r">
                        <a:lnSpc>
                          <a:spcPct val="100000"/>
                        </a:lnSpc>
                        <a:spcBef>
                          <a:spcPts val="865"/>
                        </a:spcBef>
                        <a:tabLst>
                          <a:tab pos="793115" algn="l"/>
                        </a:tabLst>
                      </a:pPr>
                      <a:r>
                        <a:rPr sz="1800" b="1" dirty="0">
                          <a:latin typeface="Times New Roman" panose="02020603050405020304"/>
                          <a:cs typeface="Times New Roman" panose="02020603050405020304"/>
                        </a:rPr>
                        <a:t>Y	Y</a:t>
                      </a:r>
                      <a:endParaRPr sz="1800">
                        <a:latin typeface="Times New Roman" panose="02020603050405020304"/>
                        <a:cs typeface="Times New Roman" panose="02020603050405020304"/>
                      </a:endParaRPr>
                    </a:p>
                  </a:txBody>
                  <a:tcPr marL="0" marR="0" marT="0" marB="0">
                    <a:lnL w="19050">
                      <a:solidFill>
                        <a:srgbClr val="000000"/>
                      </a:solidFill>
                      <a:prstDash val="solid"/>
                    </a:lnL>
                  </a:tcPr>
                </a:tc>
                <a:tc>
                  <a:txBody>
                    <a:bodyPr/>
                    <a:lstStyle/>
                    <a:p>
                      <a:pPr marL="339090">
                        <a:lnSpc>
                          <a:spcPct val="100000"/>
                        </a:lnSpc>
                        <a:spcBef>
                          <a:spcPts val="865"/>
                        </a:spcBef>
                      </a:pPr>
                      <a:r>
                        <a:rPr sz="1800" b="1" dirty="0">
                          <a:latin typeface="Times New Roman" panose="02020603050405020304"/>
                          <a:cs typeface="Times New Roman" panose="02020603050405020304"/>
                        </a:rPr>
                        <a:t>N</a:t>
                      </a:r>
                      <a:endParaRPr sz="1800">
                        <a:latin typeface="Times New Roman" panose="02020603050405020304"/>
                        <a:cs typeface="Times New Roman" panose="02020603050405020304"/>
                      </a:endParaRPr>
                    </a:p>
                  </a:txBody>
                  <a:tcPr marL="0" marR="0" marT="0" marB="0"/>
                </a:tc>
                <a:tc>
                  <a:txBody>
                    <a:bodyPr/>
                    <a:lstStyle/>
                    <a:p>
                      <a:pPr marL="436245">
                        <a:lnSpc>
                          <a:spcPct val="100000"/>
                        </a:lnSpc>
                        <a:spcBef>
                          <a:spcPts val="865"/>
                        </a:spcBef>
                      </a:pPr>
                      <a:r>
                        <a:rPr sz="1800" b="1" dirty="0">
                          <a:latin typeface="Times New Roman" panose="02020603050405020304"/>
                          <a:cs typeface="Times New Roman" panose="02020603050405020304"/>
                        </a:rPr>
                        <a:t>N</a:t>
                      </a:r>
                      <a:endParaRPr sz="1800">
                        <a:latin typeface="Times New Roman" panose="02020603050405020304"/>
                        <a:cs typeface="Times New Roman" panose="02020603050405020304"/>
                      </a:endParaRPr>
                    </a:p>
                  </a:txBody>
                  <a:tcPr marL="0" marR="0" marT="0" marB="0"/>
                </a:tc>
              </a:tr>
              <a:tr h="495300">
                <a:tc>
                  <a:txBody>
                    <a:bodyPr/>
                    <a:lstStyle/>
                    <a:p>
                      <a:pPr marL="244475">
                        <a:lnSpc>
                          <a:spcPts val="1645"/>
                        </a:lnSpc>
                      </a:pPr>
                      <a:r>
                        <a:rPr sz="1600" b="1" dirty="0">
                          <a:latin typeface="Times New Roman" panose="02020603050405020304"/>
                          <a:cs typeface="Times New Roman" panose="02020603050405020304"/>
                        </a:rPr>
                        <a:t>C2: (Qty in</a:t>
                      </a:r>
                      <a:r>
                        <a:rPr sz="1600" b="1" spc="-85" dirty="0">
                          <a:latin typeface="Times New Roman" panose="02020603050405020304"/>
                          <a:cs typeface="Times New Roman" panose="02020603050405020304"/>
                        </a:rPr>
                        <a:t> </a:t>
                      </a:r>
                      <a:r>
                        <a:rPr sz="1600" b="1" dirty="0">
                          <a:latin typeface="Times New Roman" panose="02020603050405020304"/>
                          <a:cs typeface="Times New Roman" panose="02020603050405020304"/>
                        </a:rPr>
                        <a:t>stock-Qty</a:t>
                      </a:r>
                      <a:endParaRPr sz="1600">
                        <a:latin typeface="Times New Roman" panose="02020603050405020304"/>
                        <a:cs typeface="Times New Roman" panose="02020603050405020304"/>
                      </a:endParaRPr>
                    </a:p>
                    <a:p>
                      <a:pPr marL="244475">
                        <a:lnSpc>
                          <a:spcPct val="100000"/>
                        </a:lnSpc>
                        <a:spcBef>
                          <a:spcPts val="5"/>
                        </a:spcBef>
                      </a:pPr>
                      <a:r>
                        <a:rPr sz="1600" b="1" dirty="0">
                          <a:latin typeface="Times New Roman" panose="02020603050405020304"/>
                          <a:cs typeface="Times New Roman" panose="02020603050405020304"/>
                        </a:rPr>
                        <a:t>ordered)&lt;=reorder</a:t>
                      </a:r>
                      <a:r>
                        <a:rPr sz="1600" b="1" spc="-95" dirty="0">
                          <a:latin typeface="Times New Roman" panose="02020603050405020304"/>
                          <a:cs typeface="Times New Roman" panose="02020603050405020304"/>
                        </a:rPr>
                        <a:t> </a:t>
                      </a:r>
                      <a:r>
                        <a:rPr sz="1600" b="1" dirty="0">
                          <a:latin typeface="Times New Roman" panose="02020603050405020304"/>
                          <a:cs typeface="Times New Roman" panose="02020603050405020304"/>
                        </a:rPr>
                        <a:t>level</a:t>
                      </a:r>
                      <a:endParaRPr sz="1600">
                        <a:latin typeface="Times New Roman" panose="02020603050405020304"/>
                        <a:cs typeface="Times New Roman" panose="02020603050405020304"/>
                      </a:endParaRPr>
                    </a:p>
                  </a:txBody>
                  <a:tcPr marL="0" marR="0" marT="0" marB="0">
                    <a:lnR w="19050">
                      <a:solidFill>
                        <a:srgbClr val="000000"/>
                      </a:solidFill>
                      <a:prstDash val="solid"/>
                    </a:lnR>
                  </a:tcPr>
                </a:tc>
                <a:tc vMerge="1">
                  <a:txBody>
                    <a:bodyPr/>
                    <a:lstStyle/>
                    <a:p>
                      <a:endParaRPr lang="en-US"/>
                    </a:p>
                  </a:txBody>
                  <a:tcPr marL="0" marR="0" marT="0" marB="0">
                    <a:lnL w="19050">
                      <a:solidFill>
                        <a:srgbClr val="000000"/>
                      </a:solidFill>
                      <a:prstDash val="solid"/>
                    </a:lnL>
                    <a:lnR w="19050">
                      <a:solidFill>
                        <a:srgbClr val="000000"/>
                      </a:solidFill>
                      <a:prstDash val="solid"/>
                    </a:lnR>
                    <a:lnB w="19050">
                      <a:solidFill>
                        <a:srgbClr val="000000"/>
                      </a:solidFill>
                      <a:prstDash val="solid"/>
                    </a:lnB>
                  </a:tcPr>
                </a:tc>
                <a:tc>
                  <a:txBody>
                    <a:bodyPr/>
                    <a:lstStyle/>
                    <a:p>
                      <a:pPr marR="338455" algn="r">
                        <a:lnSpc>
                          <a:spcPct val="100000"/>
                        </a:lnSpc>
                        <a:spcBef>
                          <a:spcPts val="915"/>
                        </a:spcBef>
                        <a:tabLst>
                          <a:tab pos="793115" algn="l"/>
                        </a:tabLst>
                      </a:pPr>
                      <a:r>
                        <a:rPr sz="1800" b="1" dirty="0">
                          <a:latin typeface="Times New Roman" panose="02020603050405020304"/>
                          <a:cs typeface="Times New Roman" panose="02020603050405020304"/>
                        </a:rPr>
                        <a:t>N	Y</a:t>
                      </a:r>
                      <a:endParaRPr sz="1800">
                        <a:latin typeface="Times New Roman" panose="02020603050405020304"/>
                        <a:cs typeface="Times New Roman" panose="02020603050405020304"/>
                      </a:endParaRPr>
                    </a:p>
                  </a:txBody>
                  <a:tcPr marL="0" marR="0" marT="0" marB="0">
                    <a:lnL w="19050">
                      <a:solidFill>
                        <a:srgbClr val="000000"/>
                      </a:solidFill>
                      <a:prstDash val="solid"/>
                    </a:lnL>
                  </a:tcPr>
                </a:tc>
                <a:tc>
                  <a:txBody>
                    <a:bodyPr/>
                    <a:lstStyle/>
                    <a:p>
                      <a:pPr marR="104775" algn="ctr">
                        <a:lnSpc>
                          <a:spcPct val="100000"/>
                        </a:lnSpc>
                        <a:spcBef>
                          <a:spcPts val="915"/>
                        </a:spcBef>
                      </a:pPr>
                      <a:r>
                        <a:rPr sz="1800" b="1" dirty="0">
                          <a:latin typeface="Times New Roman" panose="02020603050405020304"/>
                          <a:cs typeface="Times New Roman" panose="02020603050405020304"/>
                        </a:rPr>
                        <a:t>-</a:t>
                      </a:r>
                      <a:endParaRPr sz="1800">
                        <a:latin typeface="Times New Roman" panose="02020603050405020304"/>
                        <a:cs typeface="Times New Roman" panose="02020603050405020304"/>
                      </a:endParaRPr>
                    </a:p>
                  </a:txBody>
                  <a:tcPr marL="0" marR="0" marT="0" marB="0"/>
                </a:tc>
                <a:tc>
                  <a:txBody>
                    <a:bodyPr/>
                    <a:lstStyle/>
                    <a:p>
                      <a:pPr marL="461645">
                        <a:lnSpc>
                          <a:spcPct val="100000"/>
                        </a:lnSpc>
                        <a:spcBef>
                          <a:spcPts val="915"/>
                        </a:spcBef>
                      </a:pPr>
                      <a:r>
                        <a:rPr sz="1800" b="1" dirty="0">
                          <a:latin typeface="Times New Roman" panose="02020603050405020304"/>
                          <a:cs typeface="Times New Roman" panose="02020603050405020304"/>
                        </a:rPr>
                        <a:t>-</a:t>
                      </a:r>
                      <a:endParaRPr sz="1800">
                        <a:latin typeface="Times New Roman" panose="02020603050405020304"/>
                        <a:cs typeface="Times New Roman" panose="02020603050405020304"/>
                      </a:endParaRPr>
                    </a:p>
                  </a:txBody>
                  <a:tcPr marL="0" marR="0" marT="0" marB="0"/>
                </a:tc>
              </a:tr>
              <a:tr h="497514">
                <a:tc>
                  <a:txBody>
                    <a:bodyPr/>
                    <a:lstStyle/>
                    <a:p>
                      <a:pPr marL="244475" marR="1526540">
                        <a:lnSpc>
                          <a:spcPct val="100000"/>
                        </a:lnSpc>
                        <a:spcBef>
                          <a:spcPts val="25"/>
                        </a:spcBef>
                      </a:pPr>
                      <a:r>
                        <a:rPr sz="1600" b="1" dirty="0">
                          <a:latin typeface="Times New Roman" panose="02020603050405020304"/>
                          <a:cs typeface="Times New Roman" panose="02020603050405020304"/>
                        </a:rPr>
                        <a:t>C3: Is the</a:t>
                      </a:r>
                      <a:r>
                        <a:rPr sz="1600" b="1" spc="-90" dirty="0">
                          <a:latin typeface="Times New Roman" panose="02020603050405020304"/>
                          <a:cs typeface="Times New Roman" panose="02020603050405020304"/>
                        </a:rPr>
                        <a:t> </a:t>
                      </a:r>
                      <a:r>
                        <a:rPr sz="1600" b="1" dirty="0">
                          <a:latin typeface="Times New Roman" panose="02020603050405020304"/>
                          <a:cs typeface="Times New Roman" panose="02020603050405020304"/>
                        </a:rPr>
                        <a:t>partial  shipment</a:t>
                      </a:r>
                      <a:r>
                        <a:rPr sz="1600" b="1" spc="-95" dirty="0">
                          <a:latin typeface="Times New Roman" panose="02020603050405020304"/>
                          <a:cs typeface="Times New Roman" panose="02020603050405020304"/>
                        </a:rPr>
                        <a:t> </a:t>
                      </a:r>
                      <a:r>
                        <a:rPr sz="1600" b="1" dirty="0">
                          <a:latin typeface="Times New Roman" panose="02020603050405020304"/>
                          <a:cs typeface="Times New Roman" panose="02020603050405020304"/>
                        </a:rPr>
                        <a:t>ok?</a:t>
                      </a:r>
                      <a:endParaRPr sz="1600">
                        <a:latin typeface="Times New Roman" panose="02020603050405020304"/>
                        <a:cs typeface="Times New Roman" panose="02020603050405020304"/>
                      </a:endParaRPr>
                    </a:p>
                  </a:txBody>
                  <a:tcPr marL="0" marR="0" marT="0" marB="0">
                    <a:lnR w="19050">
                      <a:solidFill>
                        <a:srgbClr val="000000"/>
                      </a:solidFill>
                      <a:prstDash val="solid"/>
                    </a:lnR>
                    <a:lnB w="19050">
                      <a:solidFill>
                        <a:srgbClr val="000000"/>
                      </a:solidFill>
                      <a:prstDash val="solid"/>
                    </a:lnB>
                  </a:tcPr>
                </a:tc>
                <a:tc vMerge="1">
                  <a:txBody>
                    <a:bodyPr/>
                    <a:lstStyle/>
                    <a:p>
                      <a:endParaRPr lang="en-US"/>
                    </a:p>
                  </a:txBody>
                  <a:tcPr marL="0" marR="0" marT="0" marB="0">
                    <a:lnL w="19050">
                      <a:solidFill>
                        <a:srgbClr val="000000"/>
                      </a:solidFill>
                      <a:prstDash val="solid"/>
                    </a:lnL>
                    <a:lnR w="19050">
                      <a:solidFill>
                        <a:srgbClr val="000000"/>
                      </a:solidFill>
                      <a:prstDash val="solid"/>
                    </a:lnR>
                    <a:lnB w="19050">
                      <a:solidFill>
                        <a:srgbClr val="000000"/>
                      </a:solidFill>
                      <a:prstDash val="solid"/>
                    </a:lnB>
                  </a:tcPr>
                </a:tc>
                <a:tc>
                  <a:txBody>
                    <a:bodyPr/>
                    <a:lstStyle/>
                    <a:p>
                      <a:pPr marL="273050">
                        <a:lnSpc>
                          <a:spcPct val="100000"/>
                        </a:lnSpc>
                        <a:spcBef>
                          <a:spcPts val="615"/>
                        </a:spcBef>
                        <a:tabLst>
                          <a:tab pos="1035050" algn="l"/>
                        </a:tabLst>
                      </a:pPr>
                      <a:r>
                        <a:rPr sz="1800" b="1" dirty="0">
                          <a:latin typeface="Times New Roman" panose="02020603050405020304"/>
                          <a:cs typeface="Times New Roman" panose="02020603050405020304"/>
                        </a:rPr>
                        <a:t>-	-</a:t>
                      </a:r>
                      <a:endParaRPr sz="1800">
                        <a:latin typeface="Times New Roman" panose="02020603050405020304"/>
                        <a:cs typeface="Times New Roman" panose="02020603050405020304"/>
                      </a:endParaRPr>
                    </a:p>
                  </a:txBody>
                  <a:tcPr marL="0" marR="0" marT="0" marB="0">
                    <a:lnL w="19050">
                      <a:solidFill>
                        <a:srgbClr val="000000"/>
                      </a:solidFill>
                      <a:prstDash val="solid"/>
                    </a:lnL>
                    <a:lnB w="19050">
                      <a:solidFill>
                        <a:srgbClr val="000000"/>
                      </a:solidFill>
                      <a:prstDash val="solid"/>
                    </a:lnB>
                  </a:tcPr>
                </a:tc>
                <a:tc>
                  <a:txBody>
                    <a:bodyPr/>
                    <a:lstStyle/>
                    <a:p>
                      <a:pPr marL="332740">
                        <a:lnSpc>
                          <a:spcPct val="100000"/>
                        </a:lnSpc>
                        <a:spcBef>
                          <a:spcPts val="615"/>
                        </a:spcBef>
                      </a:pPr>
                      <a:r>
                        <a:rPr sz="1800" b="1" dirty="0">
                          <a:latin typeface="Times New Roman" panose="02020603050405020304"/>
                          <a:cs typeface="Times New Roman" panose="02020603050405020304"/>
                        </a:rPr>
                        <a:t>Y</a:t>
                      </a:r>
                      <a:endParaRPr sz="1800">
                        <a:latin typeface="Times New Roman" panose="02020603050405020304"/>
                        <a:cs typeface="Times New Roman" panose="02020603050405020304"/>
                      </a:endParaRPr>
                    </a:p>
                  </a:txBody>
                  <a:tcPr marL="0" marR="0" marT="0" marB="0">
                    <a:lnB w="19050">
                      <a:solidFill>
                        <a:srgbClr val="000000"/>
                      </a:solidFill>
                      <a:prstDash val="solid"/>
                    </a:lnB>
                  </a:tcPr>
                </a:tc>
                <a:tc>
                  <a:txBody>
                    <a:bodyPr/>
                    <a:lstStyle/>
                    <a:p>
                      <a:pPr marL="429895">
                        <a:lnSpc>
                          <a:spcPct val="100000"/>
                        </a:lnSpc>
                        <a:spcBef>
                          <a:spcPts val="615"/>
                        </a:spcBef>
                      </a:pPr>
                      <a:r>
                        <a:rPr sz="1800" b="1" dirty="0">
                          <a:latin typeface="Times New Roman" panose="02020603050405020304"/>
                          <a:cs typeface="Times New Roman" panose="02020603050405020304"/>
                        </a:rPr>
                        <a:t>N</a:t>
                      </a:r>
                      <a:endParaRPr sz="1800">
                        <a:latin typeface="Times New Roman" panose="02020603050405020304"/>
                        <a:cs typeface="Times New Roman" panose="02020603050405020304"/>
                      </a:endParaRPr>
                    </a:p>
                  </a:txBody>
                  <a:tcPr marL="0" marR="0" marT="0" marB="0">
                    <a:lnB w="19050">
                      <a:solidFill>
                        <a:srgbClr val="000000"/>
                      </a:solidFill>
                      <a:prstDash val="solid"/>
                    </a:lnB>
                  </a:tcPr>
                </a:tc>
              </a:tr>
              <a:tr h="0">
                <a:tc>
                  <a:txBody>
                    <a:bodyPr/>
                    <a:lstStyle/>
                    <a:p>
                      <a:endParaRPr sz="1800">
                        <a:latin typeface="Times New Roman" panose="02020603050405020304"/>
                        <a:cs typeface="Times New Roman" panose="02020603050405020304"/>
                      </a:endParaRPr>
                    </a:p>
                  </a:txBody>
                  <a:tcPr marL="0" marR="0" marT="0" marB="0">
                    <a:lnR w="19050">
                      <a:solidFill>
                        <a:srgbClr val="000000"/>
                      </a:solidFill>
                      <a:prstDash val="solid"/>
                    </a:lnR>
                    <a:lnT w="19050">
                      <a:solidFill>
                        <a:srgbClr val="000000"/>
                      </a:solidFill>
                      <a:prstDash val="solid"/>
                    </a:lnT>
                    <a:lnB w="19050">
                      <a:solidFill>
                        <a:srgbClr val="000000"/>
                      </a:solidFill>
                      <a:prstDash val="solid"/>
                    </a:lnB>
                  </a:tcPr>
                </a:tc>
                <a:tc>
                  <a:txBody>
                    <a:bodyPr/>
                    <a:lstStyle/>
                    <a:p>
                      <a:endParaRPr sz="18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gridSpan="3">
                  <a:txBody>
                    <a:bodyPr/>
                    <a:lstStyle/>
                    <a:p>
                      <a:endParaRPr sz="1800">
                        <a:latin typeface="Times New Roman" panose="02020603050405020304"/>
                        <a:cs typeface="Times New Roman" panose="02020603050405020304"/>
                      </a:endParaRPr>
                    </a:p>
                  </a:txBody>
                  <a:tcPr marL="0" marR="0" marT="0" marB="0">
                    <a:lnL w="19050">
                      <a:solidFill>
                        <a:srgbClr val="000000"/>
                      </a:solidFill>
                      <a:prstDash val="solid"/>
                    </a:lnL>
                    <a:lnT w="19050">
                      <a:solidFill>
                        <a:srgbClr val="000000"/>
                      </a:solidFill>
                      <a:prstDash val="solid"/>
                    </a:lnT>
                    <a:lnB w="19050">
                      <a:solidFill>
                        <a:srgbClr val="000000"/>
                      </a:solidFill>
                      <a:prstDash val="solid"/>
                    </a:lnB>
                  </a:tcPr>
                </a:tc>
                <a:tc hMerge="1">
                  <a:txBody>
                    <a:bodyPr/>
                    <a:lstStyle/>
                    <a:p>
                      <a:endParaRPr lang="en-US"/>
                    </a:p>
                  </a:txBody>
                  <a:tcPr marL="0" marR="0" marT="0" marB="0"/>
                </a:tc>
                <a:tc hMerge="1">
                  <a:txBody>
                    <a:bodyPr/>
                    <a:lstStyle/>
                    <a:p>
                      <a:endParaRPr lang="en-US"/>
                    </a:p>
                  </a:txBody>
                  <a:tcPr marL="0" marR="0" marT="0" marB="0"/>
                </a:tc>
              </a:tr>
              <a:tr h="287770">
                <a:tc rowSpan="7">
                  <a:txBody>
                    <a:bodyPr/>
                    <a:lstStyle/>
                    <a:p>
                      <a:pPr marL="244475" marR="455295" algn="just">
                        <a:lnSpc>
                          <a:spcPts val="1800"/>
                        </a:lnSpc>
                        <a:spcBef>
                          <a:spcPts val="390"/>
                        </a:spcBef>
                      </a:pPr>
                      <a:r>
                        <a:rPr sz="1600" b="1" dirty="0">
                          <a:latin typeface="Times New Roman" panose="02020603050405020304"/>
                          <a:cs typeface="Times New Roman" panose="02020603050405020304"/>
                        </a:rPr>
                        <a:t>A1:Qty shipped=Qty</a:t>
                      </a:r>
                      <a:r>
                        <a:rPr sz="1600" b="1" spc="-75" dirty="0">
                          <a:latin typeface="Times New Roman" panose="02020603050405020304"/>
                          <a:cs typeface="Times New Roman" panose="02020603050405020304"/>
                        </a:rPr>
                        <a:t> </a:t>
                      </a:r>
                      <a:r>
                        <a:rPr sz="1600" b="1" dirty="0">
                          <a:latin typeface="Times New Roman" panose="02020603050405020304"/>
                          <a:cs typeface="Times New Roman" panose="02020603050405020304"/>
                        </a:rPr>
                        <a:t>ordered  A2:Qty shipped=Qty in stock  A3:Qty</a:t>
                      </a:r>
                      <a:r>
                        <a:rPr sz="1600" b="1" spc="-90" dirty="0">
                          <a:latin typeface="Times New Roman" panose="02020603050405020304"/>
                          <a:cs typeface="Times New Roman" panose="02020603050405020304"/>
                        </a:rPr>
                        <a:t> </a:t>
                      </a:r>
                      <a:r>
                        <a:rPr sz="1600" b="1" dirty="0">
                          <a:latin typeface="Times New Roman" panose="02020603050405020304"/>
                          <a:cs typeface="Times New Roman" panose="02020603050405020304"/>
                        </a:rPr>
                        <a:t>shipped=0</a:t>
                      </a:r>
                      <a:endParaRPr sz="1600">
                        <a:latin typeface="Times New Roman" panose="02020603050405020304"/>
                        <a:cs typeface="Times New Roman" panose="02020603050405020304"/>
                      </a:endParaRPr>
                    </a:p>
                    <a:p>
                      <a:pPr marL="244475" algn="just">
                        <a:lnSpc>
                          <a:spcPts val="1700"/>
                        </a:lnSpc>
                      </a:pPr>
                      <a:r>
                        <a:rPr sz="1600" b="1" dirty="0">
                          <a:latin typeface="Times New Roman" panose="02020603050405020304"/>
                          <a:cs typeface="Times New Roman" panose="02020603050405020304"/>
                        </a:rPr>
                        <a:t>A4:Qty in</a:t>
                      </a:r>
                      <a:r>
                        <a:rPr sz="1600" b="1" spc="-90" dirty="0">
                          <a:latin typeface="Times New Roman" panose="02020603050405020304"/>
                          <a:cs typeface="Times New Roman" panose="02020603050405020304"/>
                        </a:rPr>
                        <a:t> </a:t>
                      </a:r>
                      <a:r>
                        <a:rPr sz="1600" b="1" dirty="0">
                          <a:latin typeface="Times New Roman" panose="02020603050405020304"/>
                          <a:cs typeface="Times New Roman" panose="02020603050405020304"/>
                        </a:rPr>
                        <a:t>stock=0</a:t>
                      </a:r>
                      <a:endParaRPr sz="1600">
                        <a:latin typeface="Times New Roman" panose="02020603050405020304"/>
                        <a:cs typeface="Times New Roman" panose="02020603050405020304"/>
                      </a:endParaRPr>
                    </a:p>
                    <a:p>
                      <a:pPr marL="244475" algn="just">
                        <a:lnSpc>
                          <a:spcPts val="1860"/>
                        </a:lnSpc>
                      </a:pPr>
                      <a:r>
                        <a:rPr sz="1600" b="1" spc="-5" dirty="0">
                          <a:latin typeface="Times New Roman" panose="02020603050405020304"/>
                          <a:cs typeface="Times New Roman" panose="02020603050405020304"/>
                        </a:rPr>
                        <a:t>A5:Back order=qty ordered-</a:t>
                      </a:r>
                      <a:endParaRPr sz="1600">
                        <a:latin typeface="Times New Roman" panose="02020603050405020304"/>
                        <a:cs typeface="Times New Roman" panose="02020603050405020304"/>
                      </a:endParaRPr>
                    </a:p>
                    <a:p>
                      <a:pPr marL="1565275">
                        <a:lnSpc>
                          <a:spcPct val="100000"/>
                        </a:lnSpc>
                        <a:spcBef>
                          <a:spcPts val="5"/>
                        </a:spcBef>
                      </a:pPr>
                      <a:r>
                        <a:rPr sz="1600" b="1" spc="-5" dirty="0">
                          <a:latin typeface="Times New Roman" panose="02020603050405020304"/>
                          <a:cs typeface="Times New Roman" panose="02020603050405020304"/>
                        </a:rPr>
                        <a:t>qty</a:t>
                      </a:r>
                      <a:r>
                        <a:rPr sz="1600" b="1" spc="-90" dirty="0">
                          <a:latin typeface="Times New Roman" panose="02020603050405020304"/>
                          <a:cs typeface="Times New Roman" panose="02020603050405020304"/>
                        </a:rPr>
                        <a:t> </a:t>
                      </a:r>
                      <a:r>
                        <a:rPr sz="1600" b="1" spc="-5" dirty="0">
                          <a:latin typeface="Times New Roman" panose="02020603050405020304"/>
                          <a:cs typeface="Times New Roman" panose="02020603050405020304"/>
                        </a:rPr>
                        <a:t>shipped</a:t>
                      </a:r>
                      <a:endParaRPr sz="1600">
                        <a:latin typeface="Times New Roman" panose="02020603050405020304"/>
                        <a:cs typeface="Times New Roman" panose="02020603050405020304"/>
                      </a:endParaRPr>
                    </a:p>
                    <a:p>
                      <a:pPr marL="244475" marR="242570">
                        <a:lnSpc>
                          <a:spcPct val="100000"/>
                        </a:lnSpc>
                        <a:spcBef>
                          <a:spcPts val="950"/>
                        </a:spcBef>
                      </a:pPr>
                      <a:r>
                        <a:rPr sz="1600" b="1" dirty="0">
                          <a:latin typeface="Times New Roman" panose="02020603050405020304"/>
                          <a:cs typeface="Times New Roman" panose="02020603050405020304"/>
                        </a:rPr>
                        <a:t>A6:Initiative reorder </a:t>
                      </a:r>
                      <a:r>
                        <a:rPr sz="1600" b="1" spc="-5" dirty="0">
                          <a:latin typeface="Times New Roman" panose="02020603050405020304"/>
                          <a:cs typeface="Times New Roman" panose="02020603050405020304"/>
                        </a:rPr>
                        <a:t>procedure  </a:t>
                      </a:r>
                      <a:r>
                        <a:rPr sz="1600" b="1" dirty="0">
                          <a:latin typeface="Times New Roman" panose="02020603050405020304"/>
                          <a:cs typeface="Times New Roman" panose="02020603050405020304"/>
                        </a:rPr>
                        <a:t>A7: Qty in </a:t>
                      </a:r>
                      <a:r>
                        <a:rPr sz="1600" b="1" spc="75" dirty="0">
                          <a:latin typeface="Times New Roman" panose="02020603050405020304"/>
                          <a:cs typeface="Times New Roman" panose="02020603050405020304"/>
                        </a:rPr>
                        <a:t>stock</a:t>
                      </a:r>
                      <a:r>
                        <a:rPr sz="1600" spc="75" dirty="0">
                          <a:latin typeface="Microsoft Sans Serif" panose="020B0604020202020204"/>
                          <a:cs typeface="Microsoft Sans Serif" panose="020B0604020202020204"/>
                        </a:rPr>
                        <a:t>€</a:t>
                      </a:r>
                      <a:r>
                        <a:rPr sz="1600" b="1" spc="75" dirty="0">
                          <a:latin typeface="Times New Roman" panose="02020603050405020304"/>
                          <a:cs typeface="Times New Roman" panose="02020603050405020304"/>
                        </a:rPr>
                        <a:t>Qty </a:t>
                      </a:r>
                      <a:r>
                        <a:rPr sz="1600" b="1" dirty="0">
                          <a:latin typeface="Times New Roman" panose="02020603050405020304"/>
                          <a:cs typeface="Times New Roman" panose="02020603050405020304"/>
                        </a:rPr>
                        <a:t>in</a:t>
                      </a:r>
                      <a:r>
                        <a:rPr sz="1600" b="1" spc="-165" dirty="0">
                          <a:latin typeface="Times New Roman" panose="02020603050405020304"/>
                          <a:cs typeface="Times New Roman" panose="02020603050405020304"/>
                        </a:rPr>
                        <a:t> </a:t>
                      </a:r>
                      <a:r>
                        <a:rPr sz="1600" b="1" dirty="0">
                          <a:latin typeface="Times New Roman" panose="02020603050405020304"/>
                          <a:cs typeface="Times New Roman" panose="02020603050405020304"/>
                        </a:rPr>
                        <a:t>stock</a:t>
                      </a:r>
                      <a:endParaRPr sz="1600">
                        <a:latin typeface="Times New Roman" panose="02020603050405020304"/>
                        <a:cs typeface="Times New Roman" panose="02020603050405020304"/>
                      </a:endParaRPr>
                    </a:p>
                    <a:p>
                      <a:pPr marL="1666875">
                        <a:lnSpc>
                          <a:spcPts val="1440"/>
                        </a:lnSpc>
                        <a:spcBef>
                          <a:spcPts val="5"/>
                        </a:spcBef>
                      </a:pPr>
                      <a:r>
                        <a:rPr sz="1600" b="1" dirty="0">
                          <a:latin typeface="Times New Roman" panose="02020603050405020304"/>
                          <a:cs typeface="Times New Roman" panose="02020603050405020304"/>
                        </a:rPr>
                        <a:t>-Qty</a:t>
                      </a:r>
                      <a:r>
                        <a:rPr sz="1600" b="1" spc="-95" dirty="0">
                          <a:latin typeface="Times New Roman" panose="02020603050405020304"/>
                          <a:cs typeface="Times New Roman" panose="02020603050405020304"/>
                        </a:rPr>
                        <a:t> </a:t>
                      </a:r>
                      <a:r>
                        <a:rPr sz="1600" b="1" dirty="0">
                          <a:latin typeface="Times New Roman" panose="02020603050405020304"/>
                          <a:cs typeface="Times New Roman" panose="02020603050405020304"/>
                        </a:rPr>
                        <a:t>shipped</a:t>
                      </a:r>
                      <a:endParaRPr sz="1600">
                        <a:latin typeface="Times New Roman" panose="02020603050405020304"/>
                        <a:cs typeface="Times New Roman" panose="02020603050405020304"/>
                      </a:endParaRPr>
                    </a:p>
                  </a:txBody>
                  <a:tcPr marL="0" marR="0" marT="0" marB="0">
                    <a:lnR w="19050">
                      <a:solidFill>
                        <a:srgbClr val="000000"/>
                      </a:solidFill>
                      <a:prstDash val="solid"/>
                    </a:lnR>
                    <a:lnT w="19050">
                      <a:solidFill>
                        <a:srgbClr val="000000"/>
                      </a:solidFill>
                      <a:prstDash val="solid"/>
                    </a:lnT>
                  </a:tcPr>
                </a:tc>
                <a:tc rowSpan="7">
                  <a:txBody>
                    <a:bodyPr/>
                    <a:lstStyle/>
                    <a:p>
                      <a:endParaRPr sz="16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tcPr>
                </a:tc>
                <a:tc>
                  <a:txBody>
                    <a:bodyPr/>
                    <a:lstStyle/>
                    <a:p>
                      <a:pPr marR="339725" algn="r">
                        <a:lnSpc>
                          <a:spcPct val="100000"/>
                        </a:lnSpc>
                        <a:spcBef>
                          <a:spcPts val="125"/>
                        </a:spcBef>
                        <a:tabLst>
                          <a:tab pos="807085" algn="l"/>
                        </a:tabLst>
                      </a:pPr>
                      <a:r>
                        <a:rPr sz="1600" b="1" dirty="0">
                          <a:latin typeface="Times New Roman" panose="02020603050405020304"/>
                          <a:cs typeface="Times New Roman" panose="02020603050405020304"/>
                        </a:rPr>
                        <a:t>X 	X</a:t>
                      </a:r>
                      <a:endParaRPr sz="1600">
                        <a:latin typeface="Times New Roman" panose="02020603050405020304"/>
                        <a:cs typeface="Times New Roman" panose="02020603050405020304"/>
                      </a:endParaRPr>
                    </a:p>
                  </a:txBody>
                  <a:tcPr marL="0" marR="0" marT="0" marB="0">
                    <a:lnL w="19050">
                      <a:solidFill>
                        <a:srgbClr val="000000"/>
                      </a:solidFill>
                      <a:prstDash val="solid"/>
                    </a:lnL>
                    <a:lnT w="19050">
                      <a:solidFill>
                        <a:srgbClr val="000000"/>
                      </a:solidFill>
                      <a:prstDash val="solid"/>
                    </a:lnT>
                  </a:tcPr>
                </a:tc>
                <a:tc>
                  <a:txBody>
                    <a:bodyPr/>
                    <a:lstStyle/>
                    <a:p>
                      <a:pPr marR="442595" algn="r">
                        <a:lnSpc>
                          <a:spcPct val="100000"/>
                        </a:lnSpc>
                        <a:spcBef>
                          <a:spcPts val="125"/>
                        </a:spcBef>
                      </a:pPr>
                      <a:r>
                        <a:rPr sz="1600" b="1" dirty="0">
                          <a:latin typeface="Times New Roman" panose="02020603050405020304"/>
                          <a:cs typeface="Times New Roman" panose="02020603050405020304"/>
                        </a:rPr>
                        <a:t>-</a:t>
                      </a:r>
                      <a:endParaRPr sz="1600">
                        <a:latin typeface="Times New Roman" panose="02020603050405020304"/>
                        <a:cs typeface="Times New Roman" panose="02020603050405020304"/>
                      </a:endParaRPr>
                    </a:p>
                  </a:txBody>
                  <a:tcPr marL="0" marR="0" marT="0" marB="0">
                    <a:lnT w="19050">
                      <a:solidFill>
                        <a:srgbClr val="000000"/>
                      </a:solidFill>
                      <a:prstDash val="solid"/>
                    </a:lnT>
                  </a:tcPr>
                </a:tc>
                <a:tc>
                  <a:txBody>
                    <a:bodyPr/>
                    <a:lstStyle/>
                    <a:p>
                      <a:pPr marR="12700" algn="ctr">
                        <a:lnSpc>
                          <a:spcPct val="100000"/>
                        </a:lnSpc>
                        <a:spcBef>
                          <a:spcPts val="125"/>
                        </a:spcBef>
                      </a:pPr>
                      <a:r>
                        <a:rPr sz="1600" b="1" dirty="0">
                          <a:latin typeface="Times New Roman" panose="02020603050405020304"/>
                          <a:cs typeface="Times New Roman" panose="02020603050405020304"/>
                        </a:rPr>
                        <a:t>-</a:t>
                      </a:r>
                      <a:endParaRPr sz="1600">
                        <a:latin typeface="Times New Roman" panose="02020603050405020304"/>
                        <a:cs typeface="Times New Roman" panose="02020603050405020304"/>
                      </a:endParaRPr>
                    </a:p>
                  </a:txBody>
                  <a:tcPr marL="0" marR="0" marT="0" marB="0">
                    <a:lnT w="19050">
                      <a:solidFill>
                        <a:srgbClr val="000000"/>
                      </a:solidFill>
                      <a:prstDash val="solid"/>
                    </a:lnT>
                  </a:tcPr>
                </a:tc>
              </a:tr>
              <a:tr h="228682">
                <a:tc vMerge="1">
                  <a:txBody>
                    <a:bodyPr/>
                    <a:lstStyle/>
                    <a:p>
                      <a:endParaRPr lang="en-US"/>
                    </a:p>
                  </a:txBody>
                  <a:tcPr marL="0" marR="0" marT="0" marB="0">
                    <a:lnR w="19050">
                      <a:solidFill>
                        <a:srgbClr val="000000"/>
                      </a:solidFill>
                      <a:prstDash val="solid"/>
                    </a:lnR>
                    <a:lnT w="19050">
                      <a:solidFill>
                        <a:srgbClr val="000000"/>
                      </a:solidFill>
                      <a:prstDash val="solid"/>
                    </a:lnT>
                  </a:tcPr>
                </a:tc>
                <a:tc vMerge="1">
                  <a:txBody>
                    <a:bodyPr/>
                    <a:lstStyle/>
                    <a:p>
                      <a:endParaRPr lang="en-US"/>
                    </a:p>
                  </a:txBody>
                  <a:tcPr marL="0" marR="0" marT="0" marB="0">
                    <a:lnL w="19050">
                      <a:solidFill>
                        <a:srgbClr val="000000"/>
                      </a:solidFill>
                      <a:prstDash val="solid"/>
                    </a:lnL>
                    <a:lnR w="19050">
                      <a:solidFill>
                        <a:srgbClr val="000000"/>
                      </a:solidFill>
                      <a:prstDash val="solid"/>
                    </a:lnR>
                    <a:lnT w="19050">
                      <a:solidFill>
                        <a:srgbClr val="000000"/>
                      </a:solidFill>
                      <a:prstDash val="solid"/>
                    </a:lnT>
                  </a:tcPr>
                </a:tc>
                <a:tc>
                  <a:txBody>
                    <a:bodyPr/>
                    <a:lstStyle/>
                    <a:p>
                      <a:pPr marL="235585">
                        <a:lnSpc>
                          <a:spcPts val="1760"/>
                        </a:lnSpc>
                        <a:tabLst>
                          <a:tab pos="1066165" algn="l"/>
                        </a:tabLst>
                      </a:pPr>
                      <a:r>
                        <a:rPr sz="1600" b="1" dirty="0">
                          <a:latin typeface="Times New Roman" panose="02020603050405020304"/>
                          <a:cs typeface="Times New Roman" panose="02020603050405020304"/>
                        </a:rPr>
                        <a:t>-	-</a:t>
                      </a:r>
                      <a:endParaRPr sz="1600">
                        <a:latin typeface="Times New Roman" panose="02020603050405020304"/>
                        <a:cs typeface="Times New Roman" panose="02020603050405020304"/>
                      </a:endParaRPr>
                    </a:p>
                  </a:txBody>
                  <a:tcPr marL="0" marR="0" marT="0" marB="0">
                    <a:lnL w="19050">
                      <a:solidFill>
                        <a:srgbClr val="000000"/>
                      </a:solidFill>
                      <a:prstDash val="solid"/>
                    </a:lnL>
                  </a:tcPr>
                </a:tc>
                <a:tc>
                  <a:txBody>
                    <a:bodyPr/>
                    <a:lstStyle/>
                    <a:p>
                      <a:pPr marR="402590" algn="r">
                        <a:lnSpc>
                          <a:spcPts val="1760"/>
                        </a:lnSpc>
                      </a:pPr>
                      <a:r>
                        <a:rPr sz="1600" b="1" dirty="0">
                          <a:latin typeface="Times New Roman" panose="02020603050405020304"/>
                          <a:cs typeface="Times New Roman" panose="02020603050405020304"/>
                        </a:rPr>
                        <a:t>X</a:t>
                      </a:r>
                      <a:endParaRPr sz="1600">
                        <a:latin typeface="Times New Roman" panose="02020603050405020304"/>
                        <a:cs typeface="Times New Roman" panose="02020603050405020304"/>
                      </a:endParaRPr>
                    </a:p>
                  </a:txBody>
                  <a:tcPr marL="0" marR="0" marT="0" marB="0"/>
                </a:tc>
                <a:tc>
                  <a:txBody>
                    <a:bodyPr/>
                    <a:lstStyle/>
                    <a:p>
                      <a:pPr marR="33020" algn="ctr">
                        <a:lnSpc>
                          <a:spcPts val="1760"/>
                        </a:lnSpc>
                      </a:pPr>
                      <a:r>
                        <a:rPr sz="1600" b="1" dirty="0">
                          <a:latin typeface="Times New Roman" panose="02020603050405020304"/>
                          <a:cs typeface="Times New Roman" panose="02020603050405020304"/>
                        </a:rPr>
                        <a:t>-</a:t>
                      </a:r>
                      <a:endParaRPr sz="1600">
                        <a:latin typeface="Times New Roman" panose="02020603050405020304"/>
                        <a:cs typeface="Times New Roman" panose="02020603050405020304"/>
                      </a:endParaRPr>
                    </a:p>
                  </a:txBody>
                  <a:tcPr marL="0" marR="0" marT="0" marB="0"/>
                </a:tc>
              </a:tr>
              <a:tr h="259911">
                <a:tc vMerge="1">
                  <a:txBody>
                    <a:bodyPr/>
                    <a:lstStyle/>
                    <a:p>
                      <a:endParaRPr lang="en-US"/>
                    </a:p>
                  </a:txBody>
                  <a:tcPr marL="0" marR="0" marT="0" marB="0">
                    <a:lnR w="19050">
                      <a:solidFill>
                        <a:srgbClr val="000000"/>
                      </a:solidFill>
                      <a:prstDash val="solid"/>
                    </a:lnR>
                    <a:lnT w="19050">
                      <a:solidFill>
                        <a:srgbClr val="000000"/>
                      </a:solidFill>
                      <a:prstDash val="solid"/>
                    </a:lnT>
                  </a:tcPr>
                </a:tc>
                <a:tc vMerge="1">
                  <a:txBody>
                    <a:bodyPr/>
                    <a:lstStyle/>
                    <a:p>
                      <a:endParaRPr lang="en-US"/>
                    </a:p>
                  </a:txBody>
                  <a:tcPr marL="0" marR="0" marT="0" marB="0">
                    <a:lnL w="19050">
                      <a:solidFill>
                        <a:srgbClr val="000000"/>
                      </a:solidFill>
                      <a:prstDash val="solid"/>
                    </a:lnL>
                    <a:lnR w="19050">
                      <a:solidFill>
                        <a:srgbClr val="000000"/>
                      </a:solidFill>
                      <a:prstDash val="solid"/>
                    </a:lnR>
                    <a:lnT w="19050">
                      <a:solidFill>
                        <a:srgbClr val="000000"/>
                      </a:solidFill>
                      <a:prstDash val="solid"/>
                    </a:lnT>
                  </a:tcPr>
                </a:tc>
                <a:tc>
                  <a:txBody>
                    <a:bodyPr/>
                    <a:lstStyle/>
                    <a:p>
                      <a:pPr marL="244475">
                        <a:lnSpc>
                          <a:spcPts val="1655"/>
                        </a:lnSpc>
                        <a:tabLst>
                          <a:tab pos="1075055" algn="l"/>
                        </a:tabLst>
                      </a:pPr>
                      <a:r>
                        <a:rPr sz="1600" b="1" dirty="0">
                          <a:latin typeface="Times New Roman" panose="02020603050405020304"/>
                          <a:cs typeface="Times New Roman" panose="02020603050405020304"/>
                        </a:rPr>
                        <a:t>-	-</a:t>
                      </a:r>
                      <a:endParaRPr sz="1600">
                        <a:latin typeface="Times New Roman" panose="02020603050405020304"/>
                        <a:cs typeface="Times New Roman" panose="02020603050405020304"/>
                      </a:endParaRPr>
                    </a:p>
                  </a:txBody>
                  <a:tcPr marL="0" marR="0" marT="0" marB="0">
                    <a:lnL w="19050">
                      <a:solidFill>
                        <a:srgbClr val="000000"/>
                      </a:solidFill>
                      <a:prstDash val="solid"/>
                    </a:lnL>
                  </a:tcPr>
                </a:tc>
                <a:tc>
                  <a:txBody>
                    <a:bodyPr/>
                    <a:lstStyle/>
                    <a:p>
                      <a:pPr marR="420370" algn="r">
                        <a:lnSpc>
                          <a:spcPts val="1655"/>
                        </a:lnSpc>
                      </a:pPr>
                      <a:r>
                        <a:rPr sz="1600" b="1" dirty="0">
                          <a:latin typeface="Times New Roman" panose="02020603050405020304"/>
                          <a:cs typeface="Times New Roman" panose="02020603050405020304"/>
                        </a:rPr>
                        <a:t>-</a:t>
                      </a:r>
                      <a:endParaRPr sz="1600">
                        <a:latin typeface="Times New Roman" panose="02020603050405020304"/>
                        <a:cs typeface="Times New Roman" panose="02020603050405020304"/>
                      </a:endParaRPr>
                    </a:p>
                  </a:txBody>
                  <a:tcPr marL="0" marR="0" marT="0" marB="0"/>
                </a:tc>
                <a:tc>
                  <a:txBody>
                    <a:bodyPr/>
                    <a:lstStyle/>
                    <a:p>
                      <a:pPr marR="529590" algn="r">
                        <a:lnSpc>
                          <a:spcPts val="1655"/>
                        </a:lnSpc>
                      </a:pPr>
                      <a:r>
                        <a:rPr sz="1600" b="1" dirty="0">
                          <a:latin typeface="Times New Roman" panose="02020603050405020304"/>
                          <a:cs typeface="Times New Roman" panose="02020603050405020304"/>
                        </a:rPr>
                        <a:t>X</a:t>
                      </a:r>
                      <a:endParaRPr sz="1600">
                        <a:latin typeface="Times New Roman" panose="02020603050405020304"/>
                        <a:cs typeface="Times New Roman" panose="02020603050405020304"/>
                      </a:endParaRPr>
                    </a:p>
                  </a:txBody>
                  <a:tcPr marL="0" marR="0" marT="0" marB="0"/>
                </a:tc>
              </a:tr>
              <a:tr h="311588">
                <a:tc vMerge="1">
                  <a:txBody>
                    <a:bodyPr/>
                    <a:lstStyle/>
                    <a:p>
                      <a:endParaRPr lang="en-US"/>
                    </a:p>
                  </a:txBody>
                  <a:tcPr marL="0" marR="0" marT="0" marB="0">
                    <a:lnR w="19050">
                      <a:solidFill>
                        <a:srgbClr val="000000"/>
                      </a:solidFill>
                      <a:prstDash val="solid"/>
                    </a:lnR>
                    <a:lnT w="19050">
                      <a:solidFill>
                        <a:srgbClr val="000000"/>
                      </a:solidFill>
                      <a:prstDash val="solid"/>
                    </a:lnT>
                  </a:tcPr>
                </a:tc>
                <a:tc vMerge="1">
                  <a:txBody>
                    <a:bodyPr/>
                    <a:lstStyle/>
                    <a:p>
                      <a:endParaRPr lang="en-US"/>
                    </a:p>
                  </a:txBody>
                  <a:tcPr marL="0" marR="0" marT="0" marB="0">
                    <a:lnL w="19050">
                      <a:solidFill>
                        <a:srgbClr val="000000"/>
                      </a:solidFill>
                      <a:prstDash val="solid"/>
                    </a:lnL>
                    <a:lnR w="19050">
                      <a:solidFill>
                        <a:srgbClr val="000000"/>
                      </a:solidFill>
                      <a:prstDash val="solid"/>
                    </a:lnR>
                    <a:lnT w="19050">
                      <a:solidFill>
                        <a:srgbClr val="000000"/>
                      </a:solidFill>
                      <a:prstDash val="solid"/>
                    </a:lnT>
                  </a:tcPr>
                </a:tc>
                <a:tc>
                  <a:txBody>
                    <a:bodyPr/>
                    <a:lstStyle/>
                    <a:p>
                      <a:pPr marL="244475">
                        <a:lnSpc>
                          <a:spcPct val="100000"/>
                        </a:lnSpc>
                        <a:spcBef>
                          <a:spcPts val="85"/>
                        </a:spcBef>
                        <a:tabLst>
                          <a:tab pos="1075055" algn="l"/>
                        </a:tabLst>
                      </a:pPr>
                      <a:r>
                        <a:rPr sz="1600" b="1" dirty="0">
                          <a:latin typeface="Times New Roman" panose="02020603050405020304"/>
                          <a:cs typeface="Times New Roman" panose="02020603050405020304"/>
                        </a:rPr>
                        <a:t>-	-</a:t>
                      </a:r>
                      <a:endParaRPr sz="1600">
                        <a:latin typeface="Times New Roman" panose="02020603050405020304"/>
                        <a:cs typeface="Times New Roman" panose="02020603050405020304"/>
                      </a:endParaRPr>
                    </a:p>
                  </a:txBody>
                  <a:tcPr marL="0" marR="0" marT="0" marB="0">
                    <a:lnL w="19050">
                      <a:solidFill>
                        <a:srgbClr val="000000"/>
                      </a:solidFill>
                      <a:prstDash val="solid"/>
                    </a:lnL>
                  </a:tcPr>
                </a:tc>
                <a:tc>
                  <a:txBody>
                    <a:bodyPr/>
                    <a:lstStyle/>
                    <a:p>
                      <a:pPr marR="393065" algn="r">
                        <a:lnSpc>
                          <a:spcPct val="100000"/>
                        </a:lnSpc>
                        <a:spcBef>
                          <a:spcPts val="85"/>
                        </a:spcBef>
                      </a:pPr>
                      <a:r>
                        <a:rPr sz="1600" b="1" dirty="0">
                          <a:latin typeface="Times New Roman" panose="02020603050405020304"/>
                          <a:cs typeface="Times New Roman" panose="02020603050405020304"/>
                        </a:rPr>
                        <a:t>X</a:t>
                      </a:r>
                      <a:endParaRPr sz="1600">
                        <a:latin typeface="Times New Roman" panose="02020603050405020304"/>
                        <a:cs typeface="Times New Roman" panose="02020603050405020304"/>
                      </a:endParaRPr>
                    </a:p>
                  </a:txBody>
                  <a:tcPr marL="0" marR="0" marT="0" marB="0"/>
                </a:tc>
                <a:tc>
                  <a:txBody>
                    <a:bodyPr/>
                    <a:lstStyle/>
                    <a:p>
                      <a:pPr marR="15875" algn="ctr">
                        <a:lnSpc>
                          <a:spcPct val="100000"/>
                        </a:lnSpc>
                        <a:spcBef>
                          <a:spcPts val="85"/>
                        </a:spcBef>
                      </a:pPr>
                      <a:r>
                        <a:rPr sz="1600" b="1" dirty="0">
                          <a:latin typeface="Times New Roman" panose="02020603050405020304"/>
                          <a:cs typeface="Times New Roman" panose="02020603050405020304"/>
                        </a:rPr>
                        <a:t>-</a:t>
                      </a:r>
                      <a:endParaRPr sz="1600">
                        <a:latin typeface="Times New Roman" panose="02020603050405020304"/>
                        <a:cs typeface="Times New Roman" panose="02020603050405020304"/>
                      </a:endParaRPr>
                    </a:p>
                  </a:txBody>
                  <a:tcPr marL="0" marR="0" marT="0" marB="0"/>
                </a:tc>
              </a:tr>
              <a:tr h="380866">
                <a:tc vMerge="1">
                  <a:txBody>
                    <a:bodyPr/>
                    <a:lstStyle/>
                    <a:p>
                      <a:endParaRPr lang="en-US"/>
                    </a:p>
                  </a:txBody>
                  <a:tcPr marL="0" marR="0" marT="0" marB="0">
                    <a:lnR w="19050">
                      <a:solidFill>
                        <a:srgbClr val="000000"/>
                      </a:solidFill>
                      <a:prstDash val="solid"/>
                    </a:lnR>
                    <a:lnT w="19050">
                      <a:solidFill>
                        <a:srgbClr val="000000"/>
                      </a:solidFill>
                      <a:prstDash val="solid"/>
                    </a:lnT>
                  </a:tcPr>
                </a:tc>
                <a:tc vMerge="1">
                  <a:txBody>
                    <a:bodyPr/>
                    <a:lstStyle/>
                    <a:p>
                      <a:endParaRPr lang="en-US"/>
                    </a:p>
                  </a:txBody>
                  <a:tcPr marL="0" marR="0" marT="0" marB="0">
                    <a:lnL w="19050">
                      <a:solidFill>
                        <a:srgbClr val="000000"/>
                      </a:solidFill>
                      <a:prstDash val="solid"/>
                    </a:lnL>
                    <a:lnR w="19050">
                      <a:solidFill>
                        <a:srgbClr val="000000"/>
                      </a:solidFill>
                      <a:prstDash val="solid"/>
                    </a:lnR>
                    <a:lnT w="19050">
                      <a:solidFill>
                        <a:srgbClr val="000000"/>
                      </a:solidFill>
                      <a:prstDash val="solid"/>
                    </a:lnT>
                  </a:tcPr>
                </a:tc>
                <a:tc>
                  <a:txBody>
                    <a:bodyPr/>
                    <a:lstStyle/>
                    <a:p>
                      <a:pPr marR="328930" algn="r">
                        <a:lnSpc>
                          <a:spcPct val="100000"/>
                        </a:lnSpc>
                        <a:spcBef>
                          <a:spcPts val="140"/>
                        </a:spcBef>
                        <a:tabLst>
                          <a:tab pos="881380" algn="l"/>
                        </a:tabLst>
                      </a:pPr>
                      <a:r>
                        <a:rPr sz="1600" b="1" dirty="0">
                          <a:latin typeface="Times New Roman" panose="02020603050405020304"/>
                          <a:cs typeface="Times New Roman" panose="02020603050405020304"/>
                        </a:rPr>
                        <a:t>-	-</a:t>
                      </a:r>
                      <a:endParaRPr sz="1600">
                        <a:latin typeface="Times New Roman" panose="02020603050405020304"/>
                        <a:cs typeface="Times New Roman" panose="02020603050405020304"/>
                      </a:endParaRPr>
                    </a:p>
                  </a:txBody>
                  <a:tcPr marL="0" marR="0" marT="0" marB="0">
                    <a:lnL w="19050">
                      <a:solidFill>
                        <a:srgbClr val="000000"/>
                      </a:solidFill>
                      <a:prstDash val="solid"/>
                    </a:lnL>
                  </a:tcPr>
                </a:tc>
                <a:tc>
                  <a:txBody>
                    <a:bodyPr/>
                    <a:lstStyle/>
                    <a:p>
                      <a:pPr marR="402590" algn="r">
                        <a:lnSpc>
                          <a:spcPct val="100000"/>
                        </a:lnSpc>
                        <a:spcBef>
                          <a:spcPts val="140"/>
                        </a:spcBef>
                      </a:pPr>
                      <a:r>
                        <a:rPr sz="1600" b="1" dirty="0">
                          <a:latin typeface="Times New Roman" panose="02020603050405020304"/>
                          <a:cs typeface="Times New Roman" panose="02020603050405020304"/>
                        </a:rPr>
                        <a:t>X</a:t>
                      </a:r>
                      <a:endParaRPr sz="1600">
                        <a:latin typeface="Times New Roman" panose="02020603050405020304"/>
                        <a:cs typeface="Times New Roman" panose="02020603050405020304"/>
                      </a:endParaRPr>
                    </a:p>
                  </a:txBody>
                  <a:tcPr marL="0" marR="0" marT="0" marB="0"/>
                </a:tc>
                <a:tc>
                  <a:txBody>
                    <a:bodyPr/>
                    <a:lstStyle/>
                    <a:p>
                      <a:pPr marR="511810" algn="r">
                        <a:lnSpc>
                          <a:spcPct val="100000"/>
                        </a:lnSpc>
                        <a:spcBef>
                          <a:spcPts val="140"/>
                        </a:spcBef>
                      </a:pPr>
                      <a:r>
                        <a:rPr sz="1600" b="1" dirty="0">
                          <a:latin typeface="Times New Roman" panose="02020603050405020304"/>
                          <a:cs typeface="Times New Roman" panose="02020603050405020304"/>
                        </a:rPr>
                        <a:t>X</a:t>
                      </a:r>
                      <a:endParaRPr sz="1600">
                        <a:latin typeface="Times New Roman" panose="02020603050405020304"/>
                        <a:cs typeface="Times New Roman" panose="02020603050405020304"/>
                      </a:endParaRPr>
                    </a:p>
                  </a:txBody>
                  <a:tcPr marL="0" marR="0" marT="0" marB="0"/>
                </a:tc>
              </a:tr>
              <a:tr h="383062">
                <a:tc vMerge="1">
                  <a:txBody>
                    <a:bodyPr/>
                    <a:lstStyle/>
                    <a:p>
                      <a:endParaRPr lang="en-US"/>
                    </a:p>
                  </a:txBody>
                  <a:tcPr marL="0" marR="0" marT="0" marB="0">
                    <a:lnR w="19050">
                      <a:solidFill>
                        <a:srgbClr val="000000"/>
                      </a:solidFill>
                      <a:prstDash val="solid"/>
                    </a:lnR>
                    <a:lnT w="19050">
                      <a:solidFill>
                        <a:srgbClr val="000000"/>
                      </a:solidFill>
                      <a:prstDash val="solid"/>
                    </a:lnT>
                  </a:tcPr>
                </a:tc>
                <a:tc vMerge="1">
                  <a:txBody>
                    <a:bodyPr/>
                    <a:lstStyle/>
                    <a:p>
                      <a:endParaRPr lang="en-US"/>
                    </a:p>
                  </a:txBody>
                  <a:tcPr marL="0" marR="0" marT="0" marB="0">
                    <a:lnL w="19050">
                      <a:solidFill>
                        <a:srgbClr val="000000"/>
                      </a:solidFill>
                      <a:prstDash val="solid"/>
                    </a:lnL>
                    <a:lnR w="19050">
                      <a:solidFill>
                        <a:srgbClr val="000000"/>
                      </a:solidFill>
                      <a:prstDash val="solid"/>
                    </a:lnR>
                    <a:lnT w="19050">
                      <a:solidFill>
                        <a:srgbClr val="000000"/>
                      </a:solidFill>
                      <a:prstDash val="solid"/>
                    </a:lnT>
                  </a:tcPr>
                </a:tc>
                <a:tc>
                  <a:txBody>
                    <a:bodyPr/>
                    <a:lstStyle/>
                    <a:p>
                      <a:pPr marL="219075">
                        <a:lnSpc>
                          <a:spcPct val="100000"/>
                        </a:lnSpc>
                        <a:spcBef>
                          <a:spcPts val="630"/>
                        </a:spcBef>
                        <a:tabLst>
                          <a:tab pos="997585" algn="l"/>
                        </a:tabLst>
                      </a:pPr>
                      <a:r>
                        <a:rPr sz="1600" b="1" dirty="0">
                          <a:latin typeface="Times New Roman" panose="02020603050405020304"/>
                          <a:cs typeface="Times New Roman" panose="02020603050405020304"/>
                        </a:rPr>
                        <a:t>-	X</a:t>
                      </a:r>
                      <a:endParaRPr sz="1600">
                        <a:latin typeface="Times New Roman" panose="02020603050405020304"/>
                        <a:cs typeface="Times New Roman" panose="02020603050405020304"/>
                      </a:endParaRPr>
                    </a:p>
                  </a:txBody>
                  <a:tcPr marL="0" marR="0" marT="0" marB="0">
                    <a:lnL w="19050">
                      <a:solidFill>
                        <a:srgbClr val="000000"/>
                      </a:solidFill>
                      <a:prstDash val="solid"/>
                    </a:lnL>
                  </a:tcPr>
                </a:tc>
                <a:tc>
                  <a:txBody>
                    <a:bodyPr/>
                    <a:lstStyle/>
                    <a:p>
                      <a:pPr marR="390525" algn="r">
                        <a:lnSpc>
                          <a:spcPct val="100000"/>
                        </a:lnSpc>
                        <a:spcBef>
                          <a:spcPts val="630"/>
                        </a:spcBef>
                      </a:pPr>
                      <a:r>
                        <a:rPr sz="1600" b="1" dirty="0">
                          <a:latin typeface="Times New Roman" panose="02020603050405020304"/>
                          <a:cs typeface="Times New Roman" panose="02020603050405020304"/>
                        </a:rPr>
                        <a:t>X</a:t>
                      </a:r>
                      <a:endParaRPr sz="1600">
                        <a:latin typeface="Times New Roman" panose="02020603050405020304"/>
                        <a:cs typeface="Times New Roman" panose="02020603050405020304"/>
                      </a:endParaRPr>
                    </a:p>
                  </a:txBody>
                  <a:tcPr marL="0" marR="0" marT="0" marB="0"/>
                </a:tc>
                <a:tc>
                  <a:txBody>
                    <a:bodyPr/>
                    <a:lstStyle/>
                    <a:p>
                      <a:pPr marR="500380" algn="r">
                        <a:lnSpc>
                          <a:spcPct val="100000"/>
                        </a:lnSpc>
                        <a:spcBef>
                          <a:spcPts val="630"/>
                        </a:spcBef>
                      </a:pPr>
                      <a:r>
                        <a:rPr sz="1600" b="1" dirty="0">
                          <a:latin typeface="Times New Roman" panose="02020603050405020304"/>
                          <a:cs typeface="Times New Roman" panose="02020603050405020304"/>
                        </a:rPr>
                        <a:t>X</a:t>
                      </a:r>
                      <a:endParaRPr sz="1600">
                        <a:latin typeface="Times New Roman" panose="02020603050405020304"/>
                        <a:cs typeface="Times New Roman" panose="02020603050405020304"/>
                      </a:endParaRPr>
                    </a:p>
                  </a:txBody>
                  <a:tcPr marL="0" marR="0" marT="0" marB="0"/>
                </a:tc>
              </a:tr>
              <a:tr h="357917">
                <a:tc vMerge="1">
                  <a:txBody>
                    <a:bodyPr/>
                    <a:lstStyle/>
                    <a:p>
                      <a:endParaRPr lang="en-US"/>
                    </a:p>
                  </a:txBody>
                  <a:tcPr marL="0" marR="0" marT="0" marB="0">
                    <a:lnR w="19050">
                      <a:solidFill>
                        <a:srgbClr val="000000"/>
                      </a:solidFill>
                      <a:prstDash val="solid"/>
                    </a:lnR>
                    <a:lnT w="19050">
                      <a:solidFill>
                        <a:srgbClr val="000000"/>
                      </a:solidFill>
                      <a:prstDash val="solid"/>
                    </a:lnT>
                  </a:tcPr>
                </a:tc>
                <a:tc vMerge="1">
                  <a:txBody>
                    <a:bodyPr/>
                    <a:lstStyle/>
                    <a:p>
                      <a:endParaRPr lang="en-US"/>
                    </a:p>
                  </a:txBody>
                  <a:tcPr marL="0" marR="0" marT="0" marB="0">
                    <a:lnL w="19050">
                      <a:solidFill>
                        <a:srgbClr val="000000"/>
                      </a:solidFill>
                      <a:prstDash val="solid"/>
                    </a:lnL>
                    <a:lnR w="19050">
                      <a:solidFill>
                        <a:srgbClr val="000000"/>
                      </a:solidFill>
                      <a:prstDash val="solid"/>
                    </a:lnR>
                    <a:lnT w="19050">
                      <a:solidFill>
                        <a:srgbClr val="000000"/>
                      </a:solidFill>
                      <a:prstDash val="solid"/>
                    </a:lnT>
                  </a:tcPr>
                </a:tc>
                <a:tc>
                  <a:txBody>
                    <a:bodyPr/>
                    <a:lstStyle/>
                    <a:p>
                      <a:pPr marR="319405" algn="r">
                        <a:lnSpc>
                          <a:spcPct val="100000"/>
                        </a:lnSpc>
                        <a:spcBef>
                          <a:spcPts val="115"/>
                        </a:spcBef>
                        <a:tabLst>
                          <a:tab pos="793115" algn="l"/>
                        </a:tabLst>
                      </a:pPr>
                      <a:r>
                        <a:rPr sz="1800" b="1" dirty="0">
                          <a:latin typeface="Times New Roman" panose="02020603050405020304"/>
                          <a:cs typeface="Times New Roman" panose="02020603050405020304"/>
                        </a:rPr>
                        <a:t>X 	X</a:t>
                      </a:r>
                      <a:endParaRPr sz="1800">
                        <a:latin typeface="Times New Roman" panose="02020603050405020304"/>
                        <a:cs typeface="Times New Roman" panose="02020603050405020304"/>
                      </a:endParaRPr>
                    </a:p>
                  </a:txBody>
                  <a:tcPr marL="0" marR="0" marT="0" marB="0">
                    <a:lnL w="19050">
                      <a:solidFill>
                        <a:srgbClr val="000000"/>
                      </a:solidFill>
                      <a:prstDash val="solid"/>
                    </a:lnL>
                  </a:tcPr>
                </a:tc>
                <a:tc>
                  <a:txBody>
                    <a:bodyPr/>
                    <a:lstStyle/>
                    <a:p>
                      <a:pPr marR="425450" algn="r">
                        <a:lnSpc>
                          <a:spcPct val="100000"/>
                        </a:lnSpc>
                        <a:spcBef>
                          <a:spcPts val="115"/>
                        </a:spcBef>
                      </a:pPr>
                      <a:r>
                        <a:rPr sz="1800" b="1" dirty="0">
                          <a:latin typeface="Times New Roman" panose="02020603050405020304"/>
                          <a:cs typeface="Times New Roman" panose="02020603050405020304"/>
                        </a:rPr>
                        <a:t>-</a:t>
                      </a:r>
                      <a:endParaRPr sz="1800">
                        <a:latin typeface="Times New Roman" panose="02020603050405020304"/>
                        <a:cs typeface="Times New Roman" panose="02020603050405020304"/>
                      </a:endParaRPr>
                    </a:p>
                  </a:txBody>
                  <a:tcPr marL="0" marR="0" marT="0" marB="0"/>
                </a:tc>
                <a:tc>
                  <a:txBody>
                    <a:bodyPr/>
                    <a:lstStyle/>
                    <a:p>
                      <a:pPr marL="45720" algn="ctr">
                        <a:lnSpc>
                          <a:spcPct val="100000"/>
                        </a:lnSpc>
                        <a:spcBef>
                          <a:spcPts val="115"/>
                        </a:spcBef>
                      </a:pPr>
                      <a:r>
                        <a:rPr sz="1800" b="1" dirty="0">
                          <a:latin typeface="Times New Roman" panose="02020603050405020304"/>
                          <a:cs typeface="Times New Roman" panose="02020603050405020304"/>
                        </a:rPr>
                        <a:t>-</a:t>
                      </a:r>
                      <a:endParaRPr sz="1800" dirty="0">
                        <a:latin typeface="Times New Roman" panose="02020603050405020304"/>
                        <a:cs typeface="Times New Roman" panose="02020603050405020304"/>
                      </a:endParaRPr>
                    </a:p>
                  </a:txBody>
                  <a:tcPr marL="0" marR="0" marT="0" marB="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0674" y="746044"/>
            <a:ext cx="7522845" cy="984885"/>
          </a:xfrm>
          <a:prstGeom prst="rect">
            <a:avLst/>
          </a:prstGeom>
        </p:spPr>
        <p:txBody>
          <a:bodyPr vert="horz" wrap="square" lIns="0" tIns="0" rIns="0" bIns="0" rtlCol="0">
            <a:spAutoFit/>
          </a:bodyPr>
          <a:lstStyle/>
          <a:p>
            <a:pPr marL="707390" marR="5080" indent="-87630">
              <a:lnSpc>
                <a:spcPct val="100000"/>
              </a:lnSpc>
            </a:pPr>
            <a:r>
              <a:rPr lang="en-US" sz="3200" b="1" u="sng" spc="-5" dirty="0" smtClean="0">
                <a:solidFill>
                  <a:srgbClr val="002060"/>
                </a:solidFill>
                <a:latin typeface="Times New Roman" panose="02020603050405020304" pitchFamily="18" charset="0"/>
                <a:cs typeface="Times New Roman" panose="02020603050405020304" pitchFamily="18" charset="0"/>
              </a:rPr>
              <a:t>Comparison of Structured English,  Decision Tables and Decision</a:t>
            </a:r>
            <a:r>
              <a:rPr lang="en-US" sz="3200" b="1" u="sng" spc="-35" dirty="0" smtClean="0">
                <a:solidFill>
                  <a:srgbClr val="002060"/>
                </a:solidFill>
                <a:latin typeface="Times New Roman" panose="02020603050405020304" pitchFamily="18" charset="0"/>
                <a:cs typeface="Times New Roman" panose="02020603050405020304" pitchFamily="18" charset="0"/>
              </a:rPr>
              <a:t> </a:t>
            </a:r>
            <a:r>
              <a:rPr lang="en-US" sz="3200" b="1" u="sng" spc="-5" dirty="0" smtClean="0">
                <a:solidFill>
                  <a:srgbClr val="002060"/>
                </a:solidFill>
                <a:latin typeface="Times New Roman" panose="02020603050405020304" pitchFamily="18" charset="0"/>
                <a:cs typeface="Times New Roman" panose="02020603050405020304" pitchFamily="18" charset="0"/>
              </a:rPr>
              <a:t>Trees</a:t>
            </a:r>
            <a:endParaRPr lang="en-US" sz="3200" b="1" u="sng" spc="-5" dirty="0">
              <a:solidFill>
                <a:srgbClr val="002060"/>
              </a:solidFill>
              <a:latin typeface="Times New Roman" panose="02020603050405020304" pitchFamily="18" charset="0"/>
              <a:cs typeface="Times New Roman" panose="02020603050405020304" pitchFamily="18" charset="0"/>
            </a:endParaRPr>
          </a:p>
        </p:txBody>
      </p:sp>
      <p:graphicFrame>
        <p:nvGraphicFramePr>
          <p:cNvPr id="7" name="object 7"/>
          <p:cNvGraphicFramePr>
            <a:graphicFrameLocks noGrp="1"/>
          </p:cNvGraphicFramePr>
          <p:nvPr/>
        </p:nvGraphicFramePr>
        <p:xfrm>
          <a:off x="820674" y="1892301"/>
          <a:ext cx="7853426" cy="4267200"/>
        </p:xfrm>
        <a:graphic>
          <a:graphicData uri="http://schemas.openxmlformats.org/drawingml/2006/table">
            <a:tbl>
              <a:tblPr firstRow="1" bandRow="1">
                <a:tableStyleId>{2D5ABB26-0587-4C30-8999-92F81FD0307C}</a:tableStyleId>
              </a:tblPr>
              <a:tblGrid>
                <a:gridCol w="2138426"/>
                <a:gridCol w="2286000"/>
                <a:gridCol w="1600200"/>
                <a:gridCol w="1828800"/>
              </a:tblGrid>
              <a:tr h="1001074">
                <a:tc>
                  <a:txBody>
                    <a:bodyPr/>
                    <a:lstStyle/>
                    <a:p>
                      <a:pPr marL="77470" marR="160020">
                        <a:lnSpc>
                          <a:spcPct val="100000"/>
                        </a:lnSpc>
                        <a:spcBef>
                          <a:spcPts val="195"/>
                        </a:spcBef>
                      </a:pPr>
                      <a:r>
                        <a:rPr sz="1600" b="1" spc="-5" dirty="0">
                          <a:latin typeface="Times New Roman" panose="02020603050405020304"/>
                          <a:cs typeface="Times New Roman" panose="02020603050405020304"/>
                        </a:rPr>
                        <a:t>CRITERION  FOR  COMP</a:t>
                      </a:r>
                      <a:r>
                        <a:rPr sz="1600" b="1" spc="-15" dirty="0">
                          <a:latin typeface="Times New Roman" panose="02020603050405020304"/>
                          <a:cs typeface="Times New Roman" panose="02020603050405020304"/>
                        </a:rPr>
                        <a:t>A</a:t>
                      </a:r>
                      <a:r>
                        <a:rPr sz="1600" b="1" dirty="0">
                          <a:latin typeface="Times New Roman" panose="02020603050405020304"/>
                          <a:cs typeface="Times New Roman" panose="02020603050405020304"/>
                        </a:rPr>
                        <a:t>R</a:t>
                      </a:r>
                      <a:r>
                        <a:rPr sz="1600" b="1" spc="-5" dirty="0">
                          <a:latin typeface="Times New Roman" panose="02020603050405020304"/>
                          <a:cs typeface="Times New Roman" panose="02020603050405020304"/>
                        </a:rPr>
                        <a:t>ISON</a:t>
                      </a:r>
                      <a:endParaRPr sz="1600" dirty="0">
                        <a:latin typeface="Times New Roman" panose="02020603050405020304"/>
                        <a:cs typeface="Times New Roman" panose="02020603050405020304"/>
                      </a:endParaRPr>
                    </a:p>
                  </a:txBody>
                  <a:tcPr marL="0" marR="0" marT="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algn="ctr">
                        <a:lnSpc>
                          <a:spcPct val="100000"/>
                        </a:lnSpc>
                        <a:spcBef>
                          <a:spcPts val="195"/>
                        </a:spcBef>
                      </a:pPr>
                      <a:r>
                        <a:rPr sz="1600" b="1" spc="-10" dirty="0">
                          <a:latin typeface="Times New Roman" panose="02020603050405020304"/>
                          <a:cs typeface="Times New Roman" panose="02020603050405020304"/>
                        </a:rPr>
                        <a:t>STRUCTURED</a:t>
                      </a:r>
                      <a:endParaRPr sz="1600">
                        <a:latin typeface="Times New Roman" panose="02020603050405020304"/>
                        <a:cs typeface="Times New Roman" panose="02020603050405020304"/>
                      </a:endParaRPr>
                    </a:p>
                    <a:p>
                      <a:pPr algn="ctr">
                        <a:lnSpc>
                          <a:spcPct val="100000"/>
                        </a:lnSpc>
                        <a:spcBef>
                          <a:spcPts val="395"/>
                        </a:spcBef>
                      </a:pPr>
                      <a:r>
                        <a:rPr sz="1600" b="1" spc="-5" dirty="0">
                          <a:latin typeface="Times New Roman" panose="02020603050405020304"/>
                          <a:cs typeface="Times New Roman" panose="02020603050405020304"/>
                        </a:rPr>
                        <a:t>ENGLISH</a:t>
                      </a:r>
                      <a:endParaRPr sz="16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algn="ctr">
                        <a:lnSpc>
                          <a:spcPct val="100000"/>
                        </a:lnSpc>
                        <a:spcBef>
                          <a:spcPts val="195"/>
                        </a:spcBef>
                      </a:pPr>
                      <a:r>
                        <a:rPr sz="1600" b="1" spc="-5" dirty="0">
                          <a:latin typeface="Times New Roman" panose="02020603050405020304"/>
                          <a:cs typeface="Times New Roman" panose="02020603050405020304"/>
                        </a:rPr>
                        <a:t>DECISION</a:t>
                      </a:r>
                      <a:endParaRPr sz="1600">
                        <a:latin typeface="Times New Roman" panose="02020603050405020304"/>
                        <a:cs typeface="Times New Roman" panose="02020603050405020304"/>
                      </a:endParaRPr>
                    </a:p>
                    <a:p>
                      <a:pPr algn="ctr">
                        <a:lnSpc>
                          <a:spcPct val="100000"/>
                        </a:lnSpc>
                        <a:spcBef>
                          <a:spcPts val="395"/>
                        </a:spcBef>
                      </a:pPr>
                      <a:r>
                        <a:rPr sz="1600" b="1" spc="-10" dirty="0">
                          <a:latin typeface="Times New Roman" panose="02020603050405020304"/>
                          <a:cs typeface="Times New Roman" panose="02020603050405020304"/>
                        </a:rPr>
                        <a:t>TABLES</a:t>
                      </a:r>
                      <a:endParaRPr sz="16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7620" algn="ctr">
                        <a:lnSpc>
                          <a:spcPct val="100000"/>
                        </a:lnSpc>
                        <a:spcBef>
                          <a:spcPts val="195"/>
                        </a:spcBef>
                      </a:pPr>
                      <a:r>
                        <a:rPr sz="1600" b="1" spc="-5" dirty="0" smtClean="0">
                          <a:latin typeface="Times New Roman" panose="02020603050405020304"/>
                          <a:cs typeface="Times New Roman" panose="02020603050405020304"/>
                        </a:rPr>
                        <a:t>DECISION</a:t>
                      </a:r>
                      <a:r>
                        <a:rPr lang="en-US" sz="1600" b="0" spc="0" baseline="0" dirty="0" smtClean="0">
                          <a:latin typeface="Times New Roman" panose="02020603050405020304"/>
                          <a:cs typeface="Times New Roman" panose="02020603050405020304"/>
                        </a:rPr>
                        <a:t> </a:t>
                      </a:r>
                    </a:p>
                    <a:p>
                      <a:pPr marL="7620" algn="ctr">
                        <a:lnSpc>
                          <a:spcPct val="100000"/>
                        </a:lnSpc>
                        <a:spcBef>
                          <a:spcPts val="195"/>
                        </a:spcBef>
                      </a:pPr>
                      <a:r>
                        <a:rPr sz="1600" b="1" spc="-5" dirty="0" smtClean="0">
                          <a:latin typeface="Times New Roman" panose="02020603050405020304"/>
                          <a:cs typeface="Times New Roman" panose="02020603050405020304"/>
                        </a:rPr>
                        <a:t>TREES</a:t>
                      </a:r>
                      <a:endParaRPr sz="1600" dirty="0">
                        <a:latin typeface="Times New Roman" panose="02020603050405020304"/>
                        <a:cs typeface="Times New Roman" panose="02020603050405020304"/>
                      </a:endParaRPr>
                    </a:p>
                  </a:txBody>
                  <a:tcPr marL="0" marR="0" marT="0"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tr>
              <a:tr h="976177">
                <a:tc>
                  <a:txBody>
                    <a:bodyPr/>
                    <a:lstStyle/>
                    <a:p>
                      <a:pPr marL="77470" marR="260985">
                        <a:lnSpc>
                          <a:spcPct val="100000"/>
                        </a:lnSpc>
                        <a:spcBef>
                          <a:spcPts val="255"/>
                        </a:spcBef>
                      </a:pPr>
                      <a:r>
                        <a:rPr sz="1600" b="1" spc="-5" dirty="0">
                          <a:latin typeface="Times New Roman" panose="02020603050405020304"/>
                          <a:cs typeface="Times New Roman" panose="02020603050405020304"/>
                        </a:rPr>
                        <a:t>ISOLATING  CONDITIONS  </a:t>
                      </a:r>
                      <a:r>
                        <a:rPr sz="1600" b="1" dirty="0">
                          <a:latin typeface="Times New Roman" panose="02020603050405020304"/>
                          <a:cs typeface="Times New Roman" panose="02020603050405020304"/>
                        </a:rPr>
                        <a:t>&amp;</a:t>
                      </a:r>
                      <a:r>
                        <a:rPr sz="1600" b="1" spc="-95" dirty="0">
                          <a:latin typeface="Times New Roman" panose="02020603050405020304"/>
                          <a:cs typeface="Times New Roman" panose="02020603050405020304"/>
                        </a:rPr>
                        <a:t> </a:t>
                      </a:r>
                      <a:r>
                        <a:rPr sz="1600" b="1" spc="-5" dirty="0">
                          <a:latin typeface="Times New Roman" panose="02020603050405020304"/>
                          <a:cs typeface="Times New Roman" panose="02020603050405020304"/>
                        </a:rPr>
                        <a:t>ACTIONS</a:t>
                      </a:r>
                      <a:endParaRPr sz="1600">
                        <a:latin typeface="Times New Roman" panose="02020603050405020304"/>
                        <a:cs typeface="Times New Roman" panose="02020603050405020304"/>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5"/>
                        </a:spcBef>
                      </a:pPr>
                      <a:endParaRPr sz="1600">
                        <a:latin typeface="Times New Roman" panose="02020603050405020304"/>
                        <a:cs typeface="Times New Roman" panose="02020603050405020304"/>
                      </a:endParaRPr>
                    </a:p>
                    <a:p>
                      <a:pPr marL="261620">
                        <a:lnSpc>
                          <a:spcPct val="100000"/>
                        </a:lnSpc>
                      </a:pPr>
                      <a:r>
                        <a:rPr sz="1600" b="1" dirty="0">
                          <a:latin typeface="Times New Roman" panose="02020603050405020304"/>
                          <a:cs typeface="Times New Roman" panose="02020603050405020304"/>
                        </a:rPr>
                        <a:t>NOT</a:t>
                      </a:r>
                      <a:r>
                        <a:rPr sz="1600" b="1" spc="-95" dirty="0">
                          <a:latin typeface="Times New Roman" panose="02020603050405020304"/>
                          <a:cs typeface="Times New Roman" panose="02020603050405020304"/>
                        </a:rPr>
                        <a:t> </a:t>
                      </a:r>
                      <a:r>
                        <a:rPr sz="1600" b="1" dirty="0">
                          <a:latin typeface="Times New Roman" panose="02020603050405020304"/>
                          <a:cs typeface="Times New Roman" panose="02020603050405020304"/>
                        </a:rPr>
                        <a:t>GOOD</a:t>
                      </a:r>
                      <a:endParaRPr sz="16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5"/>
                        </a:spcBef>
                      </a:pPr>
                      <a:endParaRPr sz="1600">
                        <a:latin typeface="Times New Roman" panose="02020603050405020304"/>
                        <a:cs typeface="Times New Roman" panose="02020603050405020304"/>
                      </a:endParaRPr>
                    </a:p>
                    <a:p>
                      <a:pPr marL="238125">
                        <a:lnSpc>
                          <a:spcPct val="100000"/>
                        </a:lnSpc>
                      </a:pPr>
                      <a:r>
                        <a:rPr sz="1600" b="1" spc="-5" dirty="0">
                          <a:latin typeface="Times New Roman" panose="02020603050405020304"/>
                          <a:cs typeface="Times New Roman" panose="02020603050405020304"/>
                        </a:rPr>
                        <a:t>BEST</a:t>
                      </a:r>
                      <a:endParaRPr sz="16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5"/>
                        </a:spcBef>
                      </a:pPr>
                      <a:endParaRPr sz="1600">
                        <a:latin typeface="Times New Roman" panose="02020603050405020304"/>
                        <a:cs typeface="Times New Roman" panose="02020603050405020304"/>
                      </a:endParaRPr>
                    </a:p>
                    <a:p>
                      <a:pPr marL="187960">
                        <a:lnSpc>
                          <a:spcPct val="100000"/>
                        </a:lnSpc>
                      </a:pPr>
                      <a:r>
                        <a:rPr sz="1600" b="1" dirty="0">
                          <a:latin typeface="Times New Roman" panose="02020603050405020304"/>
                          <a:cs typeface="Times New Roman" panose="02020603050405020304"/>
                        </a:rPr>
                        <a:t>GOOD</a:t>
                      </a:r>
                      <a:endParaRPr sz="1600">
                        <a:latin typeface="Times New Roman" panose="02020603050405020304"/>
                        <a:cs typeface="Times New Roman" panose="02020603050405020304"/>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tr>
              <a:tr h="976176">
                <a:tc>
                  <a:txBody>
                    <a:bodyPr/>
                    <a:lstStyle/>
                    <a:p>
                      <a:pPr marL="77470" marR="206375" algn="just">
                        <a:lnSpc>
                          <a:spcPct val="100000"/>
                        </a:lnSpc>
                        <a:spcBef>
                          <a:spcPts val="255"/>
                        </a:spcBef>
                      </a:pPr>
                      <a:r>
                        <a:rPr sz="1600" b="1" spc="-5" dirty="0">
                          <a:latin typeface="Times New Roman" panose="02020603050405020304"/>
                          <a:cs typeface="Times New Roman" panose="02020603050405020304"/>
                        </a:rPr>
                        <a:t>SEQUENCING  </a:t>
                      </a:r>
                      <a:r>
                        <a:rPr sz="1600" b="1" spc="-5" dirty="0" smtClean="0">
                          <a:latin typeface="Times New Roman" panose="02020603050405020304"/>
                          <a:cs typeface="Times New Roman" panose="02020603050405020304"/>
                        </a:rPr>
                        <a:t>CONDITIONS</a:t>
                      </a:r>
                      <a:r>
                        <a:rPr lang="en-US" sz="1600" b="1" spc="-5" baseline="0" dirty="0" smtClean="0">
                          <a:latin typeface="Times New Roman" panose="02020603050405020304"/>
                          <a:cs typeface="Times New Roman" panose="02020603050405020304"/>
                        </a:rPr>
                        <a:t> </a:t>
                      </a:r>
                      <a:r>
                        <a:rPr sz="1600" b="1" spc="-5" dirty="0" smtClean="0">
                          <a:latin typeface="Times New Roman" panose="02020603050405020304"/>
                          <a:cs typeface="Times New Roman" panose="02020603050405020304"/>
                        </a:rPr>
                        <a:t>BY</a:t>
                      </a:r>
                      <a:r>
                        <a:rPr sz="1600" b="1" spc="-85" dirty="0" smtClean="0">
                          <a:latin typeface="Times New Roman" panose="02020603050405020304"/>
                          <a:cs typeface="Times New Roman" panose="02020603050405020304"/>
                        </a:rPr>
                        <a:t> </a:t>
                      </a:r>
                      <a:r>
                        <a:rPr sz="1600" b="1" spc="-5" dirty="0">
                          <a:latin typeface="Times New Roman" panose="02020603050405020304"/>
                          <a:cs typeface="Times New Roman" panose="02020603050405020304"/>
                        </a:rPr>
                        <a:t>PRIORITY</a:t>
                      </a:r>
                      <a:endParaRPr sz="1600" dirty="0">
                        <a:latin typeface="Times New Roman" panose="02020603050405020304"/>
                        <a:cs typeface="Times New Roman" panose="02020603050405020304"/>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40"/>
                        </a:spcBef>
                      </a:pPr>
                      <a:endParaRPr sz="1600">
                        <a:latin typeface="Times New Roman" panose="02020603050405020304"/>
                        <a:cs typeface="Times New Roman" panose="02020603050405020304"/>
                      </a:endParaRPr>
                    </a:p>
                    <a:p>
                      <a:pPr marL="238760">
                        <a:lnSpc>
                          <a:spcPct val="100000"/>
                        </a:lnSpc>
                        <a:spcBef>
                          <a:spcPts val="5"/>
                        </a:spcBef>
                      </a:pPr>
                      <a:r>
                        <a:rPr sz="1600" b="1" dirty="0">
                          <a:latin typeface="Times New Roman" panose="02020603050405020304"/>
                          <a:cs typeface="Times New Roman" panose="02020603050405020304"/>
                        </a:rPr>
                        <a:t>GOOD</a:t>
                      </a:r>
                      <a:endParaRPr sz="16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40"/>
                        </a:spcBef>
                      </a:pPr>
                      <a:endParaRPr sz="1600">
                        <a:latin typeface="Times New Roman" panose="02020603050405020304"/>
                        <a:cs typeface="Times New Roman" panose="02020603050405020304"/>
                      </a:endParaRPr>
                    </a:p>
                    <a:p>
                      <a:pPr marL="85725" marR="642620" indent="100330">
                        <a:lnSpc>
                          <a:spcPct val="100000"/>
                        </a:lnSpc>
                        <a:spcBef>
                          <a:spcPts val="5"/>
                        </a:spcBef>
                      </a:pPr>
                      <a:r>
                        <a:rPr sz="1600" b="1" dirty="0">
                          <a:latin typeface="Times New Roman" panose="02020603050405020304"/>
                          <a:cs typeface="Times New Roman" panose="02020603050405020304"/>
                        </a:rPr>
                        <a:t>NOT  GOOD</a:t>
                      </a:r>
                      <a:endParaRPr sz="16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40"/>
                        </a:spcBef>
                      </a:pPr>
                      <a:endParaRPr sz="1600">
                        <a:latin typeface="Times New Roman" panose="02020603050405020304"/>
                        <a:cs typeface="Times New Roman" panose="02020603050405020304"/>
                      </a:endParaRPr>
                    </a:p>
                    <a:p>
                      <a:pPr marL="186690">
                        <a:lnSpc>
                          <a:spcPct val="100000"/>
                        </a:lnSpc>
                        <a:spcBef>
                          <a:spcPts val="5"/>
                        </a:spcBef>
                      </a:pPr>
                      <a:r>
                        <a:rPr sz="1600" b="1" spc="-5" dirty="0">
                          <a:latin typeface="Times New Roman" panose="02020603050405020304"/>
                          <a:cs typeface="Times New Roman" panose="02020603050405020304"/>
                        </a:rPr>
                        <a:t>BEST</a:t>
                      </a:r>
                      <a:endParaRPr sz="1600">
                        <a:latin typeface="Times New Roman" panose="02020603050405020304"/>
                        <a:cs typeface="Times New Roman" panose="02020603050405020304"/>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tr>
              <a:tr h="1313773">
                <a:tc>
                  <a:txBody>
                    <a:bodyPr/>
                    <a:lstStyle/>
                    <a:p>
                      <a:pPr marL="77470" marR="105410">
                        <a:lnSpc>
                          <a:spcPct val="100000"/>
                        </a:lnSpc>
                        <a:spcBef>
                          <a:spcPts val="265"/>
                        </a:spcBef>
                      </a:pPr>
                      <a:r>
                        <a:rPr sz="1600" b="1" spc="-5" dirty="0">
                          <a:latin typeface="Times New Roman" panose="02020603050405020304"/>
                          <a:cs typeface="Times New Roman" panose="02020603050405020304"/>
                        </a:rPr>
                        <a:t>CHECKING FOR  </a:t>
                      </a:r>
                      <a:r>
                        <a:rPr sz="1600" b="1" dirty="0">
                          <a:latin typeface="Times New Roman" panose="02020603050405020304"/>
                          <a:cs typeface="Times New Roman" panose="02020603050405020304"/>
                        </a:rPr>
                        <a:t>COMPLETENESS</a:t>
                      </a:r>
                      <a:endParaRPr sz="1600">
                        <a:latin typeface="Times New Roman" panose="02020603050405020304"/>
                        <a:cs typeface="Times New Roman" panose="02020603050405020304"/>
                      </a:endParaRPr>
                    </a:p>
                    <a:p>
                      <a:pPr marL="77470" marR="144780">
                        <a:lnSpc>
                          <a:spcPts val="1670"/>
                        </a:lnSpc>
                        <a:spcBef>
                          <a:spcPts val="55"/>
                        </a:spcBef>
                      </a:pPr>
                      <a:r>
                        <a:rPr sz="1600" b="1" spc="-5" dirty="0">
                          <a:latin typeface="Times New Roman" panose="02020603050405020304"/>
                          <a:cs typeface="Times New Roman" panose="02020603050405020304"/>
                        </a:rPr>
                        <a:t>,  </a:t>
                      </a:r>
                      <a:r>
                        <a:rPr sz="1600" b="1" dirty="0">
                          <a:latin typeface="Times New Roman" panose="02020603050405020304"/>
                          <a:cs typeface="Times New Roman" panose="02020603050405020304"/>
                        </a:rPr>
                        <a:t>CONTRADICTIO</a:t>
                      </a:r>
                      <a:endParaRPr sz="1600">
                        <a:latin typeface="Times New Roman" panose="02020603050405020304"/>
                        <a:cs typeface="Times New Roman" panose="02020603050405020304"/>
                      </a:endParaRPr>
                    </a:p>
                    <a:p>
                      <a:pPr marL="77470" marR="340995">
                        <a:lnSpc>
                          <a:spcPts val="1670"/>
                        </a:lnSpc>
                        <a:spcBef>
                          <a:spcPts val="10"/>
                        </a:spcBef>
                      </a:pPr>
                      <a:r>
                        <a:rPr sz="1600" b="1" spc="-5" dirty="0">
                          <a:latin typeface="Times New Roman" panose="02020603050405020304"/>
                          <a:cs typeface="Times New Roman" panose="02020603050405020304"/>
                        </a:rPr>
                        <a:t>N &amp;  </a:t>
                      </a:r>
                      <a:r>
                        <a:rPr sz="1600" b="1" spc="5" dirty="0">
                          <a:latin typeface="Times New Roman" panose="02020603050405020304"/>
                          <a:cs typeface="Times New Roman" panose="02020603050405020304"/>
                        </a:rPr>
                        <a:t>AMBIGUITI</a:t>
                      </a:r>
                      <a:r>
                        <a:rPr sz="1600" b="1" spc="-5" dirty="0">
                          <a:latin typeface="Times New Roman" panose="02020603050405020304"/>
                          <a:cs typeface="Times New Roman" panose="02020603050405020304"/>
                        </a:rPr>
                        <a:t>E</a:t>
                      </a:r>
                      <a:r>
                        <a:rPr sz="1600" b="1" dirty="0">
                          <a:latin typeface="Times New Roman" panose="02020603050405020304"/>
                          <a:cs typeface="Times New Roman" panose="02020603050405020304"/>
                        </a:rPr>
                        <a:t>S</a:t>
                      </a:r>
                      <a:endParaRPr sz="1600">
                        <a:latin typeface="Times New Roman" panose="02020603050405020304"/>
                        <a:cs typeface="Times New Roman" panose="02020603050405020304"/>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nSpc>
                          <a:spcPct val="100000"/>
                        </a:lnSpc>
                        <a:spcBef>
                          <a:spcPts val="40"/>
                        </a:spcBef>
                      </a:pPr>
                      <a:endParaRPr sz="1600">
                        <a:latin typeface="Times New Roman" panose="02020603050405020304"/>
                        <a:cs typeface="Times New Roman" panose="02020603050405020304"/>
                      </a:endParaRPr>
                    </a:p>
                    <a:p>
                      <a:pPr marL="135890">
                        <a:lnSpc>
                          <a:spcPct val="100000"/>
                        </a:lnSpc>
                        <a:spcBef>
                          <a:spcPts val="5"/>
                        </a:spcBef>
                      </a:pPr>
                      <a:r>
                        <a:rPr sz="1600" b="1" dirty="0">
                          <a:latin typeface="Times New Roman" panose="02020603050405020304"/>
                          <a:cs typeface="Times New Roman" panose="02020603050405020304"/>
                        </a:rPr>
                        <a:t>NOT</a:t>
                      </a:r>
                      <a:r>
                        <a:rPr sz="1600" b="1" spc="-95" dirty="0">
                          <a:latin typeface="Times New Roman" panose="02020603050405020304"/>
                          <a:cs typeface="Times New Roman" panose="02020603050405020304"/>
                        </a:rPr>
                        <a:t> </a:t>
                      </a:r>
                      <a:r>
                        <a:rPr sz="1600" b="1" dirty="0">
                          <a:latin typeface="Times New Roman" panose="02020603050405020304"/>
                          <a:cs typeface="Times New Roman" panose="02020603050405020304"/>
                        </a:rPr>
                        <a:t>GOOD</a:t>
                      </a:r>
                      <a:endParaRPr sz="16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nSpc>
                          <a:spcPct val="100000"/>
                        </a:lnSpc>
                        <a:spcBef>
                          <a:spcPts val="40"/>
                        </a:spcBef>
                      </a:pPr>
                      <a:endParaRPr sz="1600">
                        <a:latin typeface="Times New Roman" panose="02020603050405020304"/>
                        <a:cs typeface="Times New Roman" panose="02020603050405020304"/>
                      </a:endParaRPr>
                    </a:p>
                    <a:p>
                      <a:pPr marL="238125">
                        <a:lnSpc>
                          <a:spcPct val="100000"/>
                        </a:lnSpc>
                        <a:spcBef>
                          <a:spcPts val="5"/>
                        </a:spcBef>
                      </a:pPr>
                      <a:r>
                        <a:rPr sz="1600" b="1" spc="-5" dirty="0">
                          <a:latin typeface="Times New Roman" panose="02020603050405020304"/>
                          <a:cs typeface="Times New Roman" panose="02020603050405020304"/>
                        </a:rPr>
                        <a:t>BEST</a:t>
                      </a:r>
                      <a:endParaRPr sz="16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nSpc>
                          <a:spcPct val="100000"/>
                        </a:lnSpc>
                        <a:spcBef>
                          <a:spcPts val="40"/>
                        </a:spcBef>
                      </a:pPr>
                      <a:endParaRPr sz="1600" dirty="0">
                        <a:latin typeface="Times New Roman" panose="02020603050405020304"/>
                        <a:cs typeface="Times New Roman" panose="02020603050405020304"/>
                      </a:endParaRPr>
                    </a:p>
                    <a:p>
                      <a:pPr marL="187960">
                        <a:lnSpc>
                          <a:spcPct val="100000"/>
                        </a:lnSpc>
                        <a:spcBef>
                          <a:spcPts val="5"/>
                        </a:spcBef>
                      </a:pPr>
                      <a:r>
                        <a:rPr sz="1600" b="1" dirty="0">
                          <a:latin typeface="Times New Roman" panose="02020603050405020304"/>
                          <a:cs typeface="Times New Roman" panose="02020603050405020304"/>
                        </a:rPr>
                        <a:t>GOOD</a:t>
                      </a:r>
                      <a:endParaRPr sz="1600" dirty="0">
                        <a:latin typeface="Times New Roman" panose="02020603050405020304"/>
                        <a:cs typeface="Times New Roman" panose="02020603050405020304"/>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5500" y="825500"/>
            <a:ext cx="7522845" cy="984885"/>
          </a:xfrm>
          <a:prstGeom prst="rect">
            <a:avLst/>
          </a:prstGeom>
        </p:spPr>
        <p:txBody>
          <a:bodyPr vert="horz" wrap="square" lIns="0" tIns="0" rIns="0" bIns="0" rtlCol="0">
            <a:spAutoFit/>
          </a:bodyPr>
          <a:lstStyle/>
          <a:p>
            <a:pPr marL="1632585" marR="5080" indent="-1620520">
              <a:lnSpc>
                <a:spcPct val="100000"/>
              </a:lnSpc>
            </a:pPr>
            <a:r>
              <a:rPr lang="en-US" sz="3200" b="1" u="sng" spc="-5" dirty="0" smtClean="0">
                <a:solidFill>
                  <a:srgbClr val="002060"/>
                </a:solidFill>
                <a:latin typeface="Times New Roman" panose="02020603050405020304" pitchFamily="18" charset="0"/>
                <a:cs typeface="Times New Roman" panose="02020603050405020304" pitchFamily="18" charset="0"/>
              </a:rPr>
              <a:t>When To Use Structured English, Decision  Tables and Decision</a:t>
            </a:r>
            <a:r>
              <a:rPr lang="en-US" sz="3200" b="1" u="sng" spc="-70" dirty="0" smtClean="0">
                <a:solidFill>
                  <a:srgbClr val="002060"/>
                </a:solidFill>
                <a:latin typeface="Times New Roman" panose="02020603050405020304" pitchFamily="18" charset="0"/>
                <a:cs typeface="Times New Roman" panose="02020603050405020304" pitchFamily="18" charset="0"/>
              </a:rPr>
              <a:t> </a:t>
            </a:r>
            <a:r>
              <a:rPr lang="en-US" sz="3200" b="1" u="sng" spc="-5" dirty="0" smtClean="0">
                <a:solidFill>
                  <a:srgbClr val="002060"/>
                </a:solidFill>
                <a:latin typeface="Times New Roman" panose="02020603050405020304" pitchFamily="18" charset="0"/>
                <a:cs typeface="Times New Roman" panose="02020603050405020304" pitchFamily="18" charset="0"/>
              </a:rPr>
              <a:t>Trees</a:t>
            </a:r>
            <a:endParaRPr lang="en-US" sz="3200" b="1" u="sng" spc="-5" dirty="0">
              <a:solidFill>
                <a:srgbClr val="002060"/>
              </a:solidFill>
              <a:latin typeface="Times New Roman" panose="02020603050405020304" pitchFamily="18" charset="0"/>
              <a:cs typeface="Times New Roman" panose="02020603050405020304" pitchFamily="18" charset="0"/>
            </a:endParaRPr>
          </a:p>
        </p:txBody>
      </p:sp>
      <p:sp>
        <p:nvSpPr>
          <p:cNvPr id="7" name="object 7"/>
          <p:cNvSpPr txBox="1"/>
          <p:nvPr/>
        </p:nvSpPr>
        <p:spPr>
          <a:xfrm>
            <a:off x="673100" y="2273300"/>
            <a:ext cx="8301990" cy="2990562"/>
          </a:xfrm>
          <a:prstGeom prst="rect">
            <a:avLst/>
          </a:prstGeom>
        </p:spPr>
        <p:txBody>
          <a:bodyPr vert="horz" wrap="square" lIns="0" tIns="0" rIns="0" bIns="0" rtlCol="0">
            <a:spAutoFit/>
          </a:bodyPr>
          <a:lstStyle/>
          <a:p>
            <a:pPr marL="355600" marR="403225" indent="-342900" algn="just">
              <a:lnSpc>
                <a:spcPct val="100000"/>
              </a:lnSpc>
              <a:buFont typeface="Wingdings" panose="05000000000000000000" pitchFamily="2" charset="2"/>
              <a:buChar char="q"/>
              <a:tabLst>
                <a:tab pos="228600" algn="l"/>
              </a:tabLst>
            </a:pPr>
            <a:r>
              <a:rPr sz="2400" b="1" spc="-5" dirty="0">
                <a:latin typeface="Times New Roman" panose="02020603050405020304"/>
                <a:cs typeface="Times New Roman" panose="02020603050405020304"/>
              </a:rPr>
              <a:t>Use Structured English </a:t>
            </a:r>
            <a:r>
              <a:rPr sz="2400" b="1" dirty="0">
                <a:latin typeface="Times New Roman" panose="02020603050405020304"/>
                <a:cs typeface="Times New Roman" panose="02020603050405020304"/>
              </a:rPr>
              <a:t>if there are many </a:t>
            </a:r>
            <a:r>
              <a:rPr sz="2400" b="1" spc="-5" dirty="0">
                <a:latin typeface="Times New Roman" panose="02020603050405020304"/>
                <a:cs typeface="Times New Roman" panose="02020603050405020304"/>
              </a:rPr>
              <a:t>loops and actions  </a:t>
            </a:r>
            <a:r>
              <a:rPr sz="2400" b="1" dirty="0">
                <a:latin typeface="Times New Roman" panose="02020603050405020304"/>
                <a:cs typeface="Times New Roman" panose="02020603050405020304"/>
              </a:rPr>
              <a:t>are</a:t>
            </a:r>
            <a:r>
              <a:rPr sz="2400" b="1" spc="-105" dirty="0">
                <a:latin typeface="Times New Roman" panose="02020603050405020304"/>
                <a:cs typeface="Times New Roman" panose="02020603050405020304"/>
              </a:rPr>
              <a:t> </a:t>
            </a:r>
            <a:r>
              <a:rPr sz="2400" b="1" dirty="0">
                <a:latin typeface="Times New Roman" panose="02020603050405020304"/>
                <a:cs typeface="Times New Roman" panose="02020603050405020304"/>
              </a:rPr>
              <a:t>complex</a:t>
            </a:r>
            <a:endParaRPr sz="2400" dirty="0">
              <a:latin typeface="Times New Roman" panose="02020603050405020304"/>
              <a:cs typeface="Times New Roman" panose="02020603050405020304"/>
            </a:endParaRPr>
          </a:p>
          <a:p>
            <a:pPr marL="342900" indent="-342900" algn="just">
              <a:lnSpc>
                <a:spcPct val="100000"/>
              </a:lnSpc>
              <a:spcBef>
                <a:spcPts val="50"/>
              </a:spcBef>
              <a:buFont typeface="Wingdings" panose="05000000000000000000" pitchFamily="2" charset="2"/>
              <a:buChar char="q"/>
            </a:pPr>
            <a:endParaRPr sz="2450" dirty="0">
              <a:latin typeface="Times New Roman" panose="02020603050405020304"/>
              <a:cs typeface="Times New Roman" panose="02020603050405020304"/>
            </a:endParaRPr>
          </a:p>
          <a:p>
            <a:pPr marL="355600" marR="1147445" indent="-342900" algn="just">
              <a:lnSpc>
                <a:spcPct val="100000"/>
              </a:lnSpc>
              <a:buFont typeface="Wingdings" panose="05000000000000000000" pitchFamily="2" charset="2"/>
              <a:buChar char="q"/>
              <a:tabLst>
                <a:tab pos="228600" algn="l"/>
              </a:tabLst>
            </a:pPr>
            <a:r>
              <a:rPr sz="2400" b="1" spc="-5" dirty="0">
                <a:latin typeface="Times New Roman" panose="02020603050405020304"/>
                <a:cs typeface="Times New Roman" panose="02020603050405020304"/>
              </a:rPr>
              <a:t>Use Decision tables when </a:t>
            </a:r>
            <a:r>
              <a:rPr sz="2400" b="1" dirty="0">
                <a:latin typeface="Times New Roman" panose="02020603050405020304"/>
                <a:cs typeface="Times New Roman" panose="02020603050405020304"/>
              </a:rPr>
              <a:t>there are a large </a:t>
            </a:r>
            <a:r>
              <a:rPr sz="2400" b="1" spc="-5" dirty="0">
                <a:latin typeface="Times New Roman" panose="02020603050405020304"/>
                <a:cs typeface="Times New Roman" panose="02020603050405020304"/>
              </a:rPr>
              <a:t>number </a:t>
            </a:r>
            <a:r>
              <a:rPr sz="2400" b="1" dirty="0">
                <a:latin typeface="Times New Roman" panose="02020603050405020304"/>
                <a:cs typeface="Times New Roman" panose="02020603050405020304"/>
              </a:rPr>
              <a:t>of  </a:t>
            </a:r>
            <a:r>
              <a:rPr sz="2400" b="1" spc="-5" dirty="0">
                <a:latin typeface="Times New Roman" panose="02020603050405020304"/>
                <a:cs typeface="Times New Roman" panose="02020603050405020304"/>
              </a:rPr>
              <a:t>conditions to check and </a:t>
            </a:r>
            <a:r>
              <a:rPr sz="2400" b="1" dirty="0">
                <a:latin typeface="Times New Roman" panose="02020603050405020304"/>
                <a:cs typeface="Times New Roman" panose="02020603050405020304"/>
              </a:rPr>
              <a:t>logic </a:t>
            </a:r>
            <a:r>
              <a:rPr sz="2400" b="1" spc="-5" dirty="0">
                <a:latin typeface="Times New Roman" panose="02020603050405020304"/>
                <a:cs typeface="Times New Roman" panose="02020603050405020304"/>
              </a:rPr>
              <a:t>is</a:t>
            </a:r>
            <a:r>
              <a:rPr sz="2400" b="1" spc="-85" dirty="0">
                <a:latin typeface="Times New Roman" panose="02020603050405020304"/>
                <a:cs typeface="Times New Roman" panose="02020603050405020304"/>
              </a:rPr>
              <a:t> </a:t>
            </a:r>
            <a:r>
              <a:rPr sz="2400" b="1" spc="-5" dirty="0">
                <a:latin typeface="Times New Roman" panose="02020603050405020304"/>
                <a:cs typeface="Times New Roman" panose="02020603050405020304"/>
              </a:rPr>
              <a:t>complex</a:t>
            </a:r>
            <a:endParaRPr sz="2400" dirty="0">
              <a:latin typeface="Times New Roman" panose="02020603050405020304"/>
              <a:cs typeface="Times New Roman" panose="02020603050405020304"/>
            </a:endParaRPr>
          </a:p>
          <a:p>
            <a:pPr marL="342900" indent="-342900" algn="just">
              <a:lnSpc>
                <a:spcPct val="100000"/>
              </a:lnSpc>
              <a:buFont typeface="Wingdings" panose="05000000000000000000" pitchFamily="2" charset="2"/>
              <a:buChar char="q"/>
            </a:pPr>
            <a:endParaRPr sz="2500" dirty="0">
              <a:latin typeface="Times New Roman" panose="02020603050405020304"/>
              <a:cs typeface="Times New Roman" panose="02020603050405020304"/>
            </a:endParaRPr>
          </a:p>
          <a:p>
            <a:pPr marL="355600" marR="5080" indent="-342900" algn="just">
              <a:lnSpc>
                <a:spcPct val="100000"/>
              </a:lnSpc>
              <a:buFont typeface="Wingdings" panose="05000000000000000000" pitchFamily="2" charset="2"/>
              <a:buChar char="q"/>
              <a:tabLst>
                <a:tab pos="228600" algn="l"/>
              </a:tabLst>
            </a:pPr>
            <a:r>
              <a:rPr sz="2400" b="1" spc="-5" dirty="0">
                <a:latin typeface="Times New Roman" panose="02020603050405020304"/>
                <a:cs typeface="Times New Roman" panose="02020603050405020304"/>
              </a:rPr>
              <a:t>Use Decision </a:t>
            </a:r>
            <a:r>
              <a:rPr sz="2400" b="1" dirty="0">
                <a:latin typeface="Times New Roman" panose="02020603050405020304"/>
                <a:cs typeface="Times New Roman" panose="02020603050405020304"/>
              </a:rPr>
              <a:t>trees </a:t>
            </a:r>
            <a:r>
              <a:rPr sz="2400" b="1" spc="-5" dirty="0">
                <a:latin typeface="Times New Roman" panose="02020603050405020304"/>
                <a:cs typeface="Times New Roman" panose="02020603050405020304"/>
              </a:rPr>
              <a:t>when sequencing </a:t>
            </a:r>
            <a:r>
              <a:rPr sz="2400" b="1" dirty="0">
                <a:latin typeface="Times New Roman" panose="02020603050405020304"/>
                <a:cs typeface="Times New Roman" panose="02020603050405020304"/>
              </a:rPr>
              <a:t>of </a:t>
            </a:r>
            <a:r>
              <a:rPr sz="2400" b="1" spc="-5" dirty="0">
                <a:latin typeface="Times New Roman" panose="02020603050405020304"/>
                <a:cs typeface="Times New Roman" panose="02020603050405020304"/>
              </a:rPr>
              <a:t>conditions is </a:t>
            </a:r>
            <a:r>
              <a:rPr sz="2400" b="1" dirty="0">
                <a:latin typeface="Times New Roman" panose="02020603050405020304"/>
                <a:cs typeface="Times New Roman" panose="02020603050405020304"/>
              </a:rPr>
              <a:t>important  </a:t>
            </a:r>
            <a:r>
              <a:rPr sz="2400" b="1" spc="-5" dirty="0">
                <a:latin typeface="Times New Roman" panose="02020603050405020304"/>
                <a:cs typeface="Times New Roman" panose="02020603050405020304"/>
              </a:rPr>
              <a:t>and </a:t>
            </a:r>
            <a:r>
              <a:rPr sz="2400" b="1" dirty="0">
                <a:latin typeface="Times New Roman" panose="02020603050405020304"/>
                <a:cs typeface="Times New Roman" panose="02020603050405020304"/>
              </a:rPr>
              <a:t>if there are </a:t>
            </a:r>
            <a:r>
              <a:rPr sz="2400" b="1" spc="-5" dirty="0">
                <a:latin typeface="Times New Roman" panose="02020603050405020304"/>
                <a:cs typeface="Times New Roman" panose="02020603050405020304"/>
              </a:rPr>
              <a:t>not </a:t>
            </a:r>
            <a:r>
              <a:rPr sz="2400" b="1" dirty="0">
                <a:latin typeface="Times New Roman" panose="02020603050405020304"/>
                <a:cs typeface="Times New Roman" panose="02020603050405020304"/>
              </a:rPr>
              <a:t>many </a:t>
            </a:r>
            <a:r>
              <a:rPr sz="2400" b="1" spc="-5" dirty="0">
                <a:latin typeface="Times New Roman" panose="02020603050405020304"/>
                <a:cs typeface="Times New Roman" panose="02020603050405020304"/>
              </a:rPr>
              <a:t>conditions </a:t>
            </a:r>
            <a:r>
              <a:rPr sz="2400" b="1" dirty="0">
                <a:latin typeface="Times New Roman" panose="02020603050405020304"/>
                <a:cs typeface="Times New Roman" panose="02020603050405020304"/>
              </a:rPr>
              <a:t>to </a:t>
            </a:r>
            <a:r>
              <a:rPr sz="2400" b="1" spc="-5" dirty="0">
                <a:latin typeface="Times New Roman" panose="02020603050405020304"/>
                <a:cs typeface="Times New Roman" panose="02020603050405020304"/>
              </a:rPr>
              <a:t>be</a:t>
            </a:r>
            <a:r>
              <a:rPr sz="2400" b="1" spc="25" dirty="0">
                <a:latin typeface="Times New Roman" panose="02020603050405020304"/>
                <a:cs typeface="Times New Roman" panose="02020603050405020304"/>
              </a:rPr>
              <a:t> </a:t>
            </a:r>
            <a:r>
              <a:rPr sz="2400" b="1" spc="-5" dirty="0">
                <a:latin typeface="Times New Roman" panose="02020603050405020304"/>
                <a:cs typeface="Times New Roman" panose="02020603050405020304"/>
              </a:rPr>
              <a:t>tested</a:t>
            </a:r>
            <a:endParaRPr sz="2400" dirty="0">
              <a:latin typeface="Times New Roman" panose="02020603050405020304"/>
              <a:cs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7985" y="985078"/>
            <a:ext cx="2667000" cy="615553"/>
          </a:xfrm>
          <a:prstGeom prst="rect">
            <a:avLst/>
          </a:prstGeom>
        </p:spPr>
        <p:txBody>
          <a:bodyPr vert="horz" wrap="square" lIns="0" tIns="0" rIns="0" bIns="0" rtlCol="0">
            <a:spAutoFit/>
          </a:bodyPr>
          <a:lstStyle/>
          <a:p>
            <a:pPr marL="1632585" marR="5080" indent="-1620520">
              <a:lnSpc>
                <a:spcPct val="100000"/>
              </a:lnSpc>
            </a:pPr>
            <a:r>
              <a:rPr lang="en-US" sz="4000" b="1" u="sng" spc="-5" dirty="0" smtClean="0">
                <a:solidFill>
                  <a:srgbClr val="002060"/>
                </a:solidFill>
                <a:latin typeface="Times New Roman" panose="02020603050405020304" pitchFamily="18" charset="0"/>
                <a:cs typeface="Times New Roman" panose="02020603050405020304" pitchFamily="18" charset="0"/>
              </a:rPr>
              <a:t>Example-1:</a:t>
            </a:r>
            <a:endParaRPr sz="4000" b="1" u="sng" spc="-5" dirty="0">
              <a:solidFill>
                <a:srgbClr val="002060"/>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xmlns="" val="0"/>
              </a:ext>
            </a:extLst>
          </a:blip>
          <a:srcRect l="2888" t="37113" r="2445"/>
          <a:stretch>
            <a:fillRect/>
          </a:stretch>
        </p:blipFill>
        <p:spPr>
          <a:xfrm>
            <a:off x="3568700" y="977900"/>
            <a:ext cx="5638800" cy="5588010"/>
          </a:xfrm>
          <a:prstGeom prst="rect">
            <a:avLst/>
          </a:prstGeom>
        </p:spPr>
      </p:pic>
      <p:sp>
        <p:nvSpPr>
          <p:cNvPr id="4" name="TextBox 3"/>
          <p:cNvSpPr txBox="1"/>
          <p:nvPr/>
        </p:nvSpPr>
        <p:spPr>
          <a:xfrm>
            <a:off x="113748" y="1971412"/>
            <a:ext cx="3226352" cy="3893374"/>
          </a:xfrm>
          <a:prstGeom prst="rect">
            <a:avLst/>
          </a:prstGeom>
          <a:noFill/>
        </p:spPr>
        <p:txBody>
          <a:bodyPr wrap="square" rtlCol="0">
            <a:spAutoFit/>
          </a:bodyPr>
          <a:lstStyle/>
          <a:p>
            <a:r>
              <a:rPr lang="en-US" sz="1300" b="1" dirty="0" smtClean="0">
                <a:latin typeface="Times New Roman" panose="02020603050405020304" pitchFamily="18" charset="0"/>
                <a:cs typeface="Times New Roman" panose="02020603050405020304" pitchFamily="18" charset="0"/>
              </a:rPr>
              <a:t>Draw a decision tree and decision table for the following text. </a:t>
            </a:r>
          </a:p>
          <a:p>
            <a:r>
              <a:rPr lang="en-US" sz="1300" b="1" dirty="0" smtClean="0">
                <a:latin typeface="Times New Roman" panose="02020603050405020304" pitchFamily="18" charset="0"/>
                <a:cs typeface="Times New Roman" panose="02020603050405020304" pitchFamily="18" charset="0"/>
              </a:rPr>
              <a:t>A university has the following grade system.</a:t>
            </a:r>
          </a:p>
          <a:p>
            <a:pPr marL="171450" indent="-171450">
              <a:buFont typeface="Wingdings" panose="05000000000000000000" pitchFamily="2" charset="2"/>
              <a:buChar char="§"/>
            </a:pPr>
            <a:r>
              <a:rPr lang="en-US" sz="1300" b="1" dirty="0" smtClean="0">
                <a:latin typeface="Times New Roman" panose="02020603050405020304" pitchFamily="18" charset="0"/>
                <a:cs typeface="Times New Roman" panose="02020603050405020304" pitchFamily="18" charset="0"/>
              </a:rPr>
              <a:t>If the obtained mark in any subject is between 0-39, it implies F;</a:t>
            </a:r>
          </a:p>
          <a:p>
            <a:pPr marL="171450" indent="-171450">
              <a:buFont typeface="Wingdings" panose="05000000000000000000" pitchFamily="2" charset="2"/>
              <a:buChar char="§"/>
            </a:pPr>
            <a:r>
              <a:rPr lang="en-US" sz="1300" b="1" dirty="0" smtClean="0">
                <a:latin typeface="Times New Roman" panose="02020603050405020304" pitchFamily="18" charset="0"/>
                <a:cs typeface="Times New Roman" panose="02020603050405020304" pitchFamily="18" charset="0"/>
              </a:rPr>
              <a:t>If the obtained mark in any subject is between 40-49, it implies C;</a:t>
            </a:r>
          </a:p>
          <a:p>
            <a:pPr marL="171450" indent="-171450">
              <a:buFont typeface="Wingdings" panose="05000000000000000000" pitchFamily="2" charset="2"/>
              <a:buChar char="§"/>
            </a:pPr>
            <a:r>
              <a:rPr lang="en-US" sz="1300" b="1" dirty="0" smtClean="0">
                <a:latin typeface="Times New Roman" panose="02020603050405020304" pitchFamily="18" charset="0"/>
                <a:cs typeface="Times New Roman" panose="02020603050405020304" pitchFamily="18" charset="0"/>
              </a:rPr>
              <a:t>If </a:t>
            </a:r>
            <a:r>
              <a:rPr lang="en-US" sz="1300" b="1" dirty="0">
                <a:latin typeface="Times New Roman" panose="02020603050405020304" pitchFamily="18" charset="0"/>
                <a:cs typeface="Times New Roman" panose="02020603050405020304" pitchFamily="18" charset="0"/>
              </a:rPr>
              <a:t>the obtained mark in any subject is between </a:t>
            </a:r>
            <a:r>
              <a:rPr lang="en-US" sz="1300" b="1" dirty="0" smtClean="0">
                <a:latin typeface="Times New Roman" panose="02020603050405020304" pitchFamily="18" charset="0"/>
                <a:cs typeface="Times New Roman" panose="02020603050405020304" pitchFamily="18" charset="0"/>
              </a:rPr>
              <a:t>50-59</a:t>
            </a:r>
            <a:r>
              <a:rPr lang="en-US" sz="1300" b="1" dirty="0">
                <a:latin typeface="Times New Roman" panose="02020603050405020304" pitchFamily="18" charset="0"/>
                <a:cs typeface="Times New Roman" panose="02020603050405020304" pitchFamily="18" charset="0"/>
              </a:rPr>
              <a:t>, it implies </a:t>
            </a:r>
            <a:r>
              <a:rPr lang="en-US" sz="1300" b="1" dirty="0" smtClean="0">
                <a:latin typeface="Times New Roman" panose="02020603050405020304" pitchFamily="18" charset="0"/>
                <a:cs typeface="Times New Roman" panose="02020603050405020304" pitchFamily="18" charset="0"/>
              </a:rPr>
              <a:t>B;</a:t>
            </a:r>
          </a:p>
          <a:p>
            <a:pPr marL="171450" indent="-171450">
              <a:buFont typeface="Wingdings" panose="05000000000000000000" pitchFamily="2" charset="2"/>
              <a:buChar char="§"/>
            </a:pPr>
            <a:r>
              <a:rPr lang="en-US" sz="1300" b="1" dirty="0" smtClean="0">
                <a:latin typeface="Times New Roman" panose="02020603050405020304" pitchFamily="18" charset="0"/>
                <a:cs typeface="Times New Roman" panose="02020603050405020304" pitchFamily="18" charset="0"/>
              </a:rPr>
              <a:t>If </a:t>
            </a:r>
            <a:r>
              <a:rPr lang="en-US" sz="1300" b="1" dirty="0">
                <a:latin typeface="Times New Roman" panose="02020603050405020304" pitchFamily="18" charset="0"/>
                <a:cs typeface="Times New Roman" panose="02020603050405020304" pitchFamily="18" charset="0"/>
              </a:rPr>
              <a:t>the obtained mark in any subject is between </a:t>
            </a:r>
            <a:r>
              <a:rPr lang="en-US" sz="1300" b="1" dirty="0" smtClean="0">
                <a:latin typeface="Times New Roman" panose="02020603050405020304" pitchFamily="18" charset="0"/>
                <a:cs typeface="Times New Roman" panose="02020603050405020304" pitchFamily="18" charset="0"/>
              </a:rPr>
              <a:t>60-69</a:t>
            </a:r>
            <a:r>
              <a:rPr lang="en-US" sz="1300" b="1" dirty="0">
                <a:latin typeface="Times New Roman" panose="02020603050405020304" pitchFamily="18" charset="0"/>
                <a:cs typeface="Times New Roman" panose="02020603050405020304" pitchFamily="18" charset="0"/>
              </a:rPr>
              <a:t>, it implies </a:t>
            </a:r>
            <a:r>
              <a:rPr lang="en-US" sz="1300" b="1" dirty="0" smtClean="0">
                <a:latin typeface="Times New Roman" panose="02020603050405020304" pitchFamily="18" charset="0"/>
                <a:cs typeface="Times New Roman" panose="02020603050405020304" pitchFamily="18" charset="0"/>
              </a:rPr>
              <a:t>A;</a:t>
            </a:r>
          </a:p>
          <a:p>
            <a:pPr marL="171450" indent="-171450">
              <a:buFont typeface="Wingdings" panose="05000000000000000000" pitchFamily="2" charset="2"/>
              <a:buChar char="§"/>
            </a:pPr>
            <a:r>
              <a:rPr lang="en-US" sz="1300" b="1" dirty="0">
                <a:latin typeface="Times New Roman" panose="02020603050405020304" pitchFamily="18" charset="0"/>
                <a:cs typeface="Times New Roman" panose="02020603050405020304" pitchFamily="18" charset="0"/>
              </a:rPr>
              <a:t>If the obtained mark in any subject is between </a:t>
            </a:r>
            <a:r>
              <a:rPr lang="en-US" sz="1300" b="1" dirty="0" smtClean="0">
                <a:latin typeface="Times New Roman" panose="02020603050405020304" pitchFamily="18" charset="0"/>
                <a:cs typeface="Times New Roman" panose="02020603050405020304" pitchFamily="18" charset="0"/>
              </a:rPr>
              <a:t>69 and above, </a:t>
            </a:r>
            <a:r>
              <a:rPr lang="en-US" sz="1300" b="1" dirty="0">
                <a:latin typeface="Times New Roman" panose="02020603050405020304" pitchFamily="18" charset="0"/>
                <a:cs typeface="Times New Roman" panose="02020603050405020304" pitchFamily="18" charset="0"/>
              </a:rPr>
              <a:t>it implies </a:t>
            </a:r>
            <a:r>
              <a:rPr lang="en-US" sz="1300" b="1" dirty="0" smtClean="0">
                <a:latin typeface="Times New Roman" panose="02020603050405020304" pitchFamily="18" charset="0"/>
                <a:cs typeface="Times New Roman" panose="02020603050405020304" pitchFamily="18" charset="0"/>
              </a:rPr>
              <a:t>A+;</a:t>
            </a:r>
          </a:p>
          <a:p>
            <a:pPr marL="171450" indent="-171450">
              <a:buFont typeface="Wingdings" panose="05000000000000000000" pitchFamily="2" charset="2"/>
              <a:buChar char="§"/>
            </a:pPr>
            <a:endParaRPr lang="en-US" sz="1300" b="1" dirty="0">
              <a:latin typeface="Times New Roman" panose="02020603050405020304" pitchFamily="18" charset="0"/>
              <a:cs typeface="Times New Roman" panose="02020603050405020304" pitchFamily="18" charset="0"/>
            </a:endParaRPr>
          </a:p>
          <a:p>
            <a:r>
              <a:rPr lang="en-US" sz="1300" b="1" dirty="0" smtClean="0">
                <a:latin typeface="Times New Roman" panose="02020603050405020304" pitchFamily="18" charset="0"/>
                <a:cs typeface="Times New Roman" panose="02020603050405020304" pitchFamily="18" charset="0"/>
              </a:rPr>
              <a:t>However, if the present of any student is less than 60% of total class then he/she will be awarded grade F, irrespective of the mark that he obtained. </a:t>
            </a:r>
            <a:endParaRPr lang="en-US" sz="13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5900" y="1067146"/>
            <a:ext cx="3338248" cy="735907"/>
          </a:xfrm>
          <a:prstGeom prst="rect">
            <a:avLst/>
          </a:prstGeom>
        </p:spPr>
        <p:txBody>
          <a:bodyPr vert="horz" wrap="square" lIns="0" tIns="0" rIns="0" bIns="0" rtlCol="0">
            <a:spAutoFit/>
          </a:bodyPr>
          <a:lstStyle/>
          <a:p>
            <a:pPr marL="1632585" marR="5080" indent="-1620520" algn="ctr">
              <a:lnSpc>
                <a:spcPct val="100000"/>
              </a:lnSpc>
            </a:pPr>
            <a:r>
              <a:rPr lang="en-US" b="1" u="sng" spc="-5" dirty="0" smtClean="0">
                <a:solidFill>
                  <a:srgbClr val="002060"/>
                </a:solidFill>
                <a:latin typeface="Times New Roman" panose="02020603050405020304" pitchFamily="18" charset="0"/>
                <a:cs typeface="Times New Roman" panose="02020603050405020304" pitchFamily="18" charset="0"/>
              </a:rPr>
              <a:t>Example-2</a:t>
            </a:r>
            <a:endParaRPr b="1" u="sng" spc="-5"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extLst>
              <a:ext uri="{28A0092B-C50C-407E-A947-70E740481C1C}">
                <a14:useLocalDpi xmlns:a14="http://schemas.microsoft.com/office/drawing/2010/main" xmlns="" val="0"/>
              </a:ext>
            </a:extLst>
          </a:blip>
          <a:srcRect l="6456" t="37500"/>
          <a:stretch>
            <a:fillRect/>
          </a:stretch>
        </p:blipFill>
        <p:spPr>
          <a:xfrm>
            <a:off x="3902175" y="1435100"/>
            <a:ext cx="5195519" cy="5334000"/>
          </a:xfrm>
          <a:prstGeom prst="rect">
            <a:avLst/>
          </a:prstGeom>
        </p:spPr>
      </p:pic>
      <p:sp>
        <p:nvSpPr>
          <p:cNvPr id="5" name="TextBox 4"/>
          <p:cNvSpPr txBox="1"/>
          <p:nvPr/>
        </p:nvSpPr>
        <p:spPr>
          <a:xfrm>
            <a:off x="292101" y="2273300"/>
            <a:ext cx="3352800" cy="3293209"/>
          </a:xfrm>
          <a:prstGeom prst="rect">
            <a:avLst/>
          </a:prstGeom>
          <a:noFill/>
        </p:spPr>
        <p:txBody>
          <a:bodyPr wrap="square" rtlCol="0">
            <a:spAutoFit/>
          </a:bodyPr>
          <a:lstStyle/>
          <a:p>
            <a:r>
              <a:rPr lang="en-US" sz="1300" b="1" dirty="0" smtClean="0">
                <a:latin typeface="Times New Roman" panose="02020603050405020304" pitchFamily="18" charset="0"/>
                <a:cs typeface="Times New Roman" panose="02020603050405020304" pitchFamily="18" charset="0"/>
              </a:rPr>
              <a:t>Draw a decision tree and decision table for the following text. </a:t>
            </a:r>
          </a:p>
          <a:p>
            <a:endParaRPr lang="en-US" sz="1300" b="1" dirty="0" smtClean="0">
              <a:latin typeface="Times New Roman" panose="02020603050405020304" pitchFamily="18" charset="0"/>
              <a:cs typeface="Times New Roman" panose="02020603050405020304" pitchFamily="18" charset="0"/>
            </a:endParaRPr>
          </a:p>
          <a:p>
            <a:r>
              <a:rPr lang="en-US" sz="1300" b="1" dirty="0" smtClean="0">
                <a:latin typeface="Times New Roman" panose="02020603050405020304" pitchFamily="18" charset="0"/>
                <a:cs typeface="Times New Roman" panose="02020603050405020304" pitchFamily="18" charset="0"/>
              </a:rPr>
              <a:t>A Virginia based mail order house specializes in microcomputers and supplies for various microcomputer makes. It offers discount based on the number of units ordered. Discount computed as follows:</a:t>
            </a:r>
          </a:p>
          <a:p>
            <a:pPr marL="171450" indent="-171450">
              <a:buFont typeface="Wingdings" panose="05000000000000000000" pitchFamily="2" charset="2"/>
              <a:buChar char="§"/>
            </a:pPr>
            <a:r>
              <a:rPr lang="en-US" sz="1300" b="1" dirty="0" smtClean="0">
                <a:latin typeface="Times New Roman" panose="02020603050405020304" pitchFamily="18" charset="0"/>
                <a:cs typeface="Times New Roman" panose="02020603050405020304" pitchFamily="18" charset="0"/>
              </a:rPr>
              <a:t>If invoice total $3,000 or over discount is 20%.</a:t>
            </a:r>
          </a:p>
          <a:p>
            <a:pPr marL="171450" indent="-171450">
              <a:buFont typeface="Wingdings" panose="05000000000000000000" pitchFamily="2" charset="2"/>
              <a:buChar char="§"/>
            </a:pPr>
            <a:r>
              <a:rPr lang="en-US" sz="1300" b="1" dirty="0" smtClean="0">
                <a:latin typeface="Times New Roman" panose="02020603050405020304" pitchFamily="18" charset="0"/>
                <a:cs typeface="Times New Roman" panose="02020603050405020304" pitchFamily="18" charset="0"/>
              </a:rPr>
              <a:t>If invoice total is between $2,000 and $2999 discount is 10%.</a:t>
            </a:r>
          </a:p>
          <a:p>
            <a:pPr marL="171450" indent="-171450">
              <a:buFont typeface="Wingdings" panose="05000000000000000000" pitchFamily="2" charset="2"/>
              <a:buChar char="§"/>
            </a:pPr>
            <a:r>
              <a:rPr lang="en-US" sz="1300" b="1" dirty="0" smtClean="0">
                <a:latin typeface="Times New Roman" panose="02020603050405020304" pitchFamily="18" charset="0"/>
                <a:cs typeface="Times New Roman" panose="02020603050405020304" pitchFamily="18" charset="0"/>
              </a:rPr>
              <a:t>If invoice total is between $1,000,  and $1,999, 5% discount.</a:t>
            </a:r>
          </a:p>
          <a:p>
            <a:pPr marL="171450" indent="-171450">
              <a:buFont typeface="Wingdings" panose="05000000000000000000" pitchFamily="2" charset="2"/>
              <a:buChar char="§"/>
            </a:pPr>
            <a:r>
              <a:rPr lang="en-US" sz="1300" b="1" dirty="0" smtClean="0">
                <a:latin typeface="Times New Roman" panose="02020603050405020304" pitchFamily="18" charset="0"/>
                <a:cs typeface="Times New Roman" panose="02020603050405020304" pitchFamily="18" charset="0"/>
              </a:rPr>
              <a:t>If invoice total under $1,000, no discount. </a:t>
            </a:r>
          </a:p>
          <a:p>
            <a:endParaRPr lang="en-US" sz="13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1054100"/>
            <a:ext cx="2819399" cy="677108"/>
          </a:xfrm>
          <a:prstGeom prst="rect">
            <a:avLst/>
          </a:prstGeom>
        </p:spPr>
        <p:txBody>
          <a:bodyPr vert="horz" wrap="square" lIns="0" tIns="0" rIns="0" bIns="0" rtlCol="0">
            <a:spAutoFit/>
          </a:bodyPr>
          <a:lstStyle/>
          <a:p>
            <a:pPr marL="1632585" marR="5080" indent="-1620520" algn="ctr">
              <a:lnSpc>
                <a:spcPct val="100000"/>
              </a:lnSpc>
            </a:pPr>
            <a:r>
              <a:rPr lang="en-US" sz="4400" b="1" u="sng" spc="-5" dirty="0" smtClean="0">
                <a:solidFill>
                  <a:srgbClr val="002060"/>
                </a:solidFill>
                <a:latin typeface="Times New Roman" panose="02020603050405020304" pitchFamily="18" charset="0"/>
                <a:cs typeface="Times New Roman" panose="02020603050405020304" pitchFamily="18" charset="0"/>
              </a:rPr>
              <a:t>Example-3</a:t>
            </a:r>
            <a:endParaRPr sz="4400" b="1" u="sng" spc="-5" dirty="0">
              <a:solidFill>
                <a:srgbClr val="002060"/>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xmlns="" val="0"/>
              </a:ext>
            </a:extLst>
          </a:blip>
          <a:srcRect l="4865" t="35135"/>
          <a:stretch>
            <a:fillRect/>
          </a:stretch>
        </p:blipFill>
        <p:spPr>
          <a:xfrm>
            <a:off x="3721100" y="1392654"/>
            <a:ext cx="5397500" cy="5439946"/>
          </a:xfrm>
          <a:prstGeom prst="rect">
            <a:avLst/>
          </a:prstGeom>
        </p:spPr>
      </p:pic>
      <p:sp>
        <p:nvSpPr>
          <p:cNvPr id="4" name="TextBox 3"/>
          <p:cNvSpPr txBox="1"/>
          <p:nvPr/>
        </p:nvSpPr>
        <p:spPr>
          <a:xfrm>
            <a:off x="299279" y="1922095"/>
            <a:ext cx="3352800" cy="3539430"/>
          </a:xfrm>
          <a:prstGeom prst="rect">
            <a:avLst/>
          </a:prstGeom>
          <a:noFill/>
        </p:spPr>
        <p:txBody>
          <a:bodyPr wrap="square" rtlCol="0">
            <a:spAutoFit/>
          </a:bodyPr>
          <a:lstStyle/>
          <a:p>
            <a:r>
              <a:rPr lang="en-US" sz="1400" b="1" dirty="0" smtClean="0">
                <a:latin typeface="Times New Roman" panose="02020603050405020304" pitchFamily="18" charset="0"/>
                <a:cs typeface="Times New Roman" panose="02020603050405020304" pitchFamily="18" charset="0"/>
              </a:rPr>
              <a:t>Draw a decision tree and decision table for the following text. </a:t>
            </a:r>
          </a:p>
          <a:p>
            <a:endParaRPr lang="en-US" sz="1400" b="1" dirty="0" smtClean="0">
              <a:latin typeface="Times New Roman" panose="02020603050405020304" pitchFamily="18" charset="0"/>
              <a:cs typeface="Times New Roman" panose="02020603050405020304" pitchFamily="18" charset="0"/>
            </a:endParaRPr>
          </a:p>
          <a:p>
            <a:r>
              <a:rPr lang="en-US" sz="1400" b="1" dirty="0" smtClean="0">
                <a:latin typeface="Times New Roman" panose="02020603050405020304" pitchFamily="18" charset="0"/>
                <a:cs typeface="Times New Roman" panose="02020603050405020304" pitchFamily="18" charset="0"/>
              </a:rPr>
              <a:t>A university has the following rules for a student to qualify degree program. </a:t>
            </a:r>
          </a:p>
          <a:p>
            <a:pPr marL="285750" indent="-285750">
              <a:buFont typeface="Wingdings" panose="05000000000000000000" pitchFamily="2" charset="2"/>
              <a:buChar char="§"/>
            </a:pPr>
            <a:r>
              <a:rPr lang="en-US" sz="1400" b="1" dirty="0" smtClean="0">
                <a:latin typeface="Times New Roman" panose="02020603050405020304" pitchFamily="18" charset="0"/>
                <a:cs typeface="Times New Roman" panose="02020603050405020304" pitchFamily="18" charset="0"/>
              </a:rPr>
              <a:t>Marks of Physics should be &gt;=50 and Mathematics &gt;=40</a:t>
            </a:r>
          </a:p>
          <a:p>
            <a:pPr marL="285750" indent="-285750">
              <a:buFont typeface="Wingdings" panose="05000000000000000000" pitchFamily="2" charset="2"/>
              <a:buChar char="§"/>
            </a:pPr>
            <a:r>
              <a:rPr lang="en-US" sz="1400" b="1" dirty="0" smtClean="0">
                <a:latin typeface="Times New Roman" panose="02020603050405020304" pitchFamily="18" charset="0"/>
                <a:cs typeface="Times New Roman" panose="02020603050405020304" pitchFamily="18" charset="0"/>
              </a:rPr>
              <a:t>If marks of Physics is &lt;50 then marks of Physics should be &gt;40 and Mathematics &gt;=50.</a:t>
            </a:r>
          </a:p>
          <a:p>
            <a:pPr marL="285750" indent="-285750">
              <a:buFont typeface="Wingdings" panose="05000000000000000000" pitchFamily="2" charset="2"/>
              <a:buChar char="§"/>
            </a:pPr>
            <a:r>
              <a:rPr lang="en-US" sz="1400" b="1" dirty="0" smtClean="0">
                <a:latin typeface="Times New Roman" panose="02020603050405020304" pitchFamily="18" charset="0"/>
                <a:cs typeface="Times New Roman" panose="02020603050405020304" pitchFamily="18" charset="0"/>
              </a:rPr>
              <a:t>If marks of Mathematics is &lt;40 and marks of Physics is &gt;=60 then Mathematics has to be repeated.</a:t>
            </a:r>
          </a:p>
          <a:p>
            <a:pPr marL="285750" indent="-285750">
              <a:buFont typeface="Wingdings" panose="05000000000000000000" pitchFamily="2" charset="2"/>
              <a:buChar char="§"/>
            </a:pPr>
            <a:r>
              <a:rPr lang="en-US" sz="1400" b="1" dirty="0" smtClean="0">
                <a:latin typeface="Times New Roman" panose="02020603050405020304" pitchFamily="18" charset="0"/>
                <a:cs typeface="Times New Roman" panose="02020603050405020304" pitchFamily="18" charset="0"/>
              </a:rPr>
              <a:t>In all other cases the students fails.</a:t>
            </a:r>
          </a:p>
          <a:p>
            <a:pPr marL="285750" indent="-285750">
              <a:buFont typeface="Wingdings" panose="05000000000000000000" pitchFamily="2" charset="2"/>
              <a:buChar char="§"/>
            </a:pPr>
            <a:endParaRPr lang="en-US" sz="1400" b="1" dirty="0" smtClean="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81688" y="901700"/>
            <a:ext cx="3886200" cy="830997"/>
          </a:xfrm>
          <a:prstGeom prst="rect">
            <a:avLst/>
          </a:prstGeom>
        </p:spPr>
        <p:txBody>
          <a:bodyPr vert="horz" wrap="square" lIns="0" tIns="0" rIns="0" bIns="0" rtlCol="0">
            <a:spAutoFit/>
          </a:bodyPr>
          <a:lstStyle/>
          <a:p>
            <a:pPr marL="1632585" marR="5080" indent="-1620520" algn="ctr">
              <a:lnSpc>
                <a:spcPct val="100000"/>
              </a:lnSpc>
            </a:pPr>
            <a:r>
              <a:rPr lang="en-US" sz="5400" b="1" u="sng" spc="-5" dirty="0" smtClean="0">
                <a:solidFill>
                  <a:srgbClr val="002060"/>
                </a:solidFill>
                <a:latin typeface="Times New Roman" panose="02020603050405020304" pitchFamily="18" charset="0"/>
                <a:cs typeface="Times New Roman" panose="02020603050405020304" pitchFamily="18" charset="0"/>
              </a:rPr>
              <a:t>References</a:t>
            </a:r>
            <a:endParaRPr sz="5400" b="1" u="sng" spc="-5" dirty="0">
              <a:solidFill>
                <a:srgbClr val="00206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901700" y="2120900"/>
            <a:ext cx="7993822" cy="3108543"/>
          </a:xfrm>
          <a:prstGeom prst="rect">
            <a:avLst/>
          </a:prstGeom>
          <a:noFill/>
        </p:spPr>
        <p:txBody>
          <a:bodyPr wrap="square" rtlCol="0">
            <a:spAutoFit/>
          </a:bodyPr>
          <a:lstStyle/>
          <a:p>
            <a:pPr marL="514350" indent="-514350">
              <a:buFont typeface="+mj-lt"/>
              <a:buAutoNum type="arabicPeriod"/>
            </a:pPr>
            <a:r>
              <a:rPr lang="en-US" sz="2800" b="1" dirty="0" smtClean="0">
                <a:latin typeface="Times New Roman" panose="02020603050405020304" pitchFamily="18" charset="0"/>
              </a:rPr>
              <a:t>System </a:t>
            </a:r>
            <a:r>
              <a:rPr lang="en-US" sz="2800" b="1" dirty="0">
                <a:latin typeface="Times New Roman" panose="02020603050405020304" pitchFamily="18" charset="0"/>
              </a:rPr>
              <a:t>Analysis and Design, </a:t>
            </a:r>
            <a:r>
              <a:rPr lang="en-US" sz="2800" dirty="0">
                <a:latin typeface="Times New Roman" panose="02020603050405020304" pitchFamily="18" charset="0"/>
              </a:rPr>
              <a:t>by Elias M. </a:t>
            </a:r>
            <a:r>
              <a:rPr lang="en-US" sz="2800" dirty="0" smtClean="0">
                <a:latin typeface="Times New Roman" panose="02020603050405020304" pitchFamily="18" charset="0"/>
              </a:rPr>
              <a:t>Awad</a:t>
            </a:r>
            <a:endParaRPr lang="en-US" sz="2800" dirty="0" smtClean="0">
              <a:latin typeface="Times New Roman" panose="02020603050405020304" pitchFamily="18" charset="0"/>
              <a:cs typeface="Times New Roman" panose="02020603050405020304" pitchFamily="18" charset="0"/>
            </a:endParaRPr>
          </a:p>
          <a:p>
            <a:pPr marL="514350" lvl="0" indent="-514350">
              <a:buFont typeface="+mj-lt"/>
              <a:buAutoNum type="arabicPeriod"/>
            </a:pPr>
            <a:r>
              <a:rPr lang="en-AU" sz="2800" b="1" dirty="0">
                <a:latin typeface="Times New Roman" panose="02020603050405020304" pitchFamily="18" charset="0"/>
                <a:cs typeface="Times New Roman" panose="02020603050405020304" pitchFamily="18" charset="0"/>
              </a:rPr>
              <a:t>Systems Analysis and Design, </a:t>
            </a:r>
            <a:r>
              <a:rPr lang="en-AU" sz="2800" dirty="0">
                <a:latin typeface="Times New Roman" panose="02020603050405020304" pitchFamily="18" charset="0"/>
                <a:cs typeface="Times New Roman" panose="02020603050405020304" pitchFamily="18" charset="0"/>
              </a:rPr>
              <a:t>Kendall and Kendall, Fifth </a:t>
            </a:r>
            <a:r>
              <a:rPr lang="en-AU" sz="2800" dirty="0" smtClean="0">
                <a:latin typeface="Times New Roman" panose="02020603050405020304" pitchFamily="18" charset="0"/>
                <a:cs typeface="Times New Roman" panose="02020603050405020304" pitchFamily="18" charset="0"/>
              </a:rPr>
              <a:t>Edition</a:t>
            </a:r>
            <a:endParaRPr lang="en-US" sz="2800" b="1" dirty="0" smtClean="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b="1" dirty="0" smtClean="0">
                <a:latin typeface="Times New Roman" panose="02020603050405020304" pitchFamily="18" charset="0"/>
                <a:cs typeface="Times New Roman" panose="02020603050405020304" pitchFamily="18" charset="0"/>
              </a:rPr>
              <a:t>Structured Analysis</a:t>
            </a:r>
          </a:p>
          <a:p>
            <a:pPr lvl="1"/>
            <a:r>
              <a:rPr lang="en-US" sz="2800" dirty="0" smtClean="0">
                <a:latin typeface="Times New Roman" panose="02020603050405020304" pitchFamily="18" charset="0"/>
                <a:cs typeface="Times New Roman" panose="02020603050405020304" pitchFamily="18" charset="0"/>
                <a:hlinkClick r:id="rId2"/>
              </a:rPr>
              <a:t>https</a:t>
            </a:r>
            <a:r>
              <a:rPr lang="en-US" sz="2800" dirty="0">
                <a:latin typeface="Times New Roman" panose="02020603050405020304" pitchFamily="18" charset="0"/>
                <a:cs typeface="Times New Roman" panose="02020603050405020304" pitchFamily="18" charset="0"/>
                <a:hlinkClick r:id="rId2"/>
              </a:rPr>
              <a:t>://www.tutorialspoint.com/system_analysis_and_design/system_analysis_and_design_structured.htm</a:t>
            </a: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1113</Words>
  <Application>WPS Presentation</Application>
  <PresentationFormat>Custom</PresentationFormat>
  <Paragraphs>183</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Retrospect</vt:lpstr>
      <vt:lpstr>Chapter 4</vt:lpstr>
      <vt:lpstr>Process Specification</vt:lpstr>
      <vt:lpstr>Data Dictionary </vt:lpstr>
      <vt:lpstr>Decision Trees</vt:lpstr>
      <vt:lpstr>Decision Trees</vt:lpstr>
      <vt:lpstr>Decision Table</vt:lpstr>
      <vt:lpstr>Decision Table Notation Explained</vt:lpstr>
      <vt:lpstr>Decision Table</vt:lpstr>
      <vt:lpstr>Structured English</vt:lpstr>
      <vt:lpstr>Example: Structured English</vt:lpstr>
      <vt:lpstr>Decision Table For  Shipping Rules</vt:lpstr>
      <vt:lpstr>Comparison of Structured English,  Decision Tables and Decision Trees</vt:lpstr>
      <vt:lpstr>When To Use Structured English, Decision  Tables and Decision Trees</vt:lpstr>
      <vt:lpstr>Example-1:</vt:lpstr>
      <vt:lpstr>Example-2</vt:lpstr>
      <vt:lpstr>Example-3</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CADL</dc:creator>
  <cp:lastModifiedBy>DBLab1</cp:lastModifiedBy>
  <cp:revision>134</cp:revision>
  <dcterms:created xsi:type="dcterms:W3CDTF">2017-05-20T19:13:00Z</dcterms:created>
  <dcterms:modified xsi:type="dcterms:W3CDTF">2025-06-15T05:58:16Z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2007-12-10T12:00:00Z</vt:filetime>
  </property>
  <property fmtid="{D5CDD505-2E9C-101B-9397-08002B2CF9AE}" pid="3" name="Creator">
    <vt:lpwstr>Acrobat PDFMaker 7.0 for PowerPoint</vt:lpwstr>
  </property>
  <property fmtid="{D5CDD505-2E9C-101B-9397-08002B2CF9AE}" pid="4" name="LastSaved">
    <vt:filetime>2017-05-20T12:00:00Z</vt:filetime>
  </property>
  <property fmtid="{D5CDD505-2E9C-101B-9397-08002B2CF9AE}" pid="5" name="ICV">
    <vt:lpwstr>9150CAFD796641DF8A421996A3BBCDB0_12</vt:lpwstr>
  </property>
  <property fmtid="{D5CDD505-2E9C-101B-9397-08002B2CF9AE}" pid="6" name="KSOProductBuildVer">
    <vt:lpwstr>1033-12.2.0.21179</vt:lpwstr>
  </property>
</Properties>
</file>