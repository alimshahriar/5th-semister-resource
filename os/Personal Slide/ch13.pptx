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299" r:id="rId3"/>
    <p:sldId id="257" r:id="rId5"/>
    <p:sldId id="258" r:id="rId6"/>
    <p:sldId id="259" r:id="rId7"/>
    <p:sldId id="261" r:id="rId8"/>
    <p:sldId id="316" r:id="rId9"/>
    <p:sldId id="319" r:id="rId10"/>
    <p:sldId id="262" r:id="rId11"/>
    <p:sldId id="268" r:id="rId12"/>
    <p:sldId id="321" r:id="rId13"/>
    <p:sldId id="320" r:id="rId14"/>
    <p:sldId id="484" r:id="rId15"/>
    <p:sldId id="328" r:id="rId16"/>
    <p:sldId id="275" r:id="rId17"/>
    <p:sldId id="276" r:id="rId18"/>
    <p:sldId id="277" r:id="rId19"/>
    <p:sldId id="278" r:id="rId20"/>
    <p:sldId id="279" r:id="rId21"/>
    <p:sldId id="282" r:id="rId22"/>
    <p:sldId id="284" r:id="rId23"/>
    <p:sldId id="314" r:id="rId24"/>
  </p:sldIdLst>
  <p:sldSz cx="9144000" cy="6858000" type="screen4x3"/>
  <p:notesSz cx="6881495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 userDrawn="1">
          <p15:clr>
            <a:srgbClr val="A4A3A4"/>
          </p15:clr>
        </p15:guide>
        <p15:guide id="2" pos="4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lberschatz, Avi" initials="S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  <a:srgbClr val="80000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37" autoAdjust="0"/>
    <p:restoredTop sz="86449" autoAdjust="0"/>
  </p:normalViewPr>
  <p:slideViewPr>
    <p:cSldViewPr snapToGrid="0" showGuides="1">
      <p:cViewPr varScale="1">
        <p:scale>
          <a:sx n="74" d="100"/>
          <a:sy n="74" d="100"/>
        </p:scale>
        <p:origin x="1212" y="7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-915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ctr" anchorCtr="0" compatLnSpc="1"/>
          <a:lstStyle>
            <a:lvl1pPr algn="r"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defTabSz="876300">
              <a:defRPr sz="1100">
                <a:latin typeface="Helvetica" pitchFamily="2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7575" tIns="43788" rIns="87575" bIns="43788" numCol="1" anchor="b" anchorCtr="0" compatLnSpc="1"/>
          <a:lstStyle>
            <a:lvl1pPr algn="r" defTabSz="876300">
              <a:defRPr sz="1100">
                <a:latin typeface="Helvetica" pitchFamily="2" charset="0"/>
              </a:defRPr>
            </a:lvl1pPr>
          </a:lstStyle>
          <a:p>
            <a:pPr>
              <a:defRPr/>
            </a:pPr>
            <a:fld id="{C746EC8E-B597-402D-9662-ABD14BABEEF8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>
            <a:lvl1pPr algn="r"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ctr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defTabSz="923925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2436" tIns="46217" rIns="92436" bIns="46217" numCol="1" anchor="b" anchorCtr="0" compatLnSpc="1"/>
          <a:lstStyle>
            <a:lvl1pPr algn="r" defTabSz="923925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8DDF7C7-3008-4DC4-9F8B-1490BCFC99E7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9A8748-23BD-4604-ABD1-36CC9D1DFE6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274C7E9-F040-43A5-A02B-7B3564DE1EB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A6D2EA7-7198-42DD-A325-6CC321E9025E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908165-D958-4DDB-9065-BCEC095E62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1C65E7B-61F4-475C-84B4-05AD95DE5E9F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3692990-6E56-4D35-BD90-190416A81C7B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5418E6-809C-4662-89DF-BEF89E899F00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6E7FED8-4114-426E-AFA1-DD1BFBB9DE8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51205" indent="-288925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5570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1798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80260" indent="-231140" defTabSz="94043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4254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300482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67100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930015" indent="-231140" defTabSz="94043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8990AAC-2DA7-44B8-A428-8FC6A8DECD79}" type="slidenum">
              <a:rPr lang="en-US" altLang="en-US" smtClean="0">
                <a:latin typeface="Helvetica" pitchFamily="2" charset="0"/>
              </a:rPr>
            </a:fld>
            <a:endParaRPr lang="en-US" altLang="en-US">
              <a:latin typeface="Helvetica" pitchFamily="2" charset="0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614397-364B-4882-8C56-416B97B7CD7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833D637-BCE5-4E5D-9874-9EFBFE9D9D0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E89A6CA-A27A-48DC-A193-6688F0032372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4F0040-1B98-4F0E-BD49-DF658C3D7C9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F02A2EC-CEA9-4304-B5CE-E4AECC768278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0EE775A-D9F7-4A95-B333-F891C5D4DA5D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0ED4EAF-AB70-4F97-88AE-0E564E534DC9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979595F-FC7F-49B8-8036-A16B10273444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382236F-6024-461D-95C0-A8C6844DD1F5}" type="slidenum">
              <a:rPr lang="en-US" altLang="en-US">
                <a:latin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019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336699"/>
                </a:solidFill>
                <a:latin typeface="Helvetica" pitchFamily="2" charset="0"/>
              </a:rPr>
              <a:t>h</a:t>
            </a:r>
            <a:r>
              <a:rPr lang="en-US" altLang="en-US" sz="10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336699"/>
              </a:solidFill>
              <a:latin typeface="Helvetica" pitchFamily="2" charset="0"/>
            </a:endParaRP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1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 bwMode="auto">
          <a:xfrm>
            <a:off x="403932" y="843367"/>
            <a:ext cx="8313938" cy="38174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 marL="742950" indent="-285750">
              <a:buFont typeface="Wingdings" panose="05000000000000000000" pitchFamily="2" charset="2"/>
              <a:buChar char="§"/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15900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 dirty="0"/>
              <a:t>Click to edit Master text styles</a:t>
            </a:r>
            <a:endParaRPr lang="en-US" altLang="en-US" dirty="0"/>
          </a:p>
          <a:p>
            <a:pPr lvl="1"/>
            <a:r>
              <a:rPr lang="en-US" altLang="en-US" dirty="0"/>
              <a:t>Second level</a:t>
            </a:r>
            <a:endParaRPr lang="en-US" altLang="en-US" dirty="0"/>
          </a:p>
          <a:p>
            <a:pPr lvl="2"/>
            <a:r>
              <a:rPr lang="en-US" altLang="en-US" dirty="0"/>
              <a:t>Third level</a:t>
            </a:r>
            <a:endParaRPr lang="en-US" altLang="en-US" dirty="0"/>
          </a:p>
          <a:p>
            <a:pPr lvl="3"/>
            <a:r>
              <a:rPr lang="en-US" altLang="en-US" dirty="0"/>
              <a:t>Fourth level</a:t>
            </a:r>
            <a:endParaRPr lang="en-US" altLang="en-US" dirty="0"/>
          </a:p>
          <a:p>
            <a:pPr lvl="4"/>
            <a:r>
              <a:rPr lang="en-US" altLang="en-US" dirty="0"/>
              <a:t>Fifth level</a:t>
            </a:r>
            <a:endParaRPr lang="en-US" altLang="en-US" dirty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20880" y="6613525"/>
            <a:ext cx="518091" cy="24622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2" charset="0"/>
              </a:rPr>
              <a:t>13.</a:t>
            </a:r>
            <a:fld id="{47DE681D-3D41-4CB0-83AA-B406652BB5CF}" type="slidenum">
              <a:rPr lang="en-US" altLang="en-US" sz="1000" b="1" smtClean="0">
                <a:solidFill>
                  <a:srgbClr val="006699"/>
                </a:solidFill>
                <a:latin typeface="Helvetica" pitchFamily="2" charset="0"/>
              </a:rPr>
            </a:fld>
            <a:endParaRPr lang="en-US" altLang="en-US" sz="1000" b="1" dirty="0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Silberschatz, Galvin and Gagne ©2018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Operating System Concepts – 10</a:t>
            </a:r>
            <a:r>
              <a:rPr lang="en-US" altLang="en-US" sz="10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en-US" sz="1000" b="1">
                <a:solidFill>
                  <a:srgbClr val="006699"/>
                </a:solidFill>
                <a:latin typeface="Helvetica" pitchFamily="2" charset="0"/>
              </a:rPr>
              <a:t> Edition</a:t>
            </a:r>
            <a:endParaRPr lang="en-US" altLang="en-US" sz="10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2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13:  </a:t>
            </a:r>
            <a:br>
              <a:rPr lang="en-US" altLang="en-US"/>
            </a:br>
            <a:r>
              <a:rPr lang="en-US" altLang="en-US"/>
              <a:t>File-System Interface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903061" y="139850"/>
            <a:ext cx="7929563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Outline</a:t>
            </a:r>
            <a:endParaRPr lang="en-US" altLang="en-US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060" y="942090"/>
            <a:ext cx="7718425" cy="3494087"/>
          </a:xfrm>
        </p:spPr>
        <p:txBody>
          <a:bodyPr/>
          <a:lstStyle/>
          <a:p>
            <a:r>
              <a:rPr lang="en-US" altLang="en-US" dirty="0"/>
              <a:t>File Concept</a:t>
            </a:r>
            <a:endParaRPr lang="en-US" altLang="en-US" dirty="0"/>
          </a:p>
          <a:p>
            <a:r>
              <a:rPr lang="en-US" altLang="en-US" dirty="0"/>
              <a:t>Access Methods</a:t>
            </a:r>
            <a:endParaRPr lang="en-US" altLang="en-US" dirty="0"/>
          </a:p>
          <a:p>
            <a:r>
              <a:rPr lang="en-US" altLang="en-US" dirty="0"/>
              <a:t>Disk and Directory Structure</a:t>
            </a:r>
            <a:endParaRPr lang="en-US" altLang="en-US" dirty="0"/>
          </a:p>
          <a:p>
            <a:r>
              <a:rPr lang="en-US" altLang="en-US" dirty="0"/>
              <a:t>Protection</a:t>
            </a:r>
            <a:endParaRPr lang="en-US" altLang="en-US" dirty="0"/>
          </a:p>
          <a:p>
            <a:r>
              <a:rPr lang="en-US" altLang="en-US" dirty="0"/>
              <a:t>Memory-Mapped Files</a:t>
            </a:r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12922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  <a:endParaRPr lang="en-US" alt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71" y="942090"/>
            <a:ext cx="6560854" cy="4504118"/>
          </a:xfrm>
        </p:spPr>
        <p:txBody>
          <a:bodyPr/>
          <a:lstStyle/>
          <a:p>
            <a:r>
              <a:rPr lang="en-US" altLang="en-US" dirty="0"/>
              <a:t>To explain the function of file systems</a:t>
            </a:r>
            <a:endParaRPr lang="en-US" altLang="en-US" dirty="0"/>
          </a:p>
          <a:p>
            <a:r>
              <a:rPr lang="en-US" altLang="en-US" dirty="0"/>
              <a:t>To describe the interfaces to file systems</a:t>
            </a:r>
            <a:endParaRPr lang="en-US" altLang="en-US" dirty="0"/>
          </a:p>
          <a:p>
            <a:r>
              <a:rPr lang="en-US" altLang="en-US" dirty="0"/>
              <a:t>To discuss file-system design tradeoffs, including access methods, file sharing, file locking, and directory structures</a:t>
            </a:r>
            <a:endParaRPr lang="en-US" altLang="en-US" dirty="0"/>
          </a:p>
          <a:p>
            <a:r>
              <a:rPr lang="en-US" altLang="en-US" dirty="0"/>
              <a:t>To explore file-system protection</a:t>
            </a: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4559" y="14989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Concept</a:t>
            </a:r>
            <a:endParaRPr lang="en-US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591" y="930580"/>
            <a:ext cx="7648575" cy="4530725"/>
          </a:xfrm>
        </p:spPr>
        <p:txBody>
          <a:bodyPr/>
          <a:lstStyle/>
          <a:p>
            <a:r>
              <a:rPr lang="en-US" altLang="en-US" dirty="0"/>
              <a:t>Contiguous logical address space</a:t>
            </a:r>
            <a:endParaRPr lang="en-US" altLang="en-US" dirty="0"/>
          </a:p>
          <a:p>
            <a:r>
              <a:rPr lang="en-US" altLang="en-US" dirty="0"/>
              <a:t>Types: </a:t>
            </a:r>
            <a:endParaRPr lang="en-US" altLang="en-US" dirty="0"/>
          </a:p>
          <a:p>
            <a:pPr lvl="1"/>
            <a:r>
              <a:rPr lang="en-US" altLang="en-US" dirty="0"/>
              <a:t>Data</a:t>
            </a:r>
            <a:endParaRPr lang="en-US" altLang="en-US" dirty="0"/>
          </a:p>
          <a:p>
            <a:pPr lvl="2"/>
            <a:r>
              <a:rPr lang="en-US" altLang="en-US" dirty="0"/>
              <a:t>Numeric</a:t>
            </a:r>
            <a:endParaRPr lang="en-US" altLang="en-US" dirty="0"/>
          </a:p>
          <a:p>
            <a:pPr lvl="2"/>
            <a:r>
              <a:rPr lang="en-US" altLang="en-US" dirty="0"/>
              <a:t>Character</a:t>
            </a:r>
            <a:endParaRPr lang="en-US" altLang="en-US" dirty="0"/>
          </a:p>
          <a:p>
            <a:pPr lvl="2"/>
            <a:r>
              <a:rPr lang="en-US" altLang="en-US" dirty="0"/>
              <a:t>Binary</a:t>
            </a:r>
            <a:endParaRPr lang="en-US" altLang="en-US" dirty="0"/>
          </a:p>
          <a:p>
            <a:pPr lvl="1"/>
            <a:r>
              <a:rPr lang="en-US" altLang="en-US" dirty="0"/>
              <a:t>Program</a:t>
            </a:r>
            <a:endParaRPr lang="en-US" altLang="en-US" dirty="0"/>
          </a:p>
          <a:p>
            <a:r>
              <a:rPr lang="en-US" altLang="en-US" dirty="0"/>
              <a:t>Contents defined by file’s creator</a:t>
            </a:r>
            <a:endParaRPr lang="en-US" altLang="en-US" dirty="0"/>
          </a:p>
          <a:p>
            <a:pPr lvl="1"/>
            <a:r>
              <a:rPr lang="en-US" altLang="en-US" dirty="0"/>
              <a:t>Many types</a:t>
            </a:r>
            <a:endParaRPr lang="en-US" altLang="en-US" dirty="0"/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text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source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r>
              <a:rPr lang="en-US" altLang="en-US" b="1" dirty="0">
                <a:solidFill>
                  <a:srgbClr val="3366FF"/>
                </a:solidFill>
              </a:rPr>
              <a:t>, </a:t>
            </a:r>
            <a:endParaRPr lang="en-US" altLang="en-US" b="1" dirty="0">
              <a:solidFill>
                <a:srgbClr val="3366FF"/>
              </a:solidFill>
            </a:endParaRPr>
          </a:p>
          <a:p>
            <a:pPr lvl="2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executable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file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63893" y="155946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File Attributes</a:t>
            </a:r>
            <a:endParaRPr lang="en-US" alt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5067" y="944549"/>
            <a:ext cx="7493389" cy="4379835"/>
          </a:xfrm>
        </p:spPr>
        <p:txBody>
          <a:bodyPr/>
          <a:lstStyle/>
          <a:p>
            <a:r>
              <a:rPr lang="en-US" altLang="en-US" b="1" dirty="0"/>
              <a:t>Name</a:t>
            </a:r>
            <a:r>
              <a:rPr lang="en-US" altLang="en-US" dirty="0"/>
              <a:t> – only information kept in human-readable form</a:t>
            </a:r>
            <a:endParaRPr lang="en-US" altLang="en-US" dirty="0"/>
          </a:p>
          <a:p>
            <a:r>
              <a:rPr lang="en-US" altLang="en-US" b="1" dirty="0"/>
              <a:t>Identifier</a:t>
            </a:r>
            <a:r>
              <a:rPr lang="en-US" altLang="en-US" dirty="0"/>
              <a:t> – unique tag (number) identifies file within file system</a:t>
            </a:r>
            <a:endParaRPr lang="en-US" altLang="en-US" dirty="0"/>
          </a:p>
          <a:p>
            <a:r>
              <a:rPr lang="en-US" altLang="en-US" b="1" dirty="0"/>
              <a:t>Type</a:t>
            </a:r>
            <a:r>
              <a:rPr lang="en-US" altLang="en-US" dirty="0"/>
              <a:t> – needed for systems that support different types</a:t>
            </a:r>
            <a:endParaRPr lang="en-US" altLang="en-US" dirty="0"/>
          </a:p>
          <a:p>
            <a:r>
              <a:rPr lang="en-US" altLang="en-US" b="1" dirty="0"/>
              <a:t>Location</a:t>
            </a:r>
            <a:r>
              <a:rPr lang="en-US" altLang="en-US" dirty="0"/>
              <a:t> – pointer to file location on device</a:t>
            </a:r>
            <a:endParaRPr lang="en-US" altLang="en-US" dirty="0"/>
          </a:p>
          <a:p>
            <a:r>
              <a:rPr lang="en-US" altLang="en-US" b="1" dirty="0"/>
              <a:t>Size</a:t>
            </a:r>
            <a:r>
              <a:rPr lang="en-US" altLang="en-US" dirty="0"/>
              <a:t> – current file size</a:t>
            </a:r>
            <a:endParaRPr lang="en-US" altLang="en-US" dirty="0"/>
          </a:p>
          <a:p>
            <a:r>
              <a:rPr lang="en-US" altLang="en-US" b="1" dirty="0"/>
              <a:t>Protection</a:t>
            </a:r>
            <a:r>
              <a:rPr lang="en-US" altLang="en-US" dirty="0"/>
              <a:t> – controls who can do reading, writing, executing</a:t>
            </a:r>
            <a:endParaRPr lang="en-US" altLang="en-US" dirty="0"/>
          </a:p>
          <a:p>
            <a:r>
              <a:rPr lang="en-US" altLang="en-US" b="1" dirty="0"/>
              <a:t>Time, date, and user identification</a:t>
            </a:r>
            <a:r>
              <a:rPr lang="en-US" altLang="en-US" dirty="0"/>
              <a:t> – data for protection, security, and usage monitoring</a:t>
            </a:r>
            <a:endParaRPr lang="en-US" altLang="en-US" dirty="0"/>
          </a:p>
          <a:p>
            <a:r>
              <a:rPr lang="en-US" altLang="en-US" dirty="0"/>
              <a:t>Information about files are kept in the directory structure, which is maintained on the disk</a:t>
            </a:r>
            <a:endParaRPr lang="en-US" altLang="en-US" dirty="0"/>
          </a:p>
          <a:p>
            <a:r>
              <a:rPr lang="en-US" altLang="en-US" dirty="0"/>
              <a:t>Many variations, including extended file attributes such as file checksum</a:t>
            </a:r>
            <a:endParaRPr lang="en-US" altLang="en-US" dirty="0"/>
          </a:p>
          <a:p>
            <a:r>
              <a:rPr lang="en-US" altLang="en-US" dirty="0"/>
              <a:t>Information kept in the directory structure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550507" y="14225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info Window on Mac OS X</a:t>
            </a:r>
            <a:endParaRPr lang="en-US" altLang="en-US" dirty="0"/>
          </a:p>
        </p:txBody>
      </p:sp>
      <p:pic>
        <p:nvPicPr>
          <p:cNvPr id="8195" name="Picture 4" descr="11_01.pdf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963" y="1041400"/>
            <a:ext cx="1920875" cy="515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9007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942451"/>
            <a:ext cx="7862181" cy="514540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collection of nodes containing information about all files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latin typeface="Helvetica" pitchFamily="2" charset="0"/>
              </a:rPr>
              <a:t>Both the directory structure and the files reside on disk</a:t>
            </a:r>
            <a:endParaRPr lang="en-US" altLang="en-US" dirty="0">
              <a:latin typeface="Helvetica" pitchFamily="2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566700" y="1405433"/>
          <a:ext cx="3309590" cy="28651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Acrobat Document" r:id="rId1" imgW="1841500" imgH="1590675" progId="AcroExch.Document.DC">
                  <p:embed/>
                </p:oleObj>
              </mc:Choice>
              <mc:Fallback>
                <p:oleObj name="Acrobat Document" r:id="rId1" imgW="1841500" imgH="1590675" progId="AcroExch.Document.DC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6700" y="1405433"/>
                        <a:ext cx="3309590" cy="28651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7909" y="1254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File Operations</a:t>
            </a:r>
            <a:endParaRPr lang="en-US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7" y="934499"/>
            <a:ext cx="7093834" cy="4483952"/>
          </a:xfrm>
        </p:spPr>
        <p:txBody>
          <a:bodyPr/>
          <a:lstStyle/>
          <a:p>
            <a:r>
              <a:rPr lang="en-US" altLang="en-US" b="1" dirty="0"/>
              <a:t>Create</a:t>
            </a:r>
            <a:endParaRPr lang="en-US" altLang="en-US" b="1" dirty="0"/>
          </a:p>
          <a:p>
            <a:r>
              <a:rPr lang="en-US" altLang="en-US" b="1" dirty="0"/>
              <a:t>Write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write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location</a:t>
            </a:r>
            <a:endParaRPr lang="en-US" altLang="en-US" dirty="0"/>
          </a:p>
          <a:p>
            <a:r>
              <a:rPr lang="en-US" altLang="en-US" b="1" dirty="0"/>
              <a:t>Read – </a:t>
            </a:r>
            <a:r>
              <a:rPr lang="en-US" altLang="en-US" dirty="0"/>
              <a:t>at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read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pointer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location</a:t>
            </a:r>
            <a:endParaRPr lang="en-US" altLang="en-US" dirty="0"/>
          </a:p>
          <a:p>
            <a:r>
              <a:rPr lang="en-US" altLang="en-US" b="1" dirty="0"/>
              <a:t>Reposition within file -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seek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r>
              <a:rPr lang="en-US" altLang="en-US" b="1" dirty="0"/>
              <a:t>Delete</a:t>
            </a:r>
            <a:endParaRPr lang="en-US" altLang="en-US" b="1" dirty="0"/>
          </a:p>
          <a:p>
            <a:r>
              <a:rPr lang="en-US" altLang="en-US" b="1" dirty="0"/>
              <a:t>Truncate</a:t>
            </a:r>
            <a:endParaRPr lang="en-US" altLang="en-US" b="1" dirty="0"/>
          </a:p>
          <a:p>
            <a:r>
              <a:rPr lang="en-US" altLang="en-US" b="1" i="1" dirty="0"/>
              <a:t>Open </a:t>
            </a:r>
            <a:r>
              <a:rPr lang="en-US" altLang="en-US" b="1" dirty="0"/>
              <a:t>(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) </a:t>
            </a:r>
            <a:r>
              <a:rPr lang="en-US" altLang="en-US" dirty="0"/>
              <a:t>– search the directory structure on disk for entry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dirty="0"/>
              <a:t>, and move the content of entry to memory</a:t>
            </a:r>
            <a:endParaRPr lang="en-US" altLang="en-US" dirty="0"/>
          </a:p>
          <a:p>
            <a:r>
              <a:rPr lang="en-US" altLang="en-US" b="1" i="1" dirty="0"/>
              <a:t>Close </a:t>
            </a:r>
            <a:r>
              <a:rPr lang="en-US" altLang="en-US" b="1" dirty="0"/>
              <a:t>(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) </a:t>
            </a:r>
            <a:r>
              <a:rPr lang="en-US" altLang="en-US" dirty="0"/>
              <a:t>– move the content of entry</a:t>
            </a:r>
            <a:r>
              <a:rPr lang="en-US" altLang="en-US" b="1" dirty="0"/>
              <a:t> </a:t>
            </a:r>
            <a:r>
              <a:rPr lang="en-US" altLang="en-US" b="1" i="1" dirty="0"/>
              <a:t>F</a:t>
            </a:r>
            <a:r>
              <a:rPr lang="en-US" altLang="en-US" b="1" i="1" baseline="-25000" dirty="0"/>
              <a:t>i</a:t>
            </a:r>
            <a:r>
              <a:rPr lang="en-US" altLang="en-US" b="1" dirty="0"/>
              <a:t> </a:t>
            </a:r>
            <a:r>
              <a:rPr lang="en-US" altLang="en-US" dirty="0"/>
              <a:t>in memory to directory structure on disk</a:t>
            </a:r>
            <a:endParaRPr lang="en-US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31520" y="128345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Access Methods</a:t>
            </a:r>
            <a:r>
              <a:rPr lang="en-GB" altLang="en-US" dirty="0"/>
              <a:t>  1</a:t>
            </a:r>
            <a:endParaRPr lang="en-GB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365" y="990206"/>
            <a:ext cx="7848599" cy="45291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A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file is fixed length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records</a:t>
            </a:r>
            <a:endParaRPr lang="en-US" altLang="en-US" b="1" dirty="0"/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/>
              <a:t>Sequential Access</a:t>
            </a:r>
            <a:endParaRPr lang="en-US" altLang="en-US" b="1" dirty="0"/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Direct Access</a:t>
            </a:r>
            <a:endParaRPr lang="en-US" altLang="en-US" b="1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</a:rPr>
              <a:t>Other Access Methods</a:t>
            </a:r>
            <a:endParaRPr lang="en-US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05840" y="75192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Sequential Access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365" y="980156"/>
            <a:ext cx="7848599" cy="4529137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Operations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next 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Reset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no read after last write  (rewrite)</a:t>
            </a:r>
            <a:endParaRPr lang="en-US" altLang="en-US" dirty="0">
              <a:solidFill>
                <a:srgbClr val="000000"/>
              </a:solidFill>
            </a:endParaRPr>
          </a:p>
          <a:p>
            <a:pPr marL="457200" lvl="1" indent="0">
              <a:lnSpc>
                <a:spcPct val="90000"/>
              </a:lnSpc>
              <a:buNone/>
              <a:tabLst>
                <a:tab pos="3203575" algn="l"/>
                <a:tab pos="4055745" algn="l"/>
              </a:tabLst>
            </a:pPr>
            <a:endParaRPr lang="en-US" altLang="en-US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Figure</a:t>
            </a:r>
            <a:endParaRPr lang="en-US" altLang="en-US" dirty="0">
              <a:solidFill>
                <a:srgbClr val="000000"/>
              </a:solidFill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080" y="3410888"/>
            <a:ext cx="4311015" cy="1378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31520" y="128345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Direct Access</a:t>
            </a:r>
            <a:endParaRPr lang="en-US" alt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365" y="964643"/>
            <a:ext cx="5595585" cy="449676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>
                <a:solidFill>
                  <a:srgbClr val="000000"/>
                </a:solidFill>
              </a:rPr>
              <a:t>Operations</a:t>
            </a:r>
            <a:endParaRPr lang="en-US" altLang="en-US" dirty="0">
              <a:solidFill>
                <a:srgbClr val="000000"/>
              </a:solidFill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position to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 next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write next 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rewrite </a:t>
            </a:r>
            <a:r>
              <a:rPr lang="en-US" altLang="en-US" b="1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endParaRPr lang="en-US" altLang="en-US" b="1" i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5745" algn="l"/>
              </a:tabLst>
            </a:pPr>
            <a:r>
              <a:rPr lang="en-US" altLang="en-US" dirty="0"/>
              <a:t>	     </a:t>
            </a:r>
            <a:r>
              <a:rPr lang="en-US" altLang="en-US" i="1" dirty="0"/>
              <a:t>n</a:t>
            </a:r>
            <a:r>
              <a:rPr lang="en-US" altLang="en-US" dirty="0"/>
              <a:t> =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relative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block</a:t>
            </a:r>
            <a:r>
              <a:rPr lang="en-US" altLang="en-US" dirty="0">
                <a:solidFill>
                  <a:srgbClr val="0033CC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endParaRPr lang="en-US" altLang="en-US" b="1" dirty="0">
              <a:solidFill>
                <a:srgbClr val="006699"/>
              </a:solidFill>
              <a:latin typeface="+mj-lt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203575" algn="l"/>
                <a:tab pos="4055745" algn="l"/>
              </a:tabLst>
            </a:pPr>
            <a:r>
              <a:rPr lang="en-US" altLang="en-US" sz="800" dirty="0">
                <a:solidFill>
                  <a:srgbClr val="0033CC"/>
                </a:solidFill>
              </a:rPr>
              <a:t> </a:t>
            </a:r>
            <a:endParaRPr lang="en-US" altLang="en-US" sz="800" dirty="0"/>
          </a:p>
          <a:p>
            <a:pPr>
              <a:lnSpc>
                <a:spcPct val="90000"/>
              </a:lnSpc>
              <a:tabLst>
                <a:tab pos="3203575" algn="l"/>
                <a:tab pos="4055745" algn="l"/>
              </a:tabLst>
            </a:pPr>
            <a:r>
              <a:rPr lang="en-US" altLang="en-US" dirty="0"/>
              <a:t>Relative block numbers allow OS to decide where file should be placed</a:t>
            </a:r>
            <a:endParaRPr lang="en-US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9805" y="7459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200" dirty="0"/>
              <a:t>Simulation of Sequential Access on Direct-access File</a:t>
            </a:r>
            <a:endParaRPr lang="en-US" altLang="en-US" sz="2200" dirty="0"/>
          </a:p>
        </p:txBody>
      </p:sp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1218" y="1095273"/>
            <a:ext cx="5535592" cy="20423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19876" y="130630"/>
            <a:ext cx="8229600" cy="555806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Structure</a:t>
            </a:r>
            <a:endParaRPr lang="en-US" altLang="en-US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5739" y="944547"/>
            <a:ext cx="7862181" cy="512320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collection of nodes containing information about all files</a:t>
            </a: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>
                <a:latin typeface="Helvetica" pitchFamily="2" charset="0"/>
              </a:rPr>
              <a:t>Both the directory structure and the files reside on disk</a:t>
            </a:r>
            <a:endParaRPr lang="en-US" altLang="en-US" dirty="0">
              <a:latin typeface="Helvetica" pitchFamily="2" charset="0"/>
            </a:endParaRPr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835212" y="1507255"/>
          <a:ext cx="3041077" cy="26427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Acrobat Document" r:id="rId1" imgW="1841500" imgH="1590675" progId="AcroExch.Document.DC">
                  <p:embed/>
                </p:oleObj>
              </mc:Choice>
              <mc:Fallback>
                <p:oleObj name="Acrobat Document" r:id="rId1" imgW="1841500" imgH="1590675" progId="AcroExch.Document.DC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35212" y="1507255"/>
                        <a:ext cx="3041077" cy="26427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959613" y="12982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Operations Performed on Directory</a:t>
            </a:r>
            <a:endParaRPr lang="en-US" alt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6603" y="1017551"/>
            <a:ext cx="7678899" cy="4530725"/>
          </a:xfrm>
        </p:spPr>
        <p:txBody>
          <a:bodyPr/>
          <a:lstStyle/>
          <a:p>
            <a:r>
              <a:rPr lang="en-US" altLang="en-US" dirty="0"/>
              <a:t>Search for a file</a:t>
            </a:r>
            <a:endParaRPr lang="en-US" altLang="en-US" dirty="0"/>
          </a:p>
          <a:p>
            <a:endParaRPr lang="en-US" altLang="en-US" sz="800" dirty="0"/>
          </a:p>
          <a:p>
            <a:r>
              <a:rPr lang="en-US" altLang="en-US" dirty="0"/>
              <a:t>Create a file</a:t>
            </a:r>
            <a:endParaRPr lang="en-US" altLang="en-US" dirty="0"/>
          </a:p>
          <a:p>
            <a:endParaRPr lang="en-US" altLang="en-US" sz="800" dirty="0"/>
          </a:p>
          <a:p>
            <a:r>
              <a:rPr lang="en-US" altLang="en-US" dirty="0"/>
              <a:t>Delete a file</a:t>
            </a:r>
            <a:endParaRPr lang="en-US" altLang="en-US" dirty="0"/>
          </a:p>
          <a:p>
            <a:endParaRPr lang="en-US" altLang="en-US" sz="800" dirty="0"/>
          </a:p>
          <a:p>
            <a:r>
              <a:rPr lang="en-US" altLang="en-US" dirty="0"/>
              <a:t>List a directory</a:t>
            </a:r>
            <a:endParaRPr lang="en-US" altLang="en-US" dirty="0"/>
          </a:p>
          <a:p>
            <a:endParaRPr lang="en-US" altLang="en-US" sz="800" dirty="0"/>
          </a:p>
          <a:p>
            <a:r>
              <a:rPr lang="en-US" altLang="en-US" dirty="0"/>
              <a:t>Rename a file</a:t>
            </a:r>
            <a:endParaRPr lang="en-US" altLang="en-US" dirty="0"/>
          </a:p>
          <a:p>
            <a:endParaRPr lang="en-US" altLang="en-US" sz="800" dirty="0"/>
          </a:p>
          <a:p>
            <a:r>
              <a:rPr lang="en-US" altLang="en-US" dirty="0"/>
              <a:t>Traverse the file system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778295" y="221066"/>
            <a:ext cx="7743825" cy="428346"/>
          </a:xfrm>
        </p:spPr>
        <p:txBody>
          <a:bodyPr/>
          <a:lstStyle/>
          <a:p>
            <a:pPr eaLnBrk="1" hangingPunct="1"/>
            <a:r>
              <a:rPr lang="en-US" altLang="en-US" dirty="0"/>
              <a:t>Directory Organization</a:t>
            </a:r>
            <a:endParaRPr lang="en-US" altLang="en-US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00150" y="1296242"/>
            <a:ext cx="6386356" cy="4491609"/>
          </a:xfrm>
        </p:spPr>
        <p:txBody>
          <a:bodyPr/>
          <a:lstStyle/>
          <a:p>
            <a:r>
              <a:rPr lang="en-US" altLang="en-US" dirty="0"/>
              <a:t>Efficiency – locating a file quickly</a:t>
            </a:r>
            <a:endParaRPr lang="en-US" altLang="en-US" dirty="0"/>
          </a:p>
          <a:p>
            <a:r>
              <a:rPr lang="en-US" altLang="en-US" dirty="0"/>
              <a:t>Naming – convenient to users</a:t>
            </a:r>
            <a:endParaRPr lang="en-US" altLang="en-US" dirty="0"/>
          </a:p>
          <a:p>
            <a:pPr lvl="1"/>
            <a:r>
              <a:rPr lang="en-US" altLang="en-US" dirty="0"/>
              <a:t>Two users can have same name for different files</a:t>
            </a:r>
            <a:endParaRPr lang="en-US" altLang="en-US" dirty="0"/>
          </a:p>
          <a:p>
            <a:pPr lvl="1"/>
            <a:r>
              <a:rPr lang="en-US" altLang="en-US" dirty="0"/>
              <a:t>The same file can have several different names</a:t>
            </a:r>
            <a:endParaRPr lang="en-US" altLang="en-US" dirty="0"/>
          </a:p>
          <a:p>
            <a:r>
              <a:rPr lang="en-US" altLang="en-US" dirty="0"/>
              <a:t>Grouping – logical grouping of files by properties, (e.g., all Java programs, all games, …)</a:t>
            </a:r>
            <a:endParaRPr lang="en-US" altLang="en-US" dirty="0"/>
          </a:p>
        </p:txBody>
      </p:sp>
      <p:sp>
        <p:nvSpPr>
          <p:cNvPr id="26628" name="Rectangle 4"/>
          <p:cNvSpPr>
            <a:spLocks noChangeArrowheads="1"/>
          </p:cNvSpPr>
          <p:nvPr/>
        </p:nvSpPr>
        <p:spPr bwMode="auto">
          <a:xfrm>
            <a:off x="900113" y="933228"/>
            <a:ext cx="7188200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700" dirty="0">
                <a:latin typeface="Helvetica" pitchFamily="2" charset="0"/>
              </a:rPr>
              <a:t>The directory is organized logically to obtain </a:t>
            </a:r>
            <a:endParaRPr lang="en-US" altLang="en-US" sz="1700" dirty="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2921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Single-Level Directory</a:t>
            </a:r>
            <a:endParaRPr lang="en-US" altLang="en-US" sz="2400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5663" y="981273"/>
            <a:ext cx="7275512" cy="4130675"/>
          </a:xfrm>
        </p:spPr>
        <p:txBody>
          <a:bodyPr/>
          <a:lstStyle/>
          <a:p>
            <a:r>
              <a:rPr lang="en-US" altLang="en-US" dirty="0"/>
              <a:t>A single directory for all users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Naming problem</a:t>
            </a:r>
            <a:endParaRPr lang="en-US" altLang="en-US" dirty="0"/>
          </a:p>
          <a:p>
            <a:r>
              <a:rPr lang="en-US" altLang="en-US" dirty="0"/>
              <a:t>Grouping problem</a:t>
            </a:r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1050925" y="3746500"/>
            <a:ext cx="4406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>
              <a:latin typeface="Helvetica" pitchFamily="2" charset="0"/>
            </a:endParaRPr>
          </a:p>
        </p:txBody>
      </p:sp>
      <p:pic>
        <p:nvPicPr>
          <p:cNvPr id="27653" name="Picture 7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6552" y="1517304"/>
            <a:ext cx="5527087" cy="134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29207" y="1140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Directory</a:t>
            </a:r>
            <a:endParaRPr lang="en-US" altLang="en-US" sz="2400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9313" y="939910"/>
            <a:ext cx="7869237" cy="555625"/>
          </a:xfrm>
        </p:spPr>
        <p:txBody>
          <a:bodyPr/>
          <a:lstStyle/>
          <a:p>
            <a:r>
              <a:rPr lang="en-US" altLang="en-US" dirty="0"/>
              <a:t>Separate directory for each user</a:t>
            </a:r>
            <a:endParaRPr lang="en-US" altLang="en-US" dirty="0"/>
          </a:p>
        </p:txBody>
      </p:sp>
      <p:sp>
        <p:nvSpPr>
          <p:cNvPr id="28676" name="Rectangle 5"/>
          <p:cNvSpPr>
            <a:spLocks noChangeArrowheads="1"/>
          </p:cNvSpPr>
          <p:nvPr/>
        </p:nvSpPr>
        <p:spPr bwMode="auto">
          <a:xfrm>
            <a:off x="854075" y="3739838"/>
            <a:ext cx="7002463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Path name</a:t>
            </a:r>
            <a:endParaRPr kumimoji="1" lang="en-US" altLang="en-US" sz="170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Can have the same file name for different user</a:t>
            </a:r>
            <a:endParaRPr kumimoji="1" lang="en-US" altLang="en-US" sz="170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Efficient searching</a:t>
            </a:r>
            <a:endParaRPr kumimoji="1" lang="en-US" altLang="en-US" sz="1700" dirty="0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700" dirty="0">
                <a:latin typeface="Helvetica" pitchFamily="2" charset="0"/>
              </a:rPr>
              <a:t>No grouping capability</a:t>
            </a:r>
            <a:endParaRPr kumimoji="1" lang="en-US" altLang="en-US" sz="1700" dirty="0">
              <a:latin typeface="Helvetica" pitchFamily="2" charset="0"/>
            </a:endParaRPr>
          </a:p>
        </p:txBody>
      </p:sp>
      <p:pic>
        <p:nvPicPr>
          <p:cNvPr id="28677" name="Picture 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707" y="1467058"/>
            <a:ext cx="5903704" cy="2037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193" y="14422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Tree-Structured Directories</a:t>
            </a:r>
            <a:endParaRPr lang="en-US" altLang="en-US" dirty="0"/>
          </a:p>
        </p:txBody>
      </p:sp>
      <p:pic>
        <p:nvPicPr>
          <p:cNvPr id="29699" name="Picture 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690" y="1135470"/>
            <a:ext cx="6418908" cy="410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13186" y="14125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Acyclic-Graph Directories</a:t>
            </a:r>
            <a:endParaRPr lang="en-US" altLang="en-US" sz="24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867" y="1093788"/>
            <a:ext cx="7029450" cy="522287"/>
          </a:xfrm>
        </p:spPr>
        <p:txBody>
          <a:bodyPr/>
          <a:lstStyle/>
          <a:p>
            <a:r>
              <a:rPr lang="en-US" altLang="en-US" dirty="0"/>
              <a:t>Have shared subdirectories and files</a:t>
            </a:r>
            <a:endParaRPr lang="en-US" altLang="en-US" dirty="0"/>
          </a:p>
          <a:p>
            <a:r>
              <a:rPr lang="en-US" altLang="en-US" dirty="0"/>
              <a:t>Example</a:t>
            </a:r>
            <a:endParaRPr lang="en-US" altLang="en-US" dirty="0"/>
          </a:p>
        </p:txBody>
      </p:sp>
      <p:pic>
        <p:nvPicPr>
          <p:cNvPr id="32772" name="Picture 7" descr="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968" y="1992348"/>
            <a:ext cx="4232834" cy="3420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4302" y="83937"/>
            <a:ext cx="76565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General Graph Directory</a:t>
            </a:r>
            <a:endParaRPr lang="en-US" altLang="en-US" sz="2400" dirty="0"/>
          </a:p>
        </p:txBody>
      </p:sp>
      <p:pic>
        <p:nvPicPr>
          <p:cNvPr id="34819" name="Picture 6" descr="10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885" y="1225903"/>
            <a:ext cx="5387741" cy="3191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814388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End of Chapter 13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3005</Words>
  <Application>WPS Presentation</Application>
  <PresentationFormat>On-screen Show (4:3)</PresentationFormat>
  <Paragraphs>181</Paragraphs>
  <Slides>21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7" baseType="lpstr">
      <vt:lpstr>Arial</vt:lpstr>
      <vt:lpstr>SimSun</vt:lpstr>
      <vt:lpstr>Wingdings</vt:lpstr>
      <vt:lpstr>Verdana</vt:lpstr>
      <vt:lpstr>MS PGothic</vt:lpstr>
      <vt:lpstr>Times New Roman</vt:lpstr>
      <vt:lpstr>Helvetica</vt:lpstr>
      <vt:lpstr>Webdings</vt:lpstr>
      <vt:lpstr>Courier New</vt:lpstr>
      <vt:lpstr>Microsoft YaHei</vt:lpstr>
      <vt:lpstr>Arial Unicode MS</vt:lpstr>
      <vt:lpstr>Monotype Sorts</vt:lpstr>
      <vt:lpstr>Wingdings</vt:lpstr>
      <vt:lpstr>os-8</vt:lpstr>
      <vt:lpstr>AcroExch.Document.DC</vt:lpstr>
      <vt:lpstr>AcroExch.Document.DC</vt:lpstr>
      <vt:lpstr>Chapter 13:   File-System Interface</vt:lpstr>
      <vt:lpstr>Outline</vt:lpstr>
      <vt:lpstr>Objectives</vt:lpstr>
      <vt:lpstr>File Concept</vt:lpstr>
      <vt:lpstr>File Attributes</vt:lpstr>
      <vt:lpstr>File info Window on Mac OS X</vt:lpstr>
      <vt:lpstr>Directory Structure</vt:lpstr>
      <vt:lpstr>File Operations</vt:lpstr>
      <vt:lpstr>Access Methods</vt:lpstr>
      <vt:lpstr>Sequential Access</vt:lpstr>
      <vt:lpstr>Direct Access</vt:lpstr>
      <vt:lpstr>Simulation of Sequential Access on Direct-access File</vt:lpstr>
      <vt:lpstr>Directory Structure</vt:lpstr>
      <vt:lpstr>Operations Performed on Directory</vt:lpstr>
      <vt:lpstr>Directory Organization</vt:lpstr>
      <vt:lpstr>Single-Level Directory</vt:lpstr>
      <vt:lpstr>Two-Level Directory</vt:lpstr>
      <vt:lpstr>Tree-Structured Directories</vt:lpstr>
      <vt:lpstr>Acyclic-Graph Directories</vt:lpstr>
      <vt:lpstr>General Graph Directory</vt:lpstr>
      <vt:lpstr>End of Chapter 13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PC</cp:lastModifiedBy>
  <cp:revision>306</cp:revision>
  <cp:lastPrinted>2001-06-14T13:58:00Z</cp:lastPrinted>
  <dcterms:created xsi:type="dcterms:W3CDTF">2011-01-13T23:43:00Z</dcterms:created>
  <dcterms:modified xsi:type="dcterms:W3CDTF">2024-05-15T17:59:08Z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B5509233F2494679ACA926B096B406B7_12</vt:lpwstr>
  </property>
  <property fmtid="{D5CDD505-2E9C-101B-9397-08002B2CF9AE}" pid="3" name="KSOProductBuildVer">
    <vt:lpwstr>2057-12.2.0.16909</vt:lpwstr>
  </property>
</Properties>
</file>