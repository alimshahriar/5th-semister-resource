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59" r:id="rId5"/>
    <p:sldId id="261" r:id="rId6"/>
    <p:sldId id="262" r:id="rId7"/>
    <p:sldId id="257" r:id="rId8"/>
    <p:sldId id="291" r:id="rId9"/>
    <p:sldId id="272" r:id="rId10"/>
    <p:sldId id="283" r:id="rId11"/>
    <p:sldId id="322" r:id="rId12"/>
    <p:sldId id="260" r:id="rId13"/>
    <p:sldId id="263" r:id="rId14"/>
    <p:sldId id="292" r:id="rId15"/>
    <p:sldId id="264" r:id="rId16"/>
    <p:sldId id="293" r:id="rId17"/>
    <p:sldId id="268" r:id="rId18"/>
    <p:sldId id="269" r:id="rId19"/>
    <p:sldId id="270" r:id="rId20"/>
    <p:sldId id="284" r:id="rId21"/>
    <p:sldId id="287" r:id="rId22"/>
    <p:sldId id="285" r:id="rId23"/>
    <p:sldId id="286" r:id="rId24"/>
    <p:sldId id="271" r:id="rId25"/>
    <p:sldId id="288" r:id="rId26"/>
    <p:sldId id="289" r:id="rId27"/>
    <p:sldId id="273" r:id="rId28"/>
    <p:sldId id="290" r:id="rId29"/>
    <p:sldId id="274" r:id="rId30"/>
    <p:sldId id="329" r:id="rId31"/>
    <p:sldId id="275" r:id="rId32"/>
    <p:sldId id="277" r:id="rId33"/>
    <p:sldId id="278" r:id="rId34"/>
    <p:sldId id="279" r:id="rId35"/>
    <p:sldId id="280" r:id="rId36"/>
    <p:sldId id="281" r:id="rId37"/>
    <p:sldId id="282" r:id="rId38"/>
    <p:sldId id="328" r:id="rId39"/>
    <p:sldId id="323" r:id="rId40"/>
    <p:sldId id="324" r:id="rId41"/>
    <p:sldId id="325" r:id="rId42"/>
    <p:sldId id="326" r:id="rId4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6" Type="http://schemas.openxmlformats.org/officeDocument/2006/relationships/tableStyles" Target="tableStyles.xml"/><Relationship Id="rId45" Type="http://schemas.openxmlformats.org/officeDocument/2006/relationships/viewProps" Target="viewProps.xml"/><Relationship Id="rId44" Type="http://schemas.openxmlformats.org/officeDocument/2006/relationships/presProps" Target="presProps.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0BC625DE-9684-4646-BFE1-B7AB75E371A8}"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10"/>
          </p:nvPr>
        </p:nvSpPr>
        <p:spPr/>
        <p:txBody>
          <a:bodyPr/>
          <a:lstStyle/>
          <a:p>
            <a:fld id="{0BC625DE-9684-4646-BFE1-B7AB75E371A8}"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0BC625DE-9684-4646-BFE1-B7AB75E371A8}"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5" name="Date Placeholder 4"/>
          <p:cNvSpPr>
            <a:spLocks noGrp="1"/>
          </p:cNvSpPr>
          <p:nvPr>
            <p:ph type="dt" sz="half" idx="10"/>
          </p:nvPr>
        </p:nvSpPr>
        <p:spPr/>
        <p:txBody>
          <a:bodyPr/>
          <a:lstStyle/>
          <a:p>
            <a:fld id="{0BC625DE-9684-4646-BFE1-B7AB75E371A8}"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7" name="Date Placeholder 6"/>
          <p:cNvSpPr>
            <a:spLocks noGrp="1"/>
          </p:cNvSpPr>
          <p:nvPr>
            <p:ph type="dt" sz="half" idx="10"/>
          </p:nvPr>
        </p:nvSpPr>
        <p:spPr/>
        <p:txBody>
          <a:bodyPr/>
          <a:lstStyle/>
          <a:p>
            <a:fld id="{0BC625DE-9684-4646-BFE1-B7AB75E371A8}" type="datetimeFigureOut">
              <a:rPr lang="en-GB" smtClean="0"/>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0BC625DE-9684-4646-BFE1-B7AB75E371A8}" type="datetimeFigureOut">
              <a:rPr lang="en-GB" smtClean="0"/>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C625DE-9684-4646-BFE1-B7AB75E371A8}" type="datetimeFigureOut">
              <a:rPr lang="en-GB" smtClean="0"/>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BC625DE-9684-4646-BFE1-B7AB75E371A8}"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0BC625DE-9684-4646-BFE1-B7AB75E371A8}" type="datetimeFigureOut">
              <a:rPr lang="en-GB" smtClean="0"/>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10"/>
          </p:nvPr>
        </p:nvSpPr>
        <p:spPr/>
        <p:txBody>
          <a:bodyPr/>
          <a:lstStyle/>
          <a:p>
            <a:fld id="{0BC625DE-9684-4646-BFE1-B7AB75E371A8}"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10"/>
          </p:nvPr>
        </p:nvSpPr>
        <p:spPr/>
        <p:txBody>
          <a:bodyPr/>
          <a:lstStyle/>
          <a:p>
            <a:fld id="{0BC625DE-9684-4646-BFE1-B7AB75E371A8}" type="datetimeFigureOut">
              <a:rPr lang="en-GB" smtClean="0"/>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3FEA70F-6D75-414F-A67D-9066665AF381}" type="slidenum">
              <a:rPr lang="en-GB" smtClean="0"/>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C625DE-9684-4646-BFE1-B7AB75E371A8}" type="datetimeFigureOut">
              <a:rPr lang="en-GB" smtClean="0"/>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FEA70F-6D75-414F-A67D-9066665AF381}" type="slidenum">
              <a:rPr lang="en-GB" smtClean="0"/>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3.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5.em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9.png"/><Relationship Id="rId1" Type="http://schemas.openxmlformats.org/officeDocument/2006/relationships/image" Target="../media/image18.jpe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1.jpe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4.jpe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9552" y="1196752"/>
            <a:ext cx="8064896" cy="5040560"/>
          </a:xfrm>
        </p:spPr>
        <p:style>
          <a:lnRef idx="2">
            <a:schemeClr val="dk1"/>
          </a:lnRef>
          <a:fillRef idx="1">
            <a:schemeClr val="lt1"/>
          </a:fillRef>
          <a:effectRef idx="0">
            <a:schemeClr val="dk1"/>
          </a:effectRef>
          <a:fontRef idx="minor">
            <a:schemeClr val="dk1"/>
          </a:fontRef>
        </p:style>
        <p:txBody>
          <a:bodyPr/>
          <a:lstStyle/>
          <a:p>
            <a:endParaRPr lang="en-GB" sz="4400" dirty="0" smtClean="0"/>
          </a:p>
          <a:p>
            <a:r>
              <a:rPr lang="en-GB" sz="4400" b="1" dirty="0" smtClean="0">
                <a:solidFill>
                  <a:schemeClr val="tx1"/>
                </a:solidFill>
              </a:rPr>
              <a:t>Principle of Operating System</a:t>
            </a:r>
            <a:endParaRPr lang="en-GB" sz="4400" b="1" dirty="0" smtClean="0">
              <a:solidFill>
                <a:schemeClr val="tx1"/>
              </a:solidFill>
            </a:endParaRPr>
          </a:p>
          <a:p>
            <a:endParaRPr lang="en-GB" sz="4400" b="1" dirty="0" smtClean="0">
              <a:solidFill>
                <a:schemeClr val="tx1"/>
              </a:solidFill>
            </a:endParaRPr>
          </a:p>
          <a:p>
            <a:r>
              <a:rPr lang="en-GB" b="1" dirty="0">
                <a:solidFill>
                  <a:schemeClr val="tx1"/>
                </a:solidFill>
              </a:rPr>
              <a:t>Mohammed Arfat</a:t>
            </a:r>
            <a:endParaRPr lang="en-GB" b="1" dirty="0">
              <a:solidFill>
                <a:schemeClr val="tx1"/>
              </a:solidFill>
            </a:endParaRPr>
          </a:p>
          <a:p>
            <a:r>
              <a:rPr lang="en-GB" b="1" dirty="0">
                <a:solidFill>
                  <a:schemeClr val="tx1"/>
                </a:solidFill>
              </a:rPr>
              <a:t>International Islamic University Chittagong</a:t>
            </a:r>
            <a:endParaRPr lang="en-GB"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980728"/>
            <a:ext cx="8424936" cy="5078313"/>
          </a:xfrm>
          <a:prstGeom prst="rect">
            <a:avLst/>
          </a:prstGeom>
          <a:noFill/>
        </p:spPr>
        <p:txBody>
          <a:bodyPr wrap="square" rtlCol="0">
            <a:spAutoFit/>
          </a:bodyPr>
          <a:lstStyle/>
          <a:p>
            <a:r>
              <a:rPr lang="en-GB" sz="3600" b="1" dirty="0" smtClean="0">
                <a:latin typeface="Times New Roman" panose="02020603050405020304" pitchFamily="18" charset="0"/>
                <a:cs typeface="Times New Roman" panose="02020603050405020304" pitchFamily="18" charset="0"/>
              </a:rPr>
              <a:t>What is  Operating System:</a:t>
            </a:r>
            <a:endParaRPr lang="en-GB" sz="3600" b="1" dirty="0" smtClean="0">
              <a:latin typeface="Times New Roman" panose="02020603050405020304" pitchFamily="18" charset="0"/>
              <a:cs typeface="Times New Roman" panose="02020603050405020304" pitchFamily="18" charset="0"/>
            </a:endParaRPr>
          </a:p>
          <a:p>
            <a:endParaRPr lang="en-GB" b="1" dirty="0" smtClean="0">
              <a:latin typeface="Times New Roman" panose="02020603050405020304" pitchFamily="18" charset="0"/>
              <a:cs typeface="Times New Roman" panose="02020603050405020304" pitchFamily="18" charset="0"/>
            </a:endParaRPr>
          </a:p>
          <a:p>
            <a:endParaRPr lang="en-GB" b="1" dirty="0" smtClean="0">
              <a:latin typeface="Times New Roman" panose="02020603050405020304" pitchFamily="18" charset="0"/>
              <a:cs typeface="Times New Roman" panose="02020603050405020304" pitchFamily="18" charset="0"/>
            </a:endParaRPr>
          </a:p>
          <a:p>
            <a:r>
              <a:rPr lang="en-GB" sz="3200" b="1" dirty="0" smtClean="0">
                <a:latin typeface="Times New Roman" panose="02020603050405020304" pitchFamily="18" charset="0"/>
                <a:cs typeface="Times New Roman" panose="02020603050405020304" pitchFamily="18" charset="0"/>
              </a:rPr>
              <a:t>An </a:t>
            </a:r>
            <a:r>
              <a:rPr lang="en-GB" sz="3200" b="1" dirty="0">
                <a:latin typeface="Times New Roman" panose="02020603050405020304" pitchFamily="18" charset="0"/>
                <a:cs typeface="Times New Roman" panose="02020603050405020304" pitchFamily="18" charset="0"/>
              </a:rPr>
              <a:t>Operating </a:t>
            </a:r>
            <a:r>
              <a:rPr lang="en-GB" sz="3200" b="1" dirty="0" smtClean="0">
                <a:latin typeface="Times New Roman" panose="02020603050405020304" pitchFamily="18" charset="0"/>
                <a:cs typeface="Times New Roman" panose="02020603050405020304" pitchFamily="18" charset="0"/>
              </a:rPr>
              <a:t>System a </a:t>
            </a:r>
            <a:r>
              <a:rPr lang="en-GB" sz="3200" b="1" dirty="0">
                <a:latin typeface="Times New Roman" panose="02020603050405020304" pitchFamily="18" charset="0"/>
                <a:cs typeface="Times New Roman" panose="02020603050405020304" pitchFamily="18" charset="0"/>
              </a:rPr>
              <a:t>program that acts as an interface between the user and the hardware</a:t>
            </a:r>
            <a:r>
              <a:rPr lang="en-GB" sz="3200" b="1" dirty="0" smtClean="0">
                <a:latin typeface="Times New Roman" panose="02020603050405020304" pitchFamily="18" charset="0"/>
                <a:cs typeface="Times New Roman" panose="02020603050405020304" pitchFamily="18" charset="0"/>
              </a:rPr>
              <a:t>. It </a:t>
            </a:r>
            <a:r>
              <a:rPr lang="en-GB" sz="3200" b="1" dirty="0">
                <a:latin typeface="Times New Roman" panose="02020603050405020304" pitchFamily="18" charset="0"/>
                <a:cs typeface="Times New Roman" panose="02020603050405020304" pitchFamily="18" charset="0"/>
              </a:rPr>
              <a:t>is a resource allocated and provides a platform for the application programs</a:t>
            </a:r>
            <a:r>
              <a:rPr lang="en-GB" sz="3200" b="1" dirty="0" smtClean="0">
                <a:latin typeface="Times New Roman" panose="02020603050405020304" pitchFamily="18" charset="0"/>
                <a:cs typeface="Times New Roman" panose="02020603050405020304" pitchFamily="18" charset="0"/>
              </a:rPr>
              <a:t>.</a:t>
            </a:r>
            <a:endParaRPr lang="en-GB" sz="3200" b="1" dirty="0" smtClean="0">
              <a:latin typeface="Times New Roman" panose="02020603050405020304" pitchFamily="18" charset="0"/>
              <a:cs typeface="Times New Roman" panose="02020603050405020304" pitchFamily="18" charset="0"/>
            </a:endParaRPr>
          </a:p>
          <a:p>
            <a:endParaRPr lang="en-GB" sz="2800" b="1" dirty="0"/>
          </a:p>
          <a:p>
            <a:r>
              <a:rPr lang="en-GB" sz="3200" b="1" dirty="0" smtClean="0"/>
              <a:t>An operating system acts as a bridge between user and hardware.</a:t>
            </a:r>
            <a:endParaRPr lang="en-GB" sz="3200" b="1"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827584" y="836711"/>
            <a:ext cx="7560840" cy="515435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6773" y="908720"/>
            <a:ext cx="8585707" cy="4585871"/>
          </a:xfrm>
          <a:prstGeom prst="rect">
            <a:avLst/>
          </a:prstGeom>
          <a:noFill/>
          <a:ln>
            <a:solidFill>
              <a:schemeClr val="accent1"/>
            </a:solidFill>
          </a:ln>
        </p:spPr>
        <p:txBody>
          <a:bodyPr wrap="square" rtlCol="0">
            <a:spAutoFit/>
          </a:bodyPr>
          <a:lstStyle/>
          <a:p>
            <a:r>
              <a:rPr lang="en-US" altLang="en-US" sz="3600" b="1" dirty="0" smtClean="0"/>
              <a:t>Computer System Structure</a:t>
            </a:r>
            <a:endParaRPr lang="en-US" altLang="en-US" sz="3600" b="1" dirty="0" smtClean="0"/>
          </a:p>
          <a:p>
            <a:endParaRPr lang="en-US" altLang="en-US" dirty="0" smtClean="0"/>
          </a:p>
          <a:p>
            <a:r>
              <a:rPr lang="en-US" altLang="en-US" sz="2000" b="1" dirty="0" smtClean="0"/>
              <a:t>Computer system can be divided into four components:</a:t>
            </a:r>
            <a:endParaRPr lang="en-US" altLang="en-US" sz="2000" b="1" dirty="0" smtClean="0"/>
          </a:p>
          <a:p>
            <a:r>
              <a:rPr lang="en-US" altLang="en-US" sz="2000" b="1" dirty="0" smtClean="0">
                <a:solidFill>
                  <a:srgbClr val="00B0F0"/>
                </a:solidFill>
              </a:rPr>
              <a:t>Hardware</a:t>
            </a:r>
            <a:r>
              <a:rPr lang="en-US" altLang="en-US" sz="2000" b="1" dirty="0" smtClean="0"/>
              <a:t> – provides basic computing resources</a:t>
            </a:r>
            <a:endParaRPr lang="en-US" altLang="en-US" sz="2000" b="1" dirty="0" smtClean="0"/>
          </a:p>
          <a:p>
            <a:r>
              <a:rPr lang="en-US" altLang="en-US" sz="2000" b="1" dirty="0" smtClean="0"/>
              <a:t>                     CPU, memory, I/O devices</a:t>
            </a:r>
            <a:endParaRPr lang="en-US" altLang="en-US" sz="2000" b="1" dirty="0" smtClean="0"/>
          </a:p>
          <a:p>
            <a:r>
              <a:rPr lang="en-US" altLang="en-US" sz="2000" b="1" dirty="0" smtClean="0">
                <a:solidFill>
                  <a:srgbClr val="00B0F0"/>
                </a:solidFill>
              </a:rPr>
              <a:t>Operating system - </a:t>
            </a:r>
            <a:r>
              <a:rPr lang="en-US" altLang="en-US" sz="2000" b="1" dirty="0" smtClean="0"/>
              <a:t>Controls and coordinates use of hardware among various</a:t>
            </a:r>
            <a:endParaRPr lang="en-US" altLang="en-US" sz="2000" b="1" dirty="0" smtClean="0"/>
          </a:p>
          <a:p>
            <a:r>
              <a:rPr lang="en-US" altLang="en-US" sz="2000" b="1" dirty="0" smtClean="0"/>
              <a:t>                                 applications and users</a:t>
            </a:r>
            <a:endParaRPr lang="en-US" altLang="en-US" sz="2000" b="1" dirty="0" smtClean="0"/>
          </a:p>
          <a:p>
            <a:r>
              <a:rPr lang="en-US" altLang="en-US" sz="2000" b="1" dirty="0" smtClean="0">
                <a:solidFill>
                  <a:srgbClr val="00B0F0"/>
                </a:solidFill>
              </a:rPr>
              <a:t>Application programs – </a:t>
            </a:r>
            <a:r>
              <a:rPr lang="en-US" altLang="en-US" sz="2000" b="1" dirty="0" smtClean="0"/>
              <a:t>define the ways in which the system resources are </a:t>
            </a:r>
            <a:endParaRPr lang="en-US" altLang="en-US" sz="2000" b="1" dirty="0"/>
          </a:p>
          <a:p>
            <a:r>
              <a:rPr lang="en-US" altLang="en-US" sz="2000" b="1" dirty="0" smtClean="0"/>
              <a:t>used to solve the computing problems of the </a:t>
            </a:r>
            <a:endParaRPr lang="en-US" altLang="en-US" sz="2000" b="1" dirty="0" smtClean="0"/>
          </a:p>
          <a:p>
            <a:r>
              <a:rPr lang="en-US" altLang="en-US" sz="2000" b="1" dirty="0" smtClean="0"/>
              <a:t>Word processors, compilers, web browsers, database systems, video games Users</a:t>
            </a:r>
            <a:endParaRPr lang="en-US" altLang="en-US" sz="2000" b="1" dirty="0"/>
          </a:p>
          <a:p>
            <a:r>
              <a:rPr lang="en-US" altLang="en-US" sz="2000" b="1" dirty="0">
                <a:solidFill>
                  <a:srgbClr val="00B0F0"/>
                </a:solidFill>
              </a:rPr>
              <a:t>users</a:t>
            </a:r>
            <a:endParaRPr lang="en-US" altLang="en-US" sz="2000" b="1" dirty="0">
              <a:solidFill>
                <a:srgbClr val="00B0F0"/>
              </a:solidFill>
            </a:endParaRPr>
          </a:p>
          <a:p>
            <a:r>
              <a:rPr lang="en-US" altLang="en-US" sz="2000" b="1" dirty="0" smtClean="0"/>
              <a:t>People, machines, other computers</a:t>
            </a:r>
            <a:endParaRPr lang="en-US" altLang="en-US" sz="2000" b="1" dirty="0" smtClean="0"/>
          </a:p>
          <a:p>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stretch>
            <a:fillRect/>
          </a:stretch>
        </p:blipFill>
        <p:spPr>
          <a:xfrm>
            <a:off x="1331640" y="847666"/>
            <a:ext cx="6696744" cy="5334760"/>
          </a:xfrm>
          <a:prstGeom prst="rect">
            <a:avLst/>
          </a:prstGeom>
          <a:noFill/>
          <a:ln w="9525">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404664"/>
            <a:ext cx="8280920" cy="3539430"/>
          </a:xfrm>
          <a:prstGeom prst="rect">
            <a:avLst/>
          </a:prstGeom>
          <a:noFill/>
        </p:spPr>
        <p:txBody>
          <a:bodyPr wrap="square" rtlCol="0">
            <a:spAutoFit/>
          </a:bodyPr>
          <a:lstStyle/>
          <a:p>
            <a:endParaRPr lang="en-GB" sz="3600" b="1" dirty="0" smtClean="0"/>
          </a:p>
          <a:p>
            <a:r>
              <a:rPr lang="en-GB" sz="3600" b="1" dirty="0"/>
              <a:t> </a:t>
            </a:r>
            <a:r>
              <a:rPr lang="en-GB" sz="3600" b="1" dirty="0" smtClean="0"/>
              <a:t>   WHY STUDY OPERATING SYSTEMS?</a:t>
            </a:r>
            <a:endParaRPr lang="en-GB" sz="3600" b="1" dirty="0" smtClean="0"/>
          </a:p>
          <a:p>
            <a:endParaRPr lang="en-GB" sz="2800" dirty="0"/>
          </a:p>
          <a:p>
            <a:endParaRPr lang="en-GB" sz="2800" dirty="0"/>
          </a:p>
          <a:p>
            <a:endParaRPr lang="en-GB" sz="2800" dirty="0" smtClean="0"/>
          </a:p>
          <a:p>
            <a:r>
              <a:rPr lang="en-GB" sz="2800" dirty="0" smtClean="0"/>
              <a:t> </a:t>
            </a:r>
            <a:endParaRPr lang="en-GB" sz="2800" dirty="0" smtClean="0"/>
          </a:p>
          <a:p>
            <a:endParaRPr lang="en-GB" sz="4000"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19672" y="2326382"/>
            <a:ext cx="5328592" cy="3235424"/>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06184" y="764704"/>
            <a:ext cx="7416824" cy="4770537"/>
          </a:xfrm>
          <a:prstGeom prst="rect">
            <a:avLst/>
          </a:prstGeom>
          <a:noFill/>
        </p:spPr>
        <p:txBody>
          <a:bodyPr wrap="square" rtlCol="0">
            <a:spAutoFit/>
          </a:bodyPr>
          <a:lstStyle/>
          <a:p>
            <a:r>
              <a:rPr lang="en-GB" sz="4000" dirty="0" smtClean="0"/>
              <a:t>Operating System Goals</a:t>
            </a:r>
            <a:endParaRPr lang="en-GB" sz="4000" dirty="0" smtClean="0"/>
          </a:p>
          <a:p>
            <a:endParaRPr lang="en-GB" dirty="0"/>
          </a:p>
          <a:p>
            <a:endParaRPr lang="en-GB" dirty="0" smtClean="0"/>
          </a:p>
          <a:p>
            <a:endParaRPr lang="en-GB" dirty="0"/>
          </a:p>
          <a:p>
            <a:pPr marL="457200" indent="-457200">
              <a:buFont typeface="Wingdings" panose="05000000000000000000" pitchFamily="2" charset="2"/>
              <a:buChar char="q"/>
            </a:pPr>
            <a:r>
              <a:rPr lang="en-GB" sz="3200" dirty="0" smtClean="0"/>
              <a:t>Execute </a:t>
            </a:r>
            <a:r>
              <a:rPr lang="en-GB" sz="3200" dirty="0"/>
              <a:t>user programs and solving user problems easier</a:t>
            </a:r>
            <a:endParaRPr lang="en-GB" sz="3200" dirty="0"/>
          </a:p>
          <a:p>
            <a:pPr marL="457200" indent="-457200">
              <a:buFont typeface="Wingdings" panose="05000000000000000000" pitchFamily="2" charset="2"/>
              <a:buChar char="q"/>
            </a:pPr>
            <a:r>
              <a:rPr lang="en-GB" sz="3200" dirty="0"/>
              <a:t>Make the </a:t>
            </a:r>
            <a:r>
              <a:rPr lang="en-GB" sz="3200" dirty="0" smtClean="0"/>
              <a:t>computer </a:t>
            </a:r>
            <a:r>
              <a:rPr lang="en-GB" sz="3200" dirty="0"/>
              <a:t>system convenient to use </a:t>
            </a:r>
            <a:endParaRPr lang="en-GB" sz="3200" dirty="0"/>
          </a:p>
          <a:p>
            <a:pPr marL="457200" indent="-457200">
              <a:buFont typeface="Wingdings" panose="05000000000000000000" pitchFamily="2" charset="2"/>
              <a:buChar char="q"/>
            </a:pPr>
            <a:r>
              <a:rPr lang="en-GB" sz="3200" dirty="0"/>
              <a:t>Use the computer hardware in an efficient manner</a:t>
            </a:r>
            <a:endParaRPr lang="en-GB" sz="3200" dirty="0"/>
          </a:p>
          <a:p>
            <a:endParaRPr lang="en-GB"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25598" y="1052737"/>
            <a:ext cx="6492803" cy="482453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90288" y="1196752"/>
            <a:ext cx="7163421" cy="4519052"/>
          </a:xfrm>
          <a:prstGeom prst="rect">
            <a:avLst/>
          </a:prstGeom>
        </p:spPr>
      </p:pic>
      <p:sp>
        <p:nvSpPr>
          <p:cNvPr id="3" name="TextBox 2"/>
          <p:cNvSpPr txBox="1"/>
          <p:nvPr/>
        </p:nvSpPr>
        <p:spPr>
          <a:xfrm>
            <a:off x="990288" y="441132"/>
            <a:ext cx="4901983" cy="646331"/>
          </a:xfrm>
          <a:prstGeom prst="rect">
            <a:avLst/>
          </a:prstGeom>
          <a:noFill/>
        </p:spPr>
        <p:txBody>
          <a:bodyPr wrap="none" rtlCol="0">
            <a:spAutoFit/>
          </a:bodyPr>
          <a:lstStyle/>
          <a:p>
            <a:r>
              <a:rPr lang="en-GB" sz="3600" b="1" dirty="0"/>
              <a:t>Storage-device hierarchy</a:t>
            </a:r>
            <a:endParaRPr lang="en-GB" sz="3600"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767080" y="731520"/>
            <a:ext cx="3048000" cy="368300"/>
          </a:xfrm>
          <a:prstGeom prst="rect">
            <a:avLst/>
          </a:prstGeom>
          <a:noFill/>
        </p:spPr>
        <p:txBody>
          <a:bodyPr wrap="square" rtlCol="0">
            <a:spAutoFit/>
          </a:bodyPr>
          <a:lstStyle/>
          <a:p>
            <a:endParaRPr lang="en-GB" altLang="en-US"/>
          </a:p>
        </p:txBody>
      </p:sp>
      <p:sp>
        <p:nvSpPr>
          <p:cNvPr id="3" name="Text Box 2"/>
          <p:cNvSpPr txBox="1"/>
          <p:nvPr/>
        </p:nvSpPr>
        <p:spPr>
          <a:xfrm>
            <a:off x="675639" y="731520"/>
            <a:ext cx="8197215" cy="5145752"/>
          </a:xfrm>
          <a:prstGeom prst="rect">
            <a:avLst/>
          </a:prstGeom>
          <a:noFill/>
        </p:spPr>
        <p:txBody>
          <a:bodyPr wrap="square" rtlCol="0">
            <a:noAutofit/>
          </a:bodyPr>
          <a:lstStyle/>
          <a:p>
            <a:r>
              <a:rPr lang="en-GB" altLang="en-US" sz="3600" b="1" dirty="0"/>
              <a:t>Kernel</a:t>
            </a:r>
            <a:endParaRPr lang="en-GB" altLang="en-US" sz="3600" b="1" dirty="0"/>
          </a:p>
          <a:p>
            <a:r>
              <a:rPr lang="en-GB" altLang="en-US" sz="2800" dirty="0" smtClean="0"/>
              <a:t>Kernel </a:t>
            </a:r>
            <a:r>
              <a:rPr lang="en-GB" altLang="en-US" sz="2800" dirty="0"/>
              <a:t>is central component of an operating system that manages operations of computer and hardware. It basically manages operations of memory and CPU time. It is core component of an operating system. Kernel acts as a bridge between applications and data processing performed at hardware level using inter-process communication and system </a:t>
            </a:r>
            <a:r>
              <a:rPr lang="en-GB" altLang="en-US" sz="2800" dirty="0" smtClean="0"/>
              <a:t>calls</a:t>
            </a:r>
            <a:endParaRPr lang="en-GB" altLang="en-US" sz="2800" dirty="0" smtClean="0"/>
          </a:p>
          <a:p>
            <a:endParaRPr lang="en-GB" altLang="en-US" sz="2800" dirty="0" smtClean="0"/>
          </a:p>
          <a:p>
            <a:r>
              <a:rPr lang="en-GB" altLang="en-US" sz="3200" b="1" dirty="0" smtClean="0"/>
              <a:t>Job: </a:t>
            </a:r>
            <a:r>
              <a:rPr lang="en-GB" altLang="en-US" sz="2800" dirty="0" smtClean="0"/>
              <a:t>T</a:t>
            </a:r>
            <a:r>
              <a:rPr lang="en-GB" sz="2800" dirty="0" smtClean="0"/>
              <a:t>he </a:t>
            </a:r>
            <a:r>
              <a:rPr lang="en-GB" sz="2800" dirty="0"/>
              <a:t>unit of work that a computer operator </a:t>
            </a:r>
            <a:r>
              <a:rPr lang="en-GB" sz="2800" dirty="0" smtClean="0"/>
              <a:t>or </a:t>
            </a:r>
            <a:r>
              <a:rPr lang="en-GB" sz="2800" dirty="0"/>
              <a:t>a program called a job </a:t>
            </a:r>
            <a:r>
              <a:rPr lang="en-GB" sz="2800" dirty="0" smtClean="0"/>
              <a:t>scheduler.</a:t>
            </a:r>
            <a:endParaRPr lang="en-GB" alt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67544" y="476672"/>
            <a:ext cx="7992888" cy="4031873"/>
          </a:xfrm>
          <a:prstGeom prst="rect">
            <a:avLst/>
          </a:prstGeom>
          <a:noFill/>
        </p:spPr>
        <p:txBody>
          <a:bodyPr wrap="square" rtlCol="0">
            <a:spAutoFit/>
          </a:bodyPr>
          <a:lstStyle/>
          <a:p>
            <a:r>
              <a:rPr lang="en-GB" sz="4000" dirty="0">
                <a:latin typeface="Times New Roman" panose="02020603050405020304" pitchFamily="18" charset="0"/>
                <a:cs typeface="Times New Roman" panose="02020603050405020304" pitchFamily="18" charset="0"/>
              </a:rPr>
              <a:t>Operating system structure:</a:t>
            </a:r>
            <a:endParaRPr lang="en-GB" sz="4000" dirty="0" smtClean="0">
              <a:latin typeface="Times New Roman" panose="02020603050405020304" pitchFamily="18" charset="0"/>
              <a:cs typeface="Times New Roman" panose="02020603050405020304" pitchFamily="18" charset="0"/>
            </a:endParaRPr>
          </a:p>
          <a:p>
            <a:endParaRPr lang="en-GB" dirty="0">
              <a:latin typeface="Times New Roman" panose="02020603050405020304" pitchFamily="18" charset="0"/>
              <a:cs typeface="Times New Roman" panose="02020603050405020304" pitchFamily="18" charset="0"/>
            </a:endParaRPr>
          </a:p>
          <a:p>
            <a:endParaRPr lang="en-GB"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GB" sz="3600" dirty="0">
                <a:latin typeface="Times New Roman" panose="02020603050405020304" pitchFamily="18" charset="0"/>
                <a:cs typeface="Times New Roman" panose="02020603050405020304" pitchFamily="18" charset="0"/>
              </a:rPr>
              <a:t>S</a:t>
            </a:r>
            <a:r>
              <a:rPr lang="en-GB" sz="3600" dirty="0" smtClean="0">
                <a:latin typeface="Times New Roman" panose="02020603050405020304" pitchFamily="18" charset="0"/>
                <a:cs typeface="Times New Roman" panose="02020603050405020304" pitchFamily="18" charset="0"/>
              </a:rPr>
              <a:t>imple structure</a:t>
            </a:r>
            <a:endParaRPr lang="en-GB" sz="36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GB" sz="3600" dirty="0">
                <a:latin typeface="Times New Roman" panose="02020603050405020304" pitchFamily="18" charset="0"/>
                <a:cs typeface="Times New Roman" panose="02020603050405020304" pitchFamily="18" charset="0"/>
              </a:rPr>
              <a:t>layered approach </a:t>
            </a:r>
            <a:endParaRPr lang="en-GB" sz="3600" dirty="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GB" sz="3600" dirty="0" smtClean="0">
                <a:latin typeface="Times New Roman" panose="02020603050405020304" pitchFamily="18" charset="0"/>
                <a:cs typeface="Times New Roman" panose="02020603050405020304" pitchFamily="18" charset="0"/>
              </a:rPr>
              <a:t>Monolithic approach</a:t>
            </a:r>
            <a:endParaRPr lang="en-GB" sz="3600" dirty="0" smtClean="0">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Ø"/>
            </a:pPr>
            <a:r>
              <a:rPr lang="en-GB" sz="3600" dirty="0">
                <a:latin typeface="Times New Roman" panose="02020603050405020304" pitchFamily="18" charset="0"/>
                <a:cs typeface="Times New Roman" panose="02020603050405020304" pitchFamily="18" charset="0"/>
              </a:rPr>
              <a:t>M</a:t>
            </a:r>
            <a:r>
              <a:rPr lang="en-GB" sz="3600" dirty="0" smtClean="0">
                <a:latin typeface="Times New Roman" panose="02020603050405020304" pitchFamily="18" charset="0"/>
                <a:cs typeface="Times New Roman" panose="02020603050405020304" pitchFamily="18" charset="0"/>
              </a:rPr>
              <a:t>icro-kernels </a:t>
            </a:r>
            <a:endParaRPr lang="en-GB" sz="3600" dirty="0" smtClean="0">
              <a:latin typeface="Times New Roman" panose="02020603050405020304" pitchFamily="18" charset="0"/>
              <a:cs typeface="Times New Roman" panose="02020603050405020304" pitchFamily="18" charset="0"/>
            </a:endParaRPr>
          </a:p>
          <a:p>
            <a:pPr marL="571500" indent="-571500" algn="just">
              <a:buFont typeface="Wingdings" panose="05000000000000000000" pitchFamily="2" charset="2"/>
              <a:buChar char="Ø"/>
            </a:pPr>
            <a:r>
              <a:rPr lang="en-GB" sz="3600" dirty="0">
                <a:latin typeface="Times New Roman" panose="02020603050405020304" pitchFamily="18" charset="0"/>
                <a:cs typeface="Times New Roman" panose="02020603050405020304" pitchFamily="18" charset="0"/>
              </a:rPr>
              <a:t>V</a:t>
            </a:r>
            <a:r>
              <a:rPr lang="en-GB" sz="3600" dirty="0" smtClean="0">
                <a:latin typeface="Times New Roman" panose="02020603050405020304" pitchFamily="18" charset="0"/>
                <a:cs typeface="Times New Roman" panose="02020603050405020304" pitchFamily="18" charset="0"/>
              </a:rPr>
              <a:t>irtual </a:t>
            </a:r>
            <a:r>
              <a:rPr lang="en-GB" sz="3600" dirty="0">
                <a:latin typeface="Times New Roman" panose="02020603050405020304" pitchFamily="18" charset="0"/>
                <a:cs typeface="Times New Roman" panose="02020603050405020304" pitchFamily="18" charset="0"/>
              </a:rPr>
              <a:t>machines.</a:t>
            </a:r>
            <a:endParaRPr lang="en-GB" sz="3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755576" y="569572"/>
            <a:ext cx="7056784" cy="1785104"/>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Simple </a:t>
            </a:r>
            <a:r>
              <a:rPr lang="en-GB" sz="3600" b="1" dirty="0" smtClean="0">
                <a:latin typeface="Times New Roman" panose="02020603050405020304" pitchFamily="18" charset="0"/>
                <a:cs typeface="Times New Roman" panose="02020603050405020304" pitchFamily="18" charset="0"/>
              </a:rPr>
              <a:t>structure</a:t>
            </a:r>
            <a:endParaRPr lang="en-GB" sz="3600" b="1" dirty="0" smtClean="0">
              <a:latin typeface="Times New Roman" panose="02020603050405020304" pitchFamily="18" charset="0"/>
              <a:cs typeface="Times New Roman" panose="02020603050405020304" pitchFamily="18" charset="0"/>
            </a:endParaRPr>
          </a:p>
          <a:p>
            <a:pPr marL="571500" indent="-571500">
              <a:buFont typeface="Wingdings" panose="05000000000000000000" pitchFamily="2" charset="2"/>
              <a:buChar char="Ø"/>
            </a:pPr>
            <a:r>
              <a:rPr lang="en-GB" sz="2800" dirty="0" smtClean="0">
                <a:latin typeface="Times New Roman" panose="02020603050405020304" pitchFamily="18" charset="0"/>
                <a:cs typeface="Times New Roman" panose="02020603050405020304" pitchFamily="18" charset="0"/>
              </a:rPr>
              <a:t>Followed by the Microsoft Disk OS(MS-DOS)</a:t>
            </a:r>
            <a:endParaRPr lang="en-GB" sz="2800" dirty="0">
              <a:latin typeface="Times New Roman" panose="02020603050405020304" pitchFamily="18" charset="0"/>
              <a:cs typeface="Times New Roman" panose="02020603050405020304" pitchFamily="18" charset="0"/>
            </a:endParaRPr>
          </a:p>
          <a:p>
            <a:endParaRPr lang="en-GB"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259632" y="2060848"/>
            <a:ext cx="6336704" cy="4337670"/>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15616" y="1615412"/>
            <a:ext cx="6624736" cy="4392488"/>
          </a:xfrm>
          <a:prstGeom prst="rect">
            <a:avLst/>
          </a:prstGeom>
        </p:spPr>
      </p:pic>
      <p:sp>
        <p:nvSpPr>
          <p:cNvPr id="3" name="TextBox 2"/>
          <p:cNvSpPr txBox="1"/>
          <p:nvPr/>
        </p:nvSpPr>
        <p:spPr>
          <a:xfrm>
            <a:off x="1475656" y="332245"/>
            <a:ext cx="4104456" cy="923330"/>
          </a:xfrm>
          <a:prstGeom prst="rect">
            <a:avLst/>
          </a:prstGeom>
          <a:noFill/>
        </p:spPr>
        <p:txBody>
          <a:bodyPr wrap="square" rtlCol="0">
            <a:spAutoFit/>
          </a:bodyPr>
          <a:lstStyle/>
          <a:p>
            <a:r>
              <a:rPr lang="en-GB" sz="3600" dirty="0">
                <a:latin typeface="Times New Roman" panose="02020603050405020304" pitchFamily="18" charset="0"/>
                <a:cs typeface="Times New Roman" panose="02020603050405020304" pitchFamily="18" charset="0"/>
              </a:rPr>
              <a:t>Monolithic </a:t>
            </a:r>
            <a:r>
              <a:rPr lang="en-GB" sz="3600" dirty="0" smtClean="0">
                <a:latin typeface="Times New Roman" panose="02020603050405020304" pitchFamily="18" charset="0"/>
                <a:cs typeface="Times New Roman" panose="02020603050405020304" pitchFamily="18" charset="0"/>
              </a:rPr>
              <a:t>Structure</a:t>
            </a:r>
            <a:endParaRPr lang="en-GB" sz="3600" dirty="0">
              <a:latin typeface="Times New Roman" panose="02020603050405020304" pitchFamily="18" charset="0"/>
              <a:cs typeface="Times New Roman" panose="02020603050405020304" pitchFamily="18" charset="0"/>
            </a:endParaRPr>
          </a:p>
          <a:p>
            <a:endParaRPr lang="en-GB"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019671" y="1626478"/>
            <a:ext cx="5112568" cy="4661798"/>
          </a:xfrm>
          <a:prstGeom prst="rect">
            <a:avLst/>
          </a:prstGeom>
        </p:spPr>
      </p:pic>
      <p:sp>
        <p:nvSpPr>
          <p:cNvPr id="4" name="TextBox 3"/>
          <p:cNvSpPr txBox="1"/>
          <p:nvPr/>
        </p:nvSpPr>
        <p:spPr>
          <a:xfrm>
            <a:off x="2019671" y="764704"/>
            <a:ext cx="3600400" cy="861774"/>
          </a:xfrm>
          <a:prstGeom prst="rect">
            <a:avLst/>
          </a:prstGeom>
          <a:noFill/>
        </p:spPr>
        <p:txBody>
          <a:bodyPr wrap="square" rtlCol="0">
            <a:spAutoFit/>
          </a:bodyPr>
          <a:lstStyle/>
          <a:p>
            <a:r>
              <a:rPr lang="en-GB" sz="3200" dirty="0">
                <a:latin typeface="Times New Roman" panose="02020603050405020304" pitchFamily="18" charset="0"/>
                <a:cs typeface="Times New Roman" panose="02020603050405020304" pitchFamily="18" charset="0"/>
              </a:rPr>
              <a:t>layered approach </a:t>
            </a:r>
            <a:endParaRPr lang="en-GB" sz="3200" dirty="0">
              <a:latin typeface="Times New Roman" panose="02020603050405020304" pitchFamily="18" charset="0"/>
              <a:cs typeface="Times New Roman" panose="02020603050405020304" pitchFamily="18" charset="0"/>
            </a:endParaRPr>
          </a:p>
          <a:p>
            <a:endParaRPr lang="en-GB"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45232" y="990600"/>
            <a:ext cx="8964488" cy="48768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87450" y="1196340"/>
            <a:ext cx="7094855" cy="412623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548680"/>
            <a:ext cx="8640960" cy="2739211"/>
          </a:xfrm>
          <a:prstGeom prst="rect">
            <a:avLst/>
          </a:prstGeom>
          <a:noFill/>
        </p:spPr>
        <p:txBody>
          <a:bodyPr wrap="square" rtlCol="0">
            <a:spAutoFit/>
          </a:bodyPr>
          <a:lstStyle/>
          <a:p>
            <a:r>
              <a:rPr lang="en-GB" sz="3600" dirty="0"/>
              <a:t>Multiprocessing Operating </a:t>
            </a:r>
            <a:r>
              <a:rPr lang="en-GB" sz="3600" dirty="0" smtClean="0"/>
              <a:t>System</a:t>
            </a:r>
            <a:endParaRPr lang="en-GB" sz="3600" dirty="0" smtClean="0"/>
          </a:p>
          <a:p>
            <a:endParaRPr lang="en-GB" dirty="0"/>
          </a:p>
          <a:p>
            <a:r>
              <a:rPr lang="en-GB" sz="2000" b="1" dirty="0"/>
              <a:t>In Multiprocessing, Parallel computing is achieved. There are more than one </a:t>
            </a:r>
            <a:endParaRPr lang="en-GB" sz="2000" b="1" dirty="0" smtClean="0"/>
          </a:p>
          <a:p>
            <a:r>
              <a:rPr lang="en-GB" sz="2000" b="1" dirty="0" smtClean="0"/>
              <a:t>processors </a:t>
            </a:r>
            <a:r>
              <a:rPr lang="en-GB" sz="2000" b="1" dirty="0"/>
              <a:t>present in the system which can execute more than one process </a:t>
            </a:r>
            <a:r>
              <a:rPr lang="en-GB" sz="2000" b="1" dirty="0" smtClean="0"/>
              <a:t>at</a:t>
            </a:r>
            <a:endParaRPr lang="en-GB" sz="2000" b="1" dirty="0" smtClean="0"/>
          </a:p>
          <a:p>
            <a:r>
              <a:rPr lang="en-GB" sz="2000" b="1" dirty="0" smtClean="0"/>
              <a:t> </a:t>
            </a:r>
            <a:r>
              <a:rPr lang="en-GB" sz="2000" b="1" dirty="0"/>
              <a:t>the same time. This will increase the throughput of the system</a:t>
            </a:r>
            <a:r>
              <a:rPr lang="en-GB" sz="2000" b="1" dirty="0" smtClean="0"/>
              <a:t>.</a:t>
            </a:r>
            <a:endParaRPr lang="en-GB" sz="2000" b="1" dirty="0" smtClean="0"/>
          </a:p>
          <a:p>
            <a:r>
              <a:rPr lang="en-GB" sz="2000" b="1" dirty="0"/>
              <a:t>For Example: </a:t>
            </a:r>
            <a:r>
              <a:rPr lang="en-GB" sz="2000" b="1" dirty="0" smtClean="0"/>
              <a:t>UNIX Operating </a:t>
            </a:r>
            <a:r>
              <a:rPr lang="en-GB" sz="2000" b="1" dirty="0"/>
              <a:t>system is one of the most widely used multiprocessing systems.</a:t>
            </a:r>
            <a:endParaRPr lang="en-GB" sz="2000" b="1" dirty="0"/>
          </a:p>
          <a:p>
            <a:endParaRPr lang="en-GB"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83590" y="3140710"/>
            <a:ext cx="7137400" cy="3485515"/>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4928" y="332656"/>
            <a:ext cx="9015994" cy="2185214"/>
          </a:xfrm>
          <a:prstGeom prst="rect">
            <a:avLst/>
          </a:prstGeom>
          <a:noFill/>
        </p:spPr>
        <p:txBody>
          <a:bodyPr wrap="none" rtlCol="0">
            <a:spAutoFit/>
          </a:bodyPr>
          <a:lstStyle/>
          <a:p>
            <a:r>
              <a:rPr lang="en-GB" sz="2800" b="1" dirty="0">
                <a:latin typeface="Times New Roman" panose="02020603050405020304" pitchFamily="18" charset="0"/>
                <a:cs typeface="Times New Roman" panose="02020603050405020304" pitchFamily="18" charset="0"/>
              </a:rPr>
              <a:t>Real Time Operating </a:t>
            </a:r>
            <a:r>
              <a:rPr lang="en-GB" sz="2800" b="1" dirty="0" smtClean="0">
                <a:latin typeface="Times New Roman" panose="02020603050405020304" pitchFamily="18" charset="0"/>
                <a:cs typeface="Times New Roman" panose="02020603050405020304" pitchFamily="18" charset="0"/>
              </a:rPr>
              <a:t>System</a:t>
            </a:r>
            <a:endParaRPr lang="en-GB" sz="2800" b="1" dirty="0" smtClean="0">
              <a:latin typeface="Times New Roman" panose="02020603050405020304" pitchFamily="18" charset="0"/>
              <a:cs typeface="Times New Roman" panose="02020603050405020304" pitchFamily="18" charset="0"/>
            </a:endParaRPr>
          </a:p>
          <a:p>
            <a:endParaRPr lang="en-GB" dirty="0"/>
          </a:p>
          <a:p>
            <a:r>
              <a:rPr lang="en-GB" sz="2400" dirty="0">
                <a:latin typeface="Times New Roman" panose="02020603050405020304" pitchFamily="18" charset="0"/>
                <a:cs typeface="Times New Roman" panose="02020603050405020304" pitchFamily="18" charset="0"/>
              </a:rPr>
              <a:t>In Real-Time Systems, each job carries a certain deadline within which </a:t>
            </a:r>
            <a:endParaRPr lang="en-GB" sz="2400" dirty="0" smtClean="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the job </a:t>
            </a:r>
            <a:r>
              <a:rPr lang="en-GB" sz="2400" dirty="0">
                <a:latin typeface="Times New Roman" panose="02020603050405020304" pitchFamily="18" charset="0"/>
                <a:cs typeface="Times New Roman" panose="02020603050405020304" pitchFamily="18" charset="0"/>
              </a:rPr>
              <a:t>is supposed to be completed, otherwise, the huge loss will be </a:t>
            </a:r>
            <a:endParaRPr lang="en-GB" sz="2400" dirty="0" smtClean="0">
              <a:latin typeface="Times New Roman" panose="02020603050405020304" pitchFamily="18" charset="0"/>
              <a:cs typeface="Times New Roman" panose="02020603050405020304" pitchFamily="18" charset="0"/>
            </a:endParaRPr>
          </a:p>
          <a:p>
            <a:r>
              <a:rPr lang="en-GB" sz="2400" dirty="0" smtClean="0">
                <a:latin typeface="Times New Roman" panose="02020603050405020304" pitchFamily="18" charset="0"/>
                <a:cs typeface="Times New Roman" panose="02020603050405020304" pitchFamily="18" charset="0"/>
              </a:rPr>
              <a:t>there</a:t>
            </a: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or </a:t>
            </a:r>
            <a:r>
              <a:rPr lang="en-GB" sz="2400" dirty="0">
                <a:latin typeface="Times New Roman" panose="02020603050405020304" pitchFamily="18" charset="0"/>
                <a:cs typeface="Times New Roman" panose="02020603050405020304" pitchFamily="18" charset="0"/>
              </a:rPr>
              <a:t>even if the result is produced, it will be completely useless.</a:t>
            </a:r>
            <a:br>
              <a:rPr lang="en-GB" dirty="0"/>
            </a:br>
            <a:endParaRPr lang="en-GB"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2505" y="2250909"/>
            <a:ext cx="7560840" cy="3980934"/>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8335" y="764704"/>
            <a:ext cx="3811556" cy="646331"/>
          </a:xfrm>
          <a:prstGeom prst="rect">
            <a:avLst/>
          </a:prstGeom>
          <a:noFill/>
        </p:spPr>
        <p:txBody>
          <a:bodyPr wrap="none" rtlCol="0">
            <a:spAutoFit/>
          </a:bodyPr>
          <a:lstStyle/>
          <a:p>
            <a:r>
              <a:rPr lang="en-GB" sz="3600" b="1" dirty="0" smtClean="0"/>
              <a:t>Distributed System</a:t>
            </a:r>
            <a:endParaRPr lang="en-GB" sz="3600" b="1"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38335" y="1556792"/>
            <a:ext cx="7795581" cy="4659982"/>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404664"/>
            <a:ext cx="6048672" cy="2092881"/>
          </a:xfrm>
          <a:prstGeom prst="rect">
            <a:avLst/>
          </a:prstGeom>
          <a:noFill/>
        </p:spPr>
        <p:txBody>
          <a:bodyPr wrap="square" rtlCol="0">
            <a:spAutoFit/>
          </a:bodyPr>
          <a:lstStyle/>
          <a:p>
            <a:r>
              <a:rPr lang="en-GB" sz="2800" b="1" dirty="0"/>
              <a:t>Types of Distributed Operating </a:t>
            </a:r>
            <a:r>
              <a:rPr lang="en-GB" sz="2800" b="1" dirty="0" smtClean="0"/>
              <a:t>System</a:t>
            </a:r>
            <a:endParaRPr lang="en-GB" sz="2800" b="1" dirty="0" smtClean="0"/>
          </a:p>
          <a:p>
            <a:r>
              <a:rPr lang="en-GB" sz="2800" dirty="0" smtClean="0"/>
              <a:t>Client-Server Systems</a:t>
            </a:r>
            <a:endParaRPr lang="en-GB" sz="2800" dirty="0" smtClean="0"/>
          </a:p>
          <a:p>
            <a:r>
              <a:rPr lang="en-GB" sz="2800" dirty="0" smtClean="0"/>
              <a:t>Peer-to-Peer </a:t>
            </a:r>
            <a:r>
              <a:rPr lang="en-GB" sz="2800" dirty="0"/>
              <a:t>Systems</a:t>
            </a:r>
            <a:endParaRPr lang="en-GB" sz="2800" dirty="0"/>
          </a:p>
          <a:p>
            <a:endParaRPr lang="en-GB" sz="2800" dirty="0"/>
          </a:p>
          <a:p>
            <a:endParaRPr lang="en-GB"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468558" y="2348880"/>
            <a:ext cx="8388424" cy="395036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332656"/>
            <a:ext cx="8086498" cy="4493538"/>
          </a:xfrm>
          <a:prstGeom prst="rect">
            <a:avLst/>
          </a:prstGeom>
          <a:noFill/>
        </p:spPr>
        <p:txBody>
          <a:bodyPr wrap="square" rtlCol="0">
            <a:spAutoFit/>
          </a:bodyPr>
          <a:lstStyle/>
          <a:p>
            <a:r>
              <a:rPr lang="en-GB" sz="3600" b="1" dirty="0" smtClean="0">
                <a:latin typeface="+mj-lt"/>
                <a:cs typeface="Times New Roman" panose="02020603050405020304" pitchFamily="18" charset="0"/>
              </a:rPr>
              <a:t>Clustered </a:t>
            </a:r>
            <a:r>
              <a:rPr lang="en-GB" sz="3600" b="1" dirty="0">
                <a:latin typeface="+mj-lt"/>
              </a:rPr>
              <a:t>Operating </a:t>
            </a:r>
            <a:r>
              <a:rPr lang="en-GB" sz="3600" b="1" dirty="0" smtClean="0">
                <a:latin typeface="+mj-lt"/>
              </a:rPr>
              <a:t>System</a:t>
            </a:r>
            <a:endParaRPr lang="en-GB" sz="3600" b="1" dirty="0" smtClean="0">
              <a:latin typeface="+mj-lt"/>
            </a:endParaRPr>
          </a:p>
          <a:p>
            <a:pPr lvl="0"/>
            <a:r>
              <a:rPr lang="en-GB" sz="2800" dirty="0" smtClean="0"/>
              <a:t>1.Clustered </a:t>
            </a:r>
            <a:r>
              <a:rPr lang="en-GB" sz="2800" dirty="0"/>
              <a:t>system is composed of two or more individual computer system joined together  </a:t>
            </a:r>
            <a:endParaRPr lang="en-GB" sz="2800" dirty="0"/>
          </a:p>
          <a:p>
            <a:r>
              <a:rPr lang="en-GB" sz="2800" dirty="0" smtClean="0"/>
              <a:t>2.Share </a:t>
            </a:r>
            <a:r>
              <a:rPr lang="en-GB" sz="2800" dirty="0"/>
              <a:t>common storage and are closely linked through local area network </a:t>
            </a:r>
            <a:endParaRPr lang="en-GB" sz="2800" dirty="0"/>
          </a:p>
          <a:p>
            <a:r>
              <a:rPr lang="en-GB" sz="2800" dirty="0" smtClean="0"/>
              <a:t>3.Individual </a:t>
            </a:r>
            <a:r>
              <a:rPr lang="en-GB" sz="2800" dirty="0"/>
              <a:t>computers are called nodes</a:t>
            </a:r>
            <a:endParaRPr lang="en-GB" sz="2800" dirty="0"/>
          </a:p>
          <a:p>
            <a:r>
              <a:rPr lang="en-GB" sz="2800" dirty="0"/>
              <a:t> </a:t>
            </a:r>
            <a:r>
              <a:rPr lang="en-GB" sz="2800" dirty="0" smtClean="0"/>
              <a:t>4.Most </a:t>
            </a:r>
            <a:r>
              <a:rPr lang="en-GB" sz="2800" dirty="0"/>
              <a:t>cases - Hardware sharing Some times - OS sharing </a:t>
            </a:r>
            <a:endParaRPr lang="en-GB" sz="2800" dirty="0"/>
          </a:p>
          <a:p>
            <a:endParaRPr lang="en-GB" sz="3600" b="1" dirty="0">
              <a:latin typeface="+mj-lt"/>
            </a:endParaRPr>
          </a:p>
          <a:p>
            <a:r>
              <a:rPr lang="en-GB" dirty="0" smtClean="0"/>
              <a:t> </a:t>
            </a:r>
            <a:endParaRPr lang="en-GB" dirty="0"/>
          </a:p>
        </p:txBody>
      </p:sp>
      <p:pic>
        <p:nvPicPr>
          <p:cNvPr id="4" name="Content Placeholder 3" descr="1.08.pdf"/>
          <p:cNvPicPr>
            <a:picLocks noGrp="1" noChangeAspect="1"/>
          </p:cNvPicPr>
          <p:nvPr/>
        </p:nvPicPr>
        <p:blipFill>
          <a:blip r:embed="rId1"/>
          <a:srcRect t="-3476" b="-3476"/>
          <a:stretch>
            <a:fillRect/>
          </a:stretch>
        </p:blipFill>
        <p:spPr>
          <a:xfrm>
            <a:off x="2339752" y="4077072"/>
            <a:ext cx="5494210" cy="2448272"/>
          </a:xfrm>
          <a:prstGeom prst="rect">
            <a:avLst/>
          </a:prstGeom>
          <a:noFill/>
          <a:ln w="9525">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16988" y="980728"/>
            <a:ext cx="8694368" cy="3785652"/>
          </a:xfrm>
          <a:prstGeom prst="rect">
            <a:avLst/>
          </a:prstGeom>
          <a:noFill/>
        </p:spPr>
        <p:txBody>
          <a:bodyPr wrap="none" rtlCol="0">
            <a:spAutoFit/>
          </a:bodyPr>
          <a:lstStyle/>
          <a:p>
            <a:r>
              <a:rPr lang="en-GB" sz="3600" b="1" dirty="0">
                <a:latin typeface="Times New Roman" panose="02020603050405020304" pitchFamily="18" charset="0"/>
                <a:cs typeface="Times New Roman" panose="02020603050405020304" pitchFamily="18" charset="0"/>
              </a:rPr>
              <a:t>Handheld Operating </a:t>
            </a:r>
            <a:r>
              <a:rPr lang="en-GB" sz="3600" b="1" dirty="0" smtClean="0">
                <a:latin typeface="Times New Roman" panose="02020603050405020304" pitchFamily="18" charset="0"/>
                <a:cs typeface="Times New Roman" panose="02020603050405020304" pitchFamily="18" charset="0"/>
              </a:rPr>
              <a:t>System</a:t>
            </a:r>
            <a:endParaRPr lang="en-GB" sz="3600" b="1" dirty="0" smtClean="0">
              <a:latin typeface="Times New Roman" panose="02020603050405020304" pitchFamily="18" charset="0"/>
              <a:cs typeface="Times New Roman" panose="02020603050405020304" pitchFamily="18" charset="0"/>
            </a:endParaRPr>
          </a:p>
          <a:p>
            <a:endParaRPr lang="en-GB" dirty="0">
              <a:latin typeface="+mj-lt"/>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Handheld operating systems are present in all handheld </a:t>
            </a:r>
            <a:endParaRPr lang="en-GB" sz="2800" dirty="0" smtClean="0">
              <a:latin typeface="Times New Roman" panose="02020603050405020304" pitchFamily="18" charset="0"/>
              <a:cs typeface="Times New Roman" panose="02020603050405020304" pitchFamily="18" charset="0"/>
            </a:endParaRPr>
          </a:p>
          <a:p>
            <a:r>
              <a:rPr lang="en-GB" sz="2800" dirty="0" smtClean="0">
                <a:latin typeface="Times New Roman" panose="02020603050405020304" pitchFamily="18" charset="0"/>
                <a:cs typeface="Times New Roman" panose="02020603050405020304" pitchFamily="18" charset="0"/>
              </a:rPr>
              <a:t>devices </a:t>
            </a:r>
            <a:r>
              <a:rPr lang="en-GB" sz="2800" dirty="0">
                <a:latin typeface="Times New Roman" panose="02020603050405020304" pitchFamily="18" charset="0"/>
                <a:cs typeface="Times New Roman" panose="02020603050405020304" pitchFamily="18" charset="0"/>
              </a:rPr>
              <a:t>like </a:t>
            </a:r>
            <a:r>
              <a:rPr lang="en-GB" sz="2800" dirty="0" smtClean="0">
                <a:latin typeface="Times New Roman" panose="02020603050405020304" pitchFamily="18" charset="0"/>
                <a:cs typeface="Times New Roman" panose="02020603050405020304" pitchFamily="18" charset="0"/>
              </a:rPr>
              <a:t>Smartphones </a:t>
            </a:r>
            <a:r>
              <a:rPr lang="en-GB" sz="2800" dirty="0">
                <a:latin typeface="Times New Roman" panose="02020603050405020304" pitchFamily="18" charset="0"/>
                <a:cs typeface="Times New Roman" panose="02020603050405020304" pitchFamily="18" charset="0"/>
              </a:rPr>
              <a:t>and tablets. It is also </a:t>
            </a:r>
            <a:r>
              <a:rPr lang="en-GB" sz="2800" dirty="0" smtClean="0">
                <a:latin typeface="Times New Roman" panose="02020603050405020304" pitchFamily="18" charset="0"/>
                <a:cs typeface="Times New Roman" panose="02020603050405020304" pitchFamily="18" charset="0"/>
              </a:rPr>
              <a:t>called </a:t>
            </a:r>
            <a:r>
              <a:rPr lang="en-GB" sz="2800" dirty="0">
                <a:latin typeface="Times New Roman" panose="02020603050405020304" pitchFamily="18" charset="0"/>
                <a:cs typeface="Times New Roman" panose="02020603050405020304" pitchFamily="18" charset="0"/>
              </a:rPr>
              <a:t>a </a:t>
            </a:r>
            <a:endParaRPr lang="en-GB" sz="2800" dirty="0" smtClean="0">
              <a:latin typeface="Times New Roman" panose="02020603050405020304" pitchFamily="18" charset="0"/>
              <a:cs typeface="Times New Roman" panose="02020603050405020304" pitchFamily="18" charset="0"/>
            </a:endParaRPr>
          </a:p>
          <a:p>
            <a:r>
              <a:rPr lang="en-GB" sz="2800" dirty="0" smtClean="0">
                <a:latin typeface="Times New Roman" panose="02020603050405020304" pitchFamily="18" charset="0"/>
                <a:cs typeface="Times New Roman" panose="02020603050405020304" pitchFamily="18" charset="0"/>
              </a:rPr>
              <a:t>Personal </a:t>
            </a:r>
            <a:r>
              <a:rPr lang="en-GB" sz="2800" dirty="0">
                <a:latin typeface="Times New Roman" panose="02020603050405020304" pitchFamily="18" charset="0"/>
                <a:cs typeface="Times New Roman" panose="02020603050405020304" pitchFamily="18" charset="0"/>
              </a:rPr>
              <a:t>Digital Assistant. </a:t>
            </a:r>
            <a:r>
              <a:rPr lang="en-GB" sz="2800" dirty="0" smtClean="0">
                <a:latin typeface="Times New Roman" panose="02020603050405020304" pitchFamily="18" charset="0"/>
                <a:cs typeface="Times New Roman" panose="02020603050405020304" pitchFamily="18" charset="0"/>
              </a:rPr>
              <a:t>The </a:t>
            </a:r>
            <a:r>
              <a:rPr lang="en-GB" sz="2800" dirty="0">
                <a:latin typeface="Times New Roman" panose="02020603050405020304" pitchFamily="18" charset="0"/>
                <a:cs typeface="Times New Roman" panose="02020603050405020304" pitchFamily="18" charset="0"/>
              </a:rPr>
              <a:t>popular handheld device in </a:t>
            </a:r>
            <a:endParaRPr lang="en-GB" sz="2800" dirty="0" smtClean="0">
              <a:latin typeface="Times New Roman" panose="02020603050405020304" pitchFamily="18" charset="0"/>
              <a:cs typeface="Times New Roman" panose="02020603050405020304" pitchFamily="18" charset="0"/>
            </a:endParaRPr>
          </a:p>
          <a:p>
            <a:r>
              <a:rPr lang="en-GB" sz="2800" dirty="0" smtClean="0">
                <a:latin typeface="Times New Roman" panose="02020603050405020304" pitchFamily="18" charset="0"/>
                <a:cs typeface="Times New Roman" panose="02020603050405020304" pitchFamily="18" charset="0"/>
              </a:rPr>
              <a:t>today’s </a:t>
            </a:r>
            <a:r>
              <a:rPr lang="en-GB" sz="2800" dirty="0">
                <a:latin typeface="Times New Roman" panose="02020603050405020304" pitchFamily="18" charset="0"/>
                <a:cs typeface="Times New Roman" panose="02020603050405020304" pitchFamily="18" charset="0"/>
              </a:rPr>
              <a:t>market is android and </a:t>
            </a:r>
            <a:r>
              <a:rPr lang="en-GB" sz="2800" dirty="0" err="1">
                <a:latin typeface="Times New Roman" panose="02020603050405020304" pitchFamily="18" charset="0"/>
                <a:cs typeface="Times New Roman" panose="02020603050405020304" pitchFamily="18" charset="0"/>
              </a:rPr>
              <a:t>iOS</a:t>
            </a:r>
            <a:r>
              <a:rPr lang="en-GB" sz="2800" dirty="0">
                <a:latin typeface="Times New Roman" panose="02020603050405020304" pitchFamily="18" charset="0"/>
                <a:cs typeface="Times New Roman" panose="02020603050405020304" pitchFamily="18" charset="0"/>
              </a:rPr>
              <a:t>. </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These operating systems need a high processing processor </a:t>
            </a:r>
            <a:endParaRPr lang="en-GB" sz="2800" dirty="0" smtClean="0">
              <a:latin typeface="Times New Roman" panose="02020603050405020304" pitchFamily="18" charset="0"/>
              <a:cs typeface="Times New Roman" panose="02020603050405020304" pitchFamily="18" charset="0"/>
            </a:endParaRPr>
          </a:p>
          <a:p>
            <a:r>
              <a:rPr lang="en-GB" sz="2800" dirty="0" smtClean="0">
                <a:latin typeface="Times New Roman" panose="02020603050405020304" pitchFamily="18" charset="0"/>
                <a:cs typeface="Times New Roman" panose="02020603050405020304" pitchFamily="18" charset="0"/>
              </a:rPr>
              <a:t>and </a:t>
            </a:r>
            <a:r>
              <a:rPr lang="en-GB" sz="2800" dirty="0">
                <a:latin typeface="Times New Roman" panose="02020603050405020304" pitchFamily="18" charset="0"/>
                <a:cs typeface="Times New Roman" panose="02020603050405020304" pitchFamily="18" charset="0"/>
              </a:rPr>
              <a:t>also </a:t>
            </a:r>
            <a:r>
              <a:rPr lang="en-GB" sz="2800" dirty="0" smtClean="0">
                <a:latin typeface="Times New Roman" panose="02020603050405020304" pitchFamily="18" charset="0"/>
                <a:cs typeface="Times New Roman" panose="02020603050405020304" pitchFamily="18" charset="0"/>
              </a:rPr>
              <a:t>embedded </a:t>
            </a:r>
            <a:r>
              <a:rPr lang="en-GB" sz="2800" dirty="0">
                <a:latin typeface="Times New Roman" panose="02020603050405020304" pitchFamily="18" charset="0"/>
                <a:cs typeface="Times New Roman" panose="02020603050405020304" pitchFamily="18" charset="0"/>
              </a:rPr>
              <a:t>with different types of </a:t>
            </a:r>
            <a:r>
              <a:rPr lang="en-GB" sz="2800" dirty="0" smtClean="0">
                <a:latin typeface="Times New Roman" panose="02020603050405020304" pitchFamily="18" charset="0"/>
                <a:cs typeface="Times New Roman" panose="02020603050405020304" pitchFamily="18" charset="0"/>
              </a:rPr>
              <a:t>sensor</a:t>
            </a:r>
            <a:r>
              <a:rPr lang="en-GB" sz="2400" dirty="0">
                <a:latin typeface="Times New Roman" panose="02020603050405020304" pitchFamily="18" charset="0"/>
                <a:cs typeface="Times New Roman" panose="02020603050405020304" pitchFamily="18" charset="0"/>
              </a:rPr>
              <a:t>.</a:t>
            </a:r>
            <a:endParaRPr lang="en-GB" sz="2400" b="1" dirty="0">
              <a:latin typeface="Times New Roman" panose="02020603050405020304" pitchFamily="18" charset="0"/>
              <a:cs typeface="Times New Roman" panose="02020603050405020304" pitchFamily="18" charset="0"/>
            </a:endParaRPr>
          </a:p>
          <a:p>
            <a:endParaRPr lang="en-GB"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971600" y="302746"/>
            <a:ext cx="7272808" cy="5201424"/>
          </a:xfrm>
          <a:prstGeom prst="rect">
            <a:avLst/>
          </a:prstGeom>
          <a:noFill/>
        </p:spPr>
        <p:txBody>
          <a:bodyPr wrap="square" rtlCol="0">
            <a:spAutoFit/>
          </a:bodyPr>
          <a:lstStyle/>
          <a:p>
            <a:pPr fontAlgn="base"/>
            <a:r>
              <a:rPr lang="en-GB" sz="3600" b="1" dirty="0">
                <a:latin typeface="Times New Roman" panose="02020603050405020304" pitchFamily="18" charset="0"/>
                <a:cs typeface="Times New Roman" panose="02020603050405020304" pitchFamily="18" charset="0"/>
              </a:rPr>
              <a:t>Services of Operating System</a:t>
            </a:r>
            <a:endParaRPr lang="en-GB" sz="3600" b="1" dirty="0">
              <a:latin typeface="Times New Roman" panose="02020603050405020304" pitchFamily="18" charset="0"/>
              <a:cs typeface="Times New Roman" panose="02020603050405020304" pitchFamily="18" charset="0"/>
            </a:endParaRPr>
          </a:p>
          <a:p>
            <a:pPr fontAlgn="base"/>
            <a:endParaRPr lang="en-GB" dirty="0" smtClean="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a:latin typeface="Times New Roman" panose="02020603050405020304" pitchFamily="18" charset="0"/>
                <a:cs typeface="Times New Roman" panose="02020603050405020304" pitchFamily="18" charset="0"/>
              </a:rPr>
              <a:t>Input Output </a:t>
            </a:r>
            <a:r>
              <a:rPr lang="en-GB" sz="3200" dirty="0" smtClean="0">
                <a:latin typeface="Times New Roman" panose="02020603050405020304" pitchFamily="18" charset="0"/>
                <a:cs typeface="Times New Roman" panose="02020603050405020304" pitchFamily="18" charset="0"/>
              </a:rPr>
              <a:t>Operations  </a:t>
            </a:r>
            <a:endParaRPr lang="en-GB" sz="3200" dirty="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smtClean="0">
                <a:latin typeface="Times New Roman" panose="02020603050405020304" pitchFamily="18" charset="0"/>
                <a:cs typeface="Times New Roman" panose="02020603050405020304" pitchFamily="18" charset="0"/>
              </a:rPr>
              <a:t>Program execution </a:t>
            </a:r>
            <a:endParaRPr lang="en-GB" sz="3200" dirty="0" smtClean="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a:latin typeface="Times New Roman" panose="02020603050405020304" pitchFamily="18" charset="0"/>
                <a:cs typeface="Times New Roman" panose="02020603050405020304" pitchFamily="18" charset="0"/>
              </a:rPr>
              <a:t>File </a:t>
            </a:r>
            <a:r>
              <a:rPr lang="en-GB" sz="3200" dirty="0" smtClean="0">
                <a:latin typeface="Times New Roman" panose="02020603050405020304" pitchFamily="18" charset="0"/>
                <a:cs typeface="Times New Roman" panose="02020603050405020304" pitchFamily="18" charset="0"/>
              </a:rPr>
              <a:t>Management  </a:t>
            </a:r>
            <a:endParaRPr lang="en-GB" sz="3200" dirty="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smtClean="0">
                <a:latin typeface="Times New Roman" panose="02020603050405020304" pitchFamily="18" charset="0"/>
                <a:cs typeface="Times New Roman" panose="02020603050405020304" pitchFamily="18" charset="0"/>
              </a:rPr>
              <a:t>Communication </a:t>
            </a:r>
            <a:r>
              <a:rPr lang="en-GB" sz="3200" dirty="0">
                <a:latin typeface="Times New Roman" panose="02020603050405020304" pitchFamily="18" charset="0"/>
                <a:cs typeface="Times New Roman" panose="02020603050405020304" pitchFamily="18" charset="0"/>
              </a:rPr>
              <a:t>between </a:t>
            </a:r>
            <a:r>
              <a:rPr lang="en-GB" sz="3200" dirty="0" smtClean="0">
                <a:latin typeface="Times New Roman" panose="02020603050405020304" pitchFamily="18" charset="0"/>
                <a:cs typeface="Times New Roman" panose="02020603050405020304" pitchFamily="18" charset="0"/>
              </a:rPr>
              <a:t>Process   </a:t>
            </a:r>
            <a:endParaRPr lang="en-GB" sz="3200" dirty="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smtClean="0">
                <a:latin typeface="Times New Roman" panose="02020603050405020304" pitchFamily="18" charset="0"/>
                <a:cs typeface="Times New Roman" panose="02020603050405020304" pitchFamily="18" charset="0"/>
              </a:rPr>
              <a:t>Security </a:t>
            </a:r>
            <a:r>
              <a:rPr lang="en-GB" sz="3200" dirty="0">
                <a:latin typeface="Times New Roman" panose="02020603050405020304" pitchFamily="18" charset="0"/>
                <a:cs typeface="Times New Roman" panose="02020603050405020304" pitchFamily="18" charset="0"/>
              </a:rPr>
              <a:t>and </a:t>
            </a:r>
            <a:r>
              <a:rPr lang="en-GB" sz="3200" dirty="0" smtClean="0">
                <a:latin typeface="Times New Roman" panose="02020603050405020304" pitchFamily="18" charset="0"/>
                <a:cs typeface="Times New Roman" panose="02020603050405020304" pitchFamily="18" charset="0"/>
              </a:rPr>
              <a:t>Privacy  </a:t>
            </a:r>
            <a:endParaRPr lang="en-GB" sz="3200" dirty="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a:latin typeface="Times New Roman" panose="02020603050405020304" pitchFamily="18" charset="0"/>
                <a:cs typeface="Times New Roman" panose="02020603050405020304" pitchFamily="18" charset="0"/>
              </a:rPr>
              <a:t>Resource </a:t>
            </a:r>
            <a:r>
              <a:rPr lang="en-GB" sz="3200" dirty="0" smtClean="0">
                <a:latin typeface="Times New Roman" panose="02020603050405020304" pitchFamily="18" charset="0"/>
                <a:cs typeface="Times New Roman" panose="02020603050405020304" pitchFamily="18" charset="0"/>
              </a:rPr>
              <a:t>Management  </a:t>
            </a:r>
            <a:endParaRPr lang="en-GB" sz="3200" dirty="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a:latin typeface="Times New Roman" panose="02020603050405020304" pitchFamily="18" charset="0"/>
                <a:cs typeface="Times New Roman" panose="02020603050405020304" pitchFamily="18" charset="0"/>
              </a:rPr>
              <a:t>User </a:t>
            </a:r>
            <a:r>
              <a:rPr lang="en-GB" sz="3200" dirty="0" smtClean="0">
                <a:latin typeface="Times New Roman" panose="02020603050405020304" pitchFamily="18" charset="0"/>
                <a:cs typeface="Times New Roman" panose="02020603050405020304" pitchFamily="18" charset="0"/>
              </a:rPr>
              <a:t>Interface  </a:t>
            </a:r>
            <a:endParaRPr lang="en-GB" sz="3200" dirty="0">
              <a:latin typeface="Times New Roman" panose="02020603050405020304" pitchFamily="18" charset="0"/>
              <a:cs typeface="Times New Roman" panose="02020603050405020304" pitchFamily="18" charset="0"/>
            </a:endParaRPr>
          </a:p>
          <a:p>
            <a:pPr marL="457200" indent="-457200" fontAlgn="base">
              <a:buFont typeface="Wingdings" panose="05000000000000000000" pitchFamily="2" charset="2"/>
              <a:buChar char="ü"/>
            </a:pPr>
            <a:r>
              <a:rPr lang="en-GB" sz="3200" dirty="0" smtClean="0">
                <a:latin typeface="Times New Roman" panose="02020603050405020304" pitchFamily="18" charset="0"/>
                <a:cs typeface="Times New Roman" panose="02020603050405020304" pitchFamily="18" charset="0"/>
              </a:rPr>
              <a:t>Error handling  </a:t>
            </a:r>
            <a:endParaRPr lang="en-GB" sz="3200" dirty="0">
              <a:latin typeface="Times New Roman" panose="02020603050405020304" pitchFamily="18" charset="0"/>
              <a:cs typeface="Times New Roman" panose="02020603050405020304" pitchFamily="18" charset="0"/>
            </a:endParaRPr>
          </a:p>
          <a:p>
            <a:endParaRPr lang="en-GB"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476672"/>
            <a:ext cx="4752528" cy="923330"/>
          </a:xfrm>
          <a:prstGeom prst="rect">
            <a:avLst/>
          </a:prstGeom>
          <a:noFill/>
        </p:spPr>
        <p:txBody>
          <a:bodyPr wrap="square" rtlCol="0">
            <a:spAutoFit/>
          </a:bodyPr>
          <a:lstStyle/>
          <a:p>
            <a:r>
              <a:rPr lang="en-GB" sz="3600" dirty="0">
                <a:latin typeface="Times New Roman" panose="02020603050405020304" pitchFamily="18" charset="0"/>
                <a:cs typeface="Times New Roman" panose="02020603050405020304" pitchFamily="18" charset="0"/>
              </a:rPr>
              <a:t>Input Output Operations  </a:t>
            </a:r>
            <a:endParaRPr lang="en-GB" sz="3600" dirty="0">
              <a:latin typeface="Times New Roman" panose="02020603050405020304" pitchFamily="18" charset="0"/>
              <a:cs typeface="Times New Roman" panose="02020603050405020304" pitchFamily="18" charset="0"/>
            </a:endParaRPr>
          </a:p>
          <a:p>
            <a:endParaRPr lang="en-GB"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9552" y="2034885"/>
            <a:ext cx="8426199" cy="3748134"/>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2238" y="1479514"/>
            <a:ext cx="6480720" cy="923330"/>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Program execution </a:t>
            </a:r>
            <a:endParaRPr lang="en-GB" sz="3600" b="1" dirty="0">
              <a:latin typeface="Times New Roman" panose="02020603050405020304" pitchFamily="18" charset="0"/>
              <a:cs typeface="Times New Roman" panose="02020603050405020304" pitchFamily="18" charset="0"/>
            </a:endParaRPr>
          </a:p>
          <a:p>
            <a:endParaRPr lang="en-GB"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11560" y="2636912"/>
            <a:ext cx="6558762" cy="1249288"/>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5" y="620689"/>
            <a:ext cx="7920881" cy="2400657"/>
          </a:xfrm>
          <a:prstGeom prst="rect">
            <a:avLst/>
          </a:prstGeom>
          <a:noFill/>
        </p:spPr>
        <p:txBody>
          <a:bodyPr wrap="square" rtlCol="0">
            <a:spAutoFit/>
          </a:bodyPr>
          <a:lstStyle/>
          <a:p>
            <a:r>
              <a:rPr lang="en-GB" sz="2800" b="1" dirty="0"/>
              <a:t>User and Operating-System </a:t>
            </a:r>
            <a:r>
              <a:rPr lang="en-GB" sz="2800" b="1" dirty="0" smtClean="0"/>
              <a:t>Interface</a:t>
            </a:r>
            <a:endParaRPr lang="en-GB" sz="2800" b="1" dirty="0" smtClean="0"/>
          </a:p>
          <a:p>
            <a:endParaRPr lang="en-GB" b="1" dirty="0" smtClean="0"/>
          </a:p>
          <a:p>
            <a:r>
              <a:rPr lang="en-GB" sz="2400" b="1" dirty="0" smtClean="0"/>
              <a:t>1</a:t>
            </a:r>
            <a:r>
              <a:rPr lang="en-GB" sz="2400" b="1" dirty="0" smtClean="0"/>
              <a:t>.</a:t>
            </a:r>
            <a:r>
              <a:rPr lang="en-GB" sz="2400" dirty="0"/>
              <a:t> </a:t>
            </a:r>
            <a:r>
              <a:rPr lang="en-GB" sz="2400" b="1" dirty="0"/>
              <a:t>Command line interface</a:t>
            </a:r>
            <a:endParaRPr lang="en-GB" sz="2400" b="1" dirty="0"/>
          </a:p>
          <a:p>
            <a:endParaRPr lang="en-GB" sz="2000" b="1" dirty="0" smtClean="0"/>
          </a:p>
          <a:p>
            <a:r>
              <a:rPr lang="en-GB" sz="2400" b="1" dirty="0" smtClean="0"/>
              <a:t>2.Graphical User Interface</a:t>
            </a:r>
            <a:endParaRPr lang="en-GB" sz="2400" b="1" dirty="0" smtClean="0"/>
          </a:p>
          <a:p>
            <a:endParaRPr lang="en-GB" b="1" dirty="0"/>
          </a:p>
          <a:p>
            <a:endParaRPr lang="en-GB"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7504" y="2780926"/>
            <a:ext cx="4896544" cy="3684837"/>
          </a:xfrm>
          <a:prstGeom prst="rect">
            <a:avLst/>
          </a:prstGeom>
        </p:spPr>
      </p:pic>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23758" y="2780927"/>
            <a:ext cx="3903609" cy="3684837"/>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27584" y="622429"/>
            <a:ext cx="5112568" cy="923330"/>
          </a:xfrm>
          <a:prstGeom prst="rect">
            <a:avLst/>
          </a:prstGeom>
          <a:noFill/>
        </p:spPr>
        <p:txBody>
          <a:bodyPr wrap="square" rtlCol="0">
            <a:spAutoFit/>
          </a:bodyPr>
          <a:lstStyle/>
          <a:p>
            <a:r>
              <a:rPr lang="en-GB" sz="3600" b="1" dirty="0">
                <a:latin typeface="Times New Roman" panose="02020603050405020304" pitchFamily="18" charset="0"/>
                <a:cs typeface="Times New Roman" panose="02020603050405020304" pitchFamily="18" charset="0"/>
              </a:rPr>
              <a:t>Error handling  </a:t>
            </a:r>
            <a:endParaRPr lang="en-GB" sz="3600" b="1" dirty="0">
              <a:latin typeface="Times New Roman" panose="02020603050405020304" pitchFamily="18" charset="0"/>
              <a:cs typeface="Times New Roman" panose="02020603050405020304" pitchFamily="18" charset="0"/>
            </a:endParaRPr>
          </a:p>
          <a:p>
            <a:endParaRPr lang="en-GB" dirty="0"/>
          </a:p>
        </p:txBody>
      </p:sp>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27584" y="1988840"/>
            <a:ext cx="5832648" cy="2065020"/>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39552" y="764704"/>
            <a:ext cx="7833555" cy="1600438"/>
          </a:xfrm>
          <a:prstGeom prst="rect">
            <a:avLst/>
          </a:prstGeom>
          <a:noFill/>
        </p:spPr>
        <p:txBody>
          <a:bodyPr wrap="none" rtlCol="0">
            <a:spAutoFit/>
          </a:bodyPr>
          <a:lstStyle/>
          <a:p>
            <a:r>
              <a:rPr lang="en-GB" sz="3200" b="1" dirty="0"/>
              <a:t>System Calls</a:t>
            </a:r>
            <a:endParaRPr lang="en-GB" sz="3200" dirty="0" smtClean="0"/>
          </a:p>
          <a:p>
            <a:endParaRPr lang="en-GB" dirty="0"/>
          </a:p>
          <a:p>
            <a:r>
              <a:rPr lang="en-GB" sz="2400" dirty="0" smtClean="0"/>
              <a:t>A </a:t>
            </a:r>
            <a:r>
              <a:rPr lang="en-GB" sz="2400" dirty="0"/>
              <a:t>system call is a way for a user program to interface with </a:t>
            </a:r>
            <a:r>
              <a:rPr lang="en-GB" sz="2400" dirty="0" smtClean="0"/>
              <a:t>the</a:t>
            </a:r>
            <a:endParaRPr lang="en-GB" sz="2400" dirty="0" smtClean="0"/>
          </a:p>
          <a:p>
            <a:r>
              <a:rPr lang="en-GB" sz="2400" dirty="0" smtClean="0"/>
              <a:t> </a:t>
            </a:r>
            <a:r>
              <a:rPr lang="en-GB" sz="2400" dirty="0"/>
              <a:t>operating </a:t>
            </a:r>
            <a:r>
              <a:rPr lang="en-GB" sz="2400" dirty="0" smtClean="0"/>
              <a:t>system.</a:t>
            </a:r>
            <a:endParaRPr lang="en-GB" sz="2400"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55576" y="2583319"/>
            <a:ext cx="7848872" cy="3771109"/>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6956" y="1916832"/>
            <a:ext cx="8867532" cy="2903220"/>
          </a:xfrm>
          <a:prstGeom prst="rect">
            <a:avLst/>
          </a:prstGeom>
        </p:spPr>
      </p:pic>
      <p:sp>
        <p:nvSpPr>
          <p:cNvPr id="3" name="TextBox 2"/>
          <p:cNvSpPr txBox="1"/>
          <p:nvPr/>
        </p:nvSpPr>
        <p:spPr>
          <a:xfrm>
            <a:off x="971600" y="548680"/>
            <a:ext cx="5328592" cy="861774"/>
          </a:xfrm>
          <a:prstGeom prst="rect">
            <a:avLst/>
          </a:prstGeom>
          <a:noFill/>
        </p:spPr>
        <p:txBody>
          <a:bodyPr wrap="square" rtlCol="0">
            <a:spAutoFit/>
          </a:bodyPr>
          <a:lstStyle/>
          <a:p>
            <a:r>
              <a:rPr lang="fr-FR" b="1" dirty="0"/>
              <a:t> </a:t>
            </a:r>
            <a:r>
              <a:rPr lang="fr-FR" sz="3200" b="1" dirty="0"/>
              <a:t>User Mode Vs </a:t>
            </a:r>
            <a:r>
              <a:rPr lang="fr-FR" sz="3200" b="1" dirty="0" err="1"/>
              <a:t>Kernel</a:t>
            </a:r>
            <a:r>
              <a:rPr lang="fr-FR" sz="3200" b="1" dirty="0"/>
              <a:t> </a:t>
            </a:r>
            <a:r>
              <a:rPr lang="fr-FR" sz="3200" b="1" dirty="0" smtClean="0"/>
              <a:t>Mode:</a:t>
            </a:r>
            <a:endParaRPr lang="fr-FR" sz="3200" b="1" dirty="0"/>
          </a:p>
          <a:p>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33539" y="1196753"/>
            <a:ext cx="7324087" cy="5328592"/>
          </a:xfrm>
          <a:prstGeom prst="rect">
            <a:avLst/>
          </a:prstGeom>
        </p:spPr>
      </p:pic>
      <p:sp>
        <p:nvSpPr>
          <p:cNvPr id="5" name="TextBox 4"/>
          <p:cNvSpPr txBox="1"/>
          <p:nvPr/>
        </p:nvSpPr>
        <p:spPr>
          <a:xfrm>
            <a:off x="1115616" y="548680"/>
            <a:ext cx="6562309" cy="584775"/>
          </a:xfrm>
          <a:prstGeom prst="rect">
            <a:avLst/>
          </a:prstGeom>
          <a:noFill/>
        </p:spPr>
        <p:txBody>
          <a:bodyPr wrap="none" rtlCol="0">
            <a:spAutoFit/>
          </a:bodyPr>
          <a:lstStyle/>
          <a:p>
            <a:r>
              <a:rPr lang="en-GB" sz="3200" b="1" dirty="0"/>
              <a:t>Example of how system calls are used</a:t>
            </a:r>
            <a:endParaRPr lang="en-GB" sz="3200" b="1"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66934" y="692696"/>
            <a:ext cx="4240776" cy="646331"/>
          </a:xfrm>
          <a:prstGeom prst="rect">
            <a:avLst/>
          </a:prstGeom>
          <a:noFill/>
        </p:spPr>
        <p:txBody>
          <a:bodyPr wrap="none" rtlCol="0">
            <a:spAutoFit/>
          </a:bodyPr>
          <a:lstStyle/>
          <a:p>
            <a:r>
              <a:rPr lang="en-GB" sz="3600" b="1" dirty="0"/>
              <a:t>Types of System Calls</a:t>
            </a:r>
            <a:endParaRPr lang="en-GB" sz="3600" dirty="0"/>
          </a:p>
        </p:txBody>
      </p:sp>
      <p:pic>
        <p:nvPicPr>
          <p:cNvPr id="3"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166934" y="1468107"/>
            <a:ext cx="7005466" cy="4675973"/>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1052736"/>
            <a:ext cx="6940170" cy="3416320"/>
          </a:xfrm>
          <a:prstGeom prst="rect">
            <a:avLst/>
          </a:prstGeom>
          <a:noFill/>
        </p:spPr>
        <p:txBody>
          <a:bodyPr wrap="none" rtlCol="0">
            <a:spAutoFit/>
          </a:bodyPr>
          <a:lstStyle/>
          <a:p>
            <a:r>
              <a:rPr lang="en-GB" sz="4000" b="1" dirty="0"/>
              <a:t>Process control </a:t>
            </a:r>
            <a:endParaRPr lang="en-GB" sz="4000" b="1" dirty="0" smtClean="0"/>
          </a:p>
          <a:p>
            <a:endParaRPr lang="en-GB" dirty="0"/>
          </a:p>
          <a:p>
            <a:endParaRPr lang="en-GB" dirty="0"/>
          </a:p>
          <a:p>
            <a:r>
              <a:rPr lang="en-GB" sz="2800" dirty="0"/>
              <a:t>◦ create process, terminate process </a:t>
            </a:r>
            <a:endParaRPr lang="en-GB" sz="2800" dirty="0"/>
          </a:p>
          <a:p>
            <a:r>
              <a:rPr lang="en-GB" sz="2800" dirty="0"/>
              <a:t>◦ load, execute </a:t>
            </a:r>
            <a:endParaRPr lang="en-GB" sz="2800" dirty="0"/>
          </a:p>
          <a:p>
            <a:r>
              <a:rPr lang="en-GB" sz="2800" dirty="0"/>
              <a:t>◦ get process attributes, set process attributes </a:t>
            </a:r>
            <a:endParaRPr lang="en-GB" sz="2800" dirty="0"/>
          </a:p>
          <a:p>
            <a:r>
              <a:rPr lang="en-GB" sz="2800" dirty="0"/>
              <a:t>◦ wait event, signal event </a:t>
            </a:r>
            <a:endParaRPr lang="en-GB" sz="2800" dirty="0"/>
          </a:p>
          <a:p>
            <a:r>
              <a:rPr lang="en-GB" sz="2800" dirty="0"/>
              <a:t>◦ allocate and free memory</a:t>
            </a:r>
            <a:endParaRPr lang="en-GB" sz="28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59632" y="764704"/>
            <a:ext cx="6984776" cy="3170099"/>
          </a:xfrm>
          <a:prstGeom prst="rect">
            <a:avLst/>
          </a:prstGeom>
          <a:noFill/>
        </p:spPr>
        <p:txBody>
          <a:bodyPr wrap="square" rtlCol="0">
            <a:spAutoFit/>
          </a:bodyPr>
          <a:lstStyle/>
          <a:p>
            <a:r>
              <a:rPr lang="en-GB" sz="3600" b="1" dirty="0"/>
              <a:t>File management </a:t>
            </a:r>
            <a:endParaRPr lang="en-GB" sz="3600" b="1" dirty="0" smtClean="0"/>
          </a:p>
          <a:p>
            <a:endParaRPr lang="en-GB" sz="3600" b="1" dirty="0"/>
          </a:p>
          <a:p>
            <a:r>
              <a:rPr lang="en-GB" sz="3200" dirty="0"/>
              <a:t>◦ create file, delete file </a:t>
            </a:r>
            <a:endParaRPr lang="en-GB" sz="3200" dirty="0"/>
          </a:p>
          <a:p>
            <a:r>
              <a:rPr lang="en-GB" sz="3200" dirty="0"/>
              <a:t>◦ open, close </a:t>
            </a:r>
            <a:endParaRPr lang="en-GB" sz="3200" dirty="0"/>
          </a:p>
          <a:p>
            <a:r>
              <a:rPr lang="en-GB" sz="3200" dirty="0"/>
              <a:t>◦ read, write, reposition </a:t>
            </a:r>
            <a:endParaRPr lang="en-GB" sz="3200" dirty="0"/>
          </a:p>
          <a:p>
            <a:r>
              <a:rPr lang="en-GB" sz="3200" dirty="0"/>
              <a:t>◦ get file attributes, set file attributes</a:t>
            </a:r>
            <a:endParaRPr lang="en-GB" sz="3200"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31640" y="1124744"/>
            <a:ext cx="6840760" cy="2646878"/>
          </a:xfrm>
          <a:prstGeom prst="rect">
            <a:avLst/>
          </a:prstGeom>
          <a:noFill/>
        </p:spPr>
        <p:txBody>
          <a:bodyPr wrap="square" rtlCol="0">
            <a:spAutoFit/>
          </a:bodyPr>
          <a:lstStyle/>
          <a:p>
            <a:r>
              <a:rPr lang="en-GB" sz="3600" dirty="0">
                <a:latin typeface="Times New Roman" panose="02020603050405020304" pitchFamily="18" charset="0"/>
                <a:cs typeface="Times New Roman" panose="02020603050405020304" pitchFamily="18" charset="0"/>
              </a:rPr>
              <a:t>Device management </a:t>
            </a:r>
            <a:endParaRPr lang="en-GB" sz="3600" dirty="0" smtClean="0">
              <a:latin typeface="Times New Roman" panose="02020603050405020304" pitchFamily="18" charset="0"/>
              <a:cs typeface="Times New Roman" panose="02020603050405020304" pitchFamily="18" charset="0"/>
            </a:endParaRPr>
          </a:p>
          <a:p>
            <a:endParaRPr lang="en-GB" dirty="0"/>
          </a:p>
          <a:p>
            <a:r>
              <a:rPr lang="en-GB" sz="2800" dirty="0">
                <a:latin typeface="Times New Roman" panose="02020603050405020304" pitchFamily="18" charset="0"/>
                <a:cs typeface="Times New Roman" panose="02020603050405020304" pitchFamily="18" charset="0"/>
              </a:rPr>
              <a:t>◦ request device, release device </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 read, write, reposition </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 get device attributes, set device attributes </a:t>
            </a:r>
            <a:endParaRPr lang="en-GB" sz="2800" dirty="0">
              <a:latin typeface="Times New Roman" panose="02020603050405020304" pitchFamily="18" charset="0"/>
              <a:cs typeface="Times New Roman" panose="02020603050405020304" pitchFamily="18" charset="0"/>
            </a:endParaRPr>
          </a:p>
          <a:p>
            <a:r>
              <a:rPr lang="en-GB" sz="2800" dirty="0">
                <a:latin typeface="Times New Roman" panose="02020603050405020304" pitchFamily="18" charset="0"/>
                <a:cs typeface="Times New Roman" panose="02020603050405020304" pitchFamily="18" charset="0"/>
              </a:rPr>
              <a:t>◦ logically attach or detach devices</a:t>
            </a:r>
            <a:endParaRPr lang="en-GB"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187624" y="1052736"/>
            <a:ext cx="7056784" cy="2893100"/>
          </a:xfrm>
          <a:prstGeom prst="rect">
            <a:avLst/>
          </a:prstGeom>
          <a:noFill/>
        </p:spPr>
        <p:txBody>
          <a:bodyPr wrap="square" rtlCol="0">
            <a:spAutoFit/>
          </a:bodyPr>
          <a:lstStyle/>
          <a:p>
            <a:r>
              <a:rPr lang="en-GB" sz="3600" b="1" dirty="0"/>
              <a:t>Information maintenance </a:t>
            </a:r>
            <a:endParaRPr lang="en-GB" sz="3600" b="1" dirty="0" smtClean="0"/>
          </a:p>
          <a:p>
            <a:endParaRPr lang="en-GB" dirty="0"/>
          </a:p>
          <a:p>
            <a:r>
              <a:rPr lang="en-GB" sz="3200" dirty="0">
                <a:cs typeface="Times New Roman" panose="02020603050405020304" pitchFamily="18" charset="0"/>
              </a:rPr>
              <a:t>◦ get time or date, set time or date </a:t>
            </a:r>
            <a:endParaRPr lang="en-GB" sz="3200" dirty="0">
              <a:cs typeface="Times New Roman" panose="02020603050405020304" pitchFamily="18" charset="0"/>
            </a:endParaRPr>
          </a:p>
          <a:p>
            <a:r>
              <a:rPr lang="en-GB" sz="3200" dirty="0">
                <a:cs typeface="Times New Roman" panose="02020603050405020304" pitchFamily="18" charset="0"/>
              </a:rPr>
              <a:t>◦ get system data, set system data </a:t>
            </a:r>
            <a:endParaRPr lang="en-GB" sz="3200" dirty="0">
              <a:cs typeface="Times New Roman" panose="02020603050405020304" pitchFamily="18" charset="0"/>
            </a:endParaRPr>
          </a:p>
          <a:p>
            <a:r>
              <a:rPr lang="en-GB" sz="3200" dirty="0">
                <a:cs typeface="Times New Roman" panose="02020603050405020304" pitchFamily="18" charset="0"/>
              </a:rPr>
              <a:t>◦ get process, file, or device attributes </a:t>
            </a:r>
            <a:endParaRPr lang="en-GB" sz="3200" dirty="0">
              <a:cs typeface="Times New Roman" panose="02020603050405020304" pitchFamily="18" charset="0"/>
            </a:endParaRPr>
          </a:p>
          <a:p>
            <a:r>
              <a:rPr lang="en-GB" sz="3200" dirty="0">
                <a:cs typeface="Times New Roman" panose="02020603050405020304" pitchFamily="18" charset="0"/>
              </a:rPr>
              <a:t>◦ set process, file, or device attributes</a:t>
            </a:r>
            <a:endParaRPr lang="en-GB" sz="3200" dirty="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45028" y="1052735"/>
            <a:ext cx="7344816" cy="3170099"/>
          </a:xfrm>
          <a:prstGeom prst="rect">
            <a:avLst/>
          </a:prstGeom>
          <a:noFill/>
        </p:spPr>
        <p:txBody>
          <a:bodyPr wrap="square" rtlCol="0">
            <a:spAutoFit/>
          </a:bodyPr>
          <a:lstStyle/>
          <a:p>
            <a:r>
              <a:rPr lang="en-GB" sz="3600" b="1" dirty="0" smtClean="0">
                <a:latin typeface="+mj-lt"/>
              </a:rPr>
              <a:t>Communications</a:t>
            </a:r>
            <a:endParaRPr lang="en-GB" sz="3600" b="1" dirty="0" smtClean="0">
              <a:latin typeface="+mj-lt"/>
            </a:endParaRPr>
          </a:p>
          <a:p>
            <a:endParaRPr lang="en-GB" dirty="0"/>
          </a:p>
          <a:p>
            <a:r>
              <a:rPr lang="en-GB" dirty="0" smtClean="0"/>
              <a:t> </a:t>
            </a:r>
            <a:endParaRPr lang="en-GB" dirty="0"/>
          </a:p>
          <a:p>
            <a:r>
              <a:rPr lang="en-GB" sz="3200" dirty="0"/>
              <a:t>◦ create, delete communication connection </a:t>
            </a:r>
            <a:endParaRPr lang="en-GB" sz="3200" dirty="0"/>
          </a:p>
          <a:p>
            <a:r>
              <a:rPr lang="en-GB" sz="3200" dirty="0"/>
              <a:t>◦ send, receive messages </a:t>
            </a:r>
            <a:endParaRPr lang="en-GB" sz="3200" dirty="0"/>
          </a:p>
          <a:p>
            <a:r>
              <a:rPr lang="en-GB" sz="3200" dirty="0"/>
              <a:t>◦ transfer status information </a:t>
            </a:r>
            <a:endParaRPr lang="en-GB" sz="3200" dirty="0"/>
          </a:p>
          <a:p>
            <a:r>
              <a:rPr lang="en-GB" sz="3200" dirty="0"/>
              <a:t>◦ attach or detach remote devices</a:t>
            </a:r>
            <a:endParaRPr lang="en-GB" sz="32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95536" y="260648"/>
            <a:ext cx="8568952" cy="6617196"/>
          </a:xfrm>
          <a:prstGeom prst="rect">
            <a:avLst/>
          </a:prstGeom>
          <a:noFill/>
        </p:spPr>
        <p:txBody>
          <a:bodyPr wrap="square" rtlCol="0">
            <a:spAutoFit/>
          </a:bodyPr>
          <a:lstStyle/>
          <a:p>
            <a:r>
              <a:rPr lang="en-GB" sz="2800" b="1" dirty="0"/>
              <a:t>Important System Calls Used in </a:t>
            </a:r>
            <a:r>
              <a:rPr lang="en-GB" sz="2800" b="1" dirty="0" smtClean="0"/>
              <a:t>OS</a:t>
            </a:r>
            <a:endParaRPr lang="en-GB" b="1" dirty="0"/>
          </a:p>
          <a:p>
            <a:r>
              <a:rPr lang="en-GB" sz="2400" b="1" dirty="0" smtClean="0"/>
              <a:t>1.wait()</a:t>
            </a:r>
            <a:endParaRPr lang="en-GB" sz="2400" b="1" dirty="0" smtClean="0"/>
          </a:p>
          <a:p>
            <a:r>
              <a:rPr lang="en-GB" sz="2400" dirty="0" smtClean="0"/>
              <a:t>In </a:t>
            </a:r>
            <a:r>
              <a:rPr lang="en-GB" sz="2400" dirty="0"/>
              <a:t>certain systems, a process must wait for another process to finish running before continuing.</a:t>
            </a:r>
            <a:endParaRPr lang="en-GB" sz="2400" b="1" dirty="0" smtClean="0"/>
          </a:p>
          <a:p>
            <a:r>
              <a:rPr lang="en-GB" sz="2400" b="1" dirty="0" smtClean="0"/>
              <a:t>2.fork()</a:t>
            </a:r>
            <a:endParaRPr lang="en-GB" sz="2400" b="1" dirty="0" smtClean="0"/>
          </a:p>
          <a:p>
            <a:r>
              <a:rPr lang="en-GB" sz="2400" dirty="0"/>
              <a:t>The fork system call in OS is used by processes to make copies of themselves. </a:t>
            </a:r>
            <a:endParaRPr lang="en-GB" sz="2400" b="1" dirty="0"/>
          </a:p>
          <a:p>
            <a:r>
              <a:rPr lang="en-GB" sz="2400" b="1" dirty="0" smtClean="0"/>
              <a:t>3.exec()</a:t>
            </a:r>
            <a:endParaRPr lang="en-GB" sz="2400" b="1" dirty="0" smtClean="0"/>
          </a:p>
          <a:p>
            <a:r>
              <a:rPr lang="en-GB" sz="2400" dirty="0"/>
              <a:t>When an executable file replaces an earlier executable file within the context of an active process, this system call is executed</a:t>
            </a:r>
            <a:endParaRPr lang="en-GB" sz="2400" b="1" dirty="0"/>
          </a:p>
          <a:p>
            <a:r>
              <a:rPr lang="en-GB" sz="2400" b="1" dirty="0" smtClean="0"/>
              <a:t>4.kill()</a:t>
            </a:r>
            <a:endParaRPr lang="en-GB" sz="2400" b="1" dirty="0" smtClean="0"/>
          </a:p>
          <a:p>
            <a:r>
              <a:rPr lang="en-GB" sz="2400" dirty="0"/>
              <a:t>The OS uses the kill() system call to urge processes to terminate by sending them a signal</a:t>
            </a:r>
            <a:endParaRPr lang="en-GB" sz="2400" b="1" dirty="0"/>
          </a:p>
          <a:p>
            <a:r>
              <a:rPr lang="en-GB" sz="2400" b="1" dirty="0" smtClean="0"/>
              <a:t>5.exit()</a:t>
            </a:r>
            <a:endParaRPr lang="en-GB" sz="2400" b="1" dirty="0" smtClean="0"/>
          </a:p>
          <a:p>
            <a:r>
              <a:rPr lang="en-GB" sz="2400" dirty="0"/>
              <a:t>An exit system call is used when the programme must be stopped.</a:t>
            </a:r>
            <a:endParaRPr lang="en-GB" sz="2400" b="1" dirty="0" smtClean="0"/>
          </a:p>
          <a:p>
            <a:endParaRPr lang="en-GB" sz="2400" b="1" dirty="0"/>
          </a:p>
          <a:p>
            <a:pPr marL="342900" indent="-342900">
              <a:buAutoNum type="arabicPeriod"/>
            </a:pPr>
            <a:endParaRPr lang="en-GB" b="1" dirty="0"/>
          </a:p>
          <a:p>
            <a:endParaRPr lang="en-GB"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323731"/>
            <a:ext cx="8424936" cy="6924973"/>
          </a:xfrm>
          <a:prstGeom prst="rect">
            <a:avLst/>
          </a:prstGeom>
          <a:noFill/>
        </p:spPr>
        <p:txBody>
          <a:bodyPr wrap="square" rtlCol="0">
            <a:spAutoFit/>
          </a:bodyPr>
          <a:lstStyle/>
          <a:p>
            <a:r>
              <a:rPr lang="en-GB" sz="3600" b="1" dirty="0"/>
              <a:t>Operating System Design </a:t>
            </a:r>
            <a:r>
              <a:rPr lang="en-GB" sz="3600" b="1" dirty="0" smtClean="0"/>
              <a:t>Goals</a:t>
            </a:r>
            <a:endParaRPr lang="en-GB" sz="3600" b="1" dirty="0" smtClean="0"/>
          </a:p>
          <a:p>
            <a:endParaRPr lang="en-GB" dirty="0" smtClean="0"/>
          </a:p>
          <a:p>
            <a:r>
              <a:rPr lang="en-GB" sz="3200" b="1" dirty="0" smtClean="0"/>
              <a:t>Design Goals:</a:t>
            </a:r>
            <a:endParaRPr lang="en-GB" sz="3200" b="1" dirty="0" smtClean="0"/>
          </a:p>
          <a:p>
            <a:endParaRPr lang="en-GB" dirty="0" smtClean="0"/>
          </a:p>
          <a:p>
            <a:r>
              <a:rPr lang="en-GB" sz="3200" b="1" dirty="0" smtClean="0"/>
              <a:t>                             System </a:t>
            </a:r>
            <a:r>
              <a:rPr lang="en-GB" sz="3200" b="1" dirty="0"/>
              <a:t>Goals</a:t>
            </a:r>
            <a:endParaRPr lang="en-GB" sz="3200" b="1" dirty="0"/>
          </a:p>
          <a:p>
            <a:r>
              <a:rPr lang="en-GB" sz="2400" dirty="0"/>
              <a:t>The operating system should be easy to design, implement and maintain. These are specifications required by those who create, maintain and operate the operating system. But there is not specific method to achieve these goals as well</a:t>
            </a:r>
            <a:r>
              <a:rPr lang="en-GB" sz="2400" dirty="0" smtClean="0"/>
              <a:t>.</a:t>
            </a:r>
            <a:endParaRPr lang="en-GB" sz="2400" dirty="0" smtClean="0"/>
          </a:p>
          <a:p>
            <a:endParaRPr lang="en-GB" sz="2400" dirty="0" smtClean="0"/>
          </a:p>
          <a:p>
            <a:r>
              <a:rPr lang="en-GB" sz="3200" b="1" dirty="0" smtClean="0"/>
              <a:t>                            User </a:t>
            </a:r>
            <a:r>
              <a:rPr lang="en-GB" sz="3200" b="1" dirty="0"/>
              <a:t>Goals</a:t>
            </a:r>
            <a:endParaRPr lang="en-GB" sz="3200" b="1" dirty="0"/>
          </a:p>
          <a:p>
            <a:r>
              <a:rPr lang="en-GB" sz="2400" dirty="0" smtClean="0"/>
              <a:t>The </a:t>
            </a:r>
            <a:r>
              <a:rPr lang="en-GB" sz="2400" dirty="0"/>
              <a:t>operating system should be convenient, easy to use, reliable, safe and fast according to the </a:t>
            </a:r>
            <a:r>
              <a:rPr lang="en-GB" sz="2400" dirty="0" smtClean="0"/>
              <a:t>users.</a:t>
            </a:r>
            <a:endParaRPr lang="en-GB" sz="2400" dirty="0"/>
          </a:p>
          <a:p>
            <a:endParaRPr lang="en-GB" dirty="0"/>
          </a:p>
          <a:p>
            <a:endParaRPr lang="en-GB" dirty="0"/>
          </a:p>
          <a:p>
            <a:endParaRPr lang="en-GB" dirty="0"/>
          </a:p>
          <a:p>
            <a:endParaRPr lang="en-GB" dirty="0"/>
          </a:p>
          <a:p>
            <a:endParaRPr lang="en-GB" dirty="0"/>
          </a:p>
          <a:p>
            <a:endParaRPr lang="en-GB" dirty="0"/>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836712"/>
            <a:ext cx="6927575" cy="2092881"/>
          </a:xfrm>
          <a:prstGeom prst="rect">
            <a:avLst/>
          </a:prstGeom>
          <a:noFill/>
        </p:spPr>
        <p:txBody>
          <a:bodyPr wrap="square" rtlCol="0">
            <a:spAutoFit/>
          </a:bodyPr>
          <a:lstStyle/>
          <a:p>
            <a:pPr marL="285750" indent="-285750">
              <a:buFont typeface="Wingdings" panose="05000000000000000000" pitchFamily="2" charset="2"/>
              <a:buChar char="Ø"/>
            </a:pPr>
            <a:r>
              <a:rPr lang="en-GB" sz="2800" dirty="0"/>
              <a:t>Operating System Mechanisms and </a:t>
            </a:r>
            <a:r>
              <a:rPr lang="en-GB" sz="2800" dirty="0" smtClean="0"/>
              <a:t>Policies</a:t>
            </a:r>
            <a:endParaRPr lang="en-GB" sz="2800" dirty="0"/>
          </a:p>
          <a:p>
            <a:pPr marL="285750" indent="-285750">
              <a:buFont typeface="Wingdings" panose="05000000000000000000" pitchFamily="2" charset="2"/>
              <a:buChar char="Ø"/>
            </a:pPr>
            <a:r>
              <a:rPr lang="en-GB" sz="2800" dirty="0"/>
              <a:t>Operating System </a:t>
            </a:r>
            <a:r>
              <a:rPr lang="en-GB" sz="2800" dirty="0" smtClean="0"/>
              <a:t>Implementation</a:t>
            </a:r>
            <a:endParaRPr lang="en-GB" sz="2800" dirty="0"/>
          </a:p>
          <a:p>
            <a:pPr marL="285750" indent="-285750">
              <a:buFont typeface="Wingdings" panose="05000000000000000000" pitchFamily="2" charset="2"/>
              <a:buChar char="Ø"/>
            </a:pPr>
            <a:r>
              <a:rPr lang="en-GB" sz="2800" dirty="0"/>
              <a:t>Advantages of Higher Level </a:t>
            </a:r>
            <a:r>
              <a:rPr lang="en-GB" sz="2800" dirty="0" smtClean="0"/>
              <a:t>Language</a:t>
            </a:r>
            <a:endParaRPr lang="en-GB" sz="2800" dirty="0"/>
          </a:p>
          <a:p>
            <a:pPr marL="285750" indent="-285750">
              <a:buFont typeface="Wingdings" panose="05000000000000000000" pitchFamily="2" charset="2"/>
              <a:buChar char="Ø"/>
            </a:pPr>
            <a:r>
              <a:rPr lang="en-GB" sz="2800" dirty="0"/>
              <a:t>Disadvantages of Higher Level Language</a:t>
            </a:r>
            <a:endParaRPr lang="en-GB" sz="2800" dirty="0"/>
          </a:p>
          <a:p>
            <a:endParaRPr lang="en-GB" dirty="0"/>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123728" y="3068960"/>
            <a:ext cx="4782101" cy="365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71600" y="2420888"/>
            <a:ext cx="7274273" cy="3999396"/>
          </a:xfrm>
          <a:prstGeom prst="rect">
            <a:avLst/>
          </a:prstGeom>
        </p:spPr>
      </p:pic>
      <p:sp>
        <p:nvSpPr>
          <p:cNvPr id="3" name="TextBox 2"/>
          <p:cNvSpPr txBox="1"/>
          <p:nvPr/>
        </p:nvSpPr>
        <p:spPr>
          <a:xfrm>
            <a:off x="811604" y="404664"/>
            <a:ext cx="7416824" cy="2123658"/>
          </a:xfrm>
          <a:prstGeom prst="rect">
            <a:avLst/>
          </a:prstGeom>
          <a:noFill/>
        </p:spPr>
        <p:txBody>
          <a:bodyPr wrap="square" rtlCol="0">
            <a:spAutoFit/>
          </a:bodyPr>
          <a:lstStyle/>
          <a:p>
            <a:r>
              <a:rPr lang="en-GB" sz="3200" dirty="0" smtClean="0"/>
              <a:t>Virtual Machine: </a:t>
            </a:r>
            <a:endParaRPr lang="en-GB" sz="3200" dirty="0" smtClean="0"/>
          </a:p>
          <a:p>
            <a:r>
              <a:rPr lang="en-GB" sz="2000" dirty="0" smtClean="0"/>
              <a:t>Virtualization </a:t>
            </a:r>
            <a:r>
              <a:rPr lang="en-GB" sz="2000" dirty="0"/>
              <a:t>is a technology that allows us to abstract the hardware of a </a:t>
            </a:r>
            <a:r>
              <a:rPr lang="en-GB" sz="2000" dirty="0" smtClean="0"/>
              <a:t>single </a:t>
            </a:r>
            <a:r>
              <a:rPr lang="en-GB" sz="2000" dirty="0"/>
              <a:t>computer (the CPU, memory, disk drives, network interface cards, and so </a:t>
            </a:r>
            <a:r>
              <a:rPr lang="en-GB" sz="2000" dirty="0" smtClean="0"/>
              <a:t>forth</a:t>
            </a:r>
            <a:r>
              <a:rPr lang="en-GB" sz="2000" dirty="0"/>
              <a:t>) into several different execution environments, thereby creating the </a:t>
            </a:r>
            <a:r>
              <a:rPr lang="en-GB" sz="2000" dirty="0" smtClean="0"/>
              <a:t>illusion </a:t>
            </a:r>
            <a:r>
              <a:rPr lang="en-GB" sz="2000" dirty="0"/>
              <a:t>that each separate environment is running on its own private computer.</a:t>
            </a:r>
            <a:endParaRPr lang="en-GB" sz="2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3568" y="476672"/>
            <a:ext cx="5973430" cy="3231654"/>
          </a:xfrm>
          <a:prstGeom prst="rect">
            <a:avLst/>
          </a:prstGeom>
          <a:noFill/>
        </p:spPr>
        <p:txBody>
          <a:bodyPr wrap="none" rtlCol="0">
            <a:spAutoFit/>
          </a:bodyPr>
          <a:lstStyle/>
          <a:p>
            <a:endParaRPr lang="en-GB" b="1" dirty="0" smtClean="0"/>
          </a:p>
          <a:p>
            <a:r>
              <a:rPr lang="en-GB" sz="3600" dirty="0" smtClean="0"/>
              <a:t>Advantage of </a:t>
            </a:r>
            <a:r>
              <a:rPr lang="en-GB" sz="3600" dirty="0"/>
              <a:t>Virtual Machine: </a:t>
            </a:r>
            <a:endParaRPr lang="en-GB" sz="3600" dirty="0"/>
          </a:p>
          <a:p>
            <a:endParaRPr lang="en-GB" b="1" dirty="0"/>
          </a:p>
          <a:p>
            <a:endParaRPr lang="en-GB" b="1" dirty="0" smtClean="0"/>
          </a:p>
          <a:p>
            <a:pPr marL="285750" indent="-285750">
              <a:buFont typeface="Wingdings" panose="05000000000000000000" pitchFamily="2" charset="2"/>
              <a:buChar char="q"/>
            </a:pPr>
            <a:r>
              <a:rPr lang="en-GB" sz="2400" b="1" dirty="0" smtClean="0"/>
              <a:t>Cost </a:t>
            </a:r>
            <a:endParaRPr lang="en-GB" sz="2400" b="1" dirty="0" smtClean="0"/>
          </a:p>
          <a:p>
            <a:pPr marL="285750" indent="-285750">
              <a:buFont typeface="Wingdings" panose="05000000000000000000" pitchFamily="2" charset="2"/>
              <a:buChar char="q"/>
            </a:pPr>
            <a:r>
              <a:rPr lang="en-GB" sz="2400" b="1" dirty="0" smtClean="0"/>
              <a:t>Agility </a:t>
            </a:r>
            <a:r>
              <a:rPr lang="en-GB" sz="2400" b="1" dirty="0"/>
              <a:t>and </a:t>
            </a:r>
            <a:r>
              <a:rPr lang="en-GB" sz="2400" b="1" dirty="0" smtClean="0"/>
              <a:t>speed</a:t>
            </a:r>
            <a:r>
              <a:rPr lang="en-GB" sz="2400" dirty="0"/>
              <a:t> </a:t>
            </a:r>
            <a:r>
              <a:rPr lang="en-GB" sz="2400" b="1" dirty="0" smtClean="0"/>
              <a:t>Lowered downtime</a:t>
            </a:r>
            <a:r>
              <a:rPr lang="en-GB" sz="2400" dirty="0"/>
              <a:t> </a:t>
            </a:r>
            <a:r>
              <a:rPr lang="en-GB" sz="2400" dirty="0" smtClean="0"/>
              <a:t> </a:t>
            </a:r>
            <a:endParaRPr lang="en-GB" sz="2400" dirty="0" smtClean="0"/>
          </a:p>
          <a:p>
            <a:pPr marL="285750" indent="-285750">
              <a:buFont typeface="Wingdings" panose="05000000000000000000" pitchFamily="2" charset="2"/>
              <a:buChar char="q"/>
            </a:pPr>
            <a:r>
              <a:rPr lang="en-GB" sz="2400" b="1" dirty="0" smtClean="0"/>
              <a:t>Scalability</a:t>
            </a:r>
            <a:endParaRPr lang="en-GB" sz="2400" dirty="0"/>
          </a:p>
          <a:p>
            <a:pPr marL="285750" indent="-285750">
              <a:buFont typeface="Wingdings" panose="05000000000000000000" pitchFamily="2" charset="2"/>
              <a:buChar char="q"/>
            </a:pPr>
            <a:r>
              <a:rPr lang="en-GB" sz="2400" b="1" dirty="0" smtClean="0"/>
              <a:t>Security benefits</a:t>
            </a:r>
            <a:endParaRPr lang="en-GB" sz="2400" dirty="0"/>
          </a:p>
          <a:p>
            <a:endParaRPr lang="en-GB"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5885</Words>
  <Application>WPS Presentation</Application>
  <PresentationFormat>On-screen Show (4:3)</PresentationFormat>
  <Paragraphs>236</Paragraphs>
  <Slides>41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41</vt:i4>
      </vt:variant>
    </vt:vector>
  </HeadingPairs>
  <TitlesOfParts>
    <vt:vector size="49" baseType="lpstr">
      <vt:lpstr>Arial</vt:lpstr>
      <vt:lpstr>SimSun</vt:lpstr>
      <vt:lpstr>Wingdings</vt:lpstr>
      <vt:lpstr>Times New Roman</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PC</dc:creator>
  <cp:lastModifiedBy>hp</cp:lastModifiedBy>
  <cp:revision>136</cp:revision>
  <dcterms:created xsi:type="dcterms:W3CDTF">2024-01-04T04:39:00Z</dcterms:created>
  <dcterms:modified xsi:type="dcterms:W3CDTF">2024-09-21T16:14:48Z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AC82CF3F93734EFD8D3B810285B10B29_13</vt:lpwstr>
  </property>
  <property fmtid="{D5CDD505-2E9C-101B-9397-08002B2CF9AE}" pid="3" name="KSOProductBuildVer">
    <vt:lpwstr>1033-12.2.0.17562</vt:lpwstr>
  </property>
</Properties>
</file>