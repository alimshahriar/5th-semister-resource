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331" r:id="rId3"/>
    <p:sldId id="332" r:id="rId5"/>
    <p:sldId id="333" r:id="rId6"/>
    <p:sldId id="393" r:id="rId7"/>
    <p:sldId id="395" r:id="rId8"/>
    <p:sldId id="341" r:id="rId9"/>
    <p:sldId id="401" r:id="rId10"/>
    <p:sldId id="394" r:id="rId11"/>
    <p:sldId id="342" r:id="rId12"/>
    <p:sldId id="392" r:id="rId13"/>
    <p:sldId id="343" r:id="rId14"/>
    <p:sldId id="375" r:id="rId15"/>
    <p:sldId id="399" r:id="rId16"/>
    <p:sldId id="398" r:id="rId17"/>
    <p:sldId id="400" r:id="rId18"/>
    <p:sldId id="397" r:id="rId19"/>
    <p:sldId id="376" r:id="rId20"/>
    <p:sldId id="377" r:id="rId21"/>
    <p:sldId id="486" r:id="rId22"/>
    <p:sldId id="487" r:id="rId23"/>
    <p:sldId id="380" r:id="rId24"/>
    <p:sldId id="381" r:id="rId25"/>
    <p:sldId id="382" r:id="rId26"/>
    <p:sldId id="484" r:id="rId27"/>
    <p:sldId id="384" r:id="rId28"/>
    <p:sldId id="385" r:id="rId29"/>
    <p:sldId id="389" r:id="rId30"/>
  </p:sldIdLst>
  <p:sldSz cx="9144000" cy="6858000" type="screen4x3"/>
  <p:notesSz cx="6881495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7" autoAdjust="0"/>
    <p:restoredTop sz="86449" autoAdjust="0"/>
  </p:normalViewPr>
  <p:slideViewPr>
    <p:cSldViewPr snapToGrid="0" showGuides="1">
      <p:cViewPr varScale="1">
        <p:scale>
          <a:sx n="76" d="100"/>
          <a:sy n="76" d="100"/>
        </p:scale>
        <p:origin x="989" y="4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-91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algn="r"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algn="r"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338D81-83FB-4E4F-8AE3-0A0F2D9C9598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B7CF1A8-280F-4DD3-ACE3-979AB1D7F6A4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03154E-ECFF-41DF-B81A-E118E485B747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1708C47-13E5-46CD-ABC4-30EF29CD2BB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E4EFA4-EDDE-40B5-8F34-200A5FBD38F8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371644-D7DB-49E6-9E2F-2E803BDFBE6F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211ADB-50B7-4A0F-9AC3-33BF6AFA10B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137648-9649-48DE-BBE8-084DC3FAFC7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F71D646-2A68-45F8-B689-9EEC67123C3C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72B251-9BAC-4D5E-BDA4-F4D8BFCA3D04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F66081-CABE-4412-950D-832E28529A3D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1CDF0B-9784-4CB6-8964-495A1E501706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1CDF0B-9784-4CB6-8964-495A1E501706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1CDF0B-9784-4CB6-8964-495A1E501706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EA548D-5B1C-42A5-A4CA-381B943FD7F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9D9DAE-6A39-4EC9-8DC3-359099FD8B0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98D8AD-4913-4C91-930A-A0D00824A5AB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23534C-138F-454D-B2BE-792F7D09C4E7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5785BFB-6841-4129-BBA0-2384527089B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1B87DF-3437-4ADA-8919-E438371DB90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1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/>
          <p:nvPr userDrawn="1"/>
        </p:nvSpPr>
        <p:spPr bwMode="auto">
          <a:xfrm>
            <a:off x="403932" y="843367"/>
            <a:ext cx="8313938" cy="3817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 marL="742950" indent="-285750">
              <a:buFont typeface="Wingdings" panose="05000000000000000000" pitchFamily="2" charset="2"/>
              <a:buChar char="§"/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15900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4220880" y="6613525"/>
            <a:ext cx="518091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15.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302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15:  File System Internals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830518" y="138396"/>
            <a:ext cx="80470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 Outline</a:t>
            </a:r>
            <a:endParaRPr lang="en-US" altLang="en-US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836" y="969673"/>
            <a:ext cx="7583232" cy="4530725"/>
          </a:xfrm>
        </p:spPr>
        <p:txBody>
          <a:bodyPr/>
          <a:lstStyle/>
          <a:p>
            <a:r>
              <a:rPr lang="en-US" altLang="en-US" dirty="0"/>
              <a:t>File Systems</a:t>
            </a:r>
            <a:endParaRPr lang="en-US" altLang="en-US" dirty="0"/>
          </a:p>
          <a:p>
            <a:r>
              <a:rPr lang="en-US" altLang="en-US" dirty="0"/>
              <a:t>File-System Mounting</a:t>
            </a:r>
            <a:endParaRPr lang="en-US" altLang="en-US" dirty="0"/>
          </a:p>
          <a:p>
            <a:r>
              <a:rPr lang="en-US" altLang="en-US" dirty="0"/>
              <a:t>Partitions and Mounting</a:t>
            </a:r>
            <a:endParaRPr lang="en-US" altLang="en-US" dirty="0"/>
          </a:p>
          <a:p>
            <a:r>
              <a:rPr lang="en-US" altLang="en-US" dirty="0"/>
              <a:t>File Sharing</a:t>
            </a:r>
            <a:endParaRPr lang="en-US" altLang="en-US" dirty="0"/>
          </a:p>
          <a:p>
            <a:r>
              <a:rPr lang="en-US" altLang="en-US" dirty="0"/>
              <a:t>Virtual File Systems</a:t>
            </a:r>
            <a:endParaRPr lang="en-US" altLang="en-US" dirty="0"/>
          </a:p>
          <a:p>
            <a:r>
              <a:rPr lang="en-US" altLang="en-US" dirty="0"/>
              <a:t>Remote File Systems</a:t>
            </a:r>
            <a:endParaRPr lang="en-US" altLang="en-US" dirty="0"/>
          </a:p>
          <a:p>
            <a:r>
              <a:rPr lang="en-US" altLang="en-US" dirty="0"/>
              <a:t>Consistency Semantics</a:t>
            </a:r>
            <a:endParaRPr lang="en-US" altLang="en-US" dirty="0"/>
          </a:p>
          <a:p>
            <a:r>
              <a:rPr lang="en-US" altLang="en-US" dirty="0"/>
              <a:t>NFS</a:t>
            </a:r>
            <a:endParaRPr lang="en-US" altLang="en-US" dirty="0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974725" y="1531938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335901" y="1439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409" y="961140"/>
            <a:ext cx="7613777" cy="4530725"/>
          </a:xfrm>
        </p:spPr>
        <p:txBody>
          <a:bodyPr/>
          <a:lstStyle/>
          <a:p>
            <a:r>
              <a:rPr lang="en-US" altLang="en-US" dirty="0"/>
              <a:t>Delve into the details of file systems and their implementation</a:t>
            </a:r>
            <a:endParaRPr lang="en-US" altLang="en-US" dirty="0"/>
          </a:p>
          <a:p>
            <a:r>
              <a:rPr lang="en-US" altLang="en-US" dirty="0"/>
              <a:t>Explore booting and file sharing</a:t>
            </a:r>
            <a:endParaRPr lang="en-US" altLang="en-US" dirty="0"/>
          </a:p>
          <a:p>
            <a:r>
              <a:rPr lang="en-US" altLang="en-US" dirty="0"/>
              <a:t>Describe remote file systems, using NFS as an example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182357"/>
            <a:ext cx="8229600" cy="576262"/>
          </a:xfrm>
        </p:spPr>
        <p:txBody>
          <a:bodyPr/>
          <a:lstStyle/>
          <a:p>
            <a:r>
              <a:rPr lang="en-US" altLang="en-US" dirty="0"/>
              <a:t>File System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6408" y="966877"/>
            <a:ext cx="7604449" cy="4530725"/>
          </a:xfrm>
        </p:spPr>
        <p:txBody>
          <a:bodyPr/>
          <a:lstStyle/>
          <a:p>
            <a:pPr>
              <a:defRPr/>
            </a:pPr>
            <a:r>
              <a:rPr lang="en-US" dirty="0"/>
              <a:t>General-purpose computers can have multiple storage devices</a:t>
            </a:r>
            <a:endParaRPr lang="en-US" dirty="0"/>
          </a:p>
          <a:p>
            <a:pPr>
              <a:defRPr/>
            </a:pPr>
            <a:r>
              <a:rPr lang="en-US" dirty="0"/>
              <a:t>Devices can be sliced into partitions, which hold volumes</a:t>
            </a:r>
            <a:endParaRPr lang="en-US" dirty="0"/>
          </a:p>
          <a:p>
            <a:pPr>
              <a:defRPr/>
            </a:pPr>
            <a:r>
              <a:rPr lang="en-US" dirty="0"/>
              <a:t>Volumes can span multiple partitions</a:t>
            </a:r>
            <a:endParaRPr lang="en-US" dirty="0"/>
          </a:p>
          <a:p>
            <a:pPr>
              <a:defRPr/>
            </a:pPr>
            <a:r>
              <a:rPr lang="en-US" dirty="0"/>
              <a:t>Each volume usually formatted into a file system</a:t>
            </a:r>
            <a:endParaRPr lang="en-US" dirty="0"/>
          </a:p>
          <a:p>
            <a:pPr>
              <a:defRPr/>
            </a:pPr>
            <a:r>
              <a:rPr lang="en-US" dirty="0"/>
              <a:t># of file systems varies, typically dozens available to choose from</a:t>
            </a:r>
            <a:endParaRPr lang="en-US" dirty="0"/>
          </a:p>
          <a:p>
            <a:pPr>
              <a:defRPr/>
            </a:pPr>
            <a:r>
              <a:rPr lang="en-US" dirty="0"/>
              <a:t>Typical storage device organization:</a:t>
            </a:r>
            <a:endParaRPr 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dirty="0"/>
          </a:p>
        </p:txBody>
      </p:sp>
      <p:pic>
        <p:nvPicPr>
          <p:cNvPr id="1126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189" y="3275009"/>
            <a:ext cx="5652739" cy="2781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"/>
          <p:cNvSpPr>
            <a:spLocks noGrp="1" noChangeArrowheads="1"/>
          </p:cNvSpPr>
          <p:nvPr>
            <p:ph type="title"/>
          </p:nvPr>
        </p:nvSpPr>
        <p:spPr>
          <a:xfrm>
            <a:off x="1226872" y="90805"/>
            <a:ext cx="7744408" cy="576262"/>
          </a:xfrm>
        </p:spPr>
        <p:txBody>
          <a:bodyPr/>
          <a:lstStyle/>
          <a:p>
            <a:r>
              <a:rPr lang="en-US" altLang="en-US" dirty="0"/>
              <a:t>Solaris File Systems</a:t>
            </a:r>
            <a:endParaRPr lang="en-US" altLang="en-US" dirty="0"/>
          </a:p>
        </p:txBody>
      </p:sp>
      <p:pic>
        <p:nvPicPr>
          <p:cNvPr id="12290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0" y="1048347"/>
            <a:ext cx="3683000" cy="496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160885"/>
            <a:ext cx="8229600" cy="576262"/>
          </a:xfrm>
        </p:spPr>
        <p:txBody>
          <a:bodyPr/>
          <a:lstStyle/>
          <a:p>
            <a:r>
              <a:rPr lang="en-US" altLang="en-US" dirty="0"/>
              <a:t>Partitions and Mounting</a:t>
            </a:r>
            <a:endParaRPr lang="en-US" altLang="en-US" dirty="0"/>
          </a:p>
        </p:txBody>
      </p:sp>
      <p:sp>
        <p:nvSpPr>
          <p:cNvPr id="13314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85825" y="1007595"/>
            <a:ext cx="7423150" cy="4867275"/>
          </a:xfrm>
        </p:spPr>
        <p:txBody>
          <a:bodyPr/>
          <a:lstStyle/>
          <a:p>
            <a:r>
              <a:rPr lang="en-US" altLang="en-US" dirty="0"/>
              <a:t>Partition can be a volume containing a file system (</a:t>
            </a:r>
            <a:r>
              <a:rPr lang="ja-JP" altLang="en-US" dirty="0"/>
              <a:t>“</a:t>
            </a:r>
            <a:r>
              <a:rPr lang="en-US" altLang="ja-JP" dirty="0"/>
              <a:t>cooked</a:t>
            </a:r>
            <a:r>
              <a:rPr lang="ja-JP" altLang="en-US" dirty="0"/>
              <a:t>”</a:t>
            </a:r>
            <a:r>
              <a:rPr lang="en-US" altLang="ja-JP" dirty="0"/>
              <a:t>) or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– just a sequence of blocks with no file system</a:t>
            </a:r>
            <a:endParaRPr lang="en-US" altLang="ja-JP" dirty="0"/>
          </a:p>
          <a:p>
            <a:r>
              <a:rPr lang="en-US" altLang="en-US" dirty="0"/>
              <a:t>Boot block can point to boot volume or boot loader set of blocks that contain enough code to know how to load the kernel from the file system</a:t>
            </a:r>
            <a:endParaRPr lang="en-US" altLang="en-US" dirty="0"/>
          </a:p>
          <a:p>
            <a:pPr lvl="1"/>
            <a:r>
              <a:rPr lang="en-US" altLang="en-US" dirty="0"/>
              <a:t>Or a boot management program for multi-</a:t>
            </a:r>
            <a:r>
              <a:rPr lang="en-US" altLang="en-US" dirty="0" err="1"/>
              <a:t>os</a:t>
            </a:r>
            <a:r>
              <a:rPr lang="en-US" altLang="en-US" dirty="0"/>
              <a:t> booting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Root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the OS, other partitions can hold other OSes, other file systems, or be raw</a:t>
            </a:r>
            <a:endParaRPr lang="en-US" altLang="en-US" dirty="0"/>
          </a:p>
          <a:p>
            <a:pPr lvl="1"/>
            <a:r>
              <a:rPr lang="en-US" altLang="en-US" dirty="0"/>
              <a:t>Mounted at boot time</a:t>
            </a:r>
            <a:endParaRPr lang="en-US" altLang="en-US" dirty="0"/>
          </a:p>
          <a:p>
            <a:pPr lvl="1"/>
            <a:r>
              <a:rPr lang="en-US" altLang="en-US" dirty="0"/>
              <a:t>Other partitions can mount automatically or manually on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mount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points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location at which they can be accessed</a:t>
            </a:r>
            <a:endParaRPr lang="en-US" altLang="en-US" dirty="0"/>
          </a:p>
          <a:p>
            <a:r>
              <a:rPr lang="en-US" altLang="en-US" dirty="0"/>
              <a:t>At mount time, file system consistency checked</a:t>
            </a:r>
            <a:endParaRPr lang="en-US" altLang="en-US" dirty="0"/>
          </a:p>
          <a:p>
            <a:pPr lvl="1"/>
            <a:r>
              <a:rPr lang="en-US" altLang="en-US" dirty="0"/>
              <a:t>Is all metadata correct?</a:t>
            </a:r>
            <a:endParaRPr lang="en-US" altLang="en-US" dirty="0"/>
          </a:p>
          <a:p>
            <a:pPr lvl="2"/>
            <a:r>
              <a:rPr lang="en-US" altLang="en-US" dirty="0"/>
              <a:t>If not, fix it, try again</a:t>
            </a:r>
            <a:endParaRPr lang="en-US" altLang="en-US" dirty="0"/>
          </a:p>
          <a:p>
            <a:pPr lvl="2"/>
            <a:r>
              <a:rPr lang="en-US" altLang="en-US" dirty="0"/>
              <a:t>If yes, add to mount table, allow access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161365"/>
            <a:ext cx="8229600" cy="576262"/>
          </a:xfrm>
        </p:spPr>
        <p:txBody>
          <a:bodyPr/>
          <a:lstStyle/>
          <a:p>
            <a:r>
              <a:rPr lang="en-US" altLang="en-US" dirty="0"/>
              <a:t>File Systems and Mounting</a:t>
            </a:r>
            <a:endParaRPr lang="en-US" altLang="en-US" dirty="0"/>
          </a:p>
        </p:txBody>
      </p:sp>
      <p:pic>
        <p:nvPicPr>
          <p:cNvPr id="54274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21088" y="1200150"/>
            <a:ext cx="4254500" cy="2451100"/>
          </a:xfrm>
        </p:spPr>
      </p:pic>
      <p:pic>
        <p:nvPicPr>
          <p:cNvPr id="5427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488" y="3995738"/>
            <a:ext cx="1879600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30423" y="1082675"/>
            <a:ext cx="2656355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lphaLcParenBoth"/>
              <a:defRPr/>
            </a:pPr>
            <a:r>
              <a:rPr lang="en-US" dirty="0"/>
              <a:t> </a:t>
            </a:r>
            <a:r>
              <a:rPr lang="en-US" sz="1700" dirty="0"/>
              <a:t>Unix-like file   </a:t>
            </a:r>
            <a:endParaRPr lang="en-US" sz="1700" dirty="0"/>
          </a:p>
          <a:p>
            <a:pPr>
              <a:defRPr/>
            </a:pPr>
            <a:r>
              <a:rPr lang="en-US" sz="1700" dirty="0"/>
              <a:t>     system directory   </a:t>
            </a:r>
            <a:endParaRPr lang="en-US" sz="1700" dirty="0"/>
          </a:p>
          <a:p>
            <a:pPr>
              <a:defRPr/>
            </a:pPr>
            <a:r>
              <a:rPr lang="en-US" sz="1700" dirty="0"/>
              <a:t>     tree</a:t>
            </a:r>
            <a:endParaRPr lang="en-US" sz="1700" dirty="0"/>
          </a:p>
          <a:p>
            <a:pPr marL="342900" indent="-342900">
              <a:buFontTx/>
              <a:buAutoNum type="alphaLcParenBoth"/>
              <a:defRPr/>
            </a:pPr>
            <a:r>
              <a:rPr lang="en-US" sz="1700" dirty="0"/>
              <a:t> Unmounted file </a:t>
            </a:r>
            <a:endParaRPr lang="en-US" sz="1700" dirty="0"/>
          </a:p>
          <a:p>
            <a:pPr>
              <a:defRPr/>
            </a:pPr>
            <a:r>
              <a:rPr lang="en-US" sz="1700" dirty="0"/>
              <a:t>     system</a:t>
            </a:r>
            <a:endParaRPr lang="en-US" sz="1700" dirty="0"/>
          </a:p>
          <a:p>
            <a:pPr marL="342900" indent="-342900">
              <a:buFontTx/>
              <a:buAutoNum type="alphaLcParenBoth"/>
              <a:defRPr/>
            </a:pPr>
            <a:endParaRPr lang="en-US" sz="1700" dirty="0"/>
          </a:p>
          <a:p>
            <a:pPr marL="342900" indent="-342900">
              <a:buFontTx/>
              <a:buAutoNum type="alphaLcParenBoth"/>
              <a:defRPr/>
            </a:pPr>
            <a:endParaRPr lang="en-US" sz="1700" dirty="0"/>
          </a:p>
          <a:p>
            <a:pPr marL="342900" indent="-342900">
              <a:buFontTx/>
              <a:buAutoNum type="alphaLcParenBoth"/>
              <a:defRPr/>
            </a:pPr>
            <a:endParaRPr lang="en-US" sz="1700" dirty="0"/>
          </a:p>
          <a:p>
            <a:pPr marL="342900" indent="-342900">
              <a:buFontTx/>
              <a:buAutoNum type="alphaLcParenBoth"/>
              <a:defRPr/>
            </a:pPr>
            <a:endParaRPr lang="en-US" sz="1700" dirty="0"/>
          </a:p>
          <a:p>
            <a:pPr marL="342900" indent="-342900">
              <a:buFontTx/>
              <a:buAutoNum type="alphaLcParenBoth"/>
              <a:defRPr/>
            </a:pPr>
            <a:endParaRPr lang="en-US" sz="1700" dirty="0"/>
          </a:p>
          <a:p>
            <a:pPr>
              <a:defRPr/>
            </a:pPr>
            <a:endParaRPr lang="en-US" sz="1700" dirty="0"/>
          </a:p>
          <a:p>
            <a:pPr>
              <a:defRPr/>
            </a:pPr>
            <a:r>
              <a:rPr lang="en-US" sz="1700" dirty="0"/>
              <a:t>After mounting (b) into the existing directory tree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152594"/>
            <a:ext cx="8229600" cy="576262"/>
          </a:xfrm>
        </p:spPr>
        <p:txBody>
          <a:bodyPr/>
          <a:lstStyle/>
          <a:p>
            <a:r>
              <a:rPr lang="en-US" altLang="en-US" dirty="0"/>
              <a:t>File Sharing</a:t>
            </a:r>
            <a:endParaRPr lang="en-US" altLang="en-US" dirty="0"/>
          </a:p>
        </p:txBody>
      </p:sp>
      <p:sp>
        <p:nvSpPr>
          <p:cNvPr id="1433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7747" y="946803"/>
            <a:ext cx="7466628" cy="4676775"/>
          </a:xfrm>
        </p:spPr>
        <p:txBody>
          <a:bodyPr/>
          <a:lstStyle/>
          <a:p>
            <a:r>
              <a:rPr lang="en-US" altLang="en-US" dirty="0"/>
              <a:t>Allows multiple users / systems access to the same files</a:t>
            </a:r>
            <a:endParaRPr lang="en-US" altLang="en-US" dirty="0"/>
          </a:p>
          <a:p>
            <a:r>
              <a:rPr lang="en-US" altLang="en-US" dirty="0"/>
              <a:t>Permissions / protection must be implemented and accurate</a:t>
            </a:r>
            <a:endParaRPr lang="en-US" altLang="en-US" dirty="0"/>
          </a:p>
          <a:p>
            <a:pPr lvl="1"/>
            <a:r>
              <a:rPr lang="en-US" altLang="en-US" dirty="0"/>
              <a:t>Most systems provide concepts of owner, group member</a:t>
            </a:r>
            <a:endParaRPr lang="en-US" altLang="en-US" dirty="0"/>
          </a:p>
          <a:p>
            <a:pPr lvl="1"/>
            <a:r>
              <a:rPr lang="en-US" altLang="en-US" dirty="0"/>
              <a:t>Must have a way to apply these between systems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1165225" y="137352"/>
            <a:ext cx="67437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File Systems</a:t>
            </a:r>
            <a:endParaRPr lang="en-US" alt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199" y="933054"/>
            <a:ext cx="7615335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VFS</a:t>
            </a:r>
            <a:r>
              <a:rPr lang="en-US" altLang="en-US" dirty="0"/>
              <a:t>) on Unix provide an object-oriented way of implementing file systems</a:t>
            </a:r>
            <a:endParaRPr lang="en-US" altLang="en-US" dirty="0"/>
          </a:p>
          <a:p>
            <a:r>
              <a:rPr lang="en-US" altLang="en-US" dirty="0"/>
              <a:t>VFS allows the same system call interface (the API) to be used for different types of file systems</a:t>
            </a:r>
            <a:endParaRPr lang="en-US" altLang="en-US" dirty="0"/>
          </a:p>
          <a:p>
            <a:pPr lvl="1"/>
            <a:r>
              <a:rPr lang="en-US" altLang="en-US" dirty="0"/>
              <a:t>Separates file-system generic operations from implementation details</a:t>
            </a:r>
            <a:endParaRPr lang="en-US" altLang="en-US" dirty="0"/>
          </a:p>
          <a:p>
            <a:pPr lvl="1"/>
            <a:r>
              <a:rPr lang="en-US" altLang="en-US" dirty="0"/>
              <a:t>Implementation can be one of many file systems types, or network file system</a:t>
            </a:r>
            <a:endParaRPr lang="en-US" altLang="en-US" dirty="0"/>
          </a:p>
          <a:p>
            <a:pPr lvl="2"/>
            <a:r>
              <a:rPr lang="en-US" altLang="en-US" dirty="0"/>
              <a:t>Implements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vnodes</a:t>
            </a:r>
            <a:r>
              <a:rPr lang="en-US" altLang="en-US" dirty="0"/>
              <a:t> which hold inodes or network file details</a:t>
            </a:r>
            <a:endParaRPr lang="en-US" altLang="en-US" dirty="0"/>
          </a:p>
          <a:p>
            <a:pPr lvl="1"/>
            <a:r>
              <a:rPr lang="en-US" altLang="en-US" dirty="0"/>
              <a:t>Then dispatches operation to appropriate file system implementation routines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1165225" y="158165"/>
            <a:ext cx="67437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File Systems (Cont.)</a:t>
            </a:r>
            <a:endParaRPr lang="en-US" altLang="en-US" dirty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2626" y="961988"/>
            <a:ext cx="7487410" cy="1017537"/>
          </a:xfrm>
        </p:spPr>
        <p:txBody>
          <a:bodyPr/>
          <a:lstStyle/>
          <a:p>
            <a:r>
              <a:rPr lang="en-US" altLang="en-US" dirty="0"/>
              <a:t>The API is to the VFS interface, rather than any specific type of file system</a:t>
            </a:r>
            <a:endParaRPr lang="en-US" altLang="en-US" dirty="0"/>
          </a:p>
          <a:p>
            <a:r>
              <a:rPr lang="en-US" altLang="en-US" dirty="0"/>
              <a:t>Example</a:t>
            </a:r>
            <a:endParaRPr lang="en-US" altLang="en-US" dirty="0"/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365" y="2096690"/>
            <a:ext cx="41402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2"/>
          <p:cNvSpPr>
            <a:spLocks noGrp="1" noChangeArrowheads="1"/>
          </p:cNvSpPr>
          <p:nvPr>
            <p:ph type="title"/>
          </p:nvPr>
        </p:nvSpPr>
        <p:spPr>
          <a:xfrm>
            <a:off x="1182498" y="107253"/>
            <a:ext cx="7745413" cy="576262"/>
          </a:xfrm>
        </p:spPr>
        <p:txBody>
          <a:bodyPr/>
          <a:lstStyle/>
          <a:p>
            <a:r>
              <a:rPr lang="en-US" altLang="en-US" dirty="0"/>
              <a:t>Virtual File System Implementation</a:t>
            </a:r>
            <a:endParaRPr lang="en-US" altLang="en-US" dirty="0"/>
          </a:p>
        </p:txBody>
      </p:sp>
      <p:sp>
        <p:nvSpPr>
          <p:cNvPr id="19458" name="Content Placeholder 3"/>
          <p:cNvSpPr>
            <a:spLocks noGrp="1" noChangeArrowheads="1"/>
          </p:cNvSpPr>
          <p:nvPr>
            <p:ph idx="1"/>
          </p:nvPr>
        </p:nvSpPr>
        <p:spPr>
          <a:xfrm>
            <a:off x="860619" y="964643"/>
            <a:ext cx="7596188" cy="4579519"/>
          </a:xfrm>
        </p:spPr>
        <p:txBody>
          <a:bodyPr/>
          <a:lstStyle/>
          <a:p>
            <a:r>
              <a:rPr lang="en-US" altLang="en-US" dirty="0"/>
              <a:t>For example, Linux has four object types:</a:t>
            </a:r>
            <a:endParaRPr lang="en-US" altLang="en-US" dirty="0"/>
          </a:p>
          <a:p>
            <a:pPr lvl="1"/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inode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superblock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dentry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VFS defines set of operations on the objects that must be implemented</a:t>
            </a:r>
            <a:endParaRPr lang="en-US" altLang="en-US" dirty="0"/>
          </a:p>
          <a:p>
            <a:pPr lvl="1"/>
            <a:r>
              <a:rPr lang="en-US" altLang="en-US" dirty="0"/>
              <a:t>Every object has a pointer to a function table</a:t>
            </a:r>
            <a:endParaRPr lang="en-US" altLang="en-US" dirty="0"/>
          </a:p>
          <a:p>
            <a:pPr lvl="2"/>
            <a:r>
              <a:rPr lang="en-US" altLang="en-US" dirty="0"/>
              <a:t>Function table has addresses of routines to implement that function on that object</a:t>
            </a:r>
            <a:endParaRPr lang="en-US" altLang="en-US" dirty="0"/>
          </a:p>
          <a:p>
            <a:pPr lvl="2"/>
            <a:r>
              <a:rPr lang="en-US" altLang="en-US" dirty="0"/>
              <a:t>For example:</a:t>
            </a:r>
            <a:endParaRPr lang="en-US" altLang="en-US" dirty="0"/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open(. . .)</a:t>
            </a:r>
            <a:r>
              <a:rPr lang="en-US" altLang="en-US" dirty="0"/>
              <a:t>—Open a file</a:t>
            </a:r>
            <a:endParaRPr lang="en-US" altLang="en-US" dirty="0"/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close(. . .)</a:t>
            </a:r>
            <a:r>
              <a:rPr lang="en-US" altLang="en-US" dirty="0"/>
              <a:t>—Close an already-open file</a:t>
            </a:r>
            <a:endParaRPr lang="en-US" altLang="en-US" dirty="0"/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ssize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 read(. . .)</a:t>
            </a:r>
            <a:r>
              <a:rPr lang="en-US" altLang="en-US" dirty="0"/>
              <a:t>—Read from a file</a:t>
            </a:r>
            <a:endParaRPr lang="en-US" altLang="en-US" dirty="0"/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ssize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 write(. . .)</a:t>
            </a:r>
            <a:r>
              <a:rPr lang="en-US" altLang="en-US" dirty="0"/>
              <a:t>—Write to a file</a:t>
            </a:r>
            <a:endParaRPr lang="en-US" altLang="en-US" dirty="0"/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(. . .)</a:t>
            </a:r>
            <a:r>
              <a:rPr lang="en-US" altLang="en-US" dirty="0"/>
              <a:t>—Memory-map a file</a:t>
            </a:r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1209609" y="105138"/>
            <a:ext cx="720248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Remote File Systems</a:t>
            </a:r>
            <a:endParaRPr lang="en-US" altLang="en-US" dirty="0"/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5" y="920317"/>
            <a:ext cx="7665650" cy="4530725"/>
          </a:xfrm>
        </p:spPr>
        <p:txBody>
          <a:bodyPr/>
          <a:lstStyle/>
          <a:p>
            <a:r>
              <a:rPr lang="en-US" altLang="en-US" dirty="0"/>
              <a:t>Sharing of files across a network</a:t>
            </a:r>
            <a:endParaRPr lang="en-US" altLang="en-US" dirty="0"/>
          </a:p>
          <a:p>
            <a:r>
              <a:rPr lang="en-US" altLang="en-US" dirty="0"/>
              <a:t>First method involved manually sharing each file – programs like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ftp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Second method uses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distributed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DFS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Remote directories visible from local machine</a:t>
            </a:r>
            <a:endParaRPr lang="en-US" altLang="en-US" dirty="0"/>
          </a:p>
          <a:p>
            <a:r>
              <a:rPr lang="en-US" altLang="en-US" dirty="0"/>
              <a:t>Third method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World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Web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A bit of a revision to first method</a:t>
            </a:r>
            <a:endParaRPr lang="en-US" altLang="en-US" dirty="0"/>
          </a:p>
          <a:p>
            <a:pPr lvl="1"/>
            <a:r>
              <a:rPr lang="en-US" altLang="en-US" dirty="0"/>
              <a:t>Use browser to locate file/files and download /upload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dirty="0"/>
              <a:t> access doesn’t require authentication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985676" y="104421"/>
            <a:ext cx="71675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Client-Server Model</a:t>
            </a:r>
            <a:endParaRPr lang="en-US" altLang="en-US" dirty="0"/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1766" y="932044"/>
            <a:ext cx="7281473" cy="4473970"/>
          </a:xfrm>
        </p:spPr>
        <p:txBody>
          <a:bodyPr/>
          <a:lstStyle/>
          <a:p>
            <a:r>
              <a:rPr lang="en-US" altLang="en-US" dirty="0"/>
              <a:t>Sharing between a server (providing access to a file system via a network protocol) and a client (using the protocol to access the remote file system)</a:t>
            </a:r>
            <a:endParaRPr lang="en-US" altLang="en-US" dirty="0"/>
          </a:p>
          <a:p>
            <a:r>
              <a:rPr lang="en-US" altLang="en-US" dirty="0"/>
              <a:t>Identifying each other via network ID can be spoofed, encryption can be performance expensive</a:t>
            </a:r>
            <a:endParaRPr lang="en-US" altLang="en-US" dirty="0"/>
          </a:p>
          <a:p>
            <a:r>
              <a:rPr lang="en-US" altLang="en-US" dirty="0"/>
              <a:t>NFS an example</a:t>
            </a:r>
            <a:endParaRPr lang="en-US" altLang="en-US" dirty="0"/>
          </a:p>
          <a:p>
            <a:pPr lvl="1"/>
            <a:r>
              <a:rPr lang="en-US" altLang="en-US" dirty="0"/>
              <a:t>User </a:t>
            </a:r>
            <a:r>
              <a:rPr lang="en-US" altLang="en-US" dirty="0" err="1"/>
              <a:t>auth</a:t>
            </a:r>
            <a:r>
              <a:rPr lang="en-US" altLang="en-US" dirty="0"/>
              <a:t> info on clients and servers must match (</a:t>
            </a:r>
            <a:r>
              <a:rPr lang="en-US" altLang="en-US" dirty="0" err="1"/>
              <a:t>UserIDs</a:t>
            </a:r>
            <a:r>
              <a:rPr lang="en-US" altLang="en-US" dirty="0"/>
              <a:t> for example)</a:t>
            </a:r>
            <a:endParaRPr lang="en-US" altLang="en-US" dirty="0"/>
          </a:p>
          <a:p>
            <a:pPr lvl="1"/>
            <a:r>
              <a:rPr lang="en-US" altLang="en-US" dirty="0"/>
              <a:t>Remote file system mounted, file operations sent on behalf of user across network to server</a:t>
            </a:r>
            <a:endParaRPr lang="en-US" altLang="en-US" dirty="0"/>
          </a:p>
          <a:p>
            <a:pPr lvl="1"/>
            <a:r>
              <a:rPr lang="en-US" altLang="en-US" dirty="0"/>
              <a:t>Server checks permissions, file handle returned</a:t>
            </a:r>
            <a:endParaRPr lang="en-US" altLang="en-US" dirty="0"/>
          </a:p>
          <a:p>
            <a:pPr lvl="1"/>
            <a:r>
              <a:rPr lang="en-US" altLang="en-US" dirty="0"/>
              <a:t>Handle used for reads and writes until file closed</a:t>
            </a: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1265591" y="245093"/>
            <a:ext cx="7196138" cy="576262"/>
          </a:xfrm>
        </p:spPr>
        <p:txBody>
          <a:bodyPr/>
          <a:lstStyle/>
          <a:p>
            <a:pPr eaLnBrk="1" hangingPunct="1"/>
            <a:r>
              <a:rPr lang="en-GB" altLang="en-US" dirty="0"/>
              <a:t>1 </a:t>
            </a:r>
            <a:r>
              <a:rPr lang="en-US" altLang="en-US" dirty="0"/>
              <a:t>Distributed Information Systems</a:t>
            </a:r>
            <a:endParaRPr lang="en-US" altLang="en-US" dirty="0"/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78" y="974694"/>
            <a:ext cx="7432909" cy="4622237"/>
          </a:xfrm>
        </p:spPr>
        <p:txBody>
          <a:bodyPr/>
          <a:lstStyle/>
          <a:p>
            <a:r>
              <a:rPr lang="en-US" altLang="en-US" dirty="0"/>
              <a:t>Aka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distributed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naming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services</a:t>
            </a:r>
            <a:r>
              <a:rPr lang="en-US" altLang="en-US" dirty="0"/>
              <a:t>, provide unified access to info needed for remote computing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name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DNS</a:t>
            </a:r>
            <a:r>
              <a:rPr lang="en-US" altLang="en-US" dirty="0"/>
              <a:t>) provides host-name-to-network-address translations for the Internet</a:t>
            </a:r>
            <a:endParaRPr lang="en-US" altLang="en-US" dirty="0"/>
          </a:p>
          <a:p>
            <a:r>
              <a:rPr lang="en-US" altLang="en-US" dirty="0"/>
              <a:t>Others like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network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information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service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NIS</a:t>
            </a:r>
            <a:r>
              <a:rPr lang="en-US" altLang="en-US" dirty="0"/>
              <a:t>) provide user-name, password, </a:t>
            </a:r>
            <a:r>
              <a:rPr lang="en-US" altLang="en-US" dirty="0" err="1"/>
              <a:t>userID</a:t>
            </a:r>
            <a:r>
              <a:rPr lang="en-US" altLang="en-US" dirty="0"/>
              <a:t>, group information</a:t>
            </a:r>
            <a:endParaRPr lang="en-US" altLang="en-US" dirty="0"/>
          </a:p>
          <a:p>
            <a:r>
              <a:rPr lang="en-US" altLang="en-US" dirty="0"/>
              <a:t>Microsoft’s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CIFS</a:t>
            </a:r>
            <a:r>
              <a:rPr lang="en-US" altLang="en-US" dirty="0"/>
              <a:t>) network info used with user </a:t>
            </a:r>
            <a:r>
              <a:rPr lang="en-US" altLang="en-US" dirty="0" err="1"/>
              <a:t>auth</a:t>
            </a:r>
            <a:r>
              <a:rPr lang="en-US" altLang="en-US" dirty="0"/>
              <a:t> to create network logins that server uses to allow to deny access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distributed naming service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Kerberos-derived</a:t>
            </a:r>
            <a:r>
              <a:rPr lang="en-US" altLang="en-US" dirty="0"/>
              <a:t> network authentication protocol</a:t>
            </a:r>
            <a:endParaRPr lang="en-US" altLang="en-US" dirty="0"/>
          </a:p>
          <a:p>
            <a:r>
              <a:rPr lang="en-US" altLang="en-US" dirty="0"/>
              <a:t>Industry moving toward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lightweight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directory-access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protocol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LDAP</a:t>
            </a:r>
            <a:r>
              <a:rPr lang="en-US" altLang="en-US" dirty="0"/>
              <a:t>) as secure distributed naming mechanism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1209609" y="134563"/>
            <a:ext cx="7196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Consistency Semantics</a:t>
            </a:r>
            <a:endParaRPr lang="en-US" alt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4" y="934496"/>
            <a:ext cx="7612026" cy="4692582"/>
          </a:xfrm>
        </p:spPr>
        <p:txBody>
          <a:bodyPr/>
          <a:lstStyle/>
          <a:p>
            <a:pPr>
              <a:defRPr/>
            </a:pPr>
            <a:r>
              <a:rPr lang="en-US" altLang="en-US" sz="1600" dirty="0"/>
              <a:t>Important criteria for evaluating file sharing-file systems</a:t>
            </a:r>
            <a:endParaRPr lang="en-US" altLang="en-US" sz="1600" dirty="0"/>
          </a:p>
          <a:p>
            <a:pPr>
              <a:defRPr/>
            </a:pPr>
            <a:r>
              <a:rPr lang="en-US" altLang="en-US" sz="1600" dirty="0"/>
              <a:t>Specify how multiple users are to access shared file simultaneously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When modifications of data will be observed by other users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Directly related to process synchronization algorithms, but atomicity across a network has high overhead (see Andrew File System)</a:t>
            </a:r>
            <a:endParaRPr lang="en-US" altLang="en-US" sz="1600" dirty="0"/>
          </a:p>
          <a:p>
            <a:pPr>
              <a:defRPr/>
            </a:pPr>
            <a:r>
              <a:rPr lang="en-US" altLang="en-US" sz="1600" dirty="0"/>
              <a:t>The series of accesses between file open and closed called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session</a:t>
            </a:r>
            <a:endParaRPr lang="en-US" altLang="en-US" sz="1600" b="1" dirty="0">
              <a:solidFill>
                <a:srgbClr val="006699"/>
              </a:solidFill>
              <a:latin typeface="+mj-lt"/>
            </a:endParaRPr>
          </a:p>
          <a:p>
            <a:pPr>
              <a:defRPr/>
            </a:pPr>
            <a:r>
              <a:rPr lang="en-US" altLang="en-US" sz="1600" dirty="0"/>
              <a:t>UNIX semantics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Writes to open file immediately visible to others with file open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One mode of sharing allows users to share pointer to current I/O location in file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Single physical image, accessed exclusively, contention causes process delays</a:t>
            </a:r>
            <a:endParaRPr lang="en-US" altLang="en-US" sz="1600" dirty="0"/>
          </a:p>
          <a:p>
            <a:pPr>
              <a:defRPr/>
            </a:pPr>
            <a:r>
              <a:rPr lang="en-US" altLang="en-US" sz="1600" dirty="0"/>
              <a:t>Session semantics (Andrew file system (</a:t>
            </a:r>
            <a:r>
              <a:rPr lang="en-US" altLang="en-US" sz="1600" dirty="0" err="1"/>
              <a:t>OpenAFS</a:t>
            </a:r>
            <a:r>
              <a:rPr lang="en-US" altLang="en-US" sz="1600" dirty="0"/>
              <a:t>))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Writes to open file not visible during session, only at close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Can be several copies, each changed independently </a:t>
            </a:r>
            <a:endParaRPr lang="en-US" altLang="en-US" sz="1600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548" y="153942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The Sun Network File System (NFS)</a:t>
            </a:r>
            <a:endParaRPr lang="en-US" altLang="en-US" dirty="0"/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154" y="952137"/>
            <a:ext cx="6882270" cy="4463925"/>
          </a:xfrm>
        </p:spPr>
        <p:txBody>
          <a:bodyPr/>
          <a:lstStyle/>
          <a:p>
            <a:r>
              <a:rPr lang="en-US" altLang="en-US" dirty="0"/>
              <a:t>An implementation and a specification of a software system for accessing remote files across LANs (or WANs)</a:t>
            </a:r>
            <a:endParaRPr lang="en-US" altLang="en-US" dirty="0"/>
          </a:p>
          <a:p>
            <a:r>
              <a:rPr lang="en-US" altLang="en-US" dirty="0"/>
              <a:t>The implementation originally part of SunOS operating system, now industry standard / very common</a:t>
            </a:r>
            <a:endParaRPr lang="en-US" altLang="en-US" dirty="0"/>
          </a:p>
          <a:p>
            <a:r>
              <a:rPr lang="en-US" altLang="en-US" dirty="0"/>
              <a:t>Can use unreliable datagram protocol (UDP/IP) or TCP/IP, over Ethernet or other networks</a:t>
            </a: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718064" y="111676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(Cont.)</a:t>
            </a:r>
            <a:endParaRPr lang="en-US" altLang="en-US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760" y="924451"/>
            <a:ext cx="7619089" cy="45282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Interconnected workstations viewed as a set of independent machines with independent file systems, which allows sharing among these file systems in a transparent manner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 remote directory is mounted over a local file system directory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The mounted directory looks like an integral subtree of the local file system, replacing the subtree descending from the local directory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Specification of the remote directory for the mount operation is nontransparent; the host name of the remote directory has to be provided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Files in the remote directory can then be accessed in a transparent manner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Subject to access-rights accreditation, potentially any file system (or directory within a file system), can be mounted remotely on top of any local directory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4524" y="14740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(Cont.)</a:t>
            </a:r>
            <a:endParaRPr lang="en-US" alt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328" y="952143"/>
            <a:ext cx="7118821" cy="4484016"/>
          </a:xfrm>
        </p:spPr>
        <p:txBody>
          <a:bodyPr/>
          <a:lstStyle/>
          <a:p>
            <a:r>
              <a:rPr lang="en-US" altLang="en-US" dirty="0"/>
              <a:t>NFS is designed to operate in a heterogeneous environment of different machines, operating systems, and network architectures; the NFS specifications independent of these media</a:t>
            </a:r>
            <a:endParaRPr lang="en-US" altLang="en-US" dirty="0"/>
          </a:p>
          <a:p>
            <a:r>
              <a:rPr lang="en-US" altLang="en-US" dirty="0"/>
              <a:t>This independence is achieved through the use of RPC primitives built on top of an External Data Representation (XDR) protocol used between two implementation-independent interfaces</a:t>
            </a:r>
            <a:endParaRPr lang="en-US" altLang="en-US" dirty="0"/>
          </a:p>
          <a:p>
            <a:r>
              <a:rPr lang="en-US" altLang="en-US" dirty="0"/>
              <a:t>The NFS specification distinguishes between the services provided by a mount mechanism and the actual remote-file-access services </a:t>
            </a: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4524" y="14740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Mounting Example</a:t>
            </a:r>
            <a:endParaRPr lang="en-US" alt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328" y="952143"/>
            <a:ext cx="7118821" cy="4484016"/>
          </a:xfrm>
        </p:spPr>
        <p:txBody>
          <a:bodyPr/>
          <a:lstStyle/>
          <a:p>
            <a:r>
              <a:rPr lang="en-US" altLang="en-US" dirty="0"/>
              <a:t>Three independent file systems</a:t>
            </a:r>
            <a:endParaRPr lang="en-US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956" y="1467064"/>
            <a:ext cx="5060870" cy="2524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816068" y="14740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Mounting Example (Cont.)</a:t>
            </a:r>
            <a:endParaRPr lang="en-US" alt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328" y="952143"/>
            <a:ext cx="7118821" cy="4484016"/>
          </a:xfrm>
        </p:spPr>
        <p:txBody>
          <a:bodyPr/>
          <a:lstStyle/>
          <a:p>
            <a:r>
              <a:rPr lang="en-US" altLang="en-US" dirty="0"/>
              <a:t>Mounts and cascading mounts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096" y="1541921"/>
            <a:ext cx="3853682" cy="2911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437026" y="4767585"/>
            <a:ext cx="1025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Mounts</a:t>
            </a:r>
            <a:endParaRPr kumimoji="0" lang="en-US" altLang="en-US" sz="2000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377287" y="4771804"/>
            <a:ext cx="2308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Cascading mounts</a:t>
            </a:r>
            <a:endParaRPr kumimoji="0" lang="en-US" alt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898490" y="110534"/>
            <a:ext cx="7713662" cy="582982"/>
          </a:xfrm>
        </p:spPr>
        <p:txBody>
          <a:bodyPr/>
          <a:lstStyle/>
          <a:p>
            <a:pPr eaLnBrk="1" hangingPunct="1"/>
            <a:r>
              <a:rPr lang="en-US" altLang="en-US" dirty="0"/>
              <a:t>NFS Mount Protocol</a:t>
            </a:r>
            <a:endParaRPr lang="en-US" altLang="en-US" dirty="0"/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030" y="924452"/>
            <a:ext cx="7612158" cy="4880080"/>
          </a:xfrm>
        </p:spPr>
        <p:txBody>
          <a:bodyPr/>
          <a:lstStyle/>
          <a:p>
            <a:r>
              <a:rPr lang="en-US" altLang="en-US" dirty="0"/>
              <a:t>Establishes</a:t>
            </a:r>
            <a:r>
              <a:rPr lang="en-US" altLang="en-US" sz="1600" dirty="0"/>
              <a:t> </a:t>
            </a:r>
            <a:r>
              <a:rPr lang="en-US" altLang="en-US" dirty="0"/>
              <a:t>initial logical connection between server and client</a:t>
            </a:r>
            <a:endParaRPr lang="en-US" altLang="en-US" dirty="0"/>
          </a:p>
          <a:p>
            <a:r>
              <a:rPr lang="en-US" altLang="en-US" dirty="0"/>
              <a:t>Mount operation includes name of remote directory to be mounted and name of server machine storing it</a:t>
            </a:r>
            <a:endParaRPr lang="en-US" altLang="en-US" dirty="0"/>
          </a:p>
          <a:p>
            <a:pPr lvl="1"/>
            <a:r>
              <a:rPr lang="en-US" altLang="en-US" dirty="0"/>
              <a:t>Mount request is mapped to corresponding RPC and forwarded to mount server running on server machine </a:t>
            </a:r>
            <a:endParaRPr lang="en-US" altLang="en-US" dirty="0"/>
          </a:p>
          <a:p>
            <a:pPr lvl="1"/>
            <a:r>
              <a:rPr lang="en-US" altLang="en-US" dirty="0"/>
              <a:t>Export list – specifies local file systems that server exports for mounting, along with names of machines that are permitted to mount them </a:t>
            </a:r>
            <a:endParaRPr lang="en-US" altLang="en-US" dirty="0"/>
          </a:p>
          <a:p>
            <a:r>
              <a:rPr lang="en-US" altLang="en-US" dirty="0"/>
              <a:t>Following a mount request that conforms to its export list, the server returns a file handle—a key for further accesses</a:t>
            </a:r>
            <a:endParaRPr lang="en-US" altLang="en-US" dirty="0"/>
          </a:p>
          <a:p>
            <a:r>
              <a:rPr lang="en-US" altLang="en-US" dirty="0"/>
              <a:t>File handle – a file-system identifier, and an </a:t>
            </a:r>
            <a:r>
              <a:rPr lang="en-US" altLang="en-US" dirty="0" err="1"/>
              <a:t>inode</a:t>
            </a:r>
            <a:r>
              <a:rPr lang="en-US" altLang="en-US" dirty="0"/>
              <a:t> number to identify the mounted directory within the exported file system</a:t>
            </a:r>
            <a:endParaRPr lang="en-US" altLang="en-US" dirty="0"/>
          </a:p>
          <a:p>
            <a:r>
              <a:rPr lang="en-US" altLang="en-US" dirty="0"/>
              <a:t>The mount operation changes only the user</a:t>
            </a:r>
            <a:r>
              <a:rPr lang="ja-JP" altLang="en-US" dirty="0"/>
              <a:t>’</a:t>
            </a:r>
            <a:r>
              <a:rPr lang="en-US" altLang="ja-JP" dirty="0"/>
              <a:t>s view and does not affect the server side </a:t>
            </a: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788793" y="13249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Protocol</a:t>
            </a:r>
            <a:endParaRPr lang="en-US" altLang="en-US" dirty="0"/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947323"/>
            <a:ext cx="7285090" cy="458931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Provides a set of remote procedure calls for remote file operations.  The procedures support the following operations: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searching for a file within a directory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reading a set of directory entries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manipulating links and directories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accessing file attributes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reading and writing files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NFS servers are </a:t>
            </a:r>
            <a:r>
              <a:rPr lang="en-US" altLang="en-US" b="1" dirty="0"/>
              <a:t>stateless</a:t>
            </a:r>
            <a:r>
              <a:rPr lang="en-US" altLang="en-US" dirty="0"/>
              <a:t>; each request has to provide a full set of arguments  (NFS V4 is newer, less used – very different, stateful)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Modified data must be committed to the server</a:t>
            </a:r>
            <a:r>
              <a:rPr lang="ja-JP" altLang="en-US" dirty="0"/>
              <a:t>’</a:t>
            </a:r>
            <a:r>
              <a:rPr lang="en-US" altLang="ja-JP" dirty="0"/>
              <a:t>s disk before results are returned to the client (lose advantages of caching)</a:t>
            </a:r>
            <a:endParaRPr lang="en-US" altLang="ja-JP" dirty="0"/>
          </a:p>
          <a:p>
            <a:pPr>
              <a:lnSpc>
                <a:spcPct val="90000"/>
              </a:lnSpc>
            </a:pPr>
            <a:r>
              <a:rPr lang="en-US" altLang="en-US" dirty="0"/>
              <a:t>The NFS protocol does not provide concurrency-control mechanisms</a:t>
            </a: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1091204" y="267373"/>
            <a:ext cx="8047038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Three Major Layers of NFS Architecture </a:t>
            </a:r>
            <a:endParaRPr lang="en-US" altLang="en-US" sz="2800" dirty="0"/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79" y="954594"/>
            <a:ext cx="7171652" cy="4612193"/>
          </a:xfrm>
        </p:spPr>
        <p:txBody>
          <a:bodyPr/>
          <a:lstStyle/>
          <a:p>
            <a:r>
              <a:rPr lang="en-US" altLang="en-US" dirty="0"/>
              <a:t>UNIX file-system interface (based on the </a:t>
            </a:r>
            <a:r>
              <a:rPr lang="en-US" altLang="en-US" b="1" dirty="0"/>
              <a:t>open, read, write</a:t>
            </a:r>
            <a:r>
              <a:rPr lang="en-US" altLang="en-US" dirty="0"/>
              <a:t>, and </a:t>
            </a:r>
            <a:r>
              <a:rPr lang="en-US" altLang="en-US" b="1" dirty="0"/>
              <a:t>close</a:t>
            </a:r>
            <a:r>
              <a:rPr lang="en-US" altLang="en-US" dirty="0"/>
              <a:t> calls, and </a:t>
            </a:r>
            <a:r>
              <a:rPr lang="en-US" altLang="en-US" b="1" dirty="0"/>
              <a:t>file descriptors</a:t>
            </a:r>
            <a:r>
              <a:rPr lang="en-US" altLang="en-US" dirty="0"/>
              <a:t>)</a:t>
            </a:r>
            <a:endParaRPr lang="en-US" altLang="en-US" dirty="0"/>
          </a:p>
          <a:p>
            <a:r>
              <a:rPr lang="en-US" altLang="en-US" dirty="0"/>
              <a:t>Virtual File System (VFS) layer – distinguishes local files from remote ones, and local files are further distinguished according to their file-system types</a:t>
            </a:r>
            <a:endParaRPr lang="en-US" altLang="en-US" dirty="0"/>
          </a:p>
          <a:p>
            <a:pPr lvl="1"/>
            <a:r>
              <a:rPr lang="en-US" altLang="en-US" dirty="0"/>
              <a:t>The VFS activates file-system-specific operations to handle local requests according to their file-system types </a:t>
            </a:r>
            <a:endParaRPr lang="en-US" altLang="en-US" dirty="0"/>
          </a:p>
          <a:p>
            <a:pPr lvl="1"/>
            <a:r>
              <a:rPr lang="en-US" altLang="en-US" dirty="0"/>
              <a:t>Calls the NFS protocol procedures for remote requests</a:t>
            </a:r>
            <a:endParaRPr lang="en-US" altLang="en-US" dirty="0"/>
          </a:p>
          <a:p>
            <a:r>
              <a:rPr lang="en-US" altLang="en-US" dirty="0"/>
              <a:t>NFS service layer – bottom layer of the architecture</a:t>
            </a:r>
            <a:endParaRPr lang="en-US" altLang="en-US" dirty="0"/>
          </a:p>
          <a:p>
            <a:pPr lvl="1"/>
            <a:r>
              <a:rPr lang="en-US" altLang="en-US" dirty="0"/>
              <a:t>Implements the NFS protocol</a:t>
            </a: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25417" y="114787"/>
            <a:ext cx="8269791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Schematic View of NFS Architecture </a:t>
            </a:r>
            <a:endParaRPr lang="en-US" altLang="en-US" sz="30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770" y="1075174"/>
            <a:ext cx="5489366" cy="370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83" y="157448"/>
            <a:ext cx="7654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Path-Name Translation</a:t>
            </a:r>
            <a:endParaRPr lang="en-US" altLang="en-US" dirty="0"/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6" y="1014885"/>
            <a:ext cx="7080500" cy="4561950"/>
          </a:xfrm>
        </p:spPr>
        <p:txBody>
          <a:bodyPr/>
          <a:lstStyle/>
          <a:p>
            <a:r>
              <a:rPr lang="en-US" altLang="en-US" dirty="0"/>
              <a:t>Performed by breaking the path into component names and performing a separate NFS lookup call for every pair of component name and directory </a:t>
            </a:r>
            <a:r>
              <a:rPr lang="en-US" altLang="en-US" dirty="0" err="1"/>
              <a:t>vnode</a:t>
            </a:r>
            <a:endParaRPr lang="en-US" altLang="en-US" dirty="0"/>
          </a:p>
          <a:p>
            <a:r>
              <a:rPr lang="en-US" altLang="en-US" dirty="0"/>
              <a:t>To make lookup faster, a directory name lookup cache on the client</a:t>
            </a:r>
            <a:r>
              <a:rPr lang="ja-JP" altLang="en-US" dirty="0"/>
              <a:t>’</a:t>
            </a:r>
            <a:r>
              <a:rPr lang="en-US" altLang="ja-JP" dirty="0"/>
              <a:t>s side holds the </a:t>
            </a:r>
            <a:r>
              <a:rPr lang="en-US" altLang="ja-JP" dirty="0" err="1"/>
              <a:t>vnodes</a:t>
            </a:r>
            <a:r>
              <a:rPr lang="en-US" altLang="ja-JP" dirty="0"/>
              <a:t> for remote directory names</a:t>
            </a: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969311" y="160777"/>
            <a:ext cx="7596187" cy="550050"/>
          </a:xfrm>
        </p:spPr>
        <p:txBody>
          <a:bodyPr/>
          <a:lstStyle/>
          <a:p>
            <a:pPr eaLnBrk="1" hangingPunct="1"/>
            <a:r>
              <a:rPr lang="en-US" altLang="en-US" dirty="0"/>
              <a:t>NFS Remote Operations</a:t>
            </a:r>
            <a:endParaRPr lang="en-US" altLang="en-US" dirty="0"/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7" y="952138"/>
            <a:ext cx="7311611" cy="4896003"/>
          </a:xfrm>
        </p:spPr>
        <p:txBody>
          <a:bodyPr/>
          <a:lstStyle/>
          <a:p>
            <a:r>
              <a:rPr lang="en-US" altLang="en-US" dirty="0"/>
              <a:t>Nearly one-to-one correspondence between regular UNIX  system calls and the NFS protocol RPCs (except opening and closing files)</a:t>
            </a:r>
            <a:endParaRPr lang="en-US" altLang="en-US" sz="800" dirty="0"/>
          </a:p>
          <a:p>
            <a:r>
              <a:rPr lang="en-US" altLang="en-US" dirty="0"/>
              <a:t>NFS adheres to the remote-service paradigm, but employs buffering and caching techniques for the sake of performance </a:t>
            </a:r>
            <a:endParaRPr lang="en-US" altLang="en-US" sz="800" dirty="0"/>
          </a:p>
          <a:p>
            <a:r>
              <a:rPr lang="en-US" altLang="en-US" dirty="0"/>
              <a:t>File-blocks cache – when a file is opened, the kernel checks with the remote server whether to fetch or revalidate the cached attributes</a:t>
            </a:r>
            <a:endParaRPr lang="en-US" altLang="en-US" dirty="0"/>
          </a:p>
          <a:p>
            <a:pPr lvl="1"/>
            <a:r>
              <a:rPr lang="en-US" altLang="en-US" dirty="0"/>
              <a:t>Cached file blocks are used only if the corresponding cached attributes are up to date</a:t>
            </a:r>
            <a:endParaRPr lang="en-US" altLang="en-US" sz="800" dirty="0"/>
          </a:p>
          <a:p>
            <a:r>
              <a:rPr lang="en-US" altLang="en-US" dirty="0"/>
              <a:t>File-attribute cache – the attribute cache is updated whenever new attributes arrive from the server</a:t>
            </a:r>
            <a:endParaRPr lang="en-US" altLang="en-US" sz="800" dirty="0"/>
          </a:p>
          <a:p>
            <a:r>
              <a:rPr lang="en-US" altLang="en-US" dirty="0"/>
              <a:t>Clients do not free delayed-write blocks until the server confirms that the data have been written to disk</a:t>
            </a: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15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9840</Words>
  <Application>WPS Presentation</Application>
  <PresentationFormat>On-screen Show (4:3)</PresentationFormat>
  <Paragraphs>238</Paragraphs>
  <Slides>27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SimSun</vt:lpstr>
      <vt:lpstr>Wingdings</vt:lpstr>
      <vt:lpstr>Verdana</vt:lpstr>
      <vt:lpstr>MS PGothic</vt:lpstr>
      <vt:lpstr>Times New Roman</vt:lpstr>
      <vt:lpstr>Helvetica</vt:lpstr>
      <vt:lpstr>Webdings</vt:lpstr>
      <vt:lpstr>Monotype Sorts</vt:lpstr>
      <vt:lpstr>Wingdings</vt:lpstr>
      <vt:lpstr>Microsoft YaHei</vt:lpstr>
      <vt:lpstr>Arial Unicode MS</vt:lpstr>
      <vt:lpstr>Courier New</vt:lpstr>
      <vt:lpstr>os-8</vt:lpstr>
      <vt:lpstr>Chapter 15:  File System Internals</vt:lpstr>
      <vt:lpstr> Outline</vt:lpstr>
      <vt:lpstr>Objectives</vt:lpstr>
      <vt:lpstr>File System</vt:lpstr>
      <vt:lpstr>Solaris File Systems</vt:lpstr>
      <vt:lpstr>Partitions and Mounting</vt:lpstr>
      <vt:lpstr>File Systems and Mounting</vt:lpstr>
      <vt:lpstr>File Sharing</vt:lpstr>
      <vt:lpstr>Virtual File Systems</vt:lpstr>
      <vt:lpstr>Virtual File Systems (Cont.)</vt:lpstr>
      <vt:lpstr>Virtual File System Implementation</vt:lpstr>
      <vt:lpstr>Remote File Systems</vt:lpstr>
      <vt:lpstr>Client-Server Model</vt:lpstr>
      <vt:lpstr>Distributed Information Systems</vt:lpstr>
      <vt:lpstr>Consistency Semantics</vt:lpstr>
      <vt:lpstr>The Sun Network File System (NFS)</vt:lpstr>
      <vt:lpstr>NFS (Cont.)</vt:lpstr>
      <vt:lpstr>NFS (Cont.)</vt:lpstr>
      <vt:lpstr>NFS Mounting Example</vt:lpstr>
      <vt:lpstr>NFS Mounting Example (Cont.)</vt:lpstr>
      <vt:lpstr>NFS Mount Protocol</vt:lpstr>
      <vt:lpstr>NFS Protocol</vt:lpstr>
      <vt:lpstr>Three Major Layers of NFS Architecture </vt:lpstr>
      <vt:lpstr>Schematic View of NFS Architecture </vt:lpstr>
      <vt:lpstr>NFS Path-Name Translation</vt:lpstr>
      <vt:lpstr>NFS Remote Operations</vt:lpstr>
      <vt:lpstr>End of Chapter 15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PC</cp:lastModifiedBy>
  <cp:revision>293</cp:revision>
  <cp:lastPrinted>2001-06-14T13:58:00Z</cp:lastPrinted>
  <dcterms:created xsi:type="dcterms:W3CDTF">2011-01-13T23:43:00Z</dcterms:created>
  <dcterms:modified xsi:type="dcterms:W3CDTF">2024-05-16T01:26:13Z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678257107FD54659A96782DE4AEAD0DA_12</vt:lpwstr>
  </property>
  <property fmtid="{D5CDD505-2E9C-101B-9397-08002B2CF9AE}" pid="3" name="KSOProductBuildVer">
    <vt:lpwstr>2057-12.2.0.16909</vt:lpwstr>
  </property>
</Properties>
</file>