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68"/>
  </p:handoutMasterIdLst>
  <p:sldIdLst>
    <p:sldId id="331" r:id="rId3"/>
    <p:sldId id="332" r:id="rId5"/>
    <p:sldId id="333" r:id="rId6"/>
    <p:sldId id="334" r:id="rId7"/>
    <p:sldId id="335" r:id="rId8"/>
    <p:sldId id="336" r:id="rId9"/>
    <p:sldId id="340" r:id="rId10"/>
    <p:sldId id="341" r:id="rId11"/>
    <p:sldId id="403" r:id="rId12"/>
    <p:sldId id="404" r:id="rId13"/>
    <p:sldId id="342" r:id="rId14"/>
    <p:sldId id="348" r:id="rId15"/>
    <p:sldId id="399" r:id="rId16"/>
    <p:sldId id="349" r:id="rId17"/>
    <p:sldId id="350" r:id="rId18"/>
    <p:sldId id="351" r:id="rId19"/>
    <p:sldId id="352" r:id="rId20"/>
    <p:sldId id="353" r:id="rId21"/>
    <p:sldId id="360" r:id="rId22"/>
    <p:sldId id="361" r:id="rId23"/>
    <p:sldId id="362" r:id="rId24"/>
    <p:sldId id="363" r:id="rId25"/>
    <p:sldId id="419" r:id="rId26"/>
    <p:sldId id="365" r:id="rId27"/>
    <p:sldId id="366" r:id="rId28"/>
    <p:sldId id="367" r:id="rId29"/>
    <p:sldId id="400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8" r:id="rId39"/>
    <p:sldId id="376" r:id="rId40"/>
    <p:sldId id="379" r:id="rId41"/>
    <p:sldId id="380" r:id="rId42"/>
    <p:sldId id="381" r:id="rId43"/>
    <p:sldId id="382" r:id="rId44"/>
    <p:sldId id="383" r:id="rId45"/>
    <p:sldId id="384" r:id="rId46"/>
    <p:sldId id="385" r:id="rId47"/>
    <p:sldId id="460" r:id="rId48"/>
    <p:sldId id="386" r:id="rId49"/>
    <p:sldId id="401" r:id="rId50"/>
    <p:sldId id="431" r:id="rId51"/>
    <p:sldId id="432" r:id="rId52"/>
    <p:sldId id="433" r:id="rId53"/>
    <p:sldId id="434" r:id="rId54"/>
    <p:sldId id="435" r:id="rId55"/>
    <p:sldId id="436" r:id="rId56"/>
    <p:sldId id="437" r:id="rId57"/>
    <p:sldId id="438" r:id="rId58"/>
    <p:sldId id="439" r:id="rId59"/>
    <p:sldId id="440" r:id="rId60"/>
    <p:sldId id="441" r:id="rId61"/>
    <p:sldId id="442" r:id="rId62"/>
    <p:sldId id="443" r:id="rId63"/>
    <p:sldId id="444" r:id="rId64"/>
    <p:sldId id="445" r:id="rId65"/>
    <p:sldId id="446" r:id="rId66"/>
    <p:sldId id="395" r:id="rId67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140" y="9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ctr" anchorCtr="0" compatLnSpc="1"/>
          <a:lstStyle>
            <a:lvl1pPr algn="r"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defTabSz="883285">
              <a:defRPr sz="1100"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61" tIns="44132" rIns="88261" bIns="44132" numCol="1" anchor="b" anchorCtr="0" compatLnSpc="1"/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>
            <a:lvl1pPr algn="r"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60" tIns="46580" rIns="93160" bIns="46580" numCol="1" anchor="b" anchorCtr="0" compatLnSpc="1"/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336699"/>
              </a:solidFill>
              <a:latin typeface="Helvetica" panose="020B0604020202020204" pitchFamily="34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3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5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e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  <a:endParaRPr lang="en-US" altLang="en-US" dirty="0"/>
          </a:p>
          <a:p>
            <a:r>
              <a:rPr lang="en-US" altLang="en-US" dirty="0"/>
              <a:t>Contiguous Memory Allocation</a:t>
            </a:r>
            <a:endParaRPr lang="en-US" altLang="en-US" dirty="0"/>
          </a:p>
          <a:p>
            <a:r>
              <a:rPr lang="en-US" altLang="en-US" dirty="0"/>
              <a:t>Paging</a:t>
            </a:r>
            <a:endParaRPr lang="en-US" altLang="en-US" dirty="0"/>
          </a:p>
          <a:p>
            <a:r>
              <a:rPr lang="en-US" altLang="en-US" dirty="0"/>
              <a:t>Structure of the Page Table</a:t>
            </a:r>
            <a:endParaRPr lang="en-US" altLang="en-US" dirty="0"/>
          </a:p>
          <a:p>
            <a:r>
              <a:rPr lang="en-US" altLang="en-US" dirty="0"/>
              <a:t>Swapping</a:t>
            </a:r>
            <a:endParaRPr lang="en-US" altLang="en-US" dirty="0"/>
          </a:p>
          <a:p>
            <a:r>
              <a:rPr lang="en-US" altLang="en-US" dirty="0"/>
              <a:t>Example: The Intel 32 and 64-bit Architectures</a:t>
            </a:r>
            <a:endParaRPr lang="en-US" altLang="en-US" dirty="0"/>
          </a:p>
          <a:p>
            <a:r>
              <a:rPr lang="en-US" altLang="en-US" dirty="0"/>
              <a:t>Example: ARMv8 Architecture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  <a:endParaRPr lang="en-US" altLang="en-US" dirty="0"/>
          </a:p>
          <a:p>
            <a:r>
              <a:rPr lang="en-US" altLang="en-US" dirty="0"/>
              <a:t>To discuss various memory-management techniques, </a:t>
            </a:r>
            <a:endParaRPr lang="en-US" altLang="en-US" dirty="0"/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  <a:endParaRPr lang="en-US" altLang="en-US" dirty="0"/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Program</a:t>
            </a:r>
            <a:r>
              <a:rPr lang="en-US" altLang="en-US" dirty="0"/>
              <a:t>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>
                <a:solidFill>
                  <a:srgbClr val="FF0000"/>
                </a:solidFill>
              </a:rPr>
              <a:t>Main memory </a:t>
            </a:r>
            <a:r>
              <a:rPr lang="en-US" altLang="en-US" dirty="0"/>
              <a:t>and </a:t>
            </a:r>
            <a:r>
              <a:rPr lang="en-US" altLang="en-US" dirty="0">
                <a:solidFill>
                  <a:srgbClr val="FF0000"/>
                </a:solidFill>
              </a:rPr>
              <a:t>registers</a:t>
            </a:r>
            <a:r>
              <a:rPr lang="en-US" altLang="en-US" dirty="0"/>
              <a:t> are only storage CPU can access directly</a:t>
            </a:r>
            <a:endParaRPr lang="en-US" altLang="en-US" dirty="0"/>
          </a:p>
          <a:p>
            <a:r>
              <a:rPr lang="en-US" altLang="en-US" dirty="0"/>
              <a:t>Memory unit only sees a stream of:</a:t>
            </a:r>
            <a:endParaRPr lang="en-US" altLang="en-US" dirty="0"/>
          </a:p>
          <a:p>
            <a:pPr lvl="1"/>
            <a:r>
              <a:rPr lang="en-US" altLang="en-US" dirty="0"/>
              <a:t>addresses + read requests, or </a:t>
            </a:r>
            <a:endParaRPr lang="en-US" altLang="en-US" dirty="0"/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stall</a:t>
            </a:r>
            <a:endParaRPr lang="en-US" altLang="en-US" b="1" i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b="1" i="1" dirty="0">
                <a:solidFill>
                  <a:srgbClr val="FF0000"/>
                </a:solidFill>
              </a:rPr>
              <a:t>Protection of memory </a:t>
            </a:r>
            <a:r>
              <a:rPr lang="en-US" altLang="en-US" dirty="0"/>
              <a:t>required to ensure correct operation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pPr algn="just"/>
            <a:r>
              <a:rPr lang="en-US" altLang="en-US" dirty="0" smtClean="0"/>
              <a:t>For proper system operation, we must </a:t>
            </a:r>
            <a:r>
              <a:rPr lang="en-US" altLang="en-US" dirty="0" smtClean="0">
                <a:solidFill>
                  <a:srgbClr val="FF0000"/>
                </a:solidFill>
              </a:rPr>
              <a:t>protect</a:t>
            </a:r>
            <a:r>
              <a:rPr lang="en-US" altLang="en-US" dirty="0" smtClean="0"/>
              <a:t> the OS from access by user process , as well as </a:t>
            </a:r>
            <a:r>
              <a:rPr lang="en-US" altLang="en-US" dirty="0" smtClean="0">
                <a:solidFill>
                  <a:srgbClr val="FF0000"/>
                </a:solidFill>
              </a:rPr>
              <a:t>protect</a:t>
            </a:r>
            <a:r>
              <a:rPr lang="en-US" altLang="en-US" dirty="0" smtClean="0"/>
              <a:t> user processes from one another.</a:t>
            </a:r>
            <a:endParaRPr lang="en-US" altLang="en-US" dirty="0" smtClean="0"/>
          </a:p>
          <a:p>
            <a:r>
              <a:rPr lang="en-US" altLang="en-US" dirty="0" smtClean="0"/>
              <a:t>We </a:t>
            </a:r>
            <a:r>
              <a:rPr lang="en-US" altLang="en-US" dirty="0"/>
              <a:t>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</a:t>
            </a:r>
            <a:r>
              <a:rPr lang="en-US" altLang="en-US" dirty="0" smtClean="0"/>
              <a:t>process</a:t>
            </a:r>
            <a:endParaRPr lang="en-US" altLang="en-US" dirty="0" smtClean="0"/>
          </a:p>
          <a:p>
            <a:r>
              <a:rPr lang="en-US" altLang="en-US" dirty="0" smtClean="0"/>
              <a:t>A </a:t>
            </a:r>
            <a:r>
              <a:rPr lang="en-US" altLang="en-US" i="1" dirty="0" smtClean="0">
                <a:solidFill>
                  <a:srgbClr val="FF0000"/>
                </a:solidFill>
              </a:rPr>
              <a:t>base</a:t>
            </a:r>
            <a:r>
              <a:rPr lang="en-US" altLang="en-US" dirty="0" smtClean="0"/>
              <a:t> and a </a:t>
            </a:r>
            <a:r>
              <a:rPr lang="en-US" altLang="en-US" i="1" dirty="0" smtClean="0">
                <a:solidFill>
                  <a:srgbClr val="FF0000"/>
                </a:solidFill>
              </a:rPr>
              <a:t>limit register </a:t>
            </a:r>
            <a:r>
              <a:rPr lang="en-US" altLang="en-US" dirty="0" smtClean="0"/>
              <a:t>define  a logical address space.</a:t>
            </a:r>
            <a:endParaRPr lang="en-US" altLang="en-US" dirty="0"/>
          </a:p>
        </p:txBody>
      </p:sp>
      <p:pic>
        <p:nvPicPr>
          <p:cNvPr id="7172" name="Picture 5" descr="W:\os-book\OS10\slide-dir\os-figures\9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796" y="3273518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  <a:endParaRPr lang="en-US" altLang="en-US" dirty="0"/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 smtClean="0"/>
              <a:t>Protection of memory space is accomplished by having a CPU hardware.</a:t>
            </a:r>
            <a:endParaRPr lang="en-US" altLang="en-US" dirty="0" smtClean="0"/>
          </a:p>
          <a:p>
            <a:r>
              <a:rPr lang="en-US" altLang="en-US" dirty="0" smtClean="0"/>
              <a:t>CPU </a:t>
            </a:r>
            <a:r>
              <a:rPr lang="en-US" altLang="en-US" dirty="0"/>
              <a:t>must check every memory access generated in user mode to be sure it is between base and limit for that user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</a:t>
            </a:r>
            <a:r>
              <a:rPr lang="en-US" altLang="en-US" dirty="0" smtClean="0"/>
              <a:t>he </a:t>
            </a:r>
            <a:r>
              <a:rPr lang="en-US" altLang="en-US" dirty="0"/>
              <a:t>instructions to loading the base and limit registers are privileged 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369" y="2637641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  <a:endParaRPr lang="en-US" altLang="en-US" dirty="0"/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 smtClean="0"/>
              <a:t>The runtime mapping from virtual to physical address is done by a hardware device called the memory-management unit (MMU).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  <a:endParaRPr lang="en-US" altLang="en-US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rgbClr val="FF0000"/>
                </a:solidFill>
              </a:rPr>
              <a:t>The base register </a:t>
            </a:r>
            <a:r>
              <a:rPr lang="en-US" altLang="en-US" dirty="0"/>
              <a:t>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  <a:endParaRPr lang="en-US" altLang="en-US" dirty="0"/>
          </a:p>
        </p:txBody>
      </p:sp>
      <p:pic>
        <p:nvPicPr>
          <p:cNvPr id="15364" name="Picture 2" descr="W:\os-book\OS10\slide-dir\os-figures\9_0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2957513"/>
            <a:ext cx="4328280" cy="3052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  <a:endParaRPr lang="en-US" altLang="en-US" dirty="0"/>
          </a:p>
        </p:txBody>
      </p:sp>
      <p:sp>
        <p:nvSpPr>
          <p:cNvPr id="16387" name="Rectangle 3"/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 smtClean="0">
                <a:latin typeface="Helvetica" panose="020B0604020202020204" pitchFamily="34" charset="0"/>
              </a:rPr>
              <a:t>Better </a:t>
            </a:r>
            <a:r>
              <a:rPr kumimoji="1" lang="en-US" altLang="en-US" dirty="0">
                <a:latin typeface="Helvetica" panose="020B0604020202020204" pitchFamily="34" charset="0"/>
              </a:rPr>
              <a:t>memory-space </a:t>
            </a:r>
            <a:r>
              <a:rPr kumimoji="1" lang="en-US" altLang="en-US" dirty="0" smtClean="0">
                <a:latin typeface="Helvetica" panose="020B0604020202020204" pitchFamily="34" charset="0"/>
              </a:rPr>
              <a:t>utilization, we can use dynamic loading. </a:t>
            </a:r>
            <a:endParaRPr kumimoji="1" lang="en-US" altLang="en-US" dirty="0" smtClean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With dynamic loading</a:t>
            </a:r>
            <a:r>
              <a:rPr kumimoji="1" lang="en-US" altLang="en-US" dirty="0">
                <a:solidFill>
                  <a:srgbClr val="FF0000"/>
                </a:solidFill>
                <a:latin typeface="Helvetica" panose="020B0604020202020204" pitchFamily="34" charset="0"/>
              </a:rPr>
              <a:t>, Routine is not loaded until it is </a:t>
            </a:r>
            <a:r>
              <a:rPr kumimoji="1" lang="en-US" altLang="en-US" dirty="0" smtClean="0">
                <a:solidFill>
                  <a:srgbClr val="FF0000"/>
                </a:solidFill>
                <a:latin typeface="Helvetica" panose="020B0604020202020204" pitchFamily="34" charset="0"/>
              </a:rPr>
              <a:t>called.</a:t>
            </a:r>
            <a:endParaRPr kumimoji="1" lang="en-US" altLang="en-US" dirty="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</a:t>
            </a:r>
            <a:r>
              <a:rPr kumimoji="1" lang="en-US" altLang="en-US" dirty="0" smtClean="0">
                <a:latin typeface="Helvetica" panose="020B0604020202020204" pitchFamily="34" charset="0"/>
              </a:rPr>
              <a:t>format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  <a:endParaRPr lang="en-US" altLang="en-US" dirty="0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  <a:endParaRPr lang="en-US" altLang="en-US" dirty="0"/>
          </a:p>
          <a:p>
            <a:r>
              <a:rPr lang="en-US" altLang="en-US" dirty="0"/>
              <a:t>Limited resource, must allocate efficiently</a:t>
            </a:r>
            <a:endParaRPr lang="en-US" altLang="en-US" dirty="0"/>
          </a:p>
          <a:p>
            <a:r>
              <a:rPr lang="en-US" altLang="en-US" dirty="0"/>
              <a:t>Contiguous allocation is one early method</a:t>
            </a:r>
            <a:endParaRPr lang="en-US" altLang="en-US" dirty="0"/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  <a:endParaRPr lang="en-US" altLang="en-US" dirty="0"/>
          </a:p>
          <a:p>
            <a:pPr lvl="1"/>
            <a:r>
              <a:rPr lang="en-US" altLang="en-US" dirty="0"/>
              <a:t>Resident operating system, usually held in low memory with interrupt vector</a:t>
            </a:r>
            <a:endParaRPr lang="en-US" altLang="en-US" dirty="0"/>
          </a:p>
          <a:p>
            <a:pPr lvl="1"/>
            <a:r>
              <a:rPr lang="en-US" altLang="en-US" dirty="0"/>
              <a:t>User processes then held in high memory</a:t>
            </a:r>
            <a:endParaRPr lang="en-US" altLang="en-US" dirty="0"/>
          </a:p>
          <a:p>
            <a:pPr lvl="1"/>
            <a:r>
              <a:rPr lang="en-US" altLang="en-US" dirty="0"/>
              <a:t>Each process contained in single contiguous section of memory</a:t>
            </a:r>
            <a:endParaRPr lang="en-US" altLang="en-US" dirty="0"/>
          </a:p>
          <a:p>
            <a:pPr algn="just"/>
            <a:r>
              <a:rPr lang="en-US" altLang="en-US" dirty="0" smtClean="0"/>
              <a:t>In contiguous memory allocation, each process is contained in a single section of memory that is </a:t>
            </a:r>
            <a:r>
              <a:rPr lang="en-US" altLang="en-US" dirty="0" smtClean="0">
                <a:solidFill>
                  <a:srgbClr val="FF0000"/>
                </a:solidFill>
              </a:rPr>
              <a:t>contiguous</a:t>
            </a:r>
            <a:r>
              <a:rPr lang="en-US" altLang="en-US" dirty="0" smtClean="0"/>
              <a:t> to the section to the next process.</a:t>
            </a: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  <a:endParaRPr lang="en-US" altLang="en-US" dirty="0"/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  <a:endParaRPr lang="en-US" altLang="en-US" dirty="0"/>
          </a:p>
          <a:p>
            <a:pPr lvl="1"/>
            <a:r>
              <a:rPr lang="en-US" altLang="en-US" dirty="0"/>
              <a:t>Base register contains value of smallest physical address</a:t>
            </a:r>
            <a:endParaRPr lang="en-US" altLang="en-US" dirty="0"/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  <a:endParaRPr lang="en-US" altLang="en-US" dirty="0"/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MMU maps logical address </a:t>
            </a:r>
            <a:r>
              <a:rPr lang="en-US" altLang="en-US" i="1" dirty="0" smtClean="0">
                <a:solidFill>
                  <a:srgbClr val="FF0000"/>
                </a:solidFill>
              </a:rPr>
              <a:t>dynamically</a:t>
            </a:r>
            <a:endParaRPr lang="en-US" alt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66178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  <a:endParaRPr lang="en-US" altLang="en-US" sz="2400" dirty="0"/>
          </a:p>
        </p:txBody>
      </p:sp>
      <p:pic>
        <p:nvPicPr>
          <p:cNvPr id="2048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177" y="208405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  <a:endParaRPr lang="en-US" altLang="en-US" dirty="0"/>
          </a:p>
          <a:p>
            <a:pPr lvl="1"/>
            <a:r>
              <a:rPr lang="en-US" altLang="en-US" sz="1600" dirty="0"/>
              <a:t>Degree of multiprogramming limited by number of partitions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  <a:endParaRPr lang="en-US" altLang="en-US" sz="1600" dirty="0"/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  <a:endParaRPr lang="en-US" altLang="en-US" sz="1600" dirty="0"/>
          </a:p>
          <a:p>
            <a:pPr lvl="1"/>
            <a:r>
              <a:rPr lang="en-US" altLang="en-US" sz="1600" dirty="0"/>
              <a:t>Process exiting frees its partition, adjacent free partitions combined</a:t>
            </a:r>
            <a:endParaRPr lang="en-US" altLang="en-US" sz="1600" dirty="0"/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  <a:endParaRPr lang="en-US" altLang="en-US" sz="1600" dirty="0"/>
          </a:p>
        </p:txBody>
      </p:sp>
      <p:pic>
        <p:nvPicPr>
          <p:cNvPr id="21508" name="Picture 5" descr="W:\os-book\OS10\slide-dir\os-figures\9_0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  <a:endParaRPr lang="en-US" altLang="en-US" dirty="0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989965" y="4191635"/>
            <a:ext cx="7221855" cy="325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no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GB" altLang="en-US" b="1" dirty="0">
                <a:latin typeface="Helvetica" panose="020B0604020202020204" pitchFamily="34" charset="0"/>
              </a:rPr>
              <a:t>Example:</a:t>
            </a:r>
            <a:endParaRPr lang="en-GB" altLang="en-US" b="1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GB" altLang="en-US" b="1" dirty="0">
                <a:latin typeface="Helvetica" panose="020B0604020202020204" pitchFamily="34" charset="0"/>
              </a:rPr>
              <a:t>Process</a:t>
            </a:r>
            <a:r>
              <a:rPr lang="en-GB" altLang="en-US" dirty="0">
                <a:latin typeface="Helvetica" panose="020B0604020202020204" pitchFamily="34" charset="0"/>
              </a:rPr>
              <a:t> p1-&gt;20  </a:t>
            </a:r>
            <a:r>
              <a:rPr lang="en-GB" altLang="en-US" dirty="0">
                <a:latin typeface="Helvetica" panose="020B0604020202020204" pitchFamily="34" charset="0"/>
                <a:sym typeface="+mn-ea"/>
              </a:rPr>
              <a:t>p1-&gt;20 p1-&gt;20 p1-&gt;20 p1-&gt;20 p1-&gt;20 </a:t>
            </a:r>
            <a:endParaRPr lang="en-GB" altLang="en-US" dirty="0">
              <a:latin typeface="Helvetica" panose="020B0604020202020204" pitchFamily="34" charset="0"/>
              <a:sym typeface="+mn-ea"/>
            </a:endParaRPr>
          </a:p>
          <a:p>
            <a:pPr>
              <a:spcBef>
                <a:spcPct val="50000"/>
              </a:spcBef>
            </a:pPr>
            <a:r>
              <a:rPr lang="en-GB" altLang="en-US" dirty="0">
                <a:latin typeface="Helvetica" panose="020B0604020202020204" pitchFamily="34" charset="0"/>
                <a:sym typeface="+mn-ea"/>
              </a:rPr>
              <a:t> Memory range :   </a:t>
            </a:r>
            <a:r>
              <a:rPr lang="en-US" altLang="en-GB" dirty="0">
                <a:latin typeface="Helvetica" panose="020B0604020202020204" pitchFamily="34" charset="0"/>
                <a:sym typeface="+mn-ea"/>
              </a:rPr>
              <a:t>OS </a:t>
            </a:r>
            <a:r>
              <a:rPr lang="en-GB" altLang="en-US" dirty="0">
                <a:latin typeface="Helvetica" panose="020B0604020202020204" pitchFamily="34" charset="0"/>
                <a:sym typeface="+mn-ea"/>
              </a:rPr>
              <a:t> 15 25 10 13  17</a:t>
            </a: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r>
              <a:rPr lang="en-GB" altLang="en-US" dirty="0">
                <a:latin typeface="Helvetica" panose="020B0604020202020204" pitchFamily="34" charset="0"/>
              </a:rPr>
              <a:t> </a:t>
            </a:r>
            <a:endParaRPr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  <a:endParaRPr lang="en-US" altLang="en-US" dirty="0"/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  <a:endParaRPr lang="en-US" altLang="en-US" dirty="0"/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  <a:endParaRPr lang="en-US" altLang="en-US" dirty="0"/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  <a:endParaRPr lang="en-US" alt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Shuffle memory contents to place all free memory together in one large block</a:t>
            </a:r>
            <a:endParaRPr lang="en-US" altLang="en-US" dirty="0"/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</a:t>
            </a:r>
            <a:r>
              <a:rPr lang="en-US" altLang="en-US" dirty="0" smtClean="0"/>
              <a:t>time</a:t>
            </a: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  <a:endParaRPr lang="en-US" altLang="en-US" dirty="0"/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927703"/>
          </a:xfrm>
        </p:spPr>
        <p:txBody>
          <a:bodyPr/>
          <a:lstStyle/>
          <a:p>
            <a:r>
              <a:rPr lang="en-US" altLang="en-US" dirty="0"/>
              <a:t>Physical  address space of a process can be </a:t>
            </a:r>
            <a:r>
              <a:rPr lang="en-US" altLang="en-US" dirty="0">
                <a:solidFill>
                  <a:srgbClr val="FF0000"/>
                </a:solidFill>
              </a:rPr>
              <a:t>noncontiguous;</a:t>
            </a:r>
            <a:r>
              <a:rPr lang="en-US" altLang="en-US" dirty="0"/>
              <a:t> process is allocated physical memory whenever the latter is available</a:t>
            </a:r>
            <a:endParaRPr lang="en-US" altLang="en-US" dirty="0"/>
          </a:p>
          <a:p>
            <a:pPr lvl="1"/>
            <a:r>
              <a:rPr lang="en-US" altLang="en-US" dirty="0"/>
              <a:t>Avoids external fragmentation</a:t>
            </a:r>
            <a:endParaRPr lang="en-US" altLang="en-US" dirty="0"/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  <a:endParaRPr lang="en-US" altLang="en-US" dirty="0"/>
          </a:p>
          <a:p>
            <a:r>
              <a:rPr lang="en-US" altLang="en-US" dirty="0"/>
              <a:t>Still have Internal fragmentation</a:t>
            </a:r>
            <a:endParaRPr lang="en-US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  <a:endParaRPr lang="en-US" altLang="en-US" dirty="0"/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  <a:endParaRPr lang="en-US" altLang="en-US" dirty="0"/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  <a:endParaRPr lang="en-US" altLang="en-US" baseline="30000" dirty="0"/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  <a:endParaRPr lang="en-US" altLang="en-US" dirty="0"/>
          </a:p>
        </p:txBody>
      </p:sp>
      <p:pic>
        <p:nvPicPr>
          <p:cNvPr id="27651" name="Picture 7" descr="C:\Users\as668\Desktop\9_0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  <a:endParaRPr lang="en-US" altLang="en-US" sz="2600" dirty="0"/>
          </a:p>
        </p:txBody>
      </p:sp>
      <p:pic>
        <p:nvPicPr>
          <p:cNvPr id="28675" name="Picture 103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130" y="1203325"/>
            <a:ext cx="5265420" cy="4918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  <a:endParaRPr lang="en-US" alt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  <a:endParaRPr lang="en-US" altLang="en-US" dirty="0"/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  <a:endParaRPr lang="en-US" altLang="en-US" sz="2600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  <a:endParaRPr lang="en-US" altLang="en-US" dirty="0"/>
          </a:p>
          <a:p>
            <a:r>
              <a:rPr lang="en-US" altLang="en-US" dirty="0"/>
              <a:t>Process size = 72,766 bytes</a:t>
            </a:r>
            <a:endParaRPr lang="en-US" altLang="en-US" dirty="0"/>
          </a:p>
          <a:p>
            <a:r>
              <a:rPr lang="en-US" altLang="en-US" dirty="0"/>
              <a:t>35 pages + 1,086 bytes</a:t>
            </a:r>
            <a:endParaRPr lang="en-US" altLang="en-US" dirty="0"/>
          </a:p>
          <a:p>
            <a:r>
              <a:rPr lang="en-US" altLang="en-US" dirty="0"/>
              <a:t>Internal fragmentation of 2,048 - 1,086 = 962 bytes</a:t>
            </a:r>
            <a:endParaRPr lang="en-US" altLang="en-US" dirty="0"/>
          </a:p>
          <a:p>
            <a:r>
              <a:rPr lang="en-US" altLang="en-US" dirty="0"/>
              <a:t>Worst case fragmentation = 1 frame – 1 byte</a:t>
            </a:r>
            <a:endParaRPr lang="en-US" altLang="en-US" dirty="0"/>
          </a:p>
          <a:p>
            <a:r>
              <a:rPr lang="en-US" altLang="en-US" dirty="0"/>
              <a:t>On average fragmentation = 1 / 2 frame size</a:t>
            </a:r>
            <a:endParaRPr lang="en-US" altLang="en-US" dirty="0"/>
          </a:p>
          <a:p>
            <a:r>
              <a:rPr lang="en-US" altLang="en-US" dirty="0"/>
              <a:t>So small frame sizes desirable?</a:t>
            </a:r>
            <a:endParaRPr lang="en-US" altLang="en-US" dirty="0"/>
          </a:p>
          <a:p>
            <a:r>
              <a:rPr lang="en-US" altLang="en-US" dirty="0"/>
              <a:t>But each page table entry takes memory to track</a:t>
            </a:r>
            <a:endParaRPr lang="en-US" altLang="en-US" dirty="0"/>
          </a:p>
          <a:p>
            <a:r>
              <a:rPr lang="en-US" altLang="en-US" dirty="0"/>
              <a:t>Page sizes growing over time</a:t>
            </a:r>
            <a:endParaRPr lang="en-US" altLang="en-US" dirty="0"/>
          </a:p>
          <a:p>
            <a:pPr lvl="1"/>
            <a:r>
              <a:rPr lang="en-US" altLang="en-US" dirty="0"/>
              <a:t>Solaris supports two page sizes – 8 KB and 4 MB</a:t>
            </a: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  <a:endParaRPr lang="en-US" altLang="en-US" dirty="0"/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pic>
        <p:nvPicPr>
          <p:cNvPr id="3174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  <a:endParaRPr lang="en-US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  <a:endParaRPr lang="en-US" altLang="en-US" dirty="0"/>
          </a:p>
          <a:p>
            <a:r>
              <a:rPr lang="en-US" altLang="en-US" dirty="0"/>
              <a:t>In this scheme every data/instruction access requires two memory accesses</a:t>
            </a:r>
            <a:endParaRPr lang="en-US" altLang="en-US" dirty="0"/>
          </a:p>
          <a:p>
            <a:pPr lvl="1"/>
            <a:r>
              <a:rPr lang="en-US" altLang="en-US" dirty="0"/>
              <a:t>One for the page table and one for the data / instruction</a:t>
            </a:r>
            <a:endParaRPr lang="en-US" altLang="en-US" dirty="0"/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  <a:endParaRPr lang="en-US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  <a:endParaRPr lang="en-US" alt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  <a:endParaRPr lang="en-US" altLang="en-US" dirty="0"/>
          </a:p>
          <a:p>
            <a:pPr lvl="1"/>
            <a:r>
              <a:rPr lang="en-US" altLang="en-US" dirty="0"/>
              <a:t>Otherwise need to flush at every context switch</a:t>
            </a:r>
            <a:endParaRPr lang="en-US" altLang="en-US" dirty="0"/>
          </a:p>
          <a:p>
            <a:r>
              <a:rPr lang="en-US" altLang="en-US" dirty="0"/>
              <a:t>TLBs typically small (64 to 1,024 entries)</a:t>
            </a:r>
            <a:endParaRPr lang="en-US" altLang="en-US" dirty="0"/>
          </a:p>
          <a:p>
            <a:r>
              <a:rPr lang="en-US" altLang="en-US" dirty="0"/>
              <a:t>On a TLB miss, value is loaded into the TLB for faster access next time</a:t>
            </a:r>
            <a:endParaRPr lang="en-US" altLang="en-US" dirty="0"/>
          </a:p>
          <a:p>
            <a:pPr lvl="1"/>
            <a:r>
              <a:rPr lang="en-US" altLang="en-US" dirty="0"/>
              <a:t>Replacement policies must be considered</a:t>
            </a:r>
            <a:endParaRPr lang="en-US" altLang="en-US" dirty="0"/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  <a:endParaRPr lang="en-US" altLang="en-US" dirty="0"/>
          </a:p>
        </p:txBody>
      </p:sp>
      <p:sp>
        <p:nvSpPr>
          <p:cNvPr id="3481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  <a:endParaRPr lang="en-US" altLang="en-US" dirty="0"/>
          </a:p>
          <a:p>
            <a:pPr marL="627380" lvl="1"/>
            <a:r>
              <a:rPr lang="en-US" altLang="en-US" dirty="0"/>
              <a:t>If p is in associative register, get frame # out</a:t>
            </a:r>
            <a:endParaRPr lang="en-US" altLang="en-US" dirty="0"/>
          </a:p>
          <a:p>
            <a:pPr marL="627380" lvl="1"/>
            <a:r>
              <a:rPr lang="en-US" altLang="en-US" dirty="0"/>
              <a:t>Otherwise get frame # from page table in memory</a:t>
            </a:r>
            <a:endParaRPr lang="en-US" altLang="en-US" dirty="0"/>
          </a:p>
          <a:p>
            <a:pPr marL="627380" lvl="1"/>
            <a:endParaRPr lang="en-US" altLang="en-US" dirty="0"/>
          </a:p>
        </p:txBody>
      </p:sp>
      <p:pic>
        <p:nvPicPr>
          <p:cNvPr id="3482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  <a:endParaRPr lang="en-US" alt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Hit ratio – percentage of times that a page number is found in the  TLB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anose="05050102010706020507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Suppose that 10 nanoseconds to access memory.  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Otherwise we need two memory access so it is 20 ns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EAT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anose="05050102010706020507" pitchFamily="18" charset="2"/>
              </a:rPr>
              <a:t>0.80 x 10 + 0.20 x 20 = 12 </a:t>
            </a:r>
            <a:r>
              <a:rPr lang="en-US" altLang="en-US" dirty="0"/>
              <a:t> nanoseconds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       implying 20% slowdown in access time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Consider  amore realistic hit ratio of 99%, </a:t>
            </a:r>
            <a:endParaRPr lang="en-US" altLang="en-US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     EAT = 0.99 x 10 + 0.01 x 20 = 10.1ns</a:t>
            </a: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dirty="0"/>
              <a:t>      implying  only 1% slowdown in access time.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  <a:endParaRPr lang="en-US" altLang="en-US" dirty="0"/>
          </a:p>
        </p:txBody>
      </p:sp>
      <p:sp>
        <p:nvSpPr>
          <p:cNvPr id="37891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  <a:endParaRPr lang="en-US" altLang="en-US" dirty="0"/>
          </a:p>
          <a:p>
            <a:pPr lvl="1"/>
            <a:r>
              <a:rPr lang="en-US" altLang="en-US" dirty="0"/>
              <a:t>Can also add more bits to indicate page execute-only, and so on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  <a:endParaRPr lang="en-US" altLang="en-US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  <a:endParaRPr lang="en-US" altLang="ja-JP" dirty="0"/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  <a:endParaRPr lang="en-US" altLang="ja-JP" dirty="0"/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endParaRPr lang="en-US" altLang="en-US" dirty="0"/>
          </a:p>
          <a:p>
            <a:r>
              <a:rPr lang="en-US" altLang="en-US" dirty="0"/>
              <a:t>Any violations result in a trap to the kernel</a:t>
            </a:r>
            <a:endParaRPr lang="en-US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  <a:endParaRPr lang="en-US" altLang="en-US" sz="2800" dirty="0"/>
          </a:p>
        </p:txBody>
      </p:sp>
      <p:pic>
        <p:nvPicPr>
          <p:cNvPr id="3891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  <a:endParaRPr lang="en-US" alt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  <a:endParaRPr lang="en-US" altLang="en-US" dirty="0"/>
          </a:p>
          <a:p>
            <a:pPr lvl="1"/>
            <a:r>
              <a:rPr lang="en-US" altLang="en-US" dirty="0"/>
              <a:t>Similar to multiple threads sharing the same process space</a:t>
            </a:r>
            <a:endParaRPr lang="en-US" altLang="en-US" dirty="0"/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endParaRPr lang="en-US" altLang="en-US" dirty="0">
              <a:solidFill>
                <a:srgbClr val="3366FF"/>
              </a:solidFill>
            </a:endParaRPr>
          </a:p>
          <a:p>
            <a:pPr lvl="1"/>
            <a:r>
              <a:rPr lang="en-US" altLang="en-US" dirty="0"/>
              <a:t>Each process keeps a separate copy of the code and data</a:t>
            </a:r>
            <a:endParaRPr lang="en-US" altLang="en-US" dirty="0"/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  <a:endParaRPr lang="en-US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  <a:endParaRPr lang="en-US" altLang="en-US" dirty="0"/>
          </a:p>
          <a:p>
            <a:pPr lvl="1"/>
            <a:r>
              <a:rPr lang="en-US" altLang="en-US" dirty="0"/>
              <a:t>Consider a 32-bit logical address space as on modern computers</a:t>
            </a:r>
            <a:endParaRPr lang="en-US" altLang="en-US" dirty="0"/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  <a:endParaRPr lang="en-US" altLang="en-US" dirty="0"/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  <a:endParaRPr lang="en-US" altLang="ja-JP" dirty="0"/>
          </a:p>
          <a:p>
            <a:pPr lvl="1"/>
            <a:r>
              <a:rPr lang="en-US" altLang="en-US" dirty="0"/>
              <a:t>One simple solution is to divide the page table into smaller units</a:t>
            </a:r>
            <a:endParaRPr lang="en-US" altLang="en-US" dirty="0"/>
          </a:p>
          <a:p>
            <a:pPr lvl="2"/>
            <a:r>
              <a:rPr lang="en-US" altLang="en-US" dirty="0"/>
              <a:t>Hierarchical Paging</a:t>
            </a:r>
            <a:endParaRPr lang="en-US" altLang="en-US" dirty="0"/>
          </a:p>
          <a:p>
            <a:pPr lvl="2"/>
            <a:r>
              <a:rPr lang="en-US" altLang="en-US" dirty="0"/>
              <a:t>Hashed Page Tables</a:t>
            </a:r>
            <a:endParaRPr lang="en-US" altLang="en-US" dirty="0"/>
          </a:p>
          <a:p>
            <a:pPr lvl="2"/>
            <a:r>
              <a:rPr lang="en-US" altLang="en-US" dirty="0"/>
              <a:t>Inverted Page Tables</a:t>
            </a: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  <a:endParaRPr lang="en-US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 dirty="0"/>
              <a:t>a 10-bit page number 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  <a:endParaRPr lang="en-US" altLang="en-US" dirty="0"/>
          </a:p>
          <a:p>
            <a:pPr marL="627380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44036" name="Picture 5" descr="W:\os-book\OS10\slide-dir\os-figures\in-9_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  <a:endParaRPr lang="en-US" altLang="en-US" dirty="0"/>
          </a:p>
          <a:p>
            <a:r>
              <a:rPr lang="en-US" altLang="en-US" dirty="0"/>
              <a:t>A simple technique is a two-level page table</a:t>
            </a:r>
            <a:endParaRPr lang="en-US" altLang="en-US" dirty="0"/>
          </a:p>
          <a:p>
            <a:r>
              <a:rPr lang="en-US" altLang="en-US" dirty="0"/>
              <a:t>We then page the page table</a:t>
            </a:r>
            <a:endParaRPr lang="en-US" altLang="en-US" dirty="0"/>
          </a:p>
        </p:txBody>
      </p:sp>
      <p:pic>
        <p:nvPicPr>
          <p:cNvPr id="43012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  <a:endParaRPr lang="en-US" altLang="en-US" dirty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Address would look like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  <a:endParaRPr lang="en-US" altLang="en-US" dirty="0"/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  <a:endParaRPr lang="en-US" altLang="en-US" dirty="0"/>
          </a:p>
        </p:txBody>
      </p:sp>
      <p:pic>
        <p:nvPicPr>
          <p:cNvPr id="4710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53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53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  <a:endParaRPr lang="en-US" altLang="en-US" dirty="0"/>
          </a:p>
          <a:p>
            <a:r>
              <a:rPr lang="en-US" altLang="en-US" dirty="0"/>
              <a:t>The virtual page number is hashed into a page table</a:t>
            </a:r>
            <a:endParaRPr lang="en-US" altLang="en-US" dirty="0"/>
          </a:p>
          <a:p>
            <a:pPr lvl="1"/>
            <a:r>
              <a:rPr lang="en-US" altLang="en-US" dirty="0"/>
              <a:t>This page table contains a chain of elements hashing to the same location</a:t>
            </a:r>
            <a:endParaRPr lang="en-US" altLang="en-US" dirty="0"/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  <a:endParaRPr lang="en-US" altLang="en-US" dirty="0"/>
          </a:p>
          <a:p>
            <a:r>
              <a:rPr lang="en-US" altLang="en-US" dirty="0"/>
              <a:t>Virtual page numbers are compared in this chain searching for a match</a:t>
            </a:r>
            <a:endParaRPr lang="en-US" altLang="en-US" dirty="0"/>
          </a:p>
          <a:p>
            <a:pPr lvl="1"/>
            <a:r>
              <a:rPr lang="en-US" altLang="en-US" dirty="0"/>
              <a:t>If a match is found, the corresponding physical frame is extracted</a:t>
            </a:r>
            <a:endParaRPr lang="en-US" altLang="en-US" dirty="0"/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  <a:endParaRPr lang="en-US" altLang="en-US" dirty="0"/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  <a:endParaRPr lang="en-US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  <a:endParaRPr lang="en-US" altLang="en-US" dirty="0"/>
          </a:p>
          <a:p>
            <a:r>
              <a:rPr lang="en-US" altLang="en-US" dirty="0"/>
              <a:t>One entry for each real page of memory</a:t>
            </a:r>
            <a:endParaRPr lang="en-US" altLang="en-US" dirty="0"/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  <a:endParaRPr lang="en-US" altLang="en-US" dirty="0"/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  <a:endParaRPr lang="en-US" altLang="en-US" dirty="0"/>
          </a:p>
          <a:p>
            <a:r>
              <a:rPr lang="en-US" altLang="en-US" dirty="0"/>
              <a:t>Use hash table to limit the search to one — or at most a few — page-table entries</a:t>
            </a:r>
            <a:endParaRPr lang="en-US" altLang="en-US" dirty="0"/>
          </a:p>
          <a:p>
            <a:pPr lvl="1"/>
            <a:r>
              <a:rPr lang="en-US" altLang="en-US" dirty="0"/>
              <a:t>TLB can accelerate access</a:t>
            </a:r>
            <a:endParaRPr lang="en-US" altLang="en-US" dirty="0"/>
          </a:p>
          <a:p>
            <a:r>
              <a:rPr lang="en-US" altLang="en-US" dirty="0"/>
              <a:t>But how to implement shared memory?</a:t>
            </a:r>
            <a:endParaRPr lang="en-US" altLang="en-US" dirty="0"/>
          </a:p>
          <a:p>
            <a:pPr lvl="1"/>
            <a:r>
              <a:rPr lang="en-US" altLang="en-US" dirty="0"/>
              <a:t>One mapping of a virtual address to the shared physical address</a:t>
            </a:r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2" name="Content Placeholder 1" descr="Screenshot 2024-05-01 2030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8890" y="1567180"/>
            <a:ext cx="7102475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dirty="0"/>
              <a:t>Consider modern, 64-bit operating system example with tightly integrated HW</a:t>
            </a:r>
            <a:endParaRPr lang="en-US" altLang="en-US" dirty="0"/>
          </a:p>
          <a:p>
            <a:pPr lvl="1"/>
            <a:r>
              <a:rPr lang="en-US" altLang="en-US" dirty="0"/>
              <a:t>Goals are efficiency, low overhead</a:t>
            </a:r>
            <a:endParaRPr lang="en-US" altLang="en-US" dirty="0"/>
          </a:p>
          <a:p>
            <a:r>
              <a:rPr lang="en-US" altLang="en-US" dirty="0"/>
              <a:t>Based on hashing, but more complex</a:t>
            </a:r>
            <a:endParaRPr lang="en-US" altLang="en-US" dirty="0"/>
          </a:p>
          <a:p>
            <a:r>
              <a:rPr lang="en-US" altLang="en-US" dirty="0"/>
              <a:t>Two hash tables</a:t>
            </a:r>
            <a:endParaRPr lang="en-US" altLang="en-US" dirty="0"/>
          </a:p>
          <a:p>
            <a:pPr lvl="1"/>
            <a:r>
              <a:rPr lang="en-US" altLang="en-US" dirty="0"/>
              <a:t>One kernel and one for all user processes</a:t>
            </a:r>
            <a:endParaRPr lang="en-US" altLang="en-US" dirty="0"/>
          </a:p>
          <a:p>
            <a:pPr lvl="1"/>
            <a:r>
              <a:rPr lang="en-US" altLang="en-US" dirty="0"/>
              <a:t>Each maps memory addresses from virtual to physical memory</a:t>
            </a:r>
            <a:endParaRPr lang="en-US" altLang="en-US" dirty="0"/>
          </a:p>
          <a:p>
            <a:pPr lvl="1"/>
            <a:r>
              <a:rPr lang="en-US" altLang="en-US" dirty="0"/>
              <a:t>Each entry represents a contiguous area of mapped virtual memory,</a:t>
            </a:r>
            <a:endParaRPr lang="en-US" altLang="en-US" dirty="0"/>
          </a:p>
          <a:p>
            <a:pPr lvl="2"/>
            <a:r>
              <a:rPr lang="en-US" altLang="en-US" dirty="0"/>
              <a:t>More efficient than having a separate hash-table entry for each page</a:t>
            </a:r>
            <a:endParaRPr lang="en-US" altLang="en-US" dirty="0"/>
          </a:p>
          <a:p>
            <a:pPr lvl="1"/>
            <a:r>
              <a:rPr lang="en-US" altLang="en-US" dirty="0"/>
              <a:t>Each entry has  base address and  span (indicating the number of pages the entry represents)</a:t>
            </a:r>
            <a:endParaRPr lang="en-US" altLang="en-US" dirty="0"/>
          </a:p>
          <a:p>
            <a:endParaRPr lang="en-US" alt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  <a:endParaRPr lang="en-US" alt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dirty="0"/>
              <a:t>TLB holds translation table entries (TTEs) for fast hardware lookups</a:t>
            </a:r>
            <a:endParaRPr lang="en-US" altLang="en-US" dirty="0"/>
          </a:p>
          <a:p>
            <a:pPr lvl="1"/>
            <a:r>
              <a:rPr lang="en-US" altLang="en-US" dirty="0"/>
              <a:t>A cache of TTEs reside in a translation storage buffer (TSB)</a:t>
            </a:r>
            <a:endParaRPr lang="en-US" altLang="en-US" dirty="0"/>
          </a:p>
          <a:p>
            <a:pPr lvl="2"/>
            <a:r>
              <a:rPr lang="en-US" altLang="en-US" dirty="0"/>
              <a:t>Includes an entry per recently accessed page</a:t>
            </a:r>
            <a:endParaRPr lang="en-US" altLang="en-US" dirty="0"/>
          </a:p>
          <a:p>
            <a:r>
              <a:rPr lang="en-US" altLang="en-US" dirty="0"/>
              <a:t>Virtual address reference causes TLB search </a:t>
            </a:r>
            <a:endParaRPr lang="en-US" altLang="en-US" dirty="0"/>
          </a:p>
          <a:p>
            <a:pPr lvl="1"/>
            <a:r>
              <a:rPr lang="en-US" altLang="en-US" dirty="0"/>
              <a:t>If miss, hardware walks the in-memory TSB looking for the TTE corresponding to the address</a:t>
            </a:r>
            <a:endParaRPr lang="en-US" altLang="en-US" dirty="0"/>
          </a:p>
          <a:p>
            <a:pPr lvl="2"/>
            <a:r>
              <a:rPr lang="en-US" altLang="en-US" dirty="0"/>
              <a:t>If match found, the CPU copies the TSB entry into the TLB and translation completes</a:t>
            </a:r>
            <a:endParaRPr lang="en-US" altLang="en-US" dirty="0"/>
          </a:p>
          <a:p>
            <a:pPr lvl="2"/>
            <a:r>
              <a:rPr lang="en-US" altLang="en-US" dirty="0"/>
              <a:t>If no match found, kernel interrupted to search the hash table</a:t>
            </a:r>
            <a:endParaRPr lang="en-US" altLang="en-US" dirty="0"/>
          </a:p>
          <a:p>
            <a:pPr lvl="3"/>
            <a:r>
              <a:rPr lang="en-US" altLang="en-US" dirty="0"/>
              <a:t>The kernel then creates a TTE from the appropriate hash table and stores it in the TSB, Interrupt handler returns control to the MMU, which completes the address translation. 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  <a:endParaRPr lang="en-US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  <a:endParaRPr lang="en-US" altLang="en-US" dirty="0"/>
          </a:p>
          <a:p>
            <a:pPr lvl="1"/>
            <a:r>
              <a:rPr lang="en-US" altLang="en-US" dirty="0"/>
              <a:t>Total physical memory space of processes can exceed physical memory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  <a:endParaRPr lang="en-US" altLang="en-US" dirty="0"/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  <a:endParaRPr lang="en-US" altLang="en-US" dirty="0"/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  <a:endParaRPr lang="en-US" altLang="en-US" dirty="0"/>
          </a:p>
          <a:p>
            <a:r>
              <a:rPr lang="en-US" altLang="en-US" dirty="0"/>
              <a:t>Depends on address binding method</a:t>
            </a:r>
            <a:endParaRPr lang="en-US" altLang="en-US" dirty="0"/>
          </a:p>
          <a:p>
            <a:pPr lvl="1"/>
            <a:r>
              <a:rPr lang="en-US" altLang="en-US" dirty="0"/>
              <a:t>Plus consider pending I/O to / from process memory space</a:t>
            </a:r>
            <a:endParaRPr lang="en-US" altLang="en-US" dirty="0"/>
          </a:p>
          <a:p>
            <a:r>
              <a:rPr lang="en-US" altLang="en-US" dirty="0"/>
              <a:t>Modified versions of swapping are found on many systems (i.e., UNIX, Linux, and Windows)</a:t>
            </a:r>
            <a:endParaRPr lang="en-US" altLang="en-US" dirty="0"/>
          </a:p>
          <a:p>
            <a:pPr lvl="1"/>
            <a:r>
              <a:rPr lang="en-US" altLang="en-US" dirty="0"/>
              <a:t>Swapping normally disabled</a:t>
            </a:r>
            <a:endParaRPr lang="en-US" altLang="en-US" dirty="0"/>
          </a:p>
          <a:p>
            <a:pPr lvl="1"/>
            <a:r>
              <a:rPr lang="en-US" altLang="en-US" dirty="0"/>
              <a:t>Started if more than threshold amount of memory allocated</a:t>
            </a:r>
            <a:endParaRPr lang="en-US" altLang="en-US" dirty="0"/>
          </a:p>
          <a:p>
            <a:pPr lvl="1"/>
            <a:r>
              <a:rPr lang="en-US" altLang="en-US" dirty="0"/>
              <a:t>Disabled again once memory demand reduced below threshold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  <a:endParaRPr lang="en-US" altLang="en-US" sz="3000" dirty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  <a:endParaRPr lang="en-US" altLang="en-US" dirty="0"/>
          </a:p>
          <a:p>
            <a:r>
              <a:rPr lang="en-US" altLang="en-US" dirty="0"/>
              <a:t>Context switch time can then be very high</a:t>
            </a:r>
            <a:endParaRPr lang="en-US" altLang="en-US" dirty="0"/>
          </a:p>
          <a:p>
            <a:r>
              <a:rPr lang="en-US" altLang="en-US" dirty="0"/>
              <a:t>100MB process swapping to hard disk with transfer rate of 50MB/sec</a:t>
            </a:r>
            <a:endParaRPr lang="en-US" altLang="en-US" dirty="0"/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  <a:endParaRPr lang="en-US" altLang="en-US" dirty="0"/>
          </a:p>
          <a:p>
            <a:pPr lvl="1"/>
            <a:r>
              <a:rPr lang="en-US" altLang="en-US" dirty="0"/>
              <a:t>Total context switch swapping component time of 4000ms (4 seconds)</a:t>
            </a:r>
            <a:endParaRPr lang="en-US" altLang="en-US" dirty="0"/>
          </a:p>
          <a:p>
            <a:r>
              <a:rPr lang="en-US" altLang="en-US" dirty="0"/>
              <a:t>Can reduce if reduce size of memory swapped – by knowing how much memory really being used</a:t>
            </a:r>
            <a:endParaRPr lang="en-US" altLang="en-US" dirty="0"/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  <a:endParaRPr lang="en-US" altLang="en-US" sz="2800" dirty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  <a:endParaRPr lang="en-US" altLang="en-US" dirty="0"/>
          </a:p>
          <a:p>
            <a:pPr lvl="1"/>
            <a:r>
              <a:rPr lang="en-US" altLang="en-US" dirty="0"/>
              <a:t>Pending I/O – can’t swap out as I/O would occur to wrong process</a:t>
            </a:r>
            <a:endParaRPr lang="en-US" altLang="en-US" dirty="0"/>
          </a:p>
          <a:p>
            <a:pPr lvl="1"/>
            <a:r>
              <a:rPr lang="en-US" altLang="en-US" dirty="0"/>
              <a:t>Or always transfer I/O to kernel space, then to I/O device</a:t>
            </a:r>
            <a:endParaRPr lang="en-US" altLang="en-US" dirty="0"/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  <a:endParaRPr lang="en-US" altLang="en-US" dirty="0"/>
          </a:p>
          <a:p>
            <a:r>
              <a:rPr lang="en-US" altLang="en-US" dirty="0"/>
              <a:t>Standard swapping not used in modern operating systems</a:t>
            </a:r>
            <a:endParaRPr lang="en-US" altLang="en-US" dirty="0"/>
          </a:p>
          <a:p>
            <a:pPr lvl="1"/>
            <a:r>
              <a:rPr lang="en-US" altLang="en-US" dirty="0"/>
              <a:t>But modified version common</a:t>
            </a:r>
            <a:endParaRPr lang="en-US" altLang="en-US" dirty="0"/>
          </a:p>
          <a:p>
            <a:pPr lvl="2"/>
            <a:r>
              <a:rPr lang="en-US" altLang="en-US" dirty="0"/>
              <a:t>Swap only when free memory extremely low</a:t>
            </a:r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  <a:endParaRPr lang="en-US" altLang="en-US" dirty="0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  <a:endParaRPr lang="en-US" altLang="en-US" dirty="0"/>
          </a:p>
          <a:p>
            <a:pPr lvl="1"/>
            <a:r>
              <a:rPr lang="en-US" altLang="en-US" dirty="0"/>
              <a:t>Flash memory based</a:t>
            </a:r>
            <a:endParaRPr lang="en-US" altLang="en-US" dirty="0"/>
          </a:p>
          <a:p>
            <a:pPr lvl="2"/>
            <a:r>
              <a:rPr lang="en-US" altLang="en-US" dirty="0"/>
              <a:t>Small amount of space</a:t>
            </a:r>
            <a:endParaRPr lang="en-US" altLang="en-US" dirty="0"/>
          </a:p>
          <a:p>
            <a:pPr lvl="2"/>
            <a:r>
              <a:rPr lang="en-US" altLang="en-US" dirty="0"/>
              <a:t>Limited number of write cycles</a:t>
            </a:r>
            <a:endParaRPr lang="en-US" altLang="en-US" dirty="0"/>
          </a:p>
          <a:p>
            <a:pPr lvl="2"/>
            <a:r>
              <a:rPr lang="en-US" altLang="en-US" dirty="0"/>
              <a:t>Poor throughput between flash memory and CPU on mobile platform</a:t>
            </a:r>
            <a:endParaRPr lang="en-US" altLang="en-US" dirty="0"/>
          </a:p>
          <a:p>
            <a:r>
              <a:rPr lang="en-US" altLang="en-US" dirty="0"/>
              <a:t>Instead use other methods to free memory if low</a:t>
            </a:r>
            <a:endParaRPr lang="en-US" altLang="en-US" dirty="0"/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  <a:endParaRPr lang="en-US" altLang="en-US" dirty="0"/>
          </a:p>
          <a:p>
            <a:pPr lvl="2"/>
            <a:r>
              <a:rPr lang="en-US" altLang="en-US" dirty="0"/>
              <a:t>Read-only data thrown out and reloaded from flash if needed</a:t>
            </a:r>
            <a:endParaRPr lang="en-US" altLang="en-US" dirty="0"/>
          </a:p>
          <a:p>
            <a:pPr lvl="2"/>
            <a:r>
              <a:rPr lang="en-US" altLang="en-US" dirty="0"/>
              <a:t>Failure to free can result in termination</a:t>
            </a:r>
            <a:endParaRPr lang="en-US" altLang="en-US" dirty="0"/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  <a:endParaRPr lang="en-US" altLang="en-US" dirty="0"/>
          </a:p>
          <a:p>
            <a:pPr lvl="1"/>
            <a:r>
              <a:rPr lang="en-US" altLang="en-US" dirty="0"/>
              <a:t>Both OSes support paging as discussed below</a:t>
            </a:r>
            <a:endParaRPr lang="en-US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  <a:endParaRPr lang="en-US" altLang="en-US" sz="26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  <a:endParaRPr lang="en-US" altLang="en-US" dirty="0"/>
          </a:p>
          <a:p>
            <a:r>
              <a:rPr lang="en-US" altLang="en-US" dirty="0"/>
              <a:t>Pentium CPUs are 32-bit and called IA-32 architecture</a:t>
            </a:r>
            <a:endParaRPr lang="en-US" altLang="en-US" dirty="0"/>
          </a:p>
          <a:p>
            <a:r>
              <a:rPr lang="en-US" altLang="en-US" dirty="0"/>
              <a:t>Current Intel CPUs are 64-bit and called IA-64 architecture</a:t>
            </a:r>
            <a:endParaRPr lang="en-US" altLang="en-US" dirty="0"/>
          </a:p>
          <a:p>
            <a:r>
              <a:rPr lang="en-US" altLang="en-US" dirty="0"/>
              <a:t>Many variations in the chips, cover the main ideas here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  <a:endParaRPr lang="en-US" altLang="en-US" sz="28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  <a:endParaRPr lang="en-US" altLang="en-US" dirty="0"/>
          </a:p>
          <a:p>
            <a:pPr lvl="1"/>
            <a:r>
              <a:rPr lang="en-US" altLang="en-US" dirty="0"/>
              <a:t>Each segment can be 4 GB</a:t>
            </a:r>
            <a:endParaRPr lang="en-US" altLang="en-US" dirty="0"/>
          </a:p>
          <a:p>
            <a:pPr lvl="1"/>
            <a:r>
              <a:rPr lang="en-US" altLang="en-US" dirty="0"/>
              <a:t>Up to 16 K segments per process</a:t>
            </a:r>
            <a:endParaRPr lang="en-US" altLang="en-US" dirty="0"/>
          </a:p>
          <a:p>
            <a:pPr lvl="1"/>
            <a:r>
              <a:rPr lang="en-US" altLang="en-US" dirty="0"/>
              <a:t>Divided into two partitions</a:t>
            </a:r>
            <a:endParaRPr lang="en-US" altLang="en-US" dirty="0"/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  <a:endParaRPr lang="en-US" altLang="en-US" dirty="0"/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  <a:endParaRPr lang="en-US" altLang="en-US" sz="28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  <a:endParaRPr lang="en-US" altLang="en-US" dirty="0"/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Which produces linear addresses </a:t>
            </a:r>
            <a:endParaRPr lang="en-US" altLang="en-US" dirty="0"/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  <a:endParaRPr lang="en-US" altLang="en-US" dirty="0"/>
          </a:p>
          <a:p>
            <a:pPr lvl="2">
              <a:defRPr/>
            </a:pPr>
            <a:r>
              <a:rPr lang="en-US" altLang="en-US" dirty="0"/>
              <a:t>Pages sizes can be 4 KB or 4 MB</a:t>
            </a: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  <a:endParaRPr lang="en-US" altLang="en-US" sz="2400" dirty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  <a:endParaRPr lang="en-US" altLang="en-US" dirty="0"/>
          </a:p>
        </p:txBody>
      </p:sp>
      <p:pic>
        <p:nvPicPr>
          <p:cNvPr id="65539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  <a:endParaRPr lang="en-US" altLang="en-US" dirty="0"/>
          </a:p>
        </p:txBody>
      </p:sp>
      <p:pic>
        <p:nvPicPr>
          <p:cNvPr id="6656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  <a:endParaRPr lang="en-US" altLang="en-US" dirty="0"/>
          </a:p>
        </p:txBody>
      </p:sp>
      <p:pic>
        <p:nvPicPr>
          <p:cNvPr id="67587" name="Picture 1" descr="8_24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/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endParaRPr kumimoji="1" lang="en-US" altLang="en-US" b="1" dirty="0">
              <a:solidFill>
                <a:srgbClr val="006699"/>
              </a:solidFill>
              <a:latin typeface="+mj-lt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  <a:endParaRPr lang="en-US" altLang="en-US" dirty="0"/>
          </a:p>
        </p:txBody>
      </p:sp>
      <p:sp>
        <p:nvSpPr>
          <p:cNvPr id="68611" name="Rectangle 3"/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  <a:endParaRPr kumimoji="1" lang="en-US" altLang="en-US" dirty="0">
              <a:latin typeface="Helvetica" panose="020B0604020202020204" pitchFamily="34" charset="0"/>
            </a:endParaRPr>
          </a:p>
        </p:txBody>
      </p:sp>
      <p:pic>
        <p:nvPicPr>
          <p:cNvPr id="68612" name="Picture 2" descr="8_25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  <a:endParaRPr lang="en-US" altLang="en-US" dirty="0"/>
          </a:p>
        </p:txBody>
      </p:sp>
      <p:sp>
        <p:nvSpPr>
          <p:cNvPr id="69635" name="Rectangle 3"/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19597</Words>
  <Application>WPS Presentation</Application>
  <PresentationFormat>On-screen Show (4:3)</PresentationFormat>
  <Paragraphs>540</Paragraphs>
  <Slides>64</Slides>
  <Notes>55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9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Monotype Sorts</vt:lpstr>
      <vt:lpstr>Microsoft YaHei</vt:lpstr>
      <vt:lpstr>Arial Unicode MS</vt:lpstr>
      <vt:lpstr>Symbol</vt:lpstr>
      <vt:lpstr>Wingdings</vt:lpstr>
      <vt:lpstr>Courier New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Two-Level Paging Example</vt:lpstr>
      <vt:lpstr>Hierarchical Page Tables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9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Mohammed Arfat</cp:lastModifiedBy>
  <cp:revision>361</cp:revision>
  <cp:lastPrinted>2013-09-30T19:34:00Z</cp:lastPrinted>
  <dcterms:created xsi:type="dcterms:W3CDTF">2011-01-13T23:43:00Z</dcterms:created>
  <dcterms:modified xsi:type="dcterms:W3CDTF">2025-01-03T06:03:00Z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64E3C54793384D799954204A99B85156_12</vt:lpwstr>
  </property>
  <property fmtid="{D5CDD505-2E9C-101B-9397-08002B2CF9AE}" pid="3" name="KSOProductBuildVer">
    <vt:lpwstr>1033-12.2.0.19307</vt:lpwstr>
  </property>
</Properties>
</file>