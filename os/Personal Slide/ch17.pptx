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handoutMasterIdLst>
    <p:handoutMasterId r:id="rId26"/>
  </p:handoutMasterIdLst>
  <p:sldIdLst>
    <p:sldId id="331" r:id="rId3"/>
    <p:sldId id="332" r:id="rId5"/>
    <p:sldId id="333" r:id="rId6"/>
    <p:sldId id="334" r:id="rId7"/>
    <p:sldId id="358" r:id="rId8"/>
    <p:sldId id="335" r:id="rId9"/>
    <p:sldId id="364" r:id="rId10"/>
    <p:sldId id="338" r:id="rId11"/>
    <p:sldId id="365" r:id="rId12"/>
    <p:sldId id="367" r:id="rId13"/>
    <p:sldId id="373" r:id="rId14"/>
    <p:sldId id="336" r:id="rId15"/>
    <p:sldId id="337" r:id="rId16"/>
    <p:sldId id="340" r:id="rId17"/>
    <p:sldId id="341" r:id="rId18"/>
    <p:sldId id="342" r:id="rId19"/>
    <p:sldId id="343" r:id="rId20"/>
    <p:sldId id="344" r:id="rId21"/>
    <p:sldId id="345" r:id="rId22"/>
    <p:sldId id="346" r:id="rId23"/>
    <p:sldId id="352" r:id="rId24"/>
    <p:sldId id="357" r:id="rId25"/>
  </p:sldIdLst>
  <p:sldSz cx="9144000" cy="6858000" type="screen4x3"/>
  <p:notesSz cx="7086600" cy="93726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 userDrawn="1">
          <p15:clr>
            <a:srgbClr val="A4A3A4"/>
          </p15:clr>
        </p15:guide>
        <p15:guide id="2" pos="4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58" autoAdjust="0"/>
    <p:restoredTop sz="94667"/>
  </p:normalViewPr>
  <p:slideViewPr>
    <p:cSldViewPr snapToGrid="0" showGuides="1">
      <p:cViewPr varScale="1">
        <p:scale>
          <a:sx n="70" d="100"/>
          <a:sy n="70" d="100"/>
        </p:scale>
        <p:origin x="1152" y="72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handoutMaster" Target="handoutMasters/handoutMaster1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06738" cy="4460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9090" tIns="44546" rIns="89090" bIns="44546" numCol="1" anchor="ctr" anchorCtr="0" compatLnSpc="1"/>
          <a:lstStyle>
            <a:lvl1pPr defTabSz="891540">
              <a:defRPr sz="1100">
                <a:latin typeface="Helvetica" pitchFamily="2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94150" y="0"/>
            <a:ext cx="3105150" cy="4460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9090" tIns="44546" rIns="89090" bIns="44546" numCol="1" anchor="ctr" anchorCtr="0" compatLnSpc="1"/>
          <a:lstStyle>
            <a:lvl1pPr algn="r" defTabSz="891540">
              <a:defRPr sz="1100">
                <a:latin typeface="Helvetica" pitchFamily="2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39213"/>
            <a:ext cx="3106738" cy="4460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9090" tIns="44546" rIns="89090" bIns="44546" numCol="1" anchor="b" anchorCtr="0" compatLnSpc="1"/>
          <a:lstStyle>
            <a:lvl1pPr defTabSz="891540">
              <a:defRPr sz="1100">
                <a:latin typeface="Helvetica" pitchFamily="2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94150" y="8939213"/>
            <a:ext cx="3105150" cy="4460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9090" tIns="44546" rIns="89090" bIns="44546" numCol="1" anchor="b" anchorCtr="0" compatLnSpc="1"/>
          <a:lstStyle>
            <a:lvl1pPr algn="r" defTabSz="890905">
              <a:defRPr sz="1100">
                <a:latin typeface="Helvetica" pitchFamily="2" charset="0"/>
              </a:defRPr>
            </a:lvl1pPr>
          </a:lstStyle>
          <a:p>
            <a:pPr>
              <a:defRPr/>
            </a:pPr>
            <a:fld id="{FFFBBBBF-8BC8-4E37-B509-65EB2F230074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ctr" anchorCtr="0" compatLnSpc="1"/>
          <a:lstStyle>
            <a:lvl1pPr defTabSz="939800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16375" y="0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ctr" anchorCtr="0" compatLnSpc="1"/>
          <a:lstStyle>
            <a:lvl1pPr algn="r" defTabSz="939800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00150" y="704850"/>
            <a:ext cx="4687888" cy="3514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563" y="4452938"/>
            <a:ext cx="5197475" cy="42148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ctr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b" anchorCtr="0" compatLnSpc="1"/>
          <a:lstStyle>
            <a:lvl1pPr defTabSz="939800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b" anchorCtr="0" compatLnSpc="1"/>
          <a:lstStyle>
            <a:lvl1pPr algn="r" defTabSz="939800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302841D2-82CE-4D2C-AC23-7155FD278E1B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82F4955-E5A0-4A37-BC95-FD265784B473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1F0AFAE-FA20-4437-830A-0F0A930521E5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0EE27B9-A770-4F75-B804-D9E443B568A4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B6B971B-1971-44D2-A9EE-AD65F528618A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914DFAC-88B2-4186-BD4C-0EC113119D01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9F55662-F288-42E5-BBFA-E755D8C21323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E07E97C-18C1-4A53-A749-AA4B26C71BEF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E43CE87-019F-4B28-A7BE-871FA88AAD66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90AF2B8-4378-4F58-B680-900DFEC61252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5C39858-98BC-4B9A-B2D0-A8C296E28CB0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AB51C17-02EF-4A81-8B55-0082E7C16BAB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891037B-5D96-42AF-9A59-DC8F0F0BC273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8CB2AE4-6220-4AF6-80F6-B5EB015BFA72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CDFF574-09AE-46F9-8FD7-639A9996326F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5B67219-1C93-4D0A-8BAE-B52FE0621E01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C7DD8D4-6E96-4D98-9208-0B87B1F02EC5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3F5FCD8-1A32-46A6-8FA9-243B4B7355B6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FFA7CCC-62CB-4415-AE7C-F1D4BAF3DA20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7414D0A-E16E-419E-99B7-FE89FC41B14F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90A2E10-10F0-4F8E-9065-1A9E2A4C4E73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2" charset="0"/>
              </a:rPr>
              <a:t>Silberschatz, Galvin and Gagne ©2018</a:t>
            </a:r>
            <a:endParaRPr lang="en-US" altLang="en-US" sz="1000" b="1" dirty="0">
              <a:solidFill>
                <a:srgbClr val="336699"/>
              </a:solidFill>
              <a:latin typeface="Helvetica" pitchFamily="2" charset="0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6988" y="6604733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2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itchFamily="2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itchFamily="2" charset="0"/>
              </a:rPr>
              <a:t> Edition</a:t>
            </a:r>
            <a:endParaRPr lang="en-US" altLang="en-US" sz="1000" b="1" dirty="0">
              <a:solidFill>
                <a:srgbClr val="336699"/>
              </a:solidFill>
              <a:latin typeface="Helvetica" pitchFamily="2" charset="0"/>
            </a:endParaRPr>
          </a:p>
        </p:txBody>
      </p:sp>
      <p:pic>
        <p:nvPicPr>
          <p:cNvPr id="9" name="Picture 9" descr="dino_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3.jpeg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984738" y="251437"/>
            <a:ext cx="7549662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</a:t>
            </a:r>
            <a:endParaRPr lang="en-US" altLang="en-US" dirty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3" name="Text Box 9"/>
          <p:cNvSpPr txBox="1">
            <a:spLocks noChangeArrowheads="1"/>
          </p:cNvSpPr>
          <p:nvPr userDrawn="1"/>
        </p:nvSpPr>
        <p:spPr bwMode="auto">
          <a:xfrm>
            <a:off x="4221163" y="6613525"/>
            <a:ext cx="51752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itchFamily="2" charset="0"/>
              </a:rPr>
              <a:t>17.</a:t>
            </a:r>
            <a:fld id="{40720326-97D6-4F63-A380-127521996EE1}" type="slidenum">
              <a:rPr lang="en-US" altLang="en-US" sz="1000" b="1" smtClean="0">
                <a:solidFill>
                  <a:srgbClr val="006699"/>
                </a:solidFill>
                <a:latin typeface="Helvetica" pitchFamily="2" charset="0"/>
              </a:rPr>
            </a:fld>
            <a:endParaRPr lang="en-US" altLang="en-US" sz="1000" b="1">
              <a:solidFill>
                <a:srgbClr val="006699"/>
              </a:solidFill>
              <a:latin typeface="Helvetica" pitchFamily="2" charset="0"/>
            </a:endParaRPr>
          </a:p>
        </p:txBody>
      </p:sp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2" charset="0"/>
              </a:rPr>
              <a:t>Silberschatz, Galvin and Gagne ©2018</a:t>
            </a:r>
            <a:endParaRPr lang="en-US" altLang="en-US" sz="1000" b="1" dirty="0">
              <a:solidFill>
                <a:srgbClr val="006699"/>
              </a:solidFill>
              <a:latin typeface="Helvetica" pitchFamily="2" charset="0"/>
            </a:endParaRPr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2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pitchFamily="2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pitchFamily="2" charset="0"/>
              </a:rPr>
              <a:t> Edition</a:t>
            </a:r>
            <a:endParaRPr lang="en-US" altLang="en-US" sz="1000" b="1" dirty="0">
              <a:solidFill>
                <a:srgbClr val="006699"/>
              </a:solidFill>
              <a:latin typeface="Helvetica" pitchFamily="2" charset="0"/>
            </a:endParaRPr>
          </a:p>
        </p:txBody>
      </p:sp>
      <p:pic>
        <p:nvPicPr>
          <p:cNvPr id="1036" name="Picture 12" descr="dino_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1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817563"/>
            <a:ext cx="7772400" cy="2128837"/>
          </a:xfrm>
        </p:spPr>
        <p:txBody>
          <a:bodyPr/>
          <a:lstStyle/>
          <a:p>
            <a:pPr eaLnBrk="1" hangingPunct="1"/>
            <a:r>
              <a:rPr lang="en-US" altLang="en-US"/>
              <a:t>Chapter 17:  Protection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/>
          <p:cNvSpPr>
            <a:spLocks noGrp="1" noChangeArrowheads="1"/>
          </p:cNvSpPr>
          <p:nvPr>
            <p:ph type="title"/>
          </p:nvPr>
        </p:nvSpPr>
        <p:spPr>
          <a:xfrm>
            <a:off x="856406" y="242923"/>
            <a:ext cx="77184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17: Protection</a:t>
            </a:r>
            <a:endParaRPr lang="en-US" altLang="en-US" b="0" dirty="0"/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838" y="1172387"/>
            <a:ext cx="7351712" cy="4483100"/>
          </a:xfrm>
        </p:spPr>
        <p:txBody>
          <a:bodyPr/>
          <a:lstStyle/>
          <a:p>
            <a:r>
              <a:rPr lang="en-US" altLang="en-US" dirty="0"/>
              <a:t>Goals of Protection </a:t>
            </a:r>
            <a:endParaRPr lang="en-US" altLang="en-US" dirty="0"/>
          </a:p>
          <a:p>
            <a:r>
              <a:rPr lang="en-US" altLang="en-US" dirty="0"/>
              <a:t>Principles of Protection</a:t>
            </a:r>
            <a:endParaRPr lang="en-US" altLang="en-US" dirty="0"/>
          </a:p>
          <a:p>
            <a:r>
              <a:rPr lang="en-US" altLang="en-US" dirty="0"/>
              <a:t>Protection Rings</a:t>
            </a:r>
            <a:endParaRPr lang="en-US" altLang="en-US" dirty="0"/>
          </a:p>
          <a:p>
            <a:r>
              <a:rPr lang="en-US" altLang="en-US" dirty="0"/>
              <a:t>Domain of Protection</a:t>
            </a:r>
            <a:endParaRPr lang="en-US" altLang="en-US" dirty="0"/>
          </a:p>
          <a:p>
            <a:r>
              <a:rPr lang="en-US" altLang="en-US" dirty="0"/>
              <a:t>Access Matrix </a:t>
            </a:r>
            <a:endParaRPr lang="en-US" altLang="en-US" dirty="0"/>
          </a:p>
          <a:p>
            <a:r>
              <a:rPr lang="en-US" altLang="en-US" dirty="0" smtClean="0"/>
              <a:t>Revocation </a:t>
            </a:r>
            <a:r>
              <a:rPr lang="en-US" altLang="en-US" dirty="0"/>
              <a:t>of Access Rights 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/>
          <p:cNvSpPr>
            <a:spLocks noGrp="1" noChangeArrowheads="1"/>
          </p:cNvSpPr>
          <p:nvPr>
            <p:ph type="title"/>
          </p:nvPr>
        </p:nvSpPr>
        <p:spPr>
          <a:xfrm>
            <a:off x="307909" y="2478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Objectives</a:t>
            </a:r>
            <a:endParaRPr lang="en-US" altLang="en-US" dirty="0"/>
          </a:p>
        </p:txBody>
      </p:sp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2436" y="1177502"/>
            <a:ext cx="7656413" cy="4530725"/>
          </a:xfrm>
        </p:spPr>
        <p:txBody>
          <a:bodyPr/>
          <a:lstStyle/>
          <a:p>
            <a:r>
              <a:rPr lang="en-US" altLang="en-US" dirty="0"/>
              <a:t>Discuss the goals and principles of protection in a modern computer system</a:t>
            </a:r>
            <a:endParaRPr lang="en-US" altLang="en-US" dirty="0"/>
          </a:p>
          <a:p>
            <a:r>
              <a:rPr lang="en-US" altLang="en-US" dirty="0"/>
              <a:t>Explain how protection domains combined with an access matrix are used to specify the resources a process may access</a:t>
            </a:r>
            <a:endParaRPr lang="en-US" altLang="en-US" dirty="0"/>
          </a:p>
          <a:p>
            <a:r>
              <a:rPr lang="en-US" altLang="en-US" dirty="0"/>
              <a:t>Examine capability and language-based protection systems</a:t>
            </a:r>
            <a:endParaRPr lang="en-US" altLang="en-US" dirty="0"/>
          </a:p>
          <a:p>
            <a:r>
              <a:rPr lang="en-US" altLang="en-US" dirty="0"/>
              <a:t>Describe how protection mechanisms can mitigate system attacks</a:t>
            </a: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1026"/>
          <p:cNvSpPr>
            <a:spLocks noGrp="1" noChangeArrowheads="1"/>
          </p:cNvSpPr>
          <p:nvPr>
            <p:ph type="title"/>
          </p:nvPr>
        </p:nvSpPr>
        <p:spPr>
          <a:xfrm>
            <a:off x="765692" y="247880"/>
            <a:ext cx="77438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Goals of Protection</a:t>
            </a:r>
            <a:endParaRPr lang="en-US" altLang="en-US" dirty="0"/>
          </a:p>
        </p:txBody>
      </p:sp>
      <p:sp>
        <p:nvSpPr>
          <p:cNvPr id="11266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862436" y="1177502"/>
            <a:ext cx="7619090" cy="4530725"/>
          </a:xfrm>
        </p:spPr>
        <p:txBody>
          <a:bodyPr/>
          <a:lstStyle/>
          <a:p>
            <a:r>
              <a:rPr lang="en-US" altLang="en-US" dirty="0"/>
              <a:t>In one protection model,  computer consists of a collection of objects, hardware or software</a:t>
            </a:r>
            <a:endParaRPr lang="en-US" altLang="en-US" dirty="0"/>
          </a:p>
          <a:p>
            <a:r>
              <a:rPr lang="en-US" altLang="en-US" dirty="0"/>
              <a:t>Each object has a unique name and can be accessed through a well-defined set of operations</a:t>
            </a:r>
            <a:endParaRPr lang="en-US" altLang="en-US" dirty="0"/>
          </a:p>
          <a:p>
            <a:r>
              <a:rPr lang="en-US" altLang="en-US" dirty="0"/>
              <a:t>Protection problem - ensure that each object is accessed correctly and only by those processes that are allowed to do so</a:t>
            </a:r>
            <a:endParaRPr lang="en-US" altLang="en-US" dirty="0">
              <a:latin typeface="Courier New" panose="02070309020205020404" pitchFamily="49" charset="0"/>
            </a:endParaRPr>
          </a:p>
          <a:p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title"/>
          </p:nvPr>
        </p:nvSpPr>
        <p:spPr>
          <a:xfrm>
            <a:off x="804408" y="243929"/>
            <a:ext cx="7751762" cy="576262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rgbClr val="FF0000"/>
                </a:solidFill>
              </a:rPr>
              <a:t>Principles of Protection</a:t>
            </a:r>
            <a:endParaRPr lang="en-US" altLang="en-US" dirty="0">
              <a:solidFill>
                <a:srgbClr val="FF0000"/>
              </a:solidFill>
            </a:endParaRPr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7056" y="1172616"/>
            <a:ext cx="7699114" cy="4197350"/>
          </a:xfrm>
        </p:spPr>
        <p:txBody>
          <a:bodyPr/>
          <a:lstStyle/>
          <a:p>
            <a:r>
              <a:rPr lang="en-US" altLang="en-US" dirty="0"/>
              <a:t>Guiding principle –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principle of least privilege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Programs, users and systems should be given just enough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privileges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to perform their tasks</a:t>
            </a:r>
            <a:endParaRPr lang="en-US" altLang="en-US" dirty="0"/>
          </a:p>
          <a:p>
            <a:pPr lvl="1"/>
            <a:r>
              <a:rPr lang="en-US" altLang="en-US" dirty="0"/>
              <a:t>Properly set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permissions</a:t>
            </a:r>
            <a:r>
              <a:rPr lang="en-US" altLang="en-US" dirty="0"/>
              <a:t> can limit damage if entity has a bug, gets abused</a:t>
            </a:r>
            <a:endParaRPr lang="en-US" altLang="en-US" dirty="0"/>
          </a:p>
          <a:p>
            <a:pPr lvl="1"/>
            <a:r>
              <a:rPr lang="en-US" altLang="en-US" dirty="0"/>
              <a:t>Can be static (during life of system, during life of process) </a:t>
            </a:r>
            <a:endParaRPr lang="en-US" altLang="en-US" dirty="0"/>
          </a:p>
          <a:p>
            <a:pPr lvl="1"/>
            <a:r>
              <a:rPr lang="en-US" altLang="en-US" dirty="0"/>
              <a:t>Or dynamic (changed by process as needed) –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domain switching, privilege escalation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ja-JP" b="1" dirty="0">
                <a:solidFill>
                  <a:srgbClr val="006699"/>
                </a:solidFill>
                <a:latin typeface="+mj-lt"/>
              </a:rPr>
              <a:t>Compartmentalization</a:t>
            </a:r>
            <a:r>
              <a:rPr lang="en-US" altLang="ja-JP" dirty="0"/>
              <a:t> a derivative concept regarding access to data </a:t>
            </a:r>
            <a:endParaRPr lang="en-US" altLang="ja-JP" dirty="0"/>
          </a:p>
          <a:p>
            <a:pPr lvl="2"/>
            <a:r>
              <a:rPr lang="en-US" altLang="en-US" dirty="0"/>
              <a:t>Process of protecting each individual system component through the use of specific permissions and access restrictions</a:t>
            </a:r>
            <a:endParaRPr lang="en-US" altLang="en-US" dirty="0"/>
          </a:p>
          <a:p>
            <a:pPr lvl="2"/>
            <a:endParaRPr lang="en-US" altLang="en-US" dirty="0"/>
          </a:p>
          <a:p>
            <a:pPr lvl="2">
              <a:buFont typeface="Webdings" panose="05030102010509060703" pitchFamily="18" charset="2"/>
              <a:buNone/>
            </a:pPr>
            <a:endParaRPr lang="en-US" altLang="en-US" dirty="0"/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title"/>
          </p:nvPr>
        </p:nvSpPr>
        <p:spPr>
          <a:xfrm>
            <a:off x="944369" y="252253"/>
            <a:ext cx="7751762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Principles of Protection (Cont.)</a:t>
            </a:r>
            <a:endParaRPr lang="en-US" altLang="en-US" dirty="0"/>
          </a:p>
        </p:txBody>
      </p:sp>
      <p:sp>
        <p:nvSpPr>
          <p:cNvPr id="153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1430" y="1172616"/>
            <a:ext cx="7638757" cy="4530725"/>
          </a:xfrm>
        </p:spPr>
        <p:txBody>
          <a:bodyPr/>
          <a:lstStyle/>
          <a:p>
            <a:r>
              <a:rPr lang="en-US" altLang="en-US" dirty="0"/>
              <a:t>Must consider </a:t>
            </a:r>
            <a:r>
              <a:rPr lang="ja-JP" altLang="en-US" dirty="0"/>
              <a:t>“</a:t>
            </a:r>
            <a:r>
              <a:rPr lang="en-US" altLang="ja-JP" dirty="0"/>
              <a:t>grain</a:t>
            </a:r>
            <a:r>
              <a:rPr lang="ja-JP" altLang="en-US" dirty="0"/>
              <a:t>”</a:t>
            </a:r>
            <a:r>
              <a:rPr lang="en-US" altLang="ja-JP" dirty="0"/>
              <a:t> aspect</a:t>
            </a:r>
            <a:endParaRPr lang="en-US" altLang="ja-JP" dirty="0"/>
          </a:p>
          <a:p>
            <a:pPr lvl="1"/>
            <a:r>
              <a:rPr lang="en-US" altLang="en-US" dirty="0"/>
              <a:t>Rough-grained  privilege management easier, simpler, but least privilege now done in large chunks</a:t>
            </a:r>
            <a:endParaRPr lang="en-US" altLang="en-US" dirty="0"/>
          </a:p>
          <a:p>
            <a:pPr lvl="2"/>
            <a:r>
              <a:rPr lang="en-US" altLang="en-US" dirty="0"/>
              <a:t>For example, traditional Unix processes either have abilities of the associated user, or of root</a:t>
            </a:r>
            <a:endParaRPr lang="en-US" altLang="en-US" dirty="0"/>
          </a:p>
          <a:p>
            <a:pPr lvl="1"/>
            <a:r>
              <a:rPr lang="en-US" altLang="en-US" dirty="0"/>
              <a:t>Fine-grained management more complex, more overhead, but more protective</a:t>
            </a:r>
            <a:endParaRPr lang="en-US" altLang="en-US" dirty="0"/>
          </a:p>
          <a:p>
            <a:pPr lvl="2"/>
            <a:r>
              <a:rPr lang="en-US" altLang="en-US" dirty="0"/>
              <a:t>File ACL lists, RBAC</a:t>
            </a:r>
            <a:endParaRPr lang="en-US" altLang="en-US" dirty="0"/>
          </a:p>
          <a:p>
            <a:r>
              <a:rPr lang="en-US" altLang="en-US" dirty="0"/>
              <a:t>Domain can be user, process, procedure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Audit trail </a:t>
            </a:r>
            <a:r>
              <a:rPr lang="en-US" altLang="en-US" dirty="0"/>
              <a:t>– recording all protection-orientated activities, important to understanding what happened, why, and catching things that shouldn’t</a:t>
            </a:r>
            <a:endParaRPr lang="en-US" altLang="en-US" dirty="0"/>
          </a:p>
          <a:p>
            <a:r>
              <a:rPr lang="en-US" altLang="en-US" dirty="0"/>
              <a:t>No single principle is a panacea for security vulnerabilities – need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defense in depth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2"/>
            <a:endParaRPr lang="en-US" altLang="en-US" dirty="0"/>
          </a:p>
          <a:p>
            <a:pPr lvl="2"/>
            <a:endParaRPr lang="en-US" altLang="en-US" dirty="0"/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>
          <a:xfrm>
            <a:off x="823068" y="242923"/>
            <a:ext cx="7751762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Protection Rings</a:t>
            </a:r>
            <a:endParaRPr lang="en-US" altLang="en-US" dirty="0"/>
          </a:p>
        </p:txBody>
      </p:sp>
      <p:sp>
        <p:nvSpPr>
          <p:cNvPr id="174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3068" y="1050878"/>
            <a:ext cx="7723773" cy="5349922"/>
          </a:xfrm>
        </p:spPr>
        <p:txBody>
          <a:bodyPr/>
          <a:lstStyle/>
          <a:p>
            <a:r>
              <a:rPr lang="en-US" altLang="en-US" dirty="0"/>
              <a:t>Components ordered by amount of privilege and protected from each other</a:t>
            </a:r>
            <a:endParaRPr lang="en-US" altLang="en-US" dirty="0"/>
          </a:p>
          <a:p>
            <a:pPr lvl="1"/>
            <a:r>
              <a:rPr lang="en-US" altLang="en-US" dirty="0"/>
              <a:t>For example, the kernel is in one ring and user applications in another</a:t>
            </a:r>
            <a:endParaRPr lang="en-US" altLang="en-US" dirty="0"/>
          </a:p>
          <a:p>
            <a:pPr lvl="1"/>
            <a:r>
              <a:rPr lang="en-US" altLang="en-US" dirty="0"/>
              <a:t>This privilege separation requires hardware </a:t>
            </a:r>
            <a:r>
              <a:rPr lang="en-US" altLang="en-US" dirty="0" smtClean="0"/>
              <a:t>support</a:t>
            </a:r>
            <a:endParaRPr lang="en-US" altLang="en-US" dirty="0" smtClean="0"/>
          </a:p>
          <a:p>
            <a:pPr algn="just"/>
            <a:r>
              <a:rPr lang="en-US" dirty="0"/>
              <a:t>In order to return to a higher privilege level, code usually calls a </a:t>
            </a:r>
            <a:r>
              <a:rPr lang="en-US" dirty="0" smtClean="0"/>
              <a:t>special instruction</a:t>
            </a:r>
            <a:r>
              <a:rPr lang="en-US" dirty="0"/>
              <a:t>, sometimes referred to as a gate, which provides a portal </a:t>
            </a:r>
            <a:r>
              <a:rPr lang="en-US" dirty="0" smtClean="0"/>
              <a:t>between rings</a:t>
            </a:r>
            <a:r>
              <a:rPr lang="en-US" dirty="0"/>
              <a:t>. The </a:t>
            </a:r>
            <a:r>
              <a:rPr lang="en-US" sz="2400" dirty="0" err="1"/>
              <a:t>syscall</a:t>
            </a:r>
            <a:r>
              <a:rPr lang="en-US" sz="2400" dirty="0"/>
              <a:t> </a:t>
            </a:r>
            <a:r>
              <a:rPr lang="en-US" dirty="0"/>
              <a:t>instruction (in Intel) is one </a:t>
            </a:r>
            <a:r>
              <a:rPr lang="en-US" dirty="0" smtClean="0"/>
              <a:t>example</a:t>
            </a:r>
            <a:endParaRPr lang="en-US" dirty="0" smtClean="0"/>
          </a:p>
          <a:p>
            <a:r>
              <a:rPr lang="en-US" dirty="0" smtClean="0"/>
              <a:t>Another way </a:t>
            </a:r>
            <a:r>
              <a:rPr lang="en-US" dirty="0"/>
              <a:t>of ending up in a more privileged ring is on the occurrence </a:t>
            </a:r>
            <a:r>
              <a:rPr lang="en-US" dirty="0" smtClean="0"/>
              <a:t>of a </a:t>
            </a:r>
            <a:r>
              <a:rPr lang="en-US" dirty="0"/>
              <a:t>processor trap or an interrupt.</a:t>
            </a:r>
            <a:endParaRPr lang="en-US" altLang="en-US" dirty="0"/>
          </a:p>
          <a:p>
            <a:r>
              <a:rPr lang="en-US" altLang="en-US" b="1" dirty="0" smtClean="0">
                <a:solidFill>
                  <a:srgbClr val="006699"/>
                </a:solidFill>
                <a:latin typeface="+mj-lt"/>
              </a:rPr>
              <a:t>Hypervisors</a:t>
            </a:r>
            <a:r>
              <a:rPr lang="en-US" altLang="en-US" dirty="0" smtClean="0"/>
              <a:t> </a:t>
            </a:r>
            <a:r>
              <a:rPr lang="en-US" altLang="en-US" dirty="0"/>
              <a:t>introduced the need for yet another ring</a:t>
            </a:r>
            <a:endParaRPr lang="en-US" altLang="en-US" dirty="0"/>
          </a:p>
          <a:p>
            <a:r>
              <a:rPr lang="en-US" altLang="en-US" dirty="0"/>
              <a:t>ARMv7 processors added </a:t>
            </a:r>
            <a:r>
              <a:rPr lang="en-US" altLang="en-US" b="1" dirty="0" err="1">
                <a:solidFill>
                  <a:srgbClr val="006699"/>
                </a:solidFill>
                <a:latin typeface="+mj-lt"/>
              </a:rPr>
              <a:t>TrustZone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TZ</a:t>
            </a:r>
            <a:r>
              <a:rPr lang="en-US" altLang="en-US" dirty="0"/>
              <a:t>) ring to protect crypto functions with access via new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Secure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Monitor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Call</a:t>
            </a:r>
            <a:r>
              <a:rPr lang="en-US" altLang="en-US" dirty="0"/>
              <a:t>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SMC</a:t>
            </a:r>
            <a:r>
              <a:rPr lang="en-US" altLang="en-US" dirty="0"/>
              <a:t>) instruction</a:t>
            </a:r>
            <a:endParaRPr lang="en-US" altLang="en-US" dirty="0"/>
          </a:p>
          <a:p>
            <a:pPr lvl="1"/>
            <a:endParaRPr lang="en-US" altLang="en-US" dirty="0"/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ChangeArrowheads="1"/>
          </p:cNvSpPr>
          <p:nvPr>
            <p:ph type="title"/>
          </p:nvPr>
        </p:nvSpPr>
        <p:spPr>
          <a:xfrm>
            <a:off x="989884" y="238549"/>
            <a:ext cx="7713663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Protection Rings (MULTICS)</a:t>
            </a:r>
            <a:endParaRPr lang="en-US" altLang="en-US" dirty="0"/>
          </a:p>
        </p:txBody>
      </p:sp>
      <p:sp>
        <p:nvSpPr>
          <p:cNvPr id="194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1166" y="1174784"/>
            <a:ext cx="7369175" cy="1184275"/>
          </a:xfrm>
        </p:spPr>
        <p:txBody>
          <a:bodyPr/>
          <a:lstStyle/>
          <a:p>
            <a:r>
              <a:rPr lang="en-US" altLang="en-US" dirty="0"/>
              <a:t>Let </a:t>
            </a:r>
            <a:r>
              <a:rPr lang="en-US" altLang="en-US" i="1" dirty="0"/>
              <a:t>D</a:t>
            </a:r>
            <a:r>
              <a:rPr lang="en-US" altLang="en-US" i="1" baseline="-25000" dirty="0"/>
              <a:t>i</a:t>
            </a:r>
            <a:r>
              <a:rPr lang="en-US" altLang="en-US" dirty="0"/>
              <a:t> and </a:t>
            </a:r>
            <a:r>
              <a:rPr lang="en-US" altLang="en-US" i="1" dirty="0" err="1"/>
              <a:t>D</a:t>
            </a:r>
            <a:r>
              <a:rPr lang="en-US" altLang="en-US" i="1" baseline="-25000" dirty="0" err="1"/>
              <a:t>j</a:t>
            </a:r>
            <a:r>
              <a:rPr lang="en-US" altLang="en-US" baseline="-25000" dirty="0"/>
              <a:t> </a:t>
            </a:r>
            <a:r>
              <a:rPr lang="en-US" altLang="en-US" dirty="0"/>
              <a:t>be any two domain rings</a:t>
            </a:r>
            <a:endParaRPr lang="en-US" altLang="en-US" dirty="0"/>
          </a:p>
          <a:p>
            <a:r>
              <a:rPr lang="en-US" altLang="en-US" dirty="0"/>
              <a:t>If </a:t>
            </a:r>
            <a:r>
              <a:rPr lang="en-US" altLang="en-US" i="1" dirty="0"/>
              <a:t>j</a:t>
            </a:r>
            <a:r>
              <a:rPr lang="en-US" altLang="en-US" dirty="0"/>
              <a:t> &lt; </a:t>
            </a:r>
            <a:r>
              <a:rPr lang="en-US" altLang="en-US" i="1" dirty="0"/>
              <a:t>I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 </a:t>
            </a:r>
            <a:r>
              <a:rPr lang="en-US" altLang="en-US" i="1" dirty="0">
                <a:sym typeface="Symbol" panose="05050102010706020507" pitchFamily="18" charset="2"/>
              </a:rPr>
              <a:t>D</a:t>
            </a:r>
            <a:r>
              <a:rPr lang="en-US" altLang="en-US" i="1" baseline="-25000" dirty="0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  </a:t>
            </a:r>
            <a:r>
              <a:rPr lang="en-US" altLang="en-US" i="1" dirty="0" err="1">
                <a:sym typeface="Symbol" panose="05050102010706020507" pitchFamily="18" charset="2"/>
              </a:rPr>
              <a:t>D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j</a:t>
            </a:r>
            <a:endParaRPr lang="en-US" altLang="en-US" dirty="0"/>
          </a:p>
        </p:txBody>
      </p:sp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9884" y="1880248"/>
            <a:ext cx="6000750" cy="410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935038" y="168275"/>
            <a:ext cx="7751762" cy="576263"/>
          </a:xfrm>
        </p:spPr>
        <p:txBody>
          <a:bodyPr/>
          <a:lstStyle/>
          <a:p>
            <a:pPr eaLnBrk="1" hangingPunct="1"/>
            <a:r>
              <a:rPr lang="en-US" altLang="en-US"/>
              <a:t>Android use of TrustZone</a:t>
            </a:r>
            <a:endParaRPr lang="en-US" altLang="en-US"/>
          </a:p>
        </p:txBody>
      </p:sp>
      <p:sp>
        <p:nvSpPr>
          <p:cNvPr id="215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3438" y="1069975"/>
            <a:ext cx="6672262" cy="4530725"/>
          </a:xfrm>
        </p:spPr>
        <p:txBody>
          <a:bodyPr/>
          <a:lstStyle/>
          <a:p>
            <a:pPr lvl="2"/>
            <a:endParaRPr lang="en-US" altLang="en-US"/>
          </a:p>
          <a:p>
            <a:pPr lvl="1">
              <a:buFont typeface="Monotype Sorts" pitchFamily="-84" charset="2"/>
              <a:buNone/>
            </a:pPr>
            <a:endParaRPr lang="en-US" altLang="en-US"/>
          </a:p>
        </p:txBody>
      </p:sp>
      <p:pic>
        <p:nvPicPr>
          <p:cNvPr id="21507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600" y="923925"/>
            <a:ext cx="7513638" cy="506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 noChangeArrowheads="1"/>
          </p:cNvSpPr>
          <p:nvPr>
            <p:ph type="title"/>
          </p:nvPr>
        </p:nvSpPr>
        <p:spPr>
          <a:xfrm>
            <a:off x="984738" y="174867"/>
            <a:ext cx="7549662" cy="576262"/>
          </a:xfrm>
        </p:spPr>
        <p:txBody>
          <a:bodyPr/>
          <a:lstStyle/>
          <a:p>
            <a:r>
              <a:rPr lang="en-GB" altLang="en-US" dirty="0">
                <a:solidFill>
                  <a:srgbClr val="FF0000"/>
                </a:solidFill>
              </a:rPr>
              <a:t>1 </a:t>
            </a:r>
            <a:r>
              <a:rPr lang="en-US" altLang="en-US" dirty="0">
                <a:solidFill>
                  <a:srgbClr val="FF0000"/>
                </a:solidFill>
              </a:rPr>
              <a:t>Domain of Protection</a:t>
            </a:r>
            <a:endParaRPr lang="en-US" altLang="en-US" dirty="0">
              <a:solidFill>
                <a:srgbClr val="FF0000"/>
              </a:solidFill>
            </a:endParaRPr>
          </a:p>
        </p:txBody>
      </p:sp>
      <p:sp>
        <p:nvSpPr>
          <p:cNvPr id="24578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62436" y="1028208"/>
            <a:ext cx="6728429" cy="4505258"/>
          </a:xfrm>
        </p:spPr>
        <p:txBody>
          <a:bodyPr/>
          <a:lstStyle/>
          <a:p>
            <a:r>
              <a:rPr lang="en-US" altLang="en-US" dirty="0"/>
              <a:t>Rings of protection separate functions into domains and order them hierarchically  </a:t>
            </a:r>
            <a:endParaRPr lang="en-US" altLang="en-US" dirty="0"/>
          </a:p>
          <a:p>
            <a:r>
              <a:rPr lang="en-US" altLang="en-US" dirty="0"/>
              <a:t>Computer can be treated as processes and objects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Hardware objects </a:t>
            </a:r>
            <a:r>
              <a:rPr lang="en-US" altLang="en-US" dirty="0"/>
              <a:t>(such as devices) and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software objects </a:t>
            </a:r>
            <a:r>
              <a:rPr lang="en-US" altLang="en-US" dirty="0"/>
              <a:t>(such as files, programs, semaphores</a:t>
            </a:r>
            <a:endParaRPr lang="en-US" altLang="en-US" dirty="0"/>
          </a:p>
          <a:p>
            <a:r>
              <a:rPr lang="en-US" altLang="en-US" dirty="0"/>
              <a:t>Process for example should only have access to objects it currently requires to complete its task – the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need-to-know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principle</a:t>
            </a:r>
            <a:endParaRPr lang="en-US" altLang="en-US" dirty="0"/>
          </a:p>
          <a:p>
            <a:pPr marL="0" indent="0">
              <a:buNone/>
            </a:pPr>
            <a:endParaRPr lang="en-US" altLang="en-US" b="1" dirty="0">
              <a:solidFill>
                <a:srgbClr val="006699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 noChangeArrowheads="1"/>
          </p:cNvSpPr>
          <p:nvPr>
            <p:ph type="title"/>
          </p:nvPr>
        </p:nvSpPr>
        <p:spPr>
          <a:xfrm>
            <a:off x="984738" y="174867"/>
            <a:ext cx="7549662" cy="576262"/>
          </a:xfrm>
        </p:spPr>
        <p:txBody>
          <a:bodyPr/>
          <a:lstStyle/>
          <a:p>
            <a:r>
              <a:rPr lang="en-US" altLang="en-US" dirty="0"/>
              <a:t>Domain of Protection (Cont.)</a:t>
            </a:r>
            <a:endParaRPr lang="en-US" altLang="en-US" dirty="0"/>
          </a:p>
        </p:txBody>
      </p:sp>
      <p:sp>
        <p:nvSpPr>
          <p:cNvPr id="24578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62436" y="1028207"/>
            <a:ext cx="7727950" cy="4530725"/>
          </a:xfrm>
        </p:spPr>
        <p:txBody>
          <a:bodyPr/>
          <a:lstStyle/>
          <a:p>
            <a:r>
              <a:rPr lang="en-US" altLang="en-US" dirty="0"/>
              <a:t>Implementation can be via process operating in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protection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domain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Specifies resources process may access</a:t>
            </a:r>
            <a:endParaRPr lang="en-US" altLang="en-US" dirty="0"/>
          </a:p>
          <a:p>
            <a:pPr lvl="1"/>
            <a:r>
              <a:rPr lang="en-US" altLang="en-US" dirty="0"/>
              <a:t>Each domain specifies set of objects and types of operations on them</a:t>
            </a:r>
            <a:endParaRPr lang="en-US" altLang="en-US" dirty="0"/>
          </a:p>
          <a:p>
            <a:pPr lvl="1"/>
            <a:r>
              <a:rPr lang="en-US" altLang="en-US" dirty="0"/>
              <a:t>Ability to execute an operation on an object is an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access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right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2"/>
            <a:r>
              <a:rPr lang="en-US" altLang="en-US" dirty="0"/>
              <a:t>&lt;object-name, rights-set&gt;</a:t>
            </a:r>
            <a:endParaRPr lang="en-US" altLang="en-US" dirty="0"/>
          </a:p>
          <a:p>
            <a:pPr lvl="1"/>
            <a:r>
              <a:rPr lang="en-US" altLang="en-US" dirty="0"/>
              <a:t>Domains may share access rights</a:t>
            </a:r>
            <a:endParaRPr lang="en-US" altLang="en-US" dirty="0"/>
          </a:p>
          <a:p>
            <a:pPr lvl="1"/>
            <a:r>
              <a:rPr lang="en-US" altLang="en-US" dirty="0"/>
              <a:t>Associations can be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static</a:t>
            </a:r>
            <a:r>
              <a:rPr lang="en-US" altLang="en-US" dirty="0"/>
              <a:t> 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dynamic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If dynamic, processes can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domain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switch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54" y="239554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Domain Structure</a:t>
            </a:r>
            <a:endParaRPr lang="en-US" altLang="en-US" dirty="0"/>
          </a:p>
        </p:txBody>
      </p:sp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6409" y="1177502"/>
            <a:ext cx="7548464" cy="4530725"/>
          </a:xfrm>
        </p:spPr>
        <p:txBody>
          <a:bodyPr/>
          <a:lstStyle/>
          <a:p>
            <a:r>
              <a:rPr lang="en-US" altLang="en-US" dirty="0"/>
              <a:t>Access-right = &lt;</a:t>
            </a:r>
            <a:r>
              <a:rPr lang="en-US" altLang="en-US" i="1" dirty="0"/>
              <a:t>object-name</a:t>
            </a:r>
            <a:r>
              <a:rPr lang="en-US" altLang="en-US" dirty="0"/>
              <a:t>, </a:t>
            </a:r>
            <a:r>
              <a:rPr lang="en-US" altLang="en-US" i="1" dirty="0"/>
              <a:t>rights-set</a:t>
            </a:r>
            <a:r>
              <a:rPr lang="en-US" altLang="en-US" dirty="0"/>
              <a:t>&gt;</a:t>
            </a:r>
            <a:br>
              <a:rPr lang="en-US" altLang="en-US" dirty="0"/>
            </a:br>
            <a:r>
              <a:rPr lang="en-US" altLang="en-US" dirty="0"/>
              <a:t>where </a:t>
            </a:r>
            <a:r>
              <a:rPr lang="en-US" altLang="en-US" i="1" dirty="0"/>
              <a:t>rights-set</a:t>
            </a:r>
            <a:r>
              <a:rPr lang="en-US" altLang="en-US" dirty="0"/>
              <a:t> is a subset of all valid operations that can be performed on the object </a:t>
            </a:r>
            <a:endParaRPr lang="en-US" altLang="en-US" dirty="0"/>
          </a:p>
          <a:p>
            <a:r>
              <a:rPr lang="en-US" altLang="en-US" dirty="0"/>
              <a:t>Domain = set of access-rights </a:t>
            </a:r>
            <a:br>
              <a:rPr lang="en-US" altLang="en-US" dirty="0"/>
            </a:br>
            <a:endParaRPr lang="en-US" altLang="en-US" dirty="0"/>
          </a:p>
        </p:txBody>
      </p:sp>
      <p:pic>
        <p:nvPicPr>
          <p:cNvPr id="25603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250" y="2855201"/>
            <a:ext cx="7702550" cy="164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35602"/>
            <a:ext cx="77724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Domain Implementation (UNIX)</a:t>
            </a:r>
            <a:endParaRPr lang="en-US" altLang="en-US" dirty="0"/>
          </a:p>
        </p:txBody>
      </p:sp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9000" y="1171611"/>
            <a:ext cx="7695163" cy="4530725"/>
          </a:xfrm>
        </p:spPr>
        <p:txBody>
          <a:bodyPr/>
          <a:lstStyle/>
          <a:p>
            <a:r>
              <a:rPr lang="en-US" altLang="en-US" dirty="0"/>
              <a:t>Domain = user-id</a:t>
            </a:r>
            <a:endParaRPr lang="en-US" altLang="en-US" sz="800" dirty="0"/>
          </a:p>
          <a:p>
            <a:r>
              <a:rPr lang="en-US" altLang="en-US" dirty="0"/>
              <a:t>Domain switch accomplished via file system</a:t>
            </a:r>
            <a:endParaRPr lang="en-US" altLang="en-US" dirty="0"/>
          </a:p>
          <a:p>
            <a:pPr lvl="1"/>
            <a:r>
              <a:rPr lang="en-US" altLang="en-US" dirty="0"/>
              <a:t>Each file has associated with it a domain bit (</a:t>
            </a:r>
            <a:r>
              <a:rPr lang="en-US" altLang="en-US" dirty="0" err="1"/>
              <a:t>setuid</a:t>
            </a:r>
            <a:r>
              <a:rPr lang="en-US" altLang="en-US" dirty="0"/>
              <a:t> bit)</a:t>
            </a:r>
            <a:endParaRPr lang="en-US" altLang="en-US" dirty="0"/>
          </a:p>
          <a:p>
            <a:pPr lvl="1"/>
            <a:r>
              <a:rPr lang="en-US" altLang="en-US" dirty="0"/>
              <a:t>When file is executed and </a:t>
            </a:r>
            <a:r>
              <a:rPr lang="en-US" altLang="en-US" dirty="0" err="1"/>
              <a:t>setuid</a:t>
            </a:r>
            <a:r>
              <a:rPr lang="en-US" altLang="en-US" dirty="0"/>
              <a:t> = on, then user-id is set to owner of the file being executed</a:t>
            </a:r>
            <a:endParaRPr lang="en-US" altLang="en-US" dirty="0"/>
          </a:p>
          <a:p>
            <a:pPr lvl="1"/>
            <a:r>
              <a:rPr lang="en-US" altLang="en-US" dirty="0"/>
              <a:t> When execution completes user-id is reset </a:t>
            </a:r>
            <a:endParaRPr lang="en-US" altLang="en-US" sz="800" dirty="0"/>
          </a:p>
          <a:p>
            <a:r>
              <a:rPr lang="en-US" altLang="en-US" dirty="0"/>
              <a:t>Domain switch accomplished via passwords</a:t>
            </a:r>
            <a:endParaRPr lang="en-US" altLang="en-US" dirty="0"/>
          </a:p>
          <a:p>
            <a:pPr lvl="1"/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</a:t>
            </a:r>
            <a:r>
              <a:rPr lang="en-US" altLang="en-US" dirty="0"/>
              <a:t> command temporarily switches to another user</a:t>
            </a:r>
            <a:r>
              <a:rPr lang="ja-JP" altLang="en-US" dirty="0"/>
              <a:t>’</a:t>
            </a:r>
            <a:r>
              <a:rPr lang="en-US" altLang="ja-JP" dirty="0"/>
              <a:t>s domain when other domain</a:t>
            </a:r>
            <a:r>
              <a:rPr lang="ja-JP" altLang="en-US" dirty="0"/>
              <a:t>’</a:t>
            </a:r>
            <a:r>
              <a:rPr lang="en-US" altLang="ja-JP" dirty="0"/>
              <a:t>s password provided</a:t>
            </a:r>
            <a:endParaRPr lang="en-US" altLang="en-US" sz="800" dirty="0"/>
          </a:p>
          <a:p>
            <a:r>
              <a:rPr lang="en-US" altLang="en-US" dirty="0"/>
              <a:t>Domain switching via commands</a:t>
            </a:r>
            <a:endParaRPr lang="en-US" altLang="en-US" dirty="0"/>
          </a:p>
          <a:p>
            <a:pPr lvl="1"/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altLang="en-US" dirty="0"/>
              <a:t> command prefix executes specified command in another domain (if original domain has privilege or password given)</a:t>
            </a:r>
            <a:endParaRPr lang="en-US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>
          <a:xfrm>
            <a:off x="720433" y="233592"/>
            <a:ext cx="7751762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Access Matrix</a:t>
            </a:r>
            <a:endParaRPr lang="en-US" altLang="en-US" dirty="0"/>
          </a:p>
        </p:txBody>
      </p:sp>
      <p:sp>
        <p:nvSpPr>
          <p:cNvPr id="307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3375" y="1156512"/>
            <a:ext cx="6850062" cy="2006600"/>
          </a:xfrm>
        </p:spPr>
        <p:txBody>
          <a:bodyPr/>
          <a:lstStyle/>
          <a:p>
            <a:r>
              <a:rPr lang="en-US" altLang="en-US" dirty="0"/>
              <a:t>View protection as a matrix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access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matrix</a:t>
            </a:r>
            <a:r>
              <a:rPr lang="en-US" altLang="en-US" dirty="0"/>
              <a:t>)</a:t>
            </a:r>
            <a:endParaRPr lang="en-US" altLang="en-US" sz="800" dirty="0"/>
          </a:p>
          <a:p>
            <a:r>
              <a:rPr lang="en-US" altLang="en-US" dirty="0"/>
              <a:t>Rows represent domains</a:t>
            </a:r>
            <a:endParaRPr lang="en-US" altLang="en-US" sz="800" dirty="0"/>
          </a:p>
          <a:p>
            <a:r>
              <a:rPr lang="en-US" altLang="en-US" dirty="0"/>
              <a:t>Columns represent objects</a:t>
            </a:r>
            <a:endParaRPr lang="en-US" altLang="en-US" sz="800" dirty="0"/>
          </a:p>
          <a:p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Access(i, j) </a:t>
            </a:r>
            <a:r>
              <a:rPr lang="en-US" altLang="en-US" dirty="0"/>
              <a:t>is the set of operations that a process executing in </a:t>
            </a:r>
            <a:r>
              <a:rPr lang="en-US" altLang="en-US" dirty="0" err="1"/>
              <a:t>Domain</a:t>
            </a:r>
            <a:r>
              <a:rPr lang="en-US" altLang="en-US" b="1" baseline="-25000" dirty="0" err="1"/>
              <a:t>i</a:t>
            </a:r>
            <a:r>
              <a:rPr lang="en-US" altLang="en-US" dirty="0"/>
              <a:t> can invoke on </a:t>
            </a:r>
            <a:r>
              <a:rPr lang="en-US" altLang="en-US" dirty="0" err="1"/>
              <a:t>Object</a:t>
            </a:r>
            <a:r>
              <a:rPr lang="en-US" altLang="en-US" b="1" baseline="-25000" dirty="0" err="1"/>
              <a:t>j</a:t>
            </a:r>
            <a:endParaRPr lang="en-US" altLang="en-US" b="1" baseline="-25000" dirty="0"/>
          </a:p>
        </p:txBody>
      </p:sp>
      <p:pic>
        <p:nvPicPr>
          <p:cNvPr id="30723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2975" y="3125788"/>
            <a:ext cx="5073650" cy="2744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>
          <a:xfrm>
            <a:off x="671707" y="242923"/>
            <a:ext cx="8005762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Use of Access Matrix</a:t>
            </a:r>
            <a:endParaRPr lang="en-US" altLang="en-US" dirty="0"/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8417" y="1157905"/>
            <a:ext cx="7677085" cy="4689475"/>
          </a:xfrm>
        </p:spPr>
        <p:txBody>
          <a:bodyPr/>
          <a:lstStyle/>
          <a:p>
            <a:r>
              <a:rPr lang="en-US" altLang="en-US" dirty="0"/>
              <a:t>If a process in Domain </a:t>
            </a:r>
            <a:r>
              <a:rPr lang="en-US" altLang="en-US" i="1" dirty="0"/>
              <a:t>D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tries to do </a:t>
            </a:r>
            <a:r>
              <a:rPr lang="ja-JP" altLang="en-US" dirty="0"/>
              <a:t>“</a:t>
            </a:r>
            <a:r>
              <a:rPr lang="en-US" altLang="ja-JP" dirty="0"/>
              <a:t>op</a:t>
            </a:r>
            <a:r>
              <a:rPr lang="ja-JP" altLang="en-US" dirty="0"/>
              <a:t>”</a:t>
            </a:r>
            <a:r>
              <a:rPr lang="en-US" altLang="ja-JP" dirty="0"/>
              <a:t> on object</a:t>
            </a:r>
            <a:r>
              <a:rPr lang="en-US" altLang="ja-JP" i="1" dirty="0"/>
              <a:t> </a:t>
            </a:r>
            <a:r>
              <a:rPr lang="en-US" altLang="ja-JP" i="1" dirty="0" err="1"/>
              <a:t>O</a:t>
            </a:r>
            <a:r>
              <a:rPr lang="en-US" altLang="ja-JP" i="1" baseline="-25000" dirty="0" err="1"/>
              <a:t>j</a:t>
            </a:r>
            <a:r>
              <a:rPr lang="en-US" altLang="ja-JP" dirty="0"/>
              <a:t>, then </a:t>
            </a:r>
            <a:r>
              <a:rPr lang="ja-JP" altLang="en-US" dirty="0"/>
              <a:t>“</a:t>
            </a:r>
            <a:r>
              <a:rPr lang="en-US" altLang="ja-JP" dirty="0"/>
              <a:t>op</a:t>
            </a:r>
            <a:r>
              <a:rPr lang="ja-JP" altLang="en-US" dirty="0"/>
              <a:t>”</a:t>
            </a:r>
            <a:r>
              <a:rPr lang="en-US" altLang="ja-JP" dirty="0"/>
              <a:t> must be in the access matrix</a:t>
            </a:r>
            <a:endParaRPr lang="en-US" altLang="en-US" sz="800" dirty="0"/>
          </a:p>
          <a:p>
            <a:r>
              <a:rPr lang="en-US" altLang="en-US" dirty="0"/>
              <a:t>User who creates object can define access column for that object</a:t>
            </a:r>
            <a:endParaRPr lang="en-US" altLang="en-US" dirty="0"/>
          </a:p>
          <a:p>
            <a:r>
              <a:rPr lang="en-US" altLang="en-US" dirty="0"/>
              <a:t>Can be expanded to dynamic protection</a:t>
            </a:r>
            <a:endParaRPr lang="en-US" altLang="en-US" dirty="0"/>
          </a:p>
          <a:p>
            <a:pPr lvl="1"/>
            <a:r>
              <a:rPr lang="en-US" altLang="en-US" dirty="0"/>
              <a:t>Operations to add, delete access rights</a:t>
            </a:r>
            <a:endParaRPr lang="en-US" altLang="en-US" dirty="0"/>
          </a:p>
          <a:p>
            <a:pPr lvl="1"/>
            <a:r>
              <a:rPr lang="en-US" altLang="en-US" dirty="0"/>
              <a:t>Special access rights:</a:t>
            </a:r>
            <a:endParaRPr lang="en-US" altLang="en-US" dirty="0"/>
          </a:p>
          <a:p>
            <a:pPr lvl="2"/>
            <a:r>
              <a:rPr lang="en-US" altLang="en-US" i="1" dirty="0"/>
              <a:t>owner of O</a:t>
            </a:r>
            <a:r>
              <a:rPr lang="en-US" altLang="en-US" i="1" baseline="-25000" dirty="0"/>
              <a:t>i</a:t>
            </a:r>
            <a:endParaRPr lang="en-US" altLang="en-US" i="1" dirty="0"/>
          </a:p>
          <a:p>
            <a:pPr lvl="2"/>
            <a:r>
              <a:rPr lang="en-US" altLang="en-US" i="1" dirty="0"/>
              <a:t>copy op from O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to </a:t>
            </a:r>
            <a:r>
              <a:rPr lang="en-US" altLang="en-US" i="1" dirty="0" err="1"/>
              <a:t>O</a:t>
            </a:r>
            <a:r>
              <a:rPr lang="en-US" altLang="en-US" i="1" baseline="-25000" dirty="0" err="1"/>
              <a:t>j</a:t>
            </a:r>
            <a:r>
              <a:rPr lang="en-US" altLang="en-US" i="1" baseline="-25000" dirty="0"/>
              <a:t> </a:t>
            </a:r>
            <a:r>
              <a:rPr lang="en-US" altLang="en-US" i="1" dirty="0"/>
              <a:t>(denoted by </a:t>
            </a:r>
            <a:r>
              <a:rPr lang="ja-JP" altLang="en-US" i="1" dirty="0"/>
              <a:t>“</a:t>
            </a:r>
            <a:r>
              <a:rPr lang="en-US" altLang="ja-JP" i="1" dirty="0"/>
              <a:t>*</a:t>
            </a:r>
            <a:r>
              <a:rPr lang="ja-JP" altLang="en-US" i="1" dirty="0"/>
              <a:t>”</a:t>
            </a:r>
            <a:r>
              <a:rPr lang="en-US" altLang="ja-JP" i="1" dirty="0"/>
              <a:t>)</a:t>
            </a:r>
            <a:endParaRPr lang="en-US" altLang="ja-JP" i="1" dirty="0"/>
          </a:p>
          <a:p>
            <a:pPr lvl="2"/>
            <a:r>
              <a:rPr lang="en-US" altLang="en-US" i="1" dirty="0"/>
              <a:t>control – D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can modify </a:t>
            </a:r>
            <a:r>
              <a:rPr lang="en-US" altLang="en-US" i="1" dirty="0" err="1"/>
              <a:t>D</a:t>
            </a:r>
            <a:r>
              <a:rPr lang="en-US" altLang="en-US" i="1" baseline="-25000" dirty="0" err="1"/>
              <a:t>j</a:t>
            </a:r>
            <a:r>
              <a:rPr lang="en-US" altLang="en-US" i="1" dirty="0"/>
              <a:t> access rights</a:t>
            </a:r>
            <a:endParaRPr lang="en-US" altLang="en-US" i="1" dirty="0"/>
          </a:p>
          <a:p>
            <a:pPr lvl="2"/>
            <a:r>
              <a:rPr lang="en-US" altLang="en-US" i="1" dirty="0"/>
              <a:t>transfer – switch from domain D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to </a:t>
            </a:r>
            <a:r>
              <a:rPr lang="en-US" altLang="en-US" i="1" dirty="0" err="1"/>
              <a:t>D</a:t>
            </a:r>
            <a:r>
              <a:rPr lang="en-US" altLang="en-US" i="1" baseline="-25000" dirty="0" err="1"/>
              <a:t>j</a:t>
            </a:r>
            <a:endParaRPr lang="en-US" altLang="en-US" i="1" baseline="-25000" dirty="0"/>
          </a:p>
          <a:p>
            <a:pPr lvl="1"/>
            <a:r>
              <a:rPr lang="en-US" altLang="en-US" i="1" dirty="0"/>
              <a:t>Copy </a:t>
            </a:r>
            <a:r>
              <a:rPr lang="en-US" altLang="en-US" dirty="0"/>
              <a:t>and </a:t>
            </a:r>
            <a:r>
              <a:rPr lang="en-US" altLang="en-US" i="1" dirty="0"/>
              <a:t>Owner </a:t>
            </a:r>
            <a:r>
              <a:rPr lang="en-US" altLang="en-US" dirty="0"/>
              <a:t>applicable to an object</a:t>
            </a:r>
            <a:endParaRPr lang="en-US" altLang="en-US" dirty="0"/>
          </a:p>
          <a:p>
            <a:pPr lvl="1"/>
            <a:r>
              <a:rPr lang="en-US" altLang="en-US" i="1" dirty="0"/>
              <a:t>Control </a:t>
            </a:r>
            <a:r>
              <a:rPr lang="en-US" altLang="en-US" dirty="0"/>
              <a:t>applicable to domain object</a:t>
            </a:r>
            <a:endParaRPr lang="en-US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>
          <a:xfrm>
            <a:off x="801652" y="239552"/>
            <a:ext cx="78105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Use of Access Matrix (Cont.)</a:t>
            </a:r>
            <a:endParaRPr lang="en-US" altLang="en-US" dirty="0"/>
          </a:p>
        </p:txBody>
      </p:sp>
      <p:sp>
        <p:nvSpPr>
          <p:cNvPr id="348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8418" y="1160269"/>
            <a:ext cx="7751727" cy="4530725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Access matrix </a:t>
            </a:r>
            <a:r>
              <a:rPr lang="en-US" altLang="en-US" dirty="0"/>
              <a:t>design separates mechanism from policy</a:t>
            </a:r>
            <a:endParaRPr lang="en-US" altLang="en-US" dirty="0"/>
          </a:p>
          <a:p>
            <a:pPr lvl="1"/>
            <a:r>
              <a:rPr lang="en-US" altLang="en-US" dirty="0"/>
              <a:t>Mechanism </a:t>
            </a:r>
            <a:endParaRPr lang="en-US" altLang="en-US" dirty="0"/>
          </a:p>
          <a:p>
            <a:pPr lvl="2"/>
            <a:r>
              <a:rPr lang="en-US" altLang="en-US" dirty="0"/>
              <a:t>Operating system provides access-matrix + rules</a:t>
            </a:r>
            <a:endParaRPr lang="en-US" altLang="en-US" dirty="0"/>
          </a:p>
          <a:p>
            <a:pPr lvl="2"/>
            <a:r>
              <a:rPr lang="en-US" altLang="en-US" dirty="0"/>
              <a:t>If ensures that the matrix is only manipulated by authorized agents and that rules are strictly enforced</a:t>
            </a:r>
            <a:endParaRPr lang="en-US" altLang="en-US" dirty="0"/>
          </a:p>
          <a:p>
            <a:pPr lvl="1"/>
            <a:r>
              <a:rPr lang="en-US" altLang="en-US" dirty="0"/>
              <a:t>Policy</a:t>
            </a:r>
            <a:endParaRPr lang="en-US" altLang="en-US" dirty="0"/>
          </a:p>
          <a:p>
            <a:pPr lvl="2"/>
            <a:r>
              <a:rPr lang="en-US" altLang="en-US" dirty="0"/>
              <a:t>User dictates policy</a:t>
            </a:r>
            <a:endParaRPr lang="en-US" altLang="en-US" dirty="0"/>
          </a:p>
          <a:p>
            <a:pPr lvl="2"/>
            <a:r>
              <a:rPr lang="en-US" altLang="en-US" dirty="0"/>
              <a:t>Who can access what object and in what mode</a:t>
            </a:r>
            <a:endParaRPr lang="en-US" altLang="en-US" dirty="0"/>
          </a:p>
          <a:p>
            <a:r>
              <a:rPr lang="en-US" altLang="en-US" dirty="0"/>
              <a:t>But </a:t>
            </a:r>
            <a:r>
              <a:rPr lang="en-US" altLang="en-US" dirty="0" err="1"/>
              <a:t>doesn</a:t>
            </a:r>
            <a:r>
              <a:rPr lang="ja-JP" altLang="en-US" dirty="0"/>
              <a:t>’</a:t>
            </a:r>
            <a:r>
              <a:rPr lang="en-US" altLang="ja-JP" dirty="0"/>
              <a:t>t solve the general confinement problem</a:t>
            </a:r>
            <a:endParaRPr lang="en-US" altLang="ja-JP" dirty="0"/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>
          <a:xfrm>
            <a:off x="773047" y="374751"/>
            <a:ext cx="7747000" cy="51911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Access Matrix of Figure A with</a:t>
            </a:r>
            <a:br>
              <a:rPr lang="en-US" altLang="en-US" sz="2800" dirty="0"/>
            </a:br>
            <a:r>
              <a:rPr lang="en-US" altLang="en-US" sz="2800" dirty="0"/>
              <a:t>Domains as Objects</a:t>
            </a:r>
            <a:endParaRPr lang="en-US" altLang="en-US" sz="2800" dirty="0"/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263" y="1985963"/>
            <a:ext cx="7404100" cy="306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>
          <a:xfrm>
            <a:off x="793487" y="257209"/>
            <a:ext cx="77533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Access Matrix with </a:t>
            </a:r>
            <a:r>
              <a:rPr lang="en-US" altLang="en-US" i="1" dirty="0"/>
              <a:t>Copy</a:t>
            </a:r>
            <a:r>
              <a:rPr lang="en-US" altLang="en-US" dirty="0"/>
              <a:t> Rights</a:t>
            </a:r>
            <a:endParaRPr lang="en-US" altLang="en-US" dirty="0"/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7113" y="1339850"/>
            <a:ext cx="4832350" cy="512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/>
          </p:nvPr>
        </p:nvSpPr>
        <p:spPr>
          <a:xfrm>
            <a:off x="845454" y="248883"/>
            <a:ext cx="77819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Access Matrix With </a:t>
            </a:r>
            <a:r>
              <a:rPr lang="en-US" altLang="en-US" i="1" dirty="0"/>
              <a:t>Owner</a:t>
            </a:r>
            <a:r>
              <a:rPr lang="en-US" altLang="en-US" dirty="0"/>
              <a:t> Rights</a:t>
            </a:r>
            <a:endParaRPr lang="en-US" altLang="en-US" dirty="0"/>
          </a:p>
        </p:txBody>
      </p: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0663" y="1428750"/>
            <a:ext cx="3667125" cy="476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title"/>
          </p:nvPr>
        </p:nvSpPr>
        <p:spPr>
          <a:xfrm>
            <a:off x="952176" y="247880"/>
            <a:ext cx="7840663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Modified Access Matrix of Figure B</a:t>
            </a:r>
            <a:endParaRPr lang="en-US" altLang="en-US" dirty="0"/>
          </a:p>
        </p:txBody>
      </p:sp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075" y="1898650"/>
            <a:ext cx="7756525" cy="320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 noChangeArrowheads="1"/>
          </p:cNvSpPr>
          <p:nvPr>
            <p:ph type="title"/>
          </p:nvPr>
        </p:nvSpPr>
        <p:spPr>
          <a:xfrm>
            <a:off x="919515" y="248301"/>
            <a:ext cx="7673975" cy="576263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rgbClr val="FF0000"/>
                </a:solidFill>
              </a:rPr>
              <a:t>Revocation of Access Rights</a:t>
            </a:r>
            <a:endParaRPr lang="en-US" altLang="en-US" dirty="0">
              <a:solidFill>
                <a:srgbClr val="FF0000"/>
              </a:solidFill>
            </a:endParaRPr>
          </a:p>
        </p:txBody>
      </p:sp>
      <p:sp>
        <p:nvSpPr>
          <p:cNvPr id="542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3707" y="1172227"/>
            <a:ext cx="7607820" cy="4740275"/>
          </a:xfrm>
        </p:spPr>
        <p:txBody>
          <a:bodyPr/>
          <a:lstStyle/>
          <a:p>
            <a:r>
              <a:rPr lang="en-US" altLang="en-US" dirty="0"/>
              <a:t>Various options to remove the access right of a domain to an object</a:t>
            </a:r>
            <a:endParaRPr lang="en-US" altLang="en-US" dirty="0"/>
          </a:p>
          <a:p>
            <a:pPr lvl="1"/>
            <a:r>
              <a:rPr lang="en-US" altLang="en-US" b="1" dirty="0"/>
              <a:t>Immediate vs. delayed</a:t>
            </a:r>
            <a:endParaRPr lang="en-US" altLang="en-US" b="1" dirty="0"/>
          </a:p>
          <a:p>
            <a:pPr lvl="1"/>
            <a:r>
              <a:rPr lang="en-US" altLang="en-US" b="1" dirty="0"/>
              <a:t>Selective vs. general</a:t>
            </a:r>
            <a:endParaRPr lang="en-US" altLang="en-US" b="1" dirty="0"/>
          </a:p>
          <a:p>
            <a:pPr lvl="1"/>
            <a:r>
              <a:rPr lang="en-US" altLang="en-US" b="1" dirty="0"/>
              <a:t>Partial vs. total</a:t>
            </a:r>
            <a:endParaRPr lang="en-US" altLang="en-US" b="1" dirty="0"/>
          </a:p>
          <a:p>
            <a:pPr lvl="1"/>
            <a:r>
              <a:rPr lang="en-US" altLang="en-US" b="1" dirty="0"/>
              <a:t>Temporary vs. permanent</a:t>
            </a:r>
            <a:endParaRPr lang="en-US" altLang="en-US" b="1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Access List </a:t>
            </a:r>
            <a:r>
              <a:rPr lang="en-US" altLang="en-US" dirty="0"/>
              <a:t>– Delete access rights from access list</a:t>
            </a:r>
            <a:endParaRPr lang="en-US" altLang="en-US" dirty="0"/>
          </a:p>
          <a:p>
            <a:pPr lvl="1"/>
            <a:r>
              <a:rPr lang="en-US" altLang="en-US" b="1" dirty="0"/>
              <a:t>Simple</a:t>
            </a:r>
            <a:r>
              <a:rPr lang="en-US" altLang="en-US" dirty="0"/>
              <a:t> – search access list and remove entry</a:t>
            </a:r>
            <a:endParaRPr lang="en-US" altLang="en-US" dirty="0"/>
          </a:p>
          <a:p>
            <a:pPr lvl="1"/>
            <a:r>
              <a:rPr lang="en-US" altLang="en-US" b="1" dirty="0"/>
              <a:t>Immediate</a:t>
            </a:r>
            <a:r>
              <a:rPr lang="en-US" altLang="en-US" dirty="0"/>
              <a:t>, </a:t>
            </a:r>
            <a:r>
              <a:rPr lang="en-US" altLang="en-US" b="1" dirty="0"/>
              <a:t>general</a:t>
            </a:r>
            <a:r>
              <a:rPr lang="en-US" altLang="en-US" dirty="0"/>
              <a:t> or </a:t>
            </a:r>
            <a:r>
              <a:rPr lang="en-US" altLang="en-US" b="1" dirty="0"/>
              <a:t>selective</a:t>
            </a:r>
            <a:r>
              <a:rPr lang="en-US" altLang="en-US" dirty="0"/>
              <a:t>, </a:t>
            </a:r>
            <a:r>
              <a:rPr lang="en-US" altLang="en-US" b="1" dirty="0"/>
              <a:t>total</a:t>
            </a:r>
            <a:r>
              <a:rPr lang="en-US" altLang="en-US" dirty="0"/>
              <a:t> or </a:t>
            </a:r>
            <a:r>
              <a:rPr lang="en-US" altLang="en-US" b="1" dirty="0"/>
              <a:t>partial</a:t>
            </a:r>
            <a:r>
              <a:rPr lang="en-US" altLang="en-US" dirty="0"/>
              <a:t>, </a:t>
            </a:r>
            <a:r>
              <a:rPr lang="en-US" altLang="en-US" b="1" dirty="0"/>
              <a:t>permanent</a:t>
            </a:r>
            <a:r>
              <a:rPr lang="en-US" altLang="en-US" dirty="0"/>
              <a:t> or </a:t>
            </a:r>
            <a:r>
              <a:rPr lang="en-US" altLang="en-US" b="1" dirty="0"/>
              <a:t>temporary</a:t>
            </a:r>
            <a:endParaRPr lang="en-US" altLang="en-US" b="1" dirty="0"/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262188"/>
          </a:xfrm>
        </p:spPr>
        <p:txBody>
          <a:bodyPr/>
          <a:lstStyle/>
          <a:p>
            <a:pPr eaLnBrk="1" hangingPunct="1"/>
            <a:r>
              <a:rPr lang="en-US" altLang="en-US"/>
              <a:t>End of Chapter 17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0</TotalTime>
  <Words>5838</Words>
  <Application>WPS Presentation</Application>
  <PresentationFormat>On-screen Show (4:3)</PresentationFormat>
  <Paragraphs>165</Paragraphs>
  <Slides>22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7" baseType="lpstr">
      <vt:lpstr>Arial</vt:lpstr>
      <vt:lpstr>SimSun</vt:lpstr>
      <vt:lpstr>Wingdings</vt:lpstr>
      <vt:lpstr>Verdana</vt:lpstr>
      <vt:lpstr>MS PGothic</vt:lpstr>
      <vt:lpstr>Times New Roman</vt:lpstr>
      <vt:lpstr>Helvetica</vt:lpstr>
      <vt:lpstr>Webdings</vt:lpstr>
      <vt:lpstr>Courier New</vt:lpstr>
      <vt:lpstr>Monotype Sorts</vt:lpstr>
      <vt:lpstr>Symbol</vt:lpstr>
      <vt:lpstr>Microsoft YaHei</vt:lpstr>
      <vt:lpstr>Arial Unicode MS</vt:lpstr>
      <vt:lpstr>Wingdings</vt:lpstr>
      <vt:lpstr>os-8</vt:lpstr>
      <vt:lpstr>Chapter 17:  Protection</vt:lpstr>
      <vt:lpstr>Chapter 17: Protection</vt:lpstr>
      <vt:lpstr>Objectives</vt:lpstr>
      <vt:lpstr>Goals of Protection</vt:lpstr>
      <vt:lpstr>Principles of Protection</vt:lpstr>
      <vt:lpstr>Principles of Protection (Cont.)</vt:lpstr>
      <vt:lpstr>Protection Rings</vt:lpstr>
      <vt:lpstr>Protection Rings (MULTICS)</vt:lpstr>
      <vt:lpstr>Android use of TrustZone</vt:lpstr>
      <vt:lpstr>Domain of Protection</vt:lpstr>
      <vt:lpstr>Domain of Protection (Cont.)</vt:lpstr>
      <vt:lpstr>Domain Structure</vt:lpstr>
      <vt:lpstr>Domain Implementation (UNIX)</vt:lpstr>
      <vt:lpstr>Access Matrix</vt:lpstr>
      <vt:lpstr>Use of Access Matrix</vt:lpstr>
      <vt:lpstr>Use of Access Matrix (Cont.)</vt:lpstr>
      <vt:lpstr>Access Matrix of Figure A with Domains as Objects</vt:lpstr>
      <vt:lpstr>Access Matrix with Copy Rights</vt:lpstr>
      <vt:lpstr>Access Matrix With Owner Rights</vt:lpstr>
      <vt:lpstr>Modified Access Matrix of Figure B</vt:lpstr>
      <vt:lpstr>Revocation of Access Rights</vt:lpstr>
      <vt:lpstr>End of Chapter 17</vt:lpstr>
    </vt:vector>
  </TitlesOfParts>
  <Company>Lucent Technologies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PC</cp:lastModifiedBy>
  <cp:revision>238</cp:revision>
  <cp:lastPrinted>2013-09-10T17:57:00Z</cp:lastPrinted>
  <dcterms:created xsi:type="dcterms:W3CDTF">2011-01-13T23:43:00Z</dcterms:created>
  <dcterms:modified xsi:type="dcterms:W3CDTF">2024-05-15T18:07:01Z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2F3520B4459C461C9B700DF0D456BB9E_12</vt:lpwstr>
  </property>
  <property fmtid="{D5CDD505-2E9C-101B-9397-08002B2CF9AE}" pid="3" name="KSOProductBuildVer">
    <vt:lpwstr>2057-12.2.0.16909</vt:lpwstr>
  </property>
</Properties>
</file>