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74" r:id="rId3"/>
    <p:sldId id="256" r:id="rId4"/>
    <p:sldId id="257" r:id="rId5"/>
    <p:sldId id="294" r:id="rId6"/>
    <p:sldId id="262" r:id="rId7"/>
    <p:sldId id="264" r:id="rId8"/>
    <p:sldId id="265" r:id="rId9"/>
    <p:sldId id="258" r:id="rId10"/>
    <p:sldId id="268" r:id="rId11"/>
    <p:sldId id="296" r:id="rId12"/>
    <p:sldId id="266" r:id="rId13"/>
    <p:sldId id="267" r:id="rId14"/>
    <p:sldId id="326" r:id="rId15"/>
    <p:sldId id="350" r:id="rId16"/>
    <p:sldId id="277" r:id="rId17"/>
    <p:sldId id="273" r:id="rId18"/>
    <p:sldId id="314" r:id="rId19"/>
    <p:sldId id="282" r:id="rId20"/>
    <p:sldId id="391" r:id="rId21"/>
    <p:sldId id="317" r:id="rId22"/>
    <p:sldId id="278" r:id="rId23"/>
    <p:sldId id="393" r:id="rId24"/>
    <p:sldId id="374" r:id="rId26"/>
    <p:sldId id="311" r:id="rId27"/>
    <p:sldId id="312" r:id="rId28"/>
    <p:sldId id="280" r:id="rId29"/>
    <p:sldId id="313" r:id="rId30"/>
    <p:sldId id="281" r:id="rId31"/>
    <p:sldId id="341" r:id="rId32"/>
    <p:sldId id="316" r:id="rId33"/>
    <p:sldId id="315" r:id="rId34"/>
    <p:sldId id="354" r:id="rId35"/>
    <p:sldId id="342" r:id="rId36"/>
    <p:sldId id="345" r:id="rId37"/>
    <p:sldId id="346" r:id="rId38"/>
    <p:sldId id="348" r:id="rId39"/>
    <p:sldId id="352" r:id="rId40"/>
    <p:sldId id="353" r:id="rId41"/>
    <p:sldId id="349"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2" userDrawn="1">
          <p15:clr>
            <a:srgbClr val="A4A3A4"/>
          </p15:clr>
        </p15:guide>
        <p15:guide id="2" pos="277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82" d="100"/>
          <a:sy n="82" d="100"/>
        </p:scale>
        <p:origin x="-1474" y="-91"/>
      </p:cViewPr>
      <p:guideLst>
        <p:guide orient="horz" pos="2212"/>
        <p:guide pos="277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notesMaster" Target="notesMasters/notesMaster1.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latin typeface="Times New Roman" panose="02020603050405020304" charset="0"/>
              </a:rPr>
            </a:fld>
            <a:endParaRPr lang="en-US" altLang="en-US" sz="1200" dirty="0">
              <a:latin typeface="Times New Roman" panose="02020603050405020304" charset="0"/>
            </a:endParaRPr>
          </a:p>
        </p:txBody>
      </p:sp>
      <p:sp>
        <p:nvSpPr>
          <p:cNvPr id="90115" name="Rectangle 2"/>
          <p:cNvSpPr>
            <a:spLocks noTextEdit="1"/>
          </p:cNvSpPr>
          <p:nvPr>
            <p:ph type="sldImg"/>
          </p:nvPr>
        </p:nvSpPr>
        <p:spPr/>
      </p:sp>
      <p:sp>
        <p:nvSpPr>
          <p:cNvPr id="90116" name="Rectangle 3"/>
          <p:cNvSpPr>
            <a:spLocks noGrp="1"/>
          </p:cNvSpPr>
          <p:nvPr>
            <p:ph type="body" idx="1"/>
          </p:nvPr>
        </p:nvSpPr>
        <p:spPr>
          <a:xfrm>
            <a:off x="944563" y="4452938"/>
            <a:ext cx="5197475" cy="4214812"/>
          </a:xfrm>
        </p:spPr>
        <p:txBody>
          <a:bodyPr wrap="none" lIns="94035" tIns="47017" rIns="94035" bIns="47017" anchor="ctr" anchorCtr="0"/>
          <a:p>
            <a:pPr lvl="0"/>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4CEB466B-DD8C-4644-8C78-47FF0C9FEDBD}"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2A25BF1-E6B4-43D9-9E52-8023324BCC69}" type="slidenum">
              <a:rPr lang="en-GB" smtClean="0"/>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a:p>
        </p:txBody>
      </p:sp>
      <p:sp>
        <p:nvSpPr>
          <p:cNvPr id="4" name="Date Placeholder 3"/>
          <p:cNvSpPr>
            <a:spLocks noGrp="1"/>
          </p:cNvSpPr>
          <p:nvPr>
            <p:ph type="dt" sz="half" idx="10"/>
          </p:nvPr>
        </p:nvSpPr>
        <p:spPr/>
        <p:txBody>
          <a:bodyPr/>
          <a:lstStyle/>
          <a:p>
            <a:fld id="{4CEB466B-DD8C-4644-8C78-47FF0C9FEDBD}"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2A25BF1-E6B4-43D9-9E52-8023324BCC69}" type="slidenum">
              <a:rPr lang="en-GB" smtClean="0"/>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4CEB466B-DD8C-4644-8C78-47FF0C9FEDBD}"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2A25BF1-E6B4-43D9-9E52-8023324BCC69}" type="slidenum">
              <a:rPr lang="en-GB" smtClean="0"/>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a:p>
        </p:txBody>
      </p:sp>
      <p:sp>
        <p:nvSpPr>
          <p:cNvPr id="5" name="Date Placeholder 4"/>
          <p:cNvSpPr>
            <a:spLocks noGrp="1"/>
          </p:cNvSpPr>
          <p:nvPr>
            <p:ph type="dt" sz="half" idx="10"/>
          </p:nvPr>
        </p:nvSpPr>
        <p:spPr/>
        <p:txBody>
          <a:bodyPr/>
          <a:lstStyle/>
          <a:p>
            <a:fld id="{4CEB466B-DD8C-4644-8C78-47FF0C9FEDBD}"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2A25BF1-E6B4-43D9-9E52-8023324BCC69}" type="slidenum">
              <a:rPr lang="en-GB" smtClean="0"/>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a:p>
        </p:txBody>
      </p:sp>
      <p:sp>
        <p:nvSpPr>
          <p:cNvPr id="7" name="Date Placeholder 6"/>
          <p:cNvSpPr>
            <a:spLocks noGrp="1"/>
          </p:cNvSpPr>
          <p:nvPr>
            <p:ph type="dt" sz="half" idx="10"/>
          </p:nvPr>
        </p:nvSpPr>
        <p:spPr/>
        <p:txBody>
          <a:bodyPr/>
          <a:lstStyle/>
          <a:p>
            <a:fld id="{4CEB466B-DD8C-4644-8C78-47FF0C9FEDBD}" type="datetimeFigureOut">
              <a:rPr lang="en-GB" smtClean="0"/>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2A25BF1-E6B4-43D9-9E52-8023324BCC69}" type="slidenum">
              <a:rPr lang="en-GB" smtClean="0"/>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4CEB466B-DD8C-4644-8C78-47FF0C9FEDBD}" type="datetimeFigureOut">
              <a:rPr lang="en-GB" smtClean="0"/>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2A25BF1-E6B4-43D9-9E52-8023324BCC69}" type="slidenum">
              <a:rPr lang="en-GB" smtClean="0"/>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EB466B-DD8C-4644-8C78-47FF0C9FEDBD}" type="datetimeFigureOut">
              <a:rPr lang="en-GB" smtClean="0"/>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E2A25BF1-E6B4-43D9-9E52-8023324BCC69}" type="slidenum">
              <a:rPr lang="en-GB" smtClean="0"/>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4CEB466B-DD8C-4644-8C78-47FF0C9FEDBD}"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2A25BF1-E6B4-43D9-9E52-8023324BCC69}" type="slidenum">
              <a:rPr lang="en-GB" smtClean="0"/>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4CEB466B-DD8C-4644-8C78-47FF0C9FEDBD}"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2A25BF1-E6B4-43D9-9E52-8023324BCC69}" type="slidenum">
              <a:rPr lang="en-GB" smtClean="0"/>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a:p>
        </p:txBody>
      </p:sp>
      <p:sp>
        <p:nvSpPr>
          <p:cNvPr id="4" name="Date Placeholder 3"/>
          <p:cNvSpPr>
            <a:spLocks noGrp="1"/>
          </p:cNvSpPr>
          <p:nvPr>
            <p:ph type="dt" sz="half" idx="10"/>
          </p:nvPr>
        </p:nvSpPr>
        <p:spPr/>
        <p:txBody>
          <a:bodyPr/>
          <a:lstStyle/>
          <a:p>
            <a:fld id="{4CEB466B-DD8C-4644-8C78-47FF0C9FEDBD}"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2A25BF1-E6B4-43D9-9E52-8023324BCC69}" type="slidenum">
              <a:rPr lang="en-GB" smtClean="0"/>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a:p>
        </p:txBody>
      </p:sp>
      <p:sp>
        <p:nvSpPr>
          <p:cNvPr id="4" name="Date Placeholder 3"/>
          <p:cNvSpPr>
            <a:spLocks noGrp="1"/>
          </p:cNvSpPr>
          <p:nvPr>
            <p:ph type="dt" sz="half" idx="10"/>
          </p:nvPr>
        </p:nvSpPr>
        <p:spPr/>
        <p:txBody>
          <a:bodyPr/>
          <a:lstStyle/>
          <a:p>
            <a:fld id="{4CEB466B-DD8C-4644-8C78-47FF0C9FEDBD}"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2A25BF1-E6B4-43D9-9E52-8023324BCC69}" type="slidenum">
              <a:rPr lang="en-GB" smtClean="0"/>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4CEB466B-DD8C-4644-8C78-47FF0C9FEDBD}"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2A25BF1-E6B4-43D9-9E52-8023324BCC69}" type="slidenum">
              <a:rPr lang="en-GB" smtClean="0"/>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EB466B-DD8C-4644-8C78-47FF0C9FEDBD}" type="datetimeFigureOut">
              <a:rPr lang="en-GB" smtClean="0"/>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A25BF1-E6B4-43D9-9E52-8023324BCC69}" type="slidenum">
              <a:rPr lang="en-GB" smtClean="0"/>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0.wmf"/></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9.emf"/><Relationship Id="rId1" Type="http://schemas.openxmlformats.org/officeDocument/2006/relationships/image" Target="../media/image18.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1417638"/>
            <a:ext cx="8229600" cy="1143000"/>
          </a:xfrm>
        </p:spPr>
        <p:txBody>
          <a:bodyPr>
            <a:normAutofit fontScale="90000"/>
          </a:bodyPr>
          <a:p>
            <a:r>
              <a:rPr lang="en-GB" sz="4445" b="1" dirty="0" smtClean="0">
                <a:sym typeface="+mn-ea"/>
              </a:rPr>
              <a:t>Chapter 2</a:t>
            </a:r>
            <a:br>
              <a:rPr lang="en-GB" sz="6665" b="1" dirty="0" smtClean="0">
                <a:sym typeface="+mn-ea"/>
              </a:rPr>
            </a:br>
            <a:r>
              <a:rPr lang="en-GB" sz="6665" b="1" dirty="0" smtClean="0">
                <a:sym typeface="+mn-ea"/>
              </a:rPr>
              <a:t>Process </a:t>
            </a:r>
            <a:endParaRPr lang="en-GB" altLang="en-US" sz="6665" b="1"/>
          </a:p>
        </p:txBody>
      </p:sp>
      <p:sp>
        <p:nvSpPr>
          <p:cNvPr id="3" name="Content Placeholder 2"/>
          <p:cNvSpPr>
            <a:spLocks noGrp="1"/>
          </p:cNvSpPr>
          <p:nvPr>
            <p:ph idx="1"/>
          </p:nvPr>
        </p:nvSpPr>
        <p:spPr>
          <a:xfrm>
            <a:off x="395605" y="1165860"/>
            <a:ext cx="8229600" cy="4525963"/>
          </a:xfrm>
        </p:spPr>
        <p:txBody>
          <a:bodyPr/>
          <a:p>
            <a:pPr marL="0" indent="0">
              <a:buNone/>
            </a:pPr>
            <a:endParaRPr lang="en-GB" altLang="en-US"/>
          </a:p>
          <a:p>
            <a:pPr marL="0" indent="0">
              <a:buNone/>
            </a:pPr>
            <a:endParaRPr lang="en-GB" altLang="en-US"/>
          </a:p>
          <a:p>
            <a:pPr marL="0" indent="0">
              <a:buNone/>
            </a:pPr>
            <a:endParaRPr lang="en-GB" altLang="en-US"/>
          </a:p>
          <a:p>
            <a:pPr marL="0" indent="0">
              <a:buNone/>
            </a:pPr>
            <a:endParaRPr lang="en-GB" altLang="en-US"/>
          </a:p>
          <a:p>
            <a:pPr marL="0" indent="0">
              <a:buNone/>
            </a:pPr>
            <a:r>
              <a:rPr lang="en-GB" altLang="en-US"/>
              <a:t>                           Mohammed Arfat</a:t>
            </a:r>
            <a:endParaRPr lang="en-GB" altLang="en-US"/>
          </a:p>
          <a:p>
            <a:pPr marL="0" indent="0">
              <a:buNone/>
            </a:pPr>
            <a:r>
              <a:rPr lang="en-GB" altLang="en-US"/>
              <a:t>     International Islamic University Chittagong </a:t>
            </a:r>
            <a:endParaRPr lang="en-GB"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620688"/>
            <a:ext cx="7772400" cy="1470025"/>
          </a:xfrm>
        </p:spPr>
        <p:txBody>
          <a:bodyPr>
            <a:normAutofit/>
          </a:bodyPr>
          <a:lstStyle/>
          <a:p>
            <a:r>
              <a:rPr lang="en-GB" dirty="0"/>
              <a:t>What is process?</a:t>
            </a:r>
            <a:br>
              <a:rPr lang="en-GB" dirty="0"/>
            </a:br>
            <a:r>
              <a:rPr lang="en-GB" sz="4000" dirty="0"/>
              <a:t>A process is a program in execution.</a:t>
            </a:r>
            <a:endParaRPr lang="en-GB" sz="4000" dirty="0"/>
          </a:p>
        </p:txBody>
      </p:sp>
      <p:sp>
        <p:nvSpPr>
          <p:cNvPr id="3" name="Subtitle 2"/>
          <p:cNvSpPr>
            <a:spLocks noGrp="1"/>
          </p:cNvSpPr>
          <p:nvPr>
            <p:ph type="subTitle" idx="1"/>
          </p:nvPr>
        </p:nvSpPr>
        <p:spPr>
          <a:xfrm>
            <a:off x="395605" y="2852420"/>
            <a:ext cx="8281035" cy="2801620"/>
          </a:xfrm>
        </p:spPr>
        <p:txBody>
          <a:bodyPr/>
          <a:lstStyle/>
          <a:p>
            <a:r>
              <a:rPr lang="en-GB" b="1" dirty="0" smtClean="0">
                <a:solidFill>
                  <a:schemeClr val="tx1"/>
                </a:solidFill>
                <a:sym typeface="+mn-ea"/>
              </a:rPr>
              <a:t>What is process management?</a:t>
            </a:r>
            <a:endParaRPr lang="en-GB" b="1" dirty="0" smtClean="0">
              <a:solidFill>
                <a:schemeClr val="tx1"/>
              </a:solidFill>
            </a:endParaRPr>
          </a:p>
          <a:p>
            <a:r>
              <a:rPr lang="en-GB" dirty="0" smtClean="0">
                <a:solidFill>
                  <a:schemeClr val="tx1"/>
                </a:solidFill>
              </a:rPr>
              <a:t>The </a:t>
            </a:r>
            <a:r>
              <a:rPr lang="en-GB" dirty="0">
                <a:solidFill>
                  <a:schemeClr val="tx1"/>
                </a:solidFill>
              </a:rPr>
              <a:t>activities involved in managing the            execution of multiple processes in an </a:t>
            </a:r>
            <a:endParaRPr lang="en-GB" dirty="0">
              <a:solidFill>
                <a:schemeClr val="tx1"/>
              </a:solidFill>
            </a:endParaRPr>
          </a:p>
          <a:p>
            <a:r>
              <a:rPr lang="en-GB" dirty="0">
                <a:solidFill>
                  <a:schemeClr val="tx1"/>
                </a:solidFill>
              </a:rPr>
              <a:t>operating system</a:t>
            </a:r>
            <a:endParaRPr lang="en-GB" dirty="0" smtClean="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3685" y="404495"/>
            <a:ext cx="8596630" cy="747395"/>
          </a:xfrm>
        </p:spPr>
        <p:txBody>
          <a:bodyPr>
            <a:normAutofit fontScale="90000"/>
          </a:bodyPr>
          <a:lstStyle/>
          <a:p>
            <a:r>
              <a:rPr lang="en-GB" sz="4000" b="1" dirty="0"/>
              <a:t>Layout of a process in memory: </a:t>
            </a:r>
            <a:br>
              <a:rPr lang="en-GB" sz="4000" b="1" dirty="0"/>
            </a:br>
            <a:endParaRPr lang="en-GB" sz="4000" dirty="0"/>
          </a:p>
        </p:txBody>
      </p:sp>
      <p:pic>
        <p:nvPicPr>
          <p:cNvPr id="4" name="Content Placeholder 3"/>
          <p:cNvPicPr>
            <a:picLocks noGrp="1" noChangeAspect="1"/>
          </p:cNvPicPr>
          <p:nvPr/>
        </p:nvPicPr>
        <p:blipFill>
          <a:blip r:embed="rId1">
            <a:extLst>
              <a:ext uri="{28A0092B-C50C-407E-A947-70E740481C1C}">
                <a14:useLocalDpi xmlns:a14="http://schemas.microsoft.com/office/drawing/2010/main" val="0"/>
              </a:ext>
            </a:extLst>
          </a:blip>
          <a:stretch>
            <a:fillRect/>
          </a:stretch>
        </p:blipFill>
        <p:spPr>
          <a:xfrm>
            <a:off x="2339340" y="3251200"/>
            <a:ext cx="4016375" cy="3281045"/>
          </a:xfrm>
          <a:prstGeom prst="rect">
            <a:avLst/>
          </a:prstGeom>
        </p:spPr>
      </p:pic>
      <p:sp>
        <p:nvSpPr>
          <p:cNvPr id="3" name="Subtitle 2"/>
          <p:cNvSpPr>
            <a:spLocks noGrp="1"/>
          </p:cNvSpPr>
          <p:nvPr>
            <p:ph type="subTitle" idx="1"/>
          </p:nvPr>
        </p:nvSpPr>
        <p:spPr>
          <a:xfrm>
            <a:off x="107315" y="836295"/>
            <a:ext cx="8787130" cy="4608195"/>
          </a:xfrm>
        </p:spPr>
        <p:txBody>
          <a:bodyPr>
            <a:normAutofit lnSpcReduction="10000"/>
          </a:bodyPr>
          <a:lstStyle/>
          <a:p>
            <a:pPr fontAlgn="base"/>
            <a:r>
              <a:rPr lang="en-GB" sz="2400" b="1" dirty="0" smtClean="0">
                <a:solidFill>
                  <a:srgbClr val="7030A0"/>
                </a:solidFill>
                <a:sym typeface="+mn-ea"/>
              </a:rPr>
              <a:t>Stack</a:t>
            </a:r>
            <a:r>
              <a:rPr lang="en-GB" sz="2400" b="1" dirty="0">
                <a:solidFill>
                  <a:srgbClr val="7030A0"/>
                </a:solidFill>
                <a:sym typeface="+mn-ea"/>
              </a:rPr>
              <a:t>: </a:t>
            </a:r>
            <a:r>
              <a:rPr lang="en-GB" sz="2400" dirty="0">
                <a:solidFill>
                  <a:schemeClr val="tx1"/>
                </a:solidFill>
                <a:sym typeface="+mn-ea"/>
              </a:rPr>
              <a:t>The stack contains temporary data, such as  function            parameters, returns addresses, and local variables. </a:t>
            </a:r>
            <a:endParaRPr lang="en-GB" sz="2400" dirty="0">
              <a:solidFill>
                <a:schemeClr val="tx1"/>
              </a:solidFill>
              <a:sym typeface="+mn-ea"/>
            </a:endParaRPr>
          </a:p>
          <a:p>
            <a:pPr fontAlgn="base"/>
            <a:r>
              <a:rPr lang="en-GB" sz="2400" b="1" dirty="0">
                <a:solidFill>
                  <a:srgbClr val="7030A0"/>
                </a:solidFill>
                <a:sym typeface="+mn-ea"/>
              </a:rPr>
              <a:t>Heap Section:</a:t>
            </a:r>
            <a:r>
              <a:rPr lang="en-GB" sz="2400" dirty="0">
                <a:solidFill>
                  <a:schemeClr val="tx1"/>
                </a:solidFill>
                <a:sym typeface="+mn-ea"/>
              </a:rPr>
              <a:t> </a:t>
            </a:r>
            <a:r>
              <a:rPr lang="en-GB" sz="2400" dirty="0" smtClean="0">
                <a:solidFill>
                  <a:schemeClr val="tx1"/>
                </a:solidFill>
                <a:sym typeface="+mn-ea"/>
              </a:rPr>
              <a:t>Dynamically Memory to </a:t>
            </a:r>
            <a:r>
              <a:rPr lang="en-GB" sz="2400" dirty="0">
                <a:solidFill>
                  <a:schemeClr val="tx1"/>
                </a:solidFill>
                <a:sym typeface="+mn-ea"/>
              </a:rPr>
              <a:t>process during its run time</a:t>
            </a:r>
            <a:endParaRPr lang="en-GB" sz="2400" dirty="0">
              <a:solidFill>
                <a:schemeClr val="tx1"/>
              </a:solidFill>
              <a:sym typeface="+mn-ea"/>
            </a:endParaRPr>
          </a:p>
          <a:p>
            <a:pPr fontAlgn="base"/>
            <a:r>
              <a:rPr lang="en-GB" sz="2400" b="1" dirty="0" smtClean="0">
                <a:solidFill>
                  <a:srgbClr val="7030A0"/>
                </a:solidFill>
                <a:sym typeface="+mn-ea"/>
              </a:rPr>
              <a:t>Data </a:t>
            </a:r>
            <a:r>
              <a:rPr lang="en-GB" sz="2400" b="1" dirty="0">
                <a:solidFill>
                  <a:srgbClr val="7030A0"/>
                </a:solidFill>
                <a:sym typeface="+mn-ea"/>
              </a:rPr>
              <a:t>Section: </a:t>
            </a:r>
            <a:r>
              <a:rPr lang="en-GB" sz="2400" dirty="0">
                <a:solidFill>
                  <a:schemeClr val="tx1"/>
                </a:solidFill>
                <a:sym typeface="+mn-ea"/>
              </a:rPr>
              <a:t>Contains the global variable.</a:t>
            </a:r>
            <a:endParaRPr lang="en-GB" sz="2400" dirty="0">
              <a:solidFill>
                <a:schemeClr val="tx1"/>
              </a:solidFill>
              <a:sym typeface="+mn-ea"/>
            </a:endParaRPr>
          </a:p>
          <a:p>
            <a:pPr fontAlgn="base"/>
            <a:r>
              <a:rPr lang="en-GB" sz="2400" b="1" dirty="0">
                <a:solidFill>
                  <a:srgbClr val="7030A0"/>
                </a:solidFill>
              </a:rPr>
              <a:t>Text Section: </a:t>
            </a:r>
            <a:r>
              <a:rPr lang="en-GB" sz="2400" dirty="0">
                <a:solidFill>
                  <a:schemeClr val="tx1"/>
                </a:solidFill>
              </a:rPr>
              <a:t>The executable code</a:t>
            </a:r>
            <a:endParaRPr lang="en-GB" sz="2400" dirty="0">
              <a:solidFill>
                <a:schemeClr val="tx1"/>
              </a:solidFill>
            </a:endParaRPr>
          </a:p>
          <a:p>
            <a:pPr fontAlgn="base"/>
            <a:r>
              <a:rPr lang="en-GB" sz="3000" dirty="0">
                <a:solidFill>
                  <a:schemeClr val="tx1"/>
                </a:solidFill>
              </a:rPr>
              <a:t> </a:t>
            </a:r>
            <a:endParaRPr lang="en-GB" sz="3000" dirty="0">
              <a:solidFill>
                <a:schemeClr val="tx1"/>
              </a:solidFill>
            </a:endParaRPr>
          </a:p>
          <a:p>
            <a:pPr fontAlgn="base"/>
            <a:r>
              <a:rPr lang="en-GB" sz="3000" dirty="0"/>
              <a:t> </a:t>
            </a:r>
            <a:endParaRPr lang="en-GB" sz="3000" dirty="0"/>
          </a:p>
          <a:p>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Screenshot 2024-01-27 211638Process"/>
          <p:cNvPicPr>
            <a:picLocks noChangeAspect="1"/>
          </p:cNvPicPr>
          <p:nvPr>
            <p:ph sz="half" idx="1"/>
          </p:nvPr>
        </p:nvPicPr>
        <p:blipFill>
          <a:blip r:embed="rId1"/>
          <a:stretch>
            <a:fillRect/>
          </a:stretch>
        </p:blipFill>
        <p:spPr>
          <a:xfrm>
            <a:off x="611505" y="1790700"/>
            <a:ext cx="4379595" cy="4121785"/>
          </a:xfrm>
          <a:prstGeom prst="rect">
            <a:avLst/>
          </a:prstGeom>
        </p:spPr>
      </p:pic>
      <p:pic>
        <p:nvPicPr>
          <p:cNvPr id="5" name="Content Placeholder 3"/>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219700" y="1929130"/>
            <a:ext cx="3110865" cy="384619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360" y="332105"/>
            <a:ext cx="8474710" cy="3421380"/>
          </a:xfrm>
          <a:prstGeom prst="rect">
            <a:avLst/>
          </a:prstGeom>
          <a:noFill/>
        </p:spPr>
        <p:txBody>
          <a:bodyPr wrap="square" rtlCol="0">
            <a:noAutofit/>
          </a:bodyPr>
          <a:lstStyle/>
          <a:p>
            <a:pPr marL="38100">
              <a:lnSpc>
                <a:spcPct val="100000"/>
              </a:lnSpc>
              <a:spcBef>
                <a:spcPts val="95"/>
              </a:spcBef>
            </a:pPr>
            <a:r>
              <a:rPr lang="en-GB" sz="800" spc="-44" baseline="8000" dirty="0" smtClean="0">
                <a:solidFill>
                  <a:srgbClr val="5E7B72"/>
                </a:solidFill>
                <a:latin typeface="Times New Roman" panose="02020603050405020304"/>
                <a:cs typeface="Times New Roman" panose="02020603050405020304"/>
              </a:rPr>
              <a:t> </a:t>
            </a:r>
            <a:r>
              <a:rPr lang="en-GB" sz="2800" b="1" spc="-35" dirty="0" smtClean="0">
                <a:latin typeface="Microsoft Sans Serif" panose="020B0604020202020204"/>
                <a:cs typeface="Microsoft Sans Serif" panose="020B0604020202020204"/>
              </a:rPr>
              <a:t>Five-state</a:t>
            </a:r>
            <a:r>
              <a:rPr lang="en-GB" sz="2800" b="1" dirty="0" smtClean="0">
                <a:latin typeface="Microsoft Sans Serif" panose="020B0604020202020204"/>
                <a:cs typeface="Microsoft Sans Serif" panose="020B0604020202020204"/>
              </a:rPr>
              <a:t> </a:t>
            </a:r>
            <a:r>
              <a:rPr lang="en-GB" sz="2800" b="1" spc="-45" dirty="0" smtClean="0">
                <a:latin typeface="Microsoft Sans Serif" panose="020B0604020202020204"/>
                <a:cs typeface="Microsoft Sans Serif" panose="020B0604020202020204"/>
              </a:rPr>
              <a:t>model:</a:t>
            </a:r>
            <a:endParaRPr lang="en-GB" sz="2800" b="1" spc="-45" dirty="0" smtClean="0">
              <a:latin typeface="Microsoft Sans Serif" panose="020B0604020202020204"/>
              <a:cs typeface="Microsoft Sans Serif" panose="020B0604020202020204"/>
            </a:endParaRPr>
          </a:p>
          <a:p>
            <a:pPr marL="38100" indent="0">
              <a:lnSpc>
                <a:spcPct val="100000"/>
              </a:lnSpc>
              <a:spcBef>
                <a:spcPts val="95"/>
              </a:spcBef>
              <a:buFont typeface="Arial" panose="020B0604020202020204" pitchFamily="34" charset="0"/>
              <a:buNone/>
            </a:pPr>
            <a:r>
              <a:rPr lang="en-GB" dirty="0" smtClean="0"/>
              <a:t>     </a:t>
            </a:r>
            <a:r>
              <a:rPr lang="en-GB" sz="2800" dirty="0" smtClean="0"/>
              <a:t>    New: The process is being created.</a:t>
            </a:r>
            <a:endParaRPr lang="en-GB" sz="2800" dirty="0" smtClean="0"/>
          </a:p>
          <a:p>
            <a:pPr marL="548640">
              <a:lnSpc>
                <a:spcPts val="955"/>
              </a:lnSpc>
              <a:spcBef>
                <a:spcPts val="165"/>
              </a:spcBef>
            </a:pPr>
            <a:endParaRPr lang="en-GB" sz="2800" dirty="0" smtClean="0"/>
          </a:p>
          <a:p>
            <a:pPr marL="548640">
              <a:lnSpc>
                <a:spcPts val="955"/>
              </a:lnSpc>
              <a:spcBef>
                <a:spcPts val="165"/>
              </a:spcBef>
            </a:pPr>
            <a:r>
              <a:rPr lang="en-GB" sz="2800" dirty="0" smtClean="0"/>
              <a:t> Running:Instructions are being executed.</a:t>
            </a:r>
            <a:endParaRPr lang="en-GB" sz="2800" dirty="0" smtClean="0"/>
          </a:p>
          <a:p>
            <a:pPr marL="548640">
              <a:lnSpc>
                <a:spcPts val="955"/>
              </a:lnSpc>
              <a:spcBef>
                <a:spcPts val="165"/>
              </a:spcBef>
            </a:pPr>
            <a:endParaRPr lang="en-GB" sz="2800" dirty="0" smtClean="0"/>
          </a:p>
          <a:p>
            <a:pPr marL="548640">
              <a:lnSpc>
                <a:spcPts val="955"/>
              </a:lnSpc>
              <a:spcBef>
                <a:spcPts val="165"/>
              </a:spcBef>
            </a:pPr>
            <a:r>
              <a:rPr lang="en-GB" sz="2800" dirty="0" smtClean="0"/>
              <a:t> </a:t>
            </a:r>
            <a:endParaRPr lang="en-GB" sz="2800" dirty="0" smtClean="0"/>
          </a:p>
          <a:p>
            <a:pPr marL="548640">
              <a:lnSpc>
                <a:spcPts val="955"/>
              </a:lnSpc>
              <a:spcBef>
                <a:spcPts val="165"/>
              </a:spcBef>
            </a:pPr>
            <a:r>
              <a:rPr lang="en-GB" sz="2800" dirty="0" smtClean="0"/>
              <a:t> Waiting: The process is waiting for some event to</a:t>
            </a:r>
            <a:endParaRPr lang="en-GB" sz="2800" dirty="0" smtClean="0"/>
          </a:p>
          <a:p>
            <a:pPr marL="548640">
              <a:lnSpc>
                <a:spcPts val="955"/>
              </a:lnSpc>
              <a:spcBef>
                <a:spcPts val="165"/>
              </a:spcBef>
            </a:pPr>
            <a:endParaRPr lang="en-GB" sz="2800" dirty="0" smtClean="0"/>
          </a:p>
          <a:p>
            <a:pPr marL="548640">
              <a:lnSpc>
                <a:spcPts val="955"/>
              </a:lnSpc>
              <a:spcBef>
                <a:spcPts val="165"/>
              </a:spcBef>
            </a:pPr>
            <a:r>
              <a:rPr lang="en-GB" sz="2800" dirty="0" smtClean="0"/>
              <a:t>     occur (such as an I/O completion or reception of </a:t>
            </a:r>
            <a:endParaRPr lang="en-GB" sz="2800" dirty="0" smtClean="0"/>
          </a:p>
          <a:p>
            <a:pPr marL="548640">
              <a:lnSpc>
                <a:spcPts val="955"/>
              </a:lnSpc>
              <a:spcBef>
                <a:spcPts val="165"/>
              </a:spcBef>
            </a:pPr>
            <a:r>
              <a:rPr lang="en-GB" sz="2800" dirty="0" smtClean="0"/>
              <a:t>   </a:t>
            </a:r>
            <a:endParaRPr lang="en-GB" sz="2800" dirty="0" smtClean="0"/>
          </a:p>
          <a:p>
            <a:pPr marL="548640">
              <a:lnSpc>
                <a:spcPts val="955"/>
              </a:lnSpc>
              <a:spcBef>
                <a:spcPts val="165"/>
              </a:spcBef>
            </a:pPr>
            <a:r>
              <a:rPr lang="en-GB" sz="2800" dirty="0" smtClean="0"/>
              <a:t>             signal).</a:t>
            </a:r>
            <a:endParaRPr lang="en-GB" sz="2800" dirty="0" smtClean="0"/>
          </a:p>
          <a:p>
            <a:pPr marL="548640">
              <a:lnSpc>
                <a:spcPts val="955"/>
              </a:lnSpc>
              <a:spcBef>
                <a:spcPts val="165"/>
              </a:spcBef>
            </a:pPr>
            <a:endParaRPr lang="en-GB" sz="2800" dirty="0" smtClean="0"/>
          </a:p>
          <a:p>
            <a:pPr marL="548640">
              <a:lnSpc>
                <a:spcPts val="955"/>
              </a:lnSpc>
              <a:spcBef>
                <a:spcPts val="165"/>
              </a:spcBef>
            </a:pPr>
            <a:endParaRPr lang="en-GB" sz="2800" dirty="0" smtClean="0"/>
          </a:p>
          <a:p>
            <a:pPr marL="548640">
              <a:lnSpc>
                <a:spcPts val="955"/>
              </a:lnSpc>
              <a:spcBef>
                <a:spcPts val="165"/>
              </a:spcBef>
            </a:pPr>
            <a:r>
              <a:rPr lang="en-GB" sz="2800" dirty="0" smtClean="0"/>
              <a:t> Ready: The process is waiting to be assigned to a</a:t>
            </a:r>
            <a:endParaRPr lang="en-GB" sz="2800" dirty="0" smtClean="0"/>
          </a:p>
          <a:p>
            <a:pPr marL="548640">
              <a:lnSpc>
                <a:spcPts val="955"/>
              </a:lnSpc>
              <a:spcBef>
                <a:spcPts val="165"/>
              </a:spcBef>
            </a:pPr>
            <a:endParaRPr lang="en-GB" sz="2800" dirty="0" smtClean="0"/>
          </a:p>
          <a:p>
            <a:pPr marL="548640">
              <a:lnSpc>
                <a:spcPts val="955"/>
              </a:lnSpc>
              <a:spcBef>
                <a:spcPts val="165"/>
              </a:spcBef>
            </a:pPr>
            <a:r>
              <a:rPr lang="en-GB" sz="2800" dirty="0" smtClean="0"/>
              <a:t>                 processor</a:t>
            </a:r>
            <a:endParaRPr lang="en-GB" sz="2800" dirty="0" smtClean="0"/>
          </a:p>
          <a:p>
            <a:pPr marL="548640">
              <a:lnSpc>
                <a:spcPts val="955"/>
              </a:lnSpc>
              <a:spcBef>
                <a:spcPts val="165"/>
              </a:spcBef>
            </a:pPr>
            <a:endParaRPr lang="en-GB" sz="2800" dirty="0" smtClean="0"/>
          </a:p>
          <a:p>
            <a:pPr marL="548640">
              <a:lnSpc>
                <a:spcPts val="955"/>
              </a:lnSpc>
              <a:spcBef>
                <a:spcPts val="165"/>
              </a:spcBef>
            </a:pPr>
            <a:endParaRPr lang="en-GB" sz="2800" dirty="0" smtClean="0"/>
          </a:p>
          <a:p>
            <a:pPr marL="548640">
              <a:lnSpc>
                <a:spcPts val="955"/>
              </a:lnSpc>
              <a:spcBef>
                <a:spcPts val="165"/>
              </a:spcBef>
            </a:pPr>
            <a:r>
              <a:rPr lang="en-GB" sz="2800" dirty="0" smtClean="0"/>
              <a:t>Terminated:The process has finished execution.</a:t>
            </a:r>
            <a:endParaRPr lang="en-GB" sz="2800" dirty="0" smtClean="0"/>
          </a:p>
          <a:p>
            <a:pPr marL="548640">
              <a:lnSpc>
                <a:spcPts val="955"/>
              </a:lnSpc>
              <a:spcBef>
                <a:spcPts val="165"/>
              </a:spcBef>
            </a:pPr>
            <a:endParaRPr lang="en-GB" sz="2800" dirty="0" smtClean="0"/>
          </a:p>
        </p:txBody>
      </p:sp>
      <p:pic>
        <p:nvPicPr>
          <p:cNvPr id="4" name="Picture 3" descr="Screenshot==1"/>
          <p:cNvPicPr>
            <a:picLocks noChangeAspect="1"/>
          </p:cNvPicPr>
          <p:nvPr/>
        </p:nvPicPr>
        <p:blipFill>
          <a:blip r:embed="rId1"/>
          <a:stretch>
            <a:fillRect/>
          </a:stretch>
        </p:blipFill>
        <p:spPr>
          <a:xfrm>
            <a:off x="1475740" y="3860800"/>
            <a:ext cx="6492240" cy="2590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flipH="1">
            <a:off x="539115" y="417195"/>
            <a:ext cx="8320405" cy="5761355"/>
          </a:xfrm>
          <a:prstGeom prst="rect">
            <a:avLst/>
          </a:prstGeom>
          <a:noFill/>
        </p:spPr>
        <p:txBody>
          <a:bodyPr wrap="square" rtlCol="0">
            <a:noAutofit/>
          </a:bodyPr>
          <a:lstStyle/>
          <a:p>
            <a:r>
              <a:rPr lang="en-GB" sz="2800" b="1" dirty="0"/>
              <a:t>What is Process Scheduling</a:t>
            </a:r>
            <a:endParaRPr lang="en-GB" sz="2800" b="1" dirty="0" smtClean="0"/>
          </a:p>
          <a:p>
            <a:endParaRPr lang="en-GB" sz="2400" b="1" dirty="0"/>
          </a:p>
          <a:p>
            <a:r>
              <a:rPr lang="en-GB" sz="2400" dirty="0"/>
              <a:t>Process Scheduling is an OS task that schedules processes of different states like ready, waiting, and running</a:t>
            </a:r>
            <a:r>
              <a:rPr lang="en-GB" sz="2400" dirty="0" smtClean="0"/>
              <a:t>.</a:t>
            </a:r>
            <a:endParaRPr lang="en-GB" sz="2400" dirty="0" smtClean="0"/>
          </a:p>
          <a:p>
            <a:endParaRPr lang="en-GB" sz="2400" dirty="0" smtClean="0"/>
          </a:p>
          <a:p>
            <a:r>
              <a:rPr lang="en-GB" sz="2800" b="1" dirty="0"/>
              <a:t>Type of Process Schedulers</a:t>
            </a:r>
            <a:endParaRPr lang="en-GB" sz="2800" b="1" dirty="0"/>
          </a:p>
          <a:p>
            <a:r>
              <a:rPr lang="en-GB" sz="2400" dirty="0"/>
              <a:t> </a:t>
            </a:r>
            <a:r>
              <a:rPr lang="en-GB" sz="2800" dirty="0"/>
              <a:t>There are mainly three types of Process Schedulers:</a:t>
            </a:r>
            <a:endParaRPr lang="en-GB" sz="2800" dirty="0"/>
          </a:p>
          <a:p>
            <a:pPr indent="0">
              <a:buFont typeface="Wingdings" panose="05000000000000000000" charset="0"/>
              <a:buNone/>
            </a:pPr>
            <a:r>
              <a:rPr lang="en-GB" sz="2800" dirty="0"/>
              <a:t>                     Long Term Scheduler:New to ready </a:t>
            </a:r>
            <a:endParaRPr lang="en-GB" sz="2800" dirty="0"/>
          </a:p>
          <a:p>
            <a:r>
              <a:rPr lang="en-GB" sz="2800" dirty="0"/>
              <a:t>                     Short Term Scheduler:ready To Running</a:t>
            </a:r>
            <a:endParaRPr lang="en-GB" sz="2800" dirty="0"/>
          </a:p>
          <a:p>
            <a:r>
              <a:rPr lang="en-GB" sz="2800" dirty="0"/>
              <a:t>                     Medium Term </a:t>
            </a:r>
            <a:r>
              <a:rPr lang="en-GB" sz="2800" dirty="0" smtClean="0"/>
              <a:t>Scheduler: </a:t>
            </a:r>
            <a:r>
              <a:rPr lang="en-GB" sz="2400" dirty="0" smtClean="0"/>
              <a:t> It is responsible for</a:t>
            </a:r>
            <a:endParaRPr lang="en-GB" sz="2400" dirty="0" smtClean="0"/>
          </a:p>
          <a:p>
            <a:r>
              <a:rPr lang="en-GB" sz="2400" dirty="0" smtClean="0"/>
              <a:t>                                             </a:t>
            </a:r>
            <a:r>
              <a:rPr lang="en-GB" sz="2400" dirty="0" smtClean="0">
                <a:sym typeface="+mn-ea"/>
              </a:rPr>
              <a:t>suspending and resuming the process. </a:t>
            </a:r>
            <a:r>
              <a:rPr lang="en-GB" sz="2400" dirty="0" smtClean="0"/>
              <a:t>                 </a:t>
            </a:r>
            <a:endParaRPr lang="en-GB" sz="2400" dirty="0" smtClean="0"/>
          </a:p>
          <a:p>
            <a:r>
              <a:rPr lang="en-GB" sz="2400" dirty="0" smtClean="0"/>
              <a:t>                                            It mainly does swapping (moving              </a:t>
            </a:r>
            <a:endParaRPr lang="en-GB" sz="2400" dirty="0" smtClean="0"/>
          </a:p>
          <a:p>
            <a:r>
              <a:rPr lang="en-GB" sz="2400" dirty="0" smtClean="0"/>
              <a:t>                                             </a:t>
            </a:r>
            <a:r>
              <a:rPr lang="en-GB" sz="2400" dirty="0" smtClean="0">
                <a:sym typeface="+mn-ea"/>
              </a:rPr>
              <a:t>processes from main memory to disk </a:t>
            </a:r>
            <a:endParaRPr lang="en-GB" sz="2400" dirty="0" smtClean="0"/>
          </a:p>
          <a:p>
            <a:r>
              <a:rPr lang="en-GB" sz="2400" dirty="0" smtClean="0"/>
              <a:t>                                              </a:t>
            </a:r>
            <a:r>
              <a:rPr lang="en-GB" sz="2400" dirty="0" smtClean="0">
                <a:sym typeface="+mn-ea"/>
              </a:rPr>
              <a:t>and vice versa)</a:t>
            </a:r>
            <a:r>
              <a:rPr lang="en-GB" sz="2400" dirty="0" smtClean="0"/>
              <a:t>                        </a:t>
            </a:r>
            <a:endParaRPr lang="en-GB" sz="2400" dirty="0" smtClean="0"/>
          </a:p>
          <a:p>
            <a:endParaRPr lang="en-GB" sz="2400" dirty="0"/>
          </a:p>
          <a:p>
            <a:endParaRPr lang="en-GB"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934" y="620688"/>
            <a:ext cx="5184576" cy="922020"/>
          </a:xfrm>
          <a:prstGeom prst="rect">
            <a:avLst/>
          </a:prstGeom>
          <a:noFill/>
        </p:spPr>
        <p:txBody>
          <a:bodyPr wrap="square" rtlCol="0">
            <a:spAutoFit/>
          </a:bodyPr>
          <a:lstStyle/>
          <a:p>
            <a:r>
              <a:rPr lang="en-GB" sz="3600" b="1" dirty="0" smtClean="0"/>
              <a:t> </a:t>
            </a:r>
            <a:r>
              <a:rPr lang="en-GB" sz="3600" dirty="0"/>
              <a:t>   Context Switch:</a:t>
            </a:r>
            <a:endParaRPr lang="en-GB" sz="3600" dirty="0" smtClean="0"/>
          </a:p>
          <a:p>
            <a:endParaRPr lang="en-GB" dirty="0"/>
          </a:p>
        </p:txBody>
      </p:sp>
      <p:pic>
        <p:nvPicPr>
          <p:cNvPr id="12291" name="Picture 9"/>
          <p:cNvPicPr>
            <a:picLocks noChangeAspect="1"/>
          </p:cNvPicPr>
          <p:nvPr/>
        </p:nvPicPr>
        <p:blipFill>
          <a:blip r:embed="rId1"/>
          <a:stretch>
            <a:fillRect/>
          </a:stretch>
        </p:blipFill>
        <p:spPr>
          <a:xfrm>
            <a:off x="1691640" y="1543050"/>
            <a:ext cx="5449570" cy="4594225"/>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3600" b="1" dirty="0"/>
              <a:t>Interprocess Communication</a:t>
            </a:r>
            <a:br>
              <a:rPr lang="en-GB" sz="3600" b="1" dirty="0"/>
            </a:br>
            <a:r>
              <a:rPr lang="en-GB" sz="3600" b="1" dirty="0"/>
              <a:t>1.</a:t>
            </a:r>
            <a:r>
              <a:rPr lang="en-GB" sz="3110" b="1" dirty="0"/>
              <a:t>Independent process </a:t>
            </a:r>
            <a:br>
              <a:rPr lang="en-GB" sz="3110" b="1" dirty="0"/>
            </a:br>
            <a:r>
              <a:rPr lang="en-GB" sz="3110" b="1" dirty="0"/>
              <a:t>2.cooperating Process</a:t>
            </a:r>
            <a:endParaRPr lang="en-GB" sz="3110" b="1" dirty="0"/>
          </a:p>
        </p:txBody>
      </p:sp>
      <p:pic>
        <p:nvPicPr>
          <p:cNvPr id="4" name="Content Placeholder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691640" y="1844581"/>
            <a:ext cx="5715000" cy="4608512"/>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lstStyle/>
          <a:p>
            <a:r>
              <a:rPr lang="en-GB" b="1" dirty="0"/>
              <a:t>IPC in Message-Passing Systems</a:t>
            </a:r>
            <a:endParaRPr lang="en-GB" dirty="0"/>
          </a:p>
        </p:txBody>
      </p:sp>
      <p:sp>
        <p:nvSpPr>
          <p:cNvPr id="3" name="Content Placeholder 2"/>
          <p:cNvSpPr>
            <a:spLocks noGrp="1"/>
          </p:cNvSpPr>
          <p:nvPr>
            <p:ph idx="1"/>
          </p:nvPr>
        </p:nvSpPr>
        <p:spPr>
          <a:xfrm>
            <a:off x="395605" y="1196975"/>
            <a:ext cx="8229600" cy="5342890"/>
          </a:xfrm>
        </p:spPr>
        <p:txBody>
          <a:bodyPr>
            <a:normAutofit lnSpcReduction="20000"/>
          </a:bodyPr>
          <a:lstStyle/>
          <a:p>
            <a:pPr>
              <a:buFont typeface="Wingdings" panose="05000000000000000000" pitchFamily="2" charset="2"/>
              <a:buChar char="q"/>
            </a:pPr>
            <a:r>
              <a:rPr lang="en-GB" sz="2800" b="1" dirty="0" smtClean="0"/>
              <a:t>Naming</a:t>
            </a:r>
            <a:endParaRPr lang="en-GB" sz="2800" b="1" dirty="0" smtClean="0"/>
          </a:p>
          <a:p>
            <a:pPr marL="0" indent="0">
              <a:buNone/>
            </a:pPr>
            <a:r>
              <a:rPr lang="en-GB" sz="2000" b="1" dirty="0" smtClean="0"/>
              <a:t>         </a:t>
            </a:r>
            <a:r>
              <a:rPr lang="en-GB" sz="2000" dirty="0"/>
              <a:t>• send(P, message)—Send a message to process P. </a:t>
            </a:r>
            <a:endParaRPr lang="en-GB" sz="2000" dirty="0" smtClean="0"/>
          </a:p>
          <a:p>
            <a:pPr marL="0" indent="0">
              <a:buNone/>
            </a:pPr>
            <a:r>
              <a:rPr lang="en-GB" sz="2000" dirty="0" smtClean="0"/>
              <a:t>         • </a:t>
            </a:r>
            <a:r>
              <a:rPr lang="en-GB" sz="2000" dirty="0"/>
              <a:t>receive(Q, message)—Receive a message from process Q</a:t>
            </a:r>
            <a:r>
              <a:rPr lang="en-GB" sz="2000" dirty="0" smtClean="0"/>
              <a:t>.</a:t>
            </a:r>
            <a:endParaRPr lang="en-GB" sz="2000" dirty="0" smtClean="0"/>
          </a:p>
          <a:p>
            <a:pPr>
              <a:buFont typeface="Wingdings" panose="05000000000000000000" pitchFamily="2" charset="2"/>
              <a:buChar char="q"/>
            </a:pPr>
            <a:r>
              <a:rPr lang="en-GB" sz="2800" b="1" dirty="0" smtClean="0"/>
              <a:t>Synchronization</a:t>
            </a:r>
            <a:endParaRPr lang="en-GB" sz="2800" b="1" dirty="0" smtClean="0"/>
          </a:p>
          <a:p>
            <a:pPr marL="0" indent="0">
              <a:buNone/>
            </a:pPr>
            <a:r>
              <a:rPr lang="en-GB" sz="2000" dirty="0" smtClean="0"/>
              <a:t>       • </a:t>
            </a:r>
            <a:r>
              <a:rPr lang="en-GB" sz="2000" b="1" dirty="0"/>
              <a:t>Blocking send</a:t>
            </a:r>
            <a:r>
              <a:rPr lang="en-GB" sz="2000" dirty="0"/>
              <a:t>. The sending process is blocked until the message is </a:t>
            </a:r>
            <a:endParaRPr lang="en-GB" sz="2000" dirty="0" smtClean="0"/>
          </a:p>
          <a:p>
            <a:pPr marL="0" indent="0">
              <a:buNone/>
            </a:pPr>
            <a:r>
              <a:rPr lang="en-GB" sz="2000" dirty="0" smtClean="0"/>
              <a:t>                                       received </a:t>
            </a:r>
            <a:r>
              <a:rPr lang="en-GB" sz="2000" dirty="0"/>
              <a:t>by the receiving process or by the mailbox. </a:t>
            </a:r>
            <a:endParaRPr lang="en-GB" sz="2000" dirty="0" smtClean="0"/>
          </a:p>
          <a:p>
            <a:pPr marL="0" indent="0">
              <a:buNone/>
            </a:pPr>
            <a:r>
              <a:rPr lang="en-GB" sz="2000" dirty="0" smtClean="0"/>
              <a:t>       • </a:t>
            </a:r>
            <a:r>
              <a:rPr lang="en-GB" sz="2000" b="1" dirty="0" err="1"/>
              <a:t>Nonblocking</a:t>
            </a:r>
            <a:r>
              <a:rPr lang="en-GB" sz="2000" b="1" dirty="0"/>
              <a:t> send</a:t>
            </a:r>
            <a:r>
              <a:rPr lang="en-GB" sz="2000" dirty="0"/>
              <a:t>. The sending process sends the message </a:t>
            </a:r>
            <a:r>
              <a:rPr lang="en-GB" sz="2000" dirty="0" smtClean="0"/>
              <a:t>and</a:t>
            </a:r>
            <a:endParaRPr lang="en-GB" sz="2000" dirty="0" smtClean="0"/>
          </a:p>
          <a:p>
            <a:pPr marL="0" indent="0">
              <a:buNone/>
            </a:pPr>
            <a:r>
              <a:rPr lang="en-GB" sz="2000" dirty="0"/>
              <a:t> </a:t>
            </a:r>
            <a:r>
              <a:rPr lang="en-GB" sz="2000" dirty="0" smtClean="0"/>
              <a:t>                                           </a:t>
            </a:r>
            <a:r>
              <a:rPr lang="en-GB" sz="2000" dirty="0" smtClean="0"/>
              <a:t>resumes operation. </a:t>
            </a:r>
            <a:endParaRPr lang="en-GB" sz="2000" dirty="0" smtClean="0"/>
          </a:p>
          <a:p>
            <a:pPr marL="0" indent="0">
              <a:buNone/>
            </a:pPr>
            <a:r>
              <a:rPr lang="en-GB" sz="2000" dirty="0"/>
              <a:t>• </a:t>
            </a:r>
            <a:r>
              <a:rPr lang="en-GB" sz="2000" b="1" dirty="0"/>
              <a:t>Blocking receive</a:t>
            </a:r>
            <a:r>
              <a:rPr lang="en-GB" sz="2000" dirty="0"/>
              <a:t>. The receiver blocks until a message is available. </a:t>
            </a:r>
            <a:endParaRPr lang="en-GB" sz="2000" dirty="0" smtClean="0"/>
          </a:p>
          <a:p>
            <a:pPr marL="0" indent="0">
              <a:buNone/>
            </a:pPr>
            <a:r>
              <a:rPr lang="en-GB" sz="2000" dirty="0"/>
              <a:t>• </a:t>
            </a:r>
            <a:r>
              <a:rPr lang="en-GB" sz="2000" b="1" dirty="0" err="1"/>
              <a:t>Nonblocking</a:t>
            </a:r>
            <a:r>
              <a:rPr lang="en-GB" sz="2000" b="1" dirty="0"/>
              <a:t> receive</a:t>
            </a:r>
            <a:r>
              <a:rPr lang="en-GB" sz="2000" dirty="0"/>
              <a:t>. The receiver retrieves either a valid message or a </a:t>
            </a:r>
            <a:endParaRPr lang="en-GB" sz="2000" dirty="0" smtClean="0"/>
          </a:p>
          <a:p>
            <a:pPr marL="0" indent="0">
              <a:buNone/>
            </a:pPr>
            <a:r>
              <a:rPr lang="en-GB" sz="2000" dirty="0" smtClean="0"/>
              <a:t>                                          null.</a:t>
            </a:r>
            <a:endParaRPr lang="en-GB" sz="2000" dirty="0" smtClean="0"/>
          </a:p>
          <a:p>
            <a:pPr marL="0" indent="0">
              <a:buNone/>
            </a:pPr>
            <a:endParaRPr lang="en-GB" sz="2000" b="1" dirty="0" smtClean="0"/>
          </a:p>
          <a:p>
            <a:pPr marL="0" indent="0">
              <a:buNone/>
            </a:pPr>
            <a:endParaRPr lang="en-GB" sz="2000" b="1" dirty="0" smtClean="0"/>
          </a:p>
          <a:p>
            <a:pPr marL="0" indent="0">
              <a:buNone/>
            </a:pPr>
            <a:endParaRPr lang="en-GB"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417195" y="654685"/>
            <a:ext cx="8483600" cy="5222240"/>
          </a:xfrm>
          <a:prstGeom prst="rect">
            <a:avLst/>
          </a:prstGeom>
          <a:noFill/>
        </p:spPr>
        <p:txBody>
          <a:bodyPr wrap="square" rtlCol="0">
            <a:noAutofit/>
          </a:bodyPr>
          <a:p>
            <a:pPr>
              <a:buFont typeface="Wingdings" panose="05000000000000000000" pitchFamily="2" charset="2"/>
              <a:buChar char="q"/>
            </a:pPr>
            <a:r>
              <a:rPr lang="en-GB" sz="3600" b="1" dirty="0" smtClean="0">
                <a:sym typeface="+mn-ea"/>
              </a:rPr>
              <a:t>Buffering   </a:t>
            </a:r>
            <a:endParaRPr lang="en-GB" sz="3600" b="1" dirty="0" smtClean="0">
              <a:sym typeface="+mn-ea"/>
            </a:endParaRPr>
          </a:p>
          <a:p>
            <a:pPr indent="0">
              <a:buFont typeface="Wingdings" panose="05000000000000000000" pitchFamily="2" charset="2"/>
              <a:buNone/>
            </a:pPr>
            <a:r>
              <a:rPr lang="en-GB" b="1" dirty="0" smtClean="0">
                <a:sym typeface="+mn-ea"/>
              </a:rPr>
              <a:t>    </a:t>
            </a:r>
            <a:endParaRPr lang="en-GB" b="1" dirty="0" smtClean="0"/>
          </a:p>
          <a:p>
            <a:pPr marL="0" indent="0">
              <a:buNone/>
            </a:pPr>
            <a:r>
              <a:rPr lang="en-GB" sz="2400" b="1" dirty="0">
                <a:sym typeface="+mn-ea"/>
              </a:rPr>
              <a:t>Zero capacity:</a:t>
            </a:r>
            <a:r>
              <a:rPr lang="en-GB" b="1" dirty="0">
                <a:sym typeface="+mn-ea"/>
              </a:rPr>
              <a:t> </a:t>
            </a:r>
            <a:r>
              <a:rPr lang="en-GB" sz="2000" dirty="0">
                <a:sym typeface="+mn-ea"/>
              </a:rPr>
              <a:t>The queue has a maximum length of zero;</a:t>
            </a:r>
            <a:endParaRPr lang="en-GB" dirty="0">
              <a:sym typeface="+mn-ea"/>
            </a:endParaRPr>
          </a:p>
          <a:p>
            <a:pPr marL="0" indent="0">
              <a:buNone/>
            </a:pPr>
            <a:endParaRPr lang="en-GB" b="1" dirty="0" smtClean="0">
              <a:sym typeface="+mn-ea"/>
            </a:endParaRPr>
          </a:p>
          <a:p>
            <a:pPr marL="0" indent="0">
              <a:buNone/>
            </a:pPr>
            <a:endParaRPr lang="en-GB" b="1" dirty="0" smtClean="0">
              <a:sym typeface="+mn-ea"/>
            </a:endParaRPr>
          </a:p>
          <a:p>
            <a:pPr marL="0" indent="0">
              <a:buNone/>
            </a:pPr>
            <a:endParaRPr lang="en-GB" dirty="0" smtClean="0">
              <a:sym typeface="+mn-ea"/>
            </a:endParaRPr>
          </a:p>
          <a:p>
            <a:pPr marL="0" indent="0">
              <a:buNone/>
            </a:pPr>
            <a:r>
              <a:rPr lang="en-GB" sz="2400" b="1" dirty="0">
                <a:sym typeface="+mn-ea"/>
              </a:rPr>
              <a:t>Bounded capacity:</a:t>
            </a:r>
            <a:r>
              <a:rPr lang="en-GB" dirty="0">
                <a:sym typeface="+mn-ea"/>
              </a:rPr>
              <a:t> </a:t>
            </a:r>
            <a:r>
              <a:rPr lang="en-GB" sz="2000" dirty="0">
                <a:sym typeface="+mn-ea"/>
              </a:rPr>
              <a:t>The queue has finite length n; thus, at most n                                                </a:t>
            </a:r>
            <a:endParaRPr lang="en-GB" sz="2000" dirty="0">
              <a:sym typeface="+mn-ea"/>
            </a:endParaRPr>
          </a:p>
          <a:p>
            <a:pPr marL="0" indent="0">
              <a:buNone/>
            </a:pPr>
            <a:r>
              <a:rPr lang="en-GB" sz="2000" dirty="0">
                <a:sym typeface="+mn-ea"/>
              </a:rPr>
              <a:t>                                               messages   can reside in it</a:t>
            </a:r>
            <a:r>
              <a:rPr lang="en-GB" sz="2000" b="1" dirty="0">
                <a:sym typeface="+mn-ea"/>
              </a:rPr>
              <a:t> .</a:t>
            </a:r>
            <a:r>
              <a:rPr lang="en-GB" b="1" dirty="0">
                <a:sym typeface="+mn-ea"/>
              </a:rPr>
              <a:t>  </a:t>
            </a:r>
            <a:endParaRPr lang="en-GB" b="1" dirty="0">
              <a:sym typeface="+mn-ea"/>
            </a:endParaRPr>
          </a:p>
          <a:p>
            <a:pPr marL="0" indent="0">
              <a:buNone/>
            </a:pPr>
            <a:endParaRPr lang="en-GB" b="1" dirty="0">
              <a:sym typeface="+mn-ea"/>
            </a:endParaRPr>
          </a:p>
          <a:p>
            <a:pPr marL="0" indent="0">
              <a:buNone/>
            </a:pPr>
            <a:endParaRPr lang="en-GB" b="1" dirty="0">
              <a:sym typeface="+mn-ea"/>
            </a:endParaRPr>
          </a:p>
          <a:p>
            <a:pPr marL="0" indent="0">
              <a:buNone/>
            </a:pPr>
            <a:endParaRPr lang="en-GB" b="1" dirty="0"/>
          </a:p>
          <a:p>
            <a:pPr marL="0" indent="0">
              <a:buNone/>
            </a:pPr>
            <a:r>
              <a:rPr lang="en-GB" sz="2400" b="1" dirty="0">
                <a:sym typeface="+mn-ea"/>
              </a:rPr>
              <a:t> </a:t>
            </a:r>
            <a:r>
              <a:rPr lang="en-GB" altLang="en-US" sz="2400" b="1">
                <a:sym typeface="+mn-ea"/>
              </a:rPr>
              <a:t>Unbounded capacity: </a:t>
            </a:r>
            <a:r>
              <a:rPr lang="en-GB" altLang="en-US" sz="2000">
                <a:sym typeface="+mn-ea"/>
              </a:rPr>
              <a:t> The queue’s length is  potentially infinite; thus, any   </a:t>
            </a:r>
            <a:endParaRPr lang="en-GB" altLang="en-US" sz="2000"/>
          </a:p>
          <a:p>
            <a:r>
              <a:rPr lang="en-GB" altLang="en-US" sz="2000"/>
              <a:t>                                           </a:t>
            </a:r>
            <a:r>
              <a:rPr lang="en-GB" altLang="en-US" sz="2000">
                <a:sym typeface="+mn-ea"/>
              </a:rPr>
              <a:t>number of messages can wait in it. The sender never</a:t>
            </a:r>
            <a:endParaRPr lang="en-GB" altLang="en-US" sz="2000">
              <a:sym typeface="+mn-ea"/>
            </a:endParaRPr>
          </a:p>
          <a:p>
            <a:r>
              <a:rPr lang="en-GB" altLang="en-US" sz="2000">
                <a:sym typeface="+mn-ea"/>
              </a:rPr>
              <a:t>                                            blocks.</a:t>
            </a:r>
            <a:endParaRPr lang="en-GB" altLang="en-US" sz="2000"/>
          </a:p>
          <a:p>
            <a:r>
              <a:rPr lang="en-GB" altLang="en-US">
                <a:sym typeface="+mn-ea"/>
              </a:rPr>
              <a:t>       </a:t>
            </a:r>
            <a:endParaRPr lang="en-GB"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3568" y="692696"/>
            <a:ext cx="6984776" cy="2554545"/>
          </a:xfrm>
          <a:prstGeom prst="rect">
            <a:avLst/>
          </a:prstGeom>
          <a:noFill/>
        </p:spPr>
        <p:txBody>
          <a:bodyPr wrap="square" rtlCol="0">
            <a:spAutoFit/>
          </a:bodyPr>
          <a:lstStyle/>
          <a:p>
            <a:r>
              <a:rPr lang="en-GB" sz="3200" b="1" dirty="0"/>
              <a:t>Operations on </a:t>
            </a:r>
            <a:r>
              <a:rPr lang="en-GB" sz="3200" b="1" dirty="0" smtClean="0"/>
              <a:t>Processes</a:t>
            </a:r>
            <a:endParaRPr lang="en-GB" sz="3200" b="1" dirty="0" smtClean="0"/>
          </a:p>
          <a:p>
            <a:endParaRPr lang="en-GB" sz="3200" b="1" dirty="0" smtClean="0"/>
          </a:p>
          <a:p>
            <a:r>
              <a:rPr lang="en-GB" sz="3200" b="1" dirty="0"/>
              <a:t>Process </a:t>
            </a:r>
            <a:r>
              <a:rPr lang="en-GB" sz="3200" b="1" dirty="0" smtClean="0"/>
              <a:t>Creation</a:t>
            </a:r>
            <a:endParaRPr lang="en-GB" sz="3200" b="1" dirty="0" smtClean="0"/>
          </a:p>
          <a:p>
            <a:endParaRPr lang="en-GB" sz="3200" b="1" dirty="0"/>
          </a:p>
          <a:p>
            <a:endParaRPr lang="en-GB" sz="3200" dirty="0"/>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69340" y="2636277"/>
            <a:ext cx="6598920" cy="35966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5650" y="697230"/>
            <a:ext cx="7488555" cy="5620385"/>
          </a:xfrm>
          <a:prstGeom prst="rect">
            <a:avLst/>
          </a:prstGeom>
          <a:noFill/>
        </p:spPr>
        <p:txBody>
          <a:bodyPr wrap="square" rtlCol="0">
            <a:noAutofit/>
          </a:bodyPr>
          <a:lstStyle/>
          <a:p>
            <a:r>
              <a:rPr lang="en-GB" sz="3200" b="1" dirty="0"/>
              <a:t>Process </a:t>
            </a:r>
            <a:r>
              <a:rPr lang="en-GB" sz="3200" b="1" dirty="0" smtClean="0"/>
              <a:t>Termination</a:t>
            </a:r>
            <a:endParaRPr lang="en-GB" sz="3200" b="1" dirty="0" smtClean="0"/>
          </a:p>
          <a:p>
            <a:endParaRPr lang="en-GB" b="1" dirty="0" smtClean="0"/>
          </a:p>
          <a:p>
            <a:pPr marL="342900" indent="-342900">
              <a:buFont typeface="Arial" panose="020B0604020202020204" pitchFamily="34" charset="0"/>
              <a:buChar char="•"/>
            </a:pPr>
            <a:r>
              <a:rPr lang="en-GB" sz="2000" dirty="0"/>
              <a:t>The child has exceeded its usage of some of the resources that it has been allocated. (To determine whether this has occurred, the parent   must have a mechanism to inspect the state of its children.) </a:t>
            </a:r>
            <a:endParaRPr lang="en-GB" sz="2000" dirty="0"/>
          </a:p>
          <a:p>
            <a:endParaRPr lang="en-GB" sz="2000" dirty="0" smtClean="0"/>
          </a:p>
          <a:p>
            <a:r>
              <a:rPr lang="en-GB" sz="2000" dirty="0"/>
              <a:t>•    The task assigned to the child is no longer required. </a:t>
            </a:r>
            <a:endParaRPr lang="en-GB" sz="2000" dirty="0"/>
          </a:p>
          <a:p>
            <a:endParaRPr lang="en-GB" sz="2000" dirty="0" smtClean="0"/>
          </a:p>
          <a:p>
            <a:r>
              <a:rPr lang="en-GB" sz="2000" dirty="0"/>
              <a:t>•   The parent is exiting, and the operating system does not allow a                                   </a:t>
            </a:r>
            <a:endParaRPr lang="en-GB" sz="2000" b="1" dirty="0"/>
          </a:p>
          <a:p>
            <a:r>
              <a:rPr lang="en-GB" sz="2000" b="1" dirty="0"/>
              <a:t>      </a:t>
            </a:r>
            <a:r>
              <a:rPr lang="en-GB" sz="2000" dirty="0">
                <a:sym typeface="+mn-ea"/>
              </a:rPr>
              <a:t>child </a:t>
            </a:r>
            <a:r>
              <a:rPr lang="en-GB" sz="2000" b="1" dirty="0">
                <a:sym typeface="+mn-ea"/>
              </a:rPr>
              <a:t> </a:t>
            </a:r>
            <a:r>
              <a:rPr lang="en-GB" sz="2000" dirty="0">
                <a:sym typeface="+mn-ea"/>
              </a:rPr>
              <a:t>to continue if its parent terminates.</a:t>
            </a:r>
            <a:r>
              <a:rPr lang="en-GB" sz="2000" dirty="0">
                <a:sym typeface="+mn-ea"/>
              </a:rPr>
              <a:t>  </a:t>
            </a:r>
            <a:endParaRPr lang="en-GB" sz="2000" b="1" dirty="0"/>
          </a:p>
          <a:p>
            <a:r>
              <a:rPr lang="en-GB" sz="2000" dirty="0"/>
              <a:t>                                           /* exit with status 1 */ </a:t>
            </a:r>
            <a:endParaRPr lang="en-GB" sz="2000" dirty="0" smtClean="0"/>
          </a:p>
          <a:p>
            <a:r>
              <a:rPr lang="en-GB" sz="2000" dirty="0"/>
              <a:t>                                                          exit(1);</a:t>
            </a:r>
            <a:endParaRPr lang="en-GB" sz="2000" dirty="0"/>
          </a:p>
          <a:p>
            <a:endParaRPr lang="en-GB" sz="2000" dirty="0"/>
          </a:p>
          <a:p>
            <a:endParaRPr lang="en-GB" sz="2000"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33120" y="785495"/>
            <a:ext cx="7368540" cy="5163820"/>
          </a:xfrm>
          <a:prstGeom prst="rect">
            <a:avLst/>
          </a:prstGeom>
          <a:noFill/>
        </p:spPr>
        <p:txBody>
          <a:bodyPr wrap="square" rtlCol="0">
            <a:noAutofit/>
          </a:bodyPr>
          <a:p>
            <a:r>
              <a:rPr lang="en-GB" b="1" dirty="0">
                <a:sym typeface="+mn-ea"/>
              </a:rPr>
              <a:t>**Parent may terminate the execution of children process using the abort()                           system call.</a:t>
            </a:r>
            <a:endParaRPr lang="en-GB" b="1" dirty="0"/>
          </a:p>
          <a:p>
            <a:r>
              <a:rPr lang="en-GB" b="1" dirty="0">
                <a:sym typeface="+mn-ea"/>
              </a:rPr>
              <a:t>** If a process terminates ,then all its childrfen must be terminated.This problem is called Cascading Termination.</a:t>
            </a:r>
            <a:endParaRPr lang="en-GB" b="1" dirty="0"/>
          </a:p>
          <a:p>
            <a:endParaRPr lang="en-GB" altLang="en-US"/>
          </a:p>
          <a:p>
            <a:r>
              <a:rPr lang="en-GB" altLang="en-US" sz="2000"/>
              <a:t>A parent process may wait for the termination of a child process by using  the wait() system call. The wait() system call is passed a parameter that allows the parent to obtain the exit status of the child. This system call also returns the process identifier of the terminated child so that the parent can tell which of its children has terminated:</a:t>
            </a:r>
            <a:endParaRPr lang="en-GB" altLang="en-US" sz="2000"/>
          </a:p>
          <a:p>
            <a:r>
              <a:rPr lang="en-GB" altLang="en-US" sz="2000"/>
              <a:t>                                                pid t pid;</a:t>
            </a:r>
            <a:endParaRPr lang="en-GB" altLang="en-US" sz="2000"/>
          </a:p>
          <a:p>
            <a:r>
              <a:rPr lang="en-GB" altLang="en-US" sz="2000"/>
              <a:t>                                                int status;</a:t>
            </a:r>
            <a:endParaRPr lang="en-GB" altLang="en-US" sz="2000"/>
          </a:p>
          <a:p>
            <a:r>
              <a:rPr lang="en-GB" altLang="en-US" sz="2000"/>
              <a:t>                                         pid = wait(&amp;status);</a:t>
            </a:r>
            <a:endParaRPr lang="en-GB" altLang="en-US" sz="2000"/>
          </a:p>
          <a:p>
            <a:endParaRPr lang="en-GB" altLang="en-US" sz="2000"/>
          </a:p>
          <a:p>
            <a:r>
              <a:rPr lang="en-US" altLang="en-US" sz="2000" dirty="0">
                <a:sym typeface="+mn-ea"/>
              </a:rPr>
              <a:t>If no parent waiting (did not invoke </a:t>
            </a:r>
            <a:r>
              <a:rPr lang="en-US" altLang="en-US" sz="2000" b="1" dirty="0">
                <a:solidFill>
                  <a:srgbClr val="000000"/>
                </a:solidFill>
                <a:latin typeface="Courier New" panose="02070309020205020404" pitchFamily="49" charset="0"/>
                <a:cs typeface="Courier New" panose="02070309020205020404" pitchFamily="49" charset="0"/>
                <a:sym typeface="+mn-ea"/>
              </a:rPr>
              <a:t>wait()</a:t>
            </a:r>
            <a:r>
              <a:rPr lang="en-US" altLang="en-US" sz="2000" dirty="0">
                <a:cs typeface="Courier New" panose="02070309020205020404" pitchFamily="49" charset="0"/>
                <a:sym typeface="+mn-ea"/>
              </a:rPr>
              <a:t>) </a:t>
            </a:r>
            <a:r>
              <a:rPr lang="en-US" altLang="en-US" sz="2000" dirty="0">
                <a:sym typeface="+mn-ea"/>
              </a:rPr>
              <a:t>process is a </a:t>
            </a:r>
            <a:r>
              <a:rPr lang="en-US" altLang="en-US" sz="2000" b="1" dirty="0">
                <a:solidFill>
                  <a:srgbClr val="3366FF"/>
                </a:solidFill>
                <a:sym typeface="+mn-ea"/>
              </a:rPr>
              <a:t>zombie</a:t>
            </a:r>
            <a:endParaRPr lang="en-US" altLang="en-US" sz="2000" b="1" dirty="0">
              <a:solidFill>
                <a:srgbClr val="3366FF"/>
              </a:solidFill>
            </a:endParaRPr>
          </a:p>
          <a:p>
            <a:r>
              <a:rPr lang="en-US" altLang="en-US" sz="2000" dirty="0">
                <a:sym typeface="+mn-ea"/>
              </a:rPr>
              <a:t>If parent terminated without invoking</a:t>
            </a:r>
            <a:r>
              <a:rPr lang="en-US" altLang="en-US" sz="2000" b="1" dirty="0">
                <a:solidFill>
                  <a:srgbClr val="000000"/>
                </a:solidFill>
                <a:latin typeface="Courier New" panose="02070309020205020404" pitchFamily="49" charset="0"/>
                <a:cs typeface="Courier New" panose="02070309020205020404" pitchFamily="49" charset="0"/>
                <a:sym typeface="+mn-ea"/>
              </a:rPr>
              <a:t> wait</a:t>
            </a:r>
            <a:r>
              <a:rPr lang="en-US" altLang="en-US" sz="2000" dirty="0">
                <a:sym typeface="+mn-ea"/>
              </a:rPr>
              <a:t> , process is an </a:t>
            </a:r>
            <a:r>
              <a:rPr lang="en-US" altLang="en-US" sz="2000" b="1" dirty="0">
                <a:solidFill>
                  <a:srgbClr val="3366FF"/>
                </a:solidFill>
                <a:sym typeface="+mn-ea"/>
              </a:rPr>
              <a:t>orphan</a:t>
            </a:r>
            <a:endParaRPr lang="en-GB" altLang="en-US" sz="2000" b="1"/>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11505" y="476250"/>
            <a:ext cx="7647305" cy="5807075"/>
          </a:xfrm>
          <a:prstGeom prst="rect">
            <a:avLst/>
          </a:prstGeom>
          <a:noFill/>
        </p:spPr>
        <p:txBody>
          <a:bodyPr wrap="square" rtlCol="0">
            <a:noAutofit/>
          </a:bodyPr>
          <a:p>
            <a:r>
              <a:rPr lang="en-GB" altLang="en-US" sz="3200" b="1">
                <a:sym typeface="+mn-ea"/>
              </a:rPr>
              <a:t>Communication in Client–Server Systems</a:t>
            </a:r>
            <a:endParaRPr lang="en-GB" altLang="en-US" sz="3200" b="1"/>
          </a:p>
          <a:p>
            <a:endParaRPr lang="en-US" altLang="en-US" dirty="0">
              <a:sym typeface="+mn-ea"/>
            </a:endParaRPr>
          </a:p>
          <a:p>
            <a:pPr marL="285750" indent="-285750">
              <a:buFont typeface="Wingdings" panose="05000000000000000000" charset="0"/>
              <a:buChar char="q"/>
            </a:pPr>
            <a:r>
              <a:rPr lang="en-US" altLang="en-US" sz="2400" dirty="0">
                <a:sym typeface="+mn-ea"/>
              </a:rPr>
              <a:t>Sockets</a:t>
            </a:r>
            <a:endParaRPr lang="en-US" altLang="en-US" sz="2400" dirty="0"/>
          </a:p>
          <a:p>
            <a:pPr marL="285750" indent="-285750">
              <a:buFont typeface="Wingdings" panose="05000000000000000000" charset="0"/>
              <a:buChar char="q"/>
            </a:pPr>
            <a:r>
              <a:rPr lang="en-US" altLang="en-US" sz="2400" dirty="0">
                <a:sym typeface="+mn-ea"/>
              </a:rPr>
              <a:t>Remote Procedure Calls</a:t>
            </a:r>
            <a:endParaRPr lang="en-US" altLang="en-US" sz="2400" dirty="0"/>
          </a:p>
          <a:p>
            <a:pPr marL="285750" indent="-285750">
              <a:buFont typeface="Wingdings" panose="05000000000000000000" charset="0"/>
              <a:buChar char="q"/>
            </a:pPr>
            <a:r>
              <a:rPr lang="en-US" altLang="en-US" sz="2400" dirty="0">
                <a:sym typeface="+mn-ea"/>
              </a:rPr>
              <a:t>Pipes</a:t>
            </a:r>
            <a:endParaRPr lang="en-US" altLang="en-US" sz="2400" dirty="0"/>
          </a:p>
          <a:p>
            <a:pPr marL="285750" indent="-285750">
              <a:buFont typeface="Wingdings" panose="05000000000000000000" charset="0"/>
              <a:buChar char="q"/>
            </a:pPr>
            <a:r>
              <a:rPr lang="en-US" altLang="en-US" sz="2400" dirty="0">
                <a:sym typeface="+mn-ea"/>
              </a:rPr>
              <a:t>Remote Method Invocation (Java)</a:t>
            </a:r>
            <a:endParaRPr lang="en-US" altLang="en-US" dirty="0">
              <a:sym typeface="+mn-ea"/>
            </a:endParaRPr>
          </a:p>
          <a:p>
            <a:r>
              <a:rPr lang="en-GB" altLang="en-US" sz="2800" b="1">
                <a:solidFill>
                  <a:schemeClr val="tx1"/>
                </a:solidFill>
                <a:sym typeface="+mn-ea"/>
              </a:rPr>
              <a:t> Sockets</a:t>
            </a:r>
            <a:endParaRPr lang="en-GB" altLang="en-US" sz="2800" b="1">
              <a:solidFill>
                <a:schemeClr val="tx1"/>
              </a:solidFill>
            </a:endParaRPr>
          </a:p>
          <a:p>
            <a:r>
              <a:rPr lang="en-GB" altLang="en-US" sz="2000">
                <a:sym typeface="+mn-ea"/>
              </a:rPr>
              <a:t>Asocket is defined as an endpoint for communication</a:t>
            </a:r>
            <a:endParaRPr lang="en-GB" altLang="en-US" sz="2000"/>
          </a:p>
          <a:p>
            <a:r>
              <a:rPr lang="en-GB" altLang="en-US" sz="2000">
                <a:sym typeface="+mn-ea"/>
              </a:rPr>
              <a:t>Communication using sockets</a:t>
            </a:r>
            <a:endParaRPr lang="en-GB" altLang="en-US" sz="2000">
              <a:sym typeface="+mn-ea"/>
            </a:endParaRPr>
          </a:p>
          <a:p>
            <a:endParaRPr lang="en-GB" altLang="en-US"/>
          </a:p>
          <a:p>
            <a:endParaRPr lang="en-US" altLang="en-US" dirty="0"/>
          </a:p>
          <a:p>
            <a:endParaRPr lang="en-GB" altLang="en-US"/>
          </a:p>
        </p:txBody>
      </p:sp>
      <p:pic>
        <p:nvPicPr>
          <p:cNvPr id="58371" name="Picture 7"/>
          <p:cNvPicPr>
            <a:picLocks noChangeAspect="1"/>
          </p:cNvPicPr>
          <p:nvPr/>
        </p:nvPicPr>
        <p:blipFill>
          <a:blip r:embed="rId1"/>
          <a:stretch>
            <a:fillRect/>
          </a:stretch>
        </p:blipFill>
        <p:spPr>
          <a:xfrm>
            <a:off x="2267585" y="4139565"/>
            <a:ext cx="4734560" cy="2428875"/>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55650" y="548640"/>
            <a:ext cx="7168515" cy="1165860"/>
          </a:xfrm>
          <a:prstGeom prst="rect">
            <a:avLst/>
          </a:prstGeom>
          <a:noFill/>
        </p:spPr>
        <p:txBody>
          <a:bodyPr wrap="square" rtlCol="0">
            <a:noAutofit/>
          </a:bodyPr>
          <a:p>
            <a:r>
              <a:rPr lang="en-GB" altLang="en-US" sz="3200" b="1">
                <a:solidFill>
                  <a:srgbClr val="FF0000"/>
                </a:solidFill>
              </a:rPr>
              <a:t>Remote Procedure Calls</a:t>
            </a:r>
            <a:endParaRPr lang="en-GB" altLang="en-US" sz="3200" b="1">
              <a:solidFill>
                <a:srgbClr val="FF0000"/>
              </a:solidFill>
            </a:endParaRPr>
          </a:p>
          <a:p>
            <a:endParaRPr lang="en-GB" altLang="en-US"/>
          </a:p>
          <a:p>
            <a:endParaRPr lang="en-GB" altLang="en-US"/>
          </a:p>
        </p:txBody>
      </p:sp>
      <p:pic>
        <p:nvPicPr>
          <p:cNvPr id="62467" name="Picture 6" descr="3"/>
          <p:cNvPicPr>
            <a:picLocks noChangeAspect="1"/>
          </p:cNvPicPr>
          <p:nvPr/>
        </p:nvPicPr>
        <p:blipFill>
          <a:blip r:embed="rId1"/>
          <a:stretch>
            <a:fillRect/>
          </a:stretch>
        </p:blipFill>
        <p:spPr>
          <a:xfrm>
            <a:off x="1547495" y="1483995"/>
            <a:ext cx="5519420" cy="5048250"/>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94030" y="323850"/>
            <a:ext cx="8302625" cy="3952240"/>
          </a:xfrm>
          <a:prstGeom prst="rect">
            <a:avLst/>
          </a:prstGeom>
          <a:noFill/>
        </p:spPr>
        <p:txBody>
          <a:bodyPr wrap="square" rtlCol="0">
            <a:noAutofit/>
          </a:bodyPr>
          <a:p>
            <a:r>
              <a:rPr lang="en-GB" altLang="en-US" sz="3200" b="1">
                <a:solidFill>
                  <a:schemeClr val="tx1"/>
                </a:solidFill>
              </a:rPr>
              <a:t>Pipes</a:t>
            </a:r>
            <a:endParaRPr lang="en-GB" altLang="en-US" sz="3200" b="1">
              <a:solidFill>
                <a:schemeClr val="tx1"/>
              </a:solidFill>
            </a:endParaRPr>
          </a:p>
          <a:p>
            <a:r>
              <a:rPr lang="en-GB" altLang="en-US" sz="2000"/>
              <a:t>A pipe acts as a conduit allowing two processes to communicate. Pipes were</a:t>
            </a:r>
            <a:endParaRPr lang="en-GB" altLang="en-US" sz="2000"/>
          </a:p>
          <a:p>
            <a:r>
              <a:rPr lang="en-GB" altLang="en-US" sz="2000"/>
              <a:t>one of the first IPC mechanisms in early UNIX systems.</a:t>
            </a:r>
            <a:endParaRPr lang="en-GB" altLang="en-US" sz="2000"/>
          </a:p>
          <a:p>
            <a:r>
              <a:rPr lang="en-GB" altLang="en-US" sz="3200" b="1">
                <a:solidFill>
                  <a:schemeClr val="tx1"/>
                </a:solidFill>
              </a:rPr>
              <a:t>Ordinary Pipes:</a:t>
            </a:r>
            <a:endParaRPr lang="en-GB" altLang="en-US" sz="3200" b="1">
              <a:solidFill>
                <a:schemeClr val="tx1"/>
              </a:solidFill>
            </a:endParaRPr>
          </a:p>
          <a:p>
            <a:r>
              <a:rPr lang="en-GB" altLang="en-US" sz="2000"/>
              <a:t>Ordinary pipes allow two processes to communicate in standard producer–</a:t>
            </a:r>
            <a:endParaRPr lang="en-GB" altLang="en-US" sz="2000"/>
          </a:p>
          <a:p>
            <a:r>
              <a:rPr lang="en-GB" altLang="en-US" sz="2000"/>
              <a:t>consumer fashion: the producer writes to one end of the pipe (the write end)</a:t>
            </a:r>
            <a:endParaRPr lang="en-GB" altLang="en-US" sz="2000"/>
          </a:p>
          <a:p>
            <a:r>
              <a:rPr lang="en-GB" altLang="en-US" sz="2000"/>
              <a:t>and the consumer reads from the other end (the read end).</a:t>
            </a:r>
            <a:endParaRPr lang="en-GB" altLang="en-US" sz="2000"/>
          </a:p>
          <a:p>
            <a:r>
              <a:rPr lang="en-GB" altLang="en-US" sz="3200" b="1">
                <a:solidFill>
                  <a:schemeClr val="tx1"/>
                </a:solidFill>
              </a:rPr>
              <a:t>Named Pipes:</a:t>
            </a:r>
            <a:endParaRPr lang="en-GB" altLang="en-US" sz="3200" b="1">
              <a:solidFill>
                <a:schemeClr val="tx1"/>
              </a:solidFill>
            </a:endParaRPr>
          </a:p>
          <a:p>
            <a:endParaRPr lang="en-GB" altLang="en-US" sz="3200" b="1">
              <a:solidFill>
                <a:srgbClr val="FF0000"/>
              </a:solidFill>
            </a:endParaRPr>
          </a:p>
          <a:p>
            <a:endParaRPr lang="en-GB" altLang="en-US" sz="3200" b="1">
              <a:solidFill>
                <a:srgbClr val="FF0000"/>
              </a:solidFill>
            </a:endParaRPr>
          </a:p>
        </p:txBody>
      </p:sp>
      <p:pic>
        <p:nvPicPr>
          <p:cNvPr id="3" name="Picture 2" descr="3_20fds4Pipes"/>
          <p:cNvPicPr>
            <a:picLocks noChangeAspect="1"/>
          </p:cNvPicPr>
          <p:nvPr/>
        </p:nvPicPr>
        <p:blipFill>
          <a:blip r:embed="rId1"/>
          <a:stretch>
            <a:fillRect/>
          </a:stretch>
        </p:blipFill>
        <p:spPr>
          <a:xfrm>
            <a:off x="4262120" y="4682490"/>
            <a:ext cx="4200525" cy="184023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59105" y="778510"/>
            <a:ext cx="7846695" cy="5088890"/>
          </a:xfrm>
          <a:prstGeom prst="rect">
            <a:avLst/>
          </a:prstGeom>
          <a:noFill/>
        </p:spPr>
        <p:txBody>
          <a:bodyPr wrap="square" rtlCol="0">
            <a:noAutofit/>
          </a:bodyPr>
          <a:p>
            <a:r>
              <a:rPr lang="en-GB" altLang="en-US" sz="3600" b="1">
                <a:sym typeface="+mn-ea"/>
              </a:rPr>
              <a:t>First-Come, First-Served Scheduling</a:t>
            </a:r>
            <a:endParaRPr lang="en-GB" altLang="en-US" sz="3600" b="1">
              <a:sym typeface="+mn-ea"/>
            </a:endParaRPr>
          </a:p>
          <a:p>
            <a:endParaRPr lang="en-GB" altLang="en-US" sz="2800"/>
          </a:p>
          <a:p>
            <a:r>
              <a:rPr lang="en-GB" altLang="en-US" sz="3200"/>
              <a:t>The process which arrives first in the ready queue is firstly assigned the CPU.</a:t>
            </a:r>
            <a:endParaRPr lang="en-GB" altLang="en-US" sz="3200"/>
          </a:p>
          <a:p>
            <a:r>
              <a:rPr lang="en-GB" altLang="en-US" sz="3200"/>
              <a:t>In case of a tie, process with smaller process id is executed first.</a:t>
            </a:r>
            <a:endParaRPr lang="en-GB" altLang="en-US" sz="3200"/>
          </a:p>
          <a:p>
            <a:r>
              <a:rPr lang="en-GB" altLang="en-US" sz="3200"/>
              <a:t>It is always non-preemptive in nature.</a:t>
            </a:r>
            <a:endParaRPr lang="en-GB" altLang="en-US" sz="3200"/>
          </a:p>
          <a:p>
            <a:endParaRPr lang="en-GB" altLang="en-US" sz="32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17525" y="367030"/>
            <a:ext cx="7771765" cy="5984875"/>
          </a:xfrm>
          <a:prstGeom prst="rect">
            <a:avLst/>
          </a:prstGeom>
          <a:noFill/>
        </p:spPr>
        <p:txBody>
          <a:bodyPr wrap="square" rtlCol="0">
            <a:noAutofit/>
          </a:bodyPr>
          <a:p>
            <a:endParaRPr lang="en-GB" altLang="en-US"/>
          </a:p>
          <a:p>
            <a:r>
              <a:rPr lang="en-GB" altLang="en-US" sz="2400" b="1">
                <a:sym typeface="+mn-ea"/>
              </a:rPr>
              <a:t>First-Come, First-Served Scheduling</a:t>
            </a:r>
            <a:endParaRPr lang="en-GB" altLang="en-US" sz="2400"/>
          </a:p>
          <a:p>
            <a:endParaRPr lang="en-GB" altLang="en-US"/>
          </a:p>
          <a:p>
            <a:r>
              <a:rPr lang="en-GB" altLang="en-US" sz="2000" b="1"/>
              <a:t>Process Id	Arrival time	Burst </a:t>
            </a:r>
            <a:r>
              <a:rPr lang="en-GB" altLang="en-US" sz="2000" b="1">
                <a:sym typeface="+mn-ea"/>
              </a:rPr>
              <a:t>time</a:t>
            </a:r>
            <a:r>
              <a:rPr lang="en-GB" altLang="en-US" sz="2000" b="1"/>
              <a:t> </a:t>
            </a:r>
            <a:endParaRPr lang="en-GB" altLang="en-US" sz="2000" b="1"/>
          </a:p>
          <a:p>
            <a:r>
              <a:rPr lang="en-GB" altLang="en-US" sz="2000" b="1"/>
              <a:t>P1	                        3	                          4</a:t>
            </a:r>
            <a:endParaRPr lang="en-GB" altLang="en-US" sz="2000" b="1"/>
          </a:p>
          <a:p>
            <a:r>
              <a:rPr lang="en-GB" altLang="en-US" sz="2000" b="1"/>
              <a:t>P2	                        5	                          3</a:t>
            </a:r>
            <a:endParaRPr lang="en-GB" altLang="en-US" sz="2000" b="1"/>
          </a:p>
          <a:p>
            <a:r>
              <a:rPr lang="en-GB" altLang="en-US" sz="2000" b="1"/>
              <a:t>P3	                        0	                          2</a:t>
            </a:r>
            <a:endParaRPr lang="en-GB" altLang="en-US" sz="2000" b="1"/>
          </a:p>
          <a:p>
            <a:r>
              <a:rPr lang="en-GB" altLang="en-US" sz="2000" b="1"/>
              <a:t>P4	                        5	                          1</a:t>
            </a:r>
            <a:endParaRPr lang="en-GB" altLang="en-US" sz="2000" b="1"/>
          </a:p>
          <a:p>
            <a:r>
              <a:rPr lang="en-GB" altLang="en-US" sz="2000" b="1"/>
              <a:t>P5	                        4	                          3</a:t>
            </a:r>
            <a:endParaRPr lang="en-GB" altLang="en-US" sz="2000" b="1"/>
          </a:p>
          <a:p>
            <a:endParaRPr lang="en-GB" altLang="en-US"/>
          </a:p>
          <a:p>
            <a:endParaRPr lang="en-GB" altLang="en-US"/>
          </a:p>
          <a:p>
            <a:endParaRPr lang="en-GB" altLang="en-US"/>
          </a:p>
          <a:p>
            <a:endParaRPr lang="en-GB" altLang="en-US"/>
          </a:p>
          <a:p>
            <a:r>
              <a:rPr lang="en-GB" altLang="en-US"/>
              <a:t>          0                 2               3                7               10              13             14</a:t>
            </a:r>
            <a:endParaRPr lang="en-GB" altLang="en-US"/>
          </a:p>
          <a:p>
            <a:endParaRPr lang="en-GB" altLang="en-US"/>
          </a:p>
          <a:p>
            <a:endParaRPr lang="en-GB" altLang="en-US"/>
          </a:p>
          <a:p>
            <a:endParaRPr lang="en-GB" altLang="en-US"/>
          </a:p>
          <a:p>
            <a:endParaRPr lang="en-GB" altLang="en-US"/>
          </a:p>
          <a:p>
            <a:endParaRPr lang="en-GB" altLang="en-US" sz="2000" b="1"/>
          </a:p>
        </p:txBody>
      </p:sp>
      <p:graphicFrame>
        <p:nvGraphicFramePr>
          <p:cNvPr id="3" name="Table 2"/>
          <p:cNvGraphicFramePr/>
          <p:nvPr/>
        </p:nvGraphicFramePr>
        <p:xfrm>
          <a:off x="1187450" y="4580890"/>
          <a:ext cx="5638800" cy="670560"/>
        </p:xfrm>
        <a:graphic>
          <a:graphicData uri="http://schemas.openxmlformats.org/drawingml/2006/table">
            <a:tbl>
              <a:tblPr firstRow="1" bandRow="1">
                <a:tableStyleId>{5C22544A-7EE6-4342-B048-85BDC9FD1C3A}</a:tableStyleId>
              </a:tblPr>
              <a:tblGrid>
                <a:gridCol w="939800"/>
                <a:gridCol w="939800"/>
                <a:gridCol w="939800"/>
                <a:gridCol w="939800"/>
                <a:gridCol w="939800"/>
                <a:gridCol w="939800"/>
              </a:tblGrid>
              <a:tr h="670560">
                <a:tc>
                  <a:txBody>
                    <a:bodyPr/>
                    <a:p>
                      <a:pPr>
                        <a:buNone/>
                      </a:pPr>
                      <a:r>
                        <a:rPr lang="en-GB" altLang="en-US"/>
                        <a:t>p3</a:t>
                      </a:r>
                      <a:endParaRPr lang="en-GB" altLang="en-US"/>
                    </a:p>
                  </a:txBody>
                  <a:tcPr>
                    <a:solidFill>
                      <a:schemeClr val="tx1"/>
                    </a:solidFill>
                  </a:tcPr>
                </a:tc>
                <a:tc>
                  <a:txBody>
                    <a:bodyPr/>
                    <a:p>
                      <a:pPr>
                        <a:buNone/>
                      </a:pPr>
                      <a:endParaRPr lang="en-GB" altLang="en-US"/>
                    </a:p>
                  </a:txBody>
                  <a:tcPr>
                    <a:solidFill>
                      <a:schemeClr val="accent1"/>
                    </a:solidFill>
                  </a:tcPr>
                </a:tc>
                <a:tc>
                  <a:txBody>
                    <a:bodyPr/>
                    <a:p>
                      <a:pPr>
                        <a:buNone/>
                      </a:pPr>
                      <a:r>
                        <a:rPr lang="en-GB" altLang="en-US"/>
                        <a:t>p1</a:t>
                      </a:r>
                      <a:endParaRPr lang="en-GB" altLang="en-US"/>
                    </a:p>
                  </a:txBody>
                  <a:tcPr>
                    <a:solidFill>
                      <a:schemeClr val="tx1"/>
                    </a:solidFill>
                  </a:tcPr>
                </a:tc>
                <a:tc>
                  <a:txBody>
                    <a:bodyPr/>
                    <a:p>
                      <a:pPr>
                        <a:buNone/>
                      </a:pPr>
                      <a:r>
                        <a:rPr lang="en-GB" altLang="en-US"/>
                        <a:t>p5</a:t>
                      </a:r>
                      <a:endParaRPr lang="en-GB" altLang="en-US"/>
                    </a:p>
                  </a:txBody>
                  <a:tcPr>
                    <a:solidFill>
                      <a:schemeClr val="tx1"/>
                    </a:solidFill>
                  </a:tcPr>
                </a:tc>
                <a:tc>
                  <a:txBody>
                    <a:bodyPr/>
                    <a:p>
                      <a:pPr>
                        <a:buNone/>
                      </a:pPr>
                      <a:r>
                        <a:rPr lang="en-GB" altLang="en-US"/>
                        <a:t>p2</a:t>
                      </a:r>
                      <a:endParaRPr lang="en-GB" altLang="en-US"/>
                    </a:p>
                  </a:txBody>
                  <a:tcPr>
                    <a:solidFill>
                      <a:schemeClr val="tx1"/>
                    </a:solidFill>
                  </a:tcPr>
                </a:tc>
                <a:tc>
                  <a:txBody>
                    <a:bodyPr/>
                    <a:p>
                      <a:pPr>
                        <a:buNone/>
                      </a:pPr>
                      <a:r>
                        <a:rPr lang="en-GB" altLang="en-US"/>
                        <a:t>p4</a:t>
                      </a:r>
                      <a:endParaRPr lang="en-GB" altLang="en-US"/>
                    </a:p>
                  </a:txBody>
                  <a:tcPr>
                    <a:solidFill>
                      <a:schemeClr val="tx1"/>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Table 2"/>
          <p:cNvGraphicFramePr/>
          <p:nvPr>
            <p:custDataLst>
              <p:tags r:id="rId1"/>
            </p:custDataLst>
          </p:nvPr>
        </p:nvGraphicFramePr>
        <p:xfrm>
          <a:off x="1403350" y="2492375"/>
          <a:ext cx="6743700" cy="3688715"/>
        </p:xfrm>
        <a:graphic>
          <a:graphicData uri="http://schemas.openxmlformats.org/drawingml/2006/table">
            <a:tbl>
              <a:tblPr/>
              <a:tblGrid>
                <a:gridCol w="1238885"/>
                <a:gridCol w="1326515"/>
                <a:gridCol w="1886585"/>
                <a:gridCol w="2291715"/>
              </a:tblGrid>
              <a:tr h="929640">
                <a:tc>
                  <a:txBody>
                    <a:bodyPr/>
                    <a:p>
                      <a:pPr algn="ctr"/>
                      <a:r>
                        <a:rPr sz="1200" b="1" i="0">
                          <a:solidFill>
                            <a:schemeClr val="tx1"/>
                          </a:solidFill>
                          <a:latin typeface="Times New Roman" panose="02020603050405020304" charset="0"/>
                          <a:ea typeface="Arimo"/>
                          <a:cs typeface="Times New Roman" panose="02020603050405020304" charset="0"/>
                        </a:rPr>
                        <a:t>Process Id</a:t>
                      </a:r>
                      <a:endParaRPr sz="1200" b="1" i="0">
                        <a:solidFill>
                          <a:schemeClr val="tx1"/>
                        </a:solidFill>
                        <a:latin typeface="Times New Roman" panose="02020603050405020304" charset="0"/>
                        <a:ea typeface="Arimo"/>
                        <a:cs typeface="Times New Roman" panose="02020603050405020304" charset="0"/>
                      </a:endParaRPr>
                    </a:p>
                  </a:txBody>
                  <a:tcPr marL="76517" marR="76517" marT="61277" marB="61277" anchor="ctr" anchorCtr="0">
                    <a:lnL w="7620" cap="flat" cmpd="sng">
                      <a:solidFill>
                        <a:srgbClr val="515455"/>
                      </a:solidFill>
                      <a:prstDash val="solid"/>
                      <a:headEnd type="none" w="med" len="med"/>
                      <a:tailEnd type="none" w="med" len="med"/>
                    </a:lnL>
                    <a:lnR w="7620" cap="flat" cmpd="sng">
                      <a:solidFill>
                        <a:srgbClr val="515455"/>
                      </a:solidFill>
                      <a:prstDash val="solid"/>
                      <a:headEnd type="none" w="med" len="med"/>
                      <a:tailEnd type="none" w="med" len="med"/>
                    </a:lnR>
                    <a:lnT w="7620" cap="flat" cmpd="sng">
                      <a:solidFill>
                        <a:srgbClr val="515455"/>
                      </a:solidFill>
                      <a:prstDash val="solid"/>
                      <a:headEnd type="none" w="med" len="med"/>
                      <a:tailEnd type="none" w="med" len="med"/>
                    </a:lnT>
                    <a:lnB w="7620" cap="flat" cmpd="sng">
                      <a:solidFill>
                        <a:srgbClr val="515455"/>
                      </a:solidFill>
                      <a:prstDash val="solid"/>
                      <a:headEnd type="none" w="med" len="med"/>
                      <a:tailEnd type="none" w="med" len="med"/>
                    </a:lnB>
                    <a:noFill/>
                  </a:tcPr>
                </a:tc>
                <a:tc>
                  <a:txBody>
                    <a:bodyPr/>
                    <a:p>
                      <a:pPr algn="ctr"/>
                      <a:r>
                        <a:rPr sz="1200" b="1" i="0">
                          <a:solidFill>
                            <a:schemeClr val="tx1"/>
                          </a:solidFill>
                          <a:latin typeface="Times New Roman" panose="02020603050405020304" charset="0"/>
                          <a:ea typeface="Arimo"/>
                          <a:cs typeface="Times New Roman" panose="02020603050405020304" charset="0"/>
                        </a:rPr>
                        <a:t>Exit time</a:t>
                      </a:r>
                      <a:endParaRPr sz="1200" b="1" i="0">
                        <a:solidFill>
                          <a:schemeClr val="tx1"/>
                        </a:solidFill>
                        <a:latin typeface="Times New Roman" panose="02020603050405020304" charset="0"/>
                        <a:ea typeface="Arimo"/>
                        <a:cs typeface="Times New Roman" panose="02020603050405020304" charset="0"/>
                      </a:endParaRPr>
                    </a:p>
                  </a:txBody>
                  <a:tcPr marL="76517" marR="76517" marT="61277" marB="61277" anchor="ctr" anchorCtr="0">
                    <a:lnL w="7620" cap="flat" cmpd="sng">
                      <a:solidFill>
                        <a:srgbClr val="515455"/>
                      </a:solidFill>
                      <a:prstDash val="solid"/>
                      <a:headEnd type="none" w="med" len="med"/>
                      <a:tailEnd type="none" w="med" len="med"/>
                    </a:lnL>
                    <a:lnR w="7620" cap="flat" cmpd="sng">
                      <a:solidFill>
                        <a:srgbClr val="515455"/>
                      </a:solidFill>
                      <a:prstDash val="solid"/>
                      <a:headEnd type="none" w="med" len="med"/>
                      <a:tailEnd type="none" w="med" len="med"/>
                    </a:lnR>
                    <a:lnT w="7620" cap="flat" cmpd="sng">
                      <a:solidFill>
                        <a:srgbClr val="515455"/>
                      </a:solidFill>
                      <a:prstDash val="solid"/>
                      <a:headEnd type="none" w="med" len="med"/>
                      <a:tailEnd type="none" w="med" len="med"/>
                    </a:lnT>
                    <a:lnB w="7620" cap="flat" cmpd="sng">
                      <a:solidFill>
                        <a:srgbClr val="515455"/>
                      </a:solidFill>
                      <a:prstDash val="solid"/>
                      <a:headEnd type="none" w="med" len="med"/>
                      <a:tailEnd type="none" w="med" len="med"/>
                    </a:lnB>
                    <a:noFill/>
                  </a:tcPr>
                </a:tc>
                <a:tc>
                  <a:txBody>
                    <a:bodyPr/>
                    <a:p>
                      <a:pPr algn="ctr"/>
                      <a:r>
                        <a:rPr sz="1200" b="1" i="0">
                          <a:solidFill>
                            <a:schemeClr val="tx1"/>
                          </a:solidFill>
                          <a:latin typeface="Times New Roman" panose="02020603050405020304" charset="0"/>
                          <a:ea typeface="Arimo"/>
                          <a:cs typeface="Times New Roman" panose="02020603050405020304" charset="0"/>
                        </a:rPr>
                        <a:t>Turn Around time</a:t>
                      </a:r>
                      <a:endParaRPr sz="1200" b="1" i="0">
                        <a:solidFill>
                          <a:schemeClr val="tx1"/>
                        </a:solidFill>
                        <a:latin typeface="Times New Roman" panose="02020603050405020304" charset="0"/>
                        <a:ea typeface="Arimo"/>
                        <a:cs typeface="Times New Roman" panose="02020603050405020304" charset="0"/>
                      </a:endParaRPr>
                    </a:p>
                  </a:txBody>
                  <a:tcPr marL="76517" marR="76517" marT="61277" marB="61277" anchor="ctr" anchorCtr="0">
                    <a:lnL w="7620" cap="flat" cmpd="sng">
                      <a:solidFill>
                        <a:srgbClr val="515455"/>
                      </a:solidFill>
                      <a:prstDash val="solid"/>
                      <a:headEnd type="none" w="med" len="med"/>
                      <a:tailEnd type="none" w="med" len="med"/>
                    </a:lnL>
                    <a:lnR w="7620" cap="flat" cmpd="sng">
                      <a:solidFill>
                        <a:srgbClr val="515455"/>
                      </a:solidFill>
                      <a:prstDash val="solid"/>
                      <a:headEnd type="none" w="med" len="med"/>
                      <a:tailEnd type="none" w="med" len="med"/>
                    </a:lnR>
                    <a:lnT w="7620" cap="flat" cmpd="sng">
                      <a:solidFill>
                        <a:srgbClr val="515455"/>
                      </a:solidFill>
                      <a:prstDash val="solid"/>
                      <a:headEnd type="none" w="med" len="med"/>
                      <a:tailEnd type="none" w="med" len="med"/>
                    </a:lnT>
                    <a:lnB w="7620" cap="flat" cmpd="sng">
                      <a:solidFill>
                        <a:srgbClr val="515455"/>
                      </a:solidFill>
                      <a:prstDash val="solid"/>
                      <a:headEnd type="none" w="med" len="med"/>
                      <a:tailEnd type="none" w="med" len="med"/>
                    </a:lnB>
                    <a:noFill/>
                  </a:tcPr>
                </a:tc>
                <a:tc>
                  <a:txBody>
                    <a:bodyPr/>
                    <a:p>
                      <a:pPr algn="ctr"/>
                      <a:r>
                        <a:rPr sz="1200" b="1" i="0">
                          <a:solidFill>
                            <a:schemeClr val="tx1"/>
                          </a:solidFill>
                          <a:latin typeface="Times New Roman" panose="02020603050405020304" charset="0"/>
                          <a:ea typeface="Arimo"/>
                          <a:cs typeface="Times New Roman" panose="02020603050405020304" charset="0"/>
                        </a:rPr>
                        <a:t>Waiting time</a:t>
                      </a:r>
                      <a:endParaRPr sz="1200" b="1" i="0">
                        <a:solidFill>
                          <a:schemeClr val="tx1"/>
                        </a:solidFill>
                        <a:latin typeface="Times New Roman" panose="02020603050405020304" charset="0"/>
                        <a:ea typeface="Arimo"/>
                        <a:cs typeface="Times New Roman" panose="02020603050405020304" charset="0"/>
                      </a:endParaRPr>
                    </a:p>
                  </a:txBody>
                  <a:tcPr marL="76517" marR="76517" marT="61277" marB="61277" anchor="ctr" anchorCtr="0">
                    <a:lnL w="7620" cap="flat" cmpd="sng">
                      <a:solidFill>
                        <a:srgbClr val="515455"/>
                      </a:solidFill>
                      <a:prstDash val="solid"/>
                      <a:headEnd type="none" w="med" len="med"/>
                      <a:tailEnd type="none" w="med" len="med"/>
                    </a:lnL>
                    <a:lnR w="7620" cap="flat" cmpd="sng">
                      <a:solidFill>
                        <a:srgbClr val="515455"/>
                      </a:solidFill>
                      <a:prstDash val="solid"/>
                      <a:headEnd type="none" w="med" len="med"/>
                      <a:tailEnd type="none" w="med" len="med"/>
                    </a:lnR>
                    <a:lnT w="7620" cap="flat" cmpd="sng">
                      <a:solidFill>
                        <a:srgbClr val="515455"/>
                      </a:solidFill>
                      <a:prstDash val="solid"/>
                      <a:headEnd type="none" w="med" len="med"/>
                      <a:tailEnd type="none" w="med" len="med"/>
                    </a:lnT>
                    <a:lnB w="7620" cap="flat" cmpd="sng">
                      <a:solidFill>
                        <a:srgbClr val="515455"/>
                      </a:solidFill>
                      <a:prstDash val="solid"/>
                      <a:headEnd type="none" w="med" len="med"/>
                      <a:tailEnd type="none" w="med" len="med"/>
                    </a:lnB>
                    <a:noFill/>
                  </a:tcPr>
                </a:tc>
              </a:tr>
              <a:tr h="551815">
                <a:tc>
                  <a:txBody>
                    <a:bodyPr/>
                    <a:p>
                      <a:pPr algn="ctr"/>
                      <a:r>
                        <a:rPr sz="1100" b="1" i="0">
                          <a:solidFill>
                            <a:schemeClr val="tx1"/>
                          </a:solidFill>
                          <a:latin typeface="Times New Roman" panose="02020603050405020304" charset="0"/>
                          <a:ea typeface="Arimo"/>
                          <a:cs typeface="Times New Roman" panose="02020603050405020304" charset="0"/>
                        </a:rPr>
                        <a:t>P1</a:t>
                      </a:r>
                      <a:endParaRPr sz="1100" b="1" i="0">
                        <a:solidFill>
                          <a:schemeClr val="tx1"/>
                        </a:solidFill>
                        <a:latin typeface="Times New Roman" panose="02020603050405020304" charset="0"/>
                        <a:ea typeface="Arimo"/>
                        <a:cs typeface="Times New Roman" panose="02020603050405020304" charset="0"/>
                      </a:endParaRPr>
                    </a:p>
                  </a:txBody>
                  <a:tcPr marL="76517" marR="76517" marT="61277" marB="61277" anchor="ctr" anchorCtr="0">
                    <a:lnL w="7620" cap="flat" cmpd="sng">
                      <a:solidFill>
                        <a:srgbClr val="515455"/>
                      </a:solidFill>
                      <a:prstDash val="solid"/>
                      <a:headEnd type="none" w="med" len="med"/>
                      <a:tailEnd type="none" w="med" len="med"/>
                    </a:lnL>
                    <a:lnR w="7620" cap="flat" cmpd="sng">
                      <a:solidFill>
                        <a:srgbClr val="515455"/>
                      </a:solidFill>
                      <a:prstDash val="solid"/>
                      <a:headEnd type="none" w="med" len="med"/>
                      <a:tailEnd type="none" w="med" len="med"/>
                    </a:lnR>
                    <a:lnT w="7620" cap="flat" cmpd="sng">
                      <a:solidFill>
                        <a:srgbClr val="515455"/>
                      </a:solidFill>
                      <a:prstDash val="solid"/>
                      <a:headEnd type="none" w="med" len="med"/>
                      <a:tailEnd type="none" w="med" len="med"/>
                    </a:lnT>
                    <a:lnB w="7620" cap="flat" cmpd="sng">
                      <a:solidFill>
                        <a:srgbClr val="515455"/>
                      </a:solidFill>
                      <a:prstDash val="solid"/>
                      <a:headEnd type="none" w="med" len="med"/>
                      <a:tailEnd type="none" w="med" len="med"/>
                    </a:lnB>
                    <a:noFill/>
                  </a:tcPr>
                </a:tc>
                <a:tc>
                  <a:txBody>
                    <a:bodyPr/>
                    <a:p>
                      <a:pPr algn="ctr"/>
                      <a:r>
                        <a:rPr sz="1100" b="1" i="0">
                          <a:solidFill>
                            <a:schemeClr val="tx1"/>
                          </a:solidFill>
                          <a:latin typeface="Times New Roman" panose="02020603050405020304" charset="0"/>
                          <a:ea typeface="Arimo"/>
                          <a:cs typeface="Times New Roman" panose="02020603050405020304" charset="0"/>
                        </a:rPr>
                        <a:t>7</a:t>
                      </a:r>
                      <a:endParaRPr sz="1100" b="1" i="0">
                        <a:solidFill>
                          <a:schemeClr val="tx1"/>
                        </a:solidFill>
                        <a:latin typeface="Times New Roman" panose="02020603050405020304" charset="0"/>
                        <a:ea typeface="Arimo"/>
                        <a:cs typeface="Times New Roman" panose="02020603050405020304" charset="0"/>
                      </a:endParaRPr>
                    </a:p>
                  </a:txBody>
                  <a:tcPr marL="76517" marR="76517" marT="61277" marB="61277" anchor="ctr" anchorCtr="0">
                    <a:lnL w="7620" cap="flat" cmpd="sng">
                      <a:solidFill>
                        <a:srgbClr val="515455"/>
                      </a:solidFill>
                      <a:prstDash val="solid"/>
                      <a:headEnd type="none" w="med" len="med"/>
                      <a:tailEnd type="none" w="med" len="med"/>
                    </a:lnL>
                    <a:lnR w="7620" cap="flat" cmpd="sng">
                      <a:solidFill>
                        <a:srgbClr val="515455"/>
                      </a:solidFill>
                      <a:prstDash val="solid"/>
                      <a:headEnd type="none" w="med" len="med"/>
                      <a:tailEnd type="none" w="med" len="med"/>
                    </a:lnR>
                    <a:lnT w="7620" cap="flat" cmpd="sng">
                      <a:solidFill>
                        <a:srgbClr val="515455"/>
                      </a:solidFill>
                      <a:prstDash val="solid"/>
                      <a:headEnd type="none" w="med" len="med"/>
                      <a:tailEnd type="none" w="med" len="med"/>
                    </a:lnT>
                    <a:lnB w="7620" cap="flat" cmpd="sng">
                      <a:solidFill>
                        <a:srgbClr val="515455"/>
                      </a:solidFill>
                      <a:prstDash val="solid"/>
                      <a:headEnd type="none" w="med" len="med"/>
                      <a:tailEnd type="none" w="med" len="med"/>
                    </a:lnB>
                    <a:noFill/>
                  </a:tcPr>
                </a:tc>
                <a:tc>
                  <a:txBody>
                    <a:bodyPr/>
                    <a:p>
                      <a:pPr algn="ctr"/>
                      <a:r>
                        <a:rPr sz="1100" b="1" i="0">
                          <a:solidFill>
                            <a:schemeClr val="tx1"/>
                          </a:solidFill>
                          <a:latin typeface="Times New Roman" panose="02020603050405020304" charset="0"/>
                          <a:ea typeface="Arimo"/>
                          <a:cs typeface="Times New Roman" panose="02020603050405020304" charset="0"/>
                        </a:rPr>
                        <a:t>7 – 3 = 4</a:t>
                      </a:r>
                      <a:endParaRPr sz="1100" b="1" i="0">
                        <a:solidFill>
                          <a:schemeClr val="tx1"/>
                        </a:solidFill>
                        <a:latin typeface="Times New Roman" panose="02020603050405020304" charset="0"/>
                        <a:ea typeface="Arimo"/>
                        <a:cs typeface="Times New Roman" panose="02020603050405020304" charset="0"/>
                      </a:endParaRPr>
                    </a:p>
                  </a:txBody>
                  <a:tcPr marL="76517" marR="76517" marT="61277" marB="61277" anchor="ctr" anchorCtr="0">
                    <a:lnL w="7620" cap="flat" cmpd="sng">
                      <a:solidFill>
                        <a:srgbClr val="515455"/>
                      </a:solidFill>
                      <a:prstDash val="solid"/>
                      <a:headEnd type="none" w="med" len="med"/>
                      <a:tailEnd type="none" w="med" len="med"/>
                    </a:lnL>
                    <a:lnR w="7620" cap="flat" cmpd="sng">
                      <a:solidFill>
                        <a:srgbClr val="515455"/>
                      </a:solidFill>
                      <a:prstDash val="solid"/>
                      <a:headEnd type="none" w="med" len="med"/>
                      <a:tailEnd type="none" w="med" len="med"/>
                    </a:lnR>
                    <a:lnT w="7620" cap="flat" cmpd="sng">
                      <a:solidFill>
                        <a:srgbClr val="515455"/>
                      </a:solidFill>
                      <a:prstDash val="solid"/>
                      <a:headEnd type="none" w="med" len="med"/>
                      <a:tailEnd type="none" w="med" len="med"/>
                    </a:lnT>
                    <a:lnB w="7620" cap="flat" cmpd="sng">
                      <a:solidFill>
                        <a:srgbClr val="515455"/>
                      </a:solidFill>
                      <a:prstDash val="solid"/>
                      <a:headEnd type="none" w="med" len="med"/>
                      <a:tailEnd type="none" w="med" len="med"/>
                    </a:lnB>
                    <a:noFill/>
                  </a:tcPr>
                </a:tc>
                <a:tc>
                  <a:txBody>
                    <a:bodyPr/>
                    <a:p>
                      <a:pPr algn="ctr"/>
                      <a:r>
                        <a:rPr sz="1100" b="1" i="0">
                          <a:solidFill>
                            <a:schemeClr val="tx1"/>
                          </a:solidFill>
                          <a:latin typeface="Times New Roman" panose="02020603050405020304" charset="0"/>
                          <a:ea typeface="Arimo"/>
                          <a:cs typeface="Times New Roman" panose="02020603050405020304" charset="0"/>
                        </a:rPr>
                        <a:t>4 – 4 = 0</a:t>
                      </a:r>
                      <a:endParaRPr sz="1100" b="1" i="0">
                        <a:solidFill>
                          <a:schemeClr val="tx1"/>
                        </a:solidFill>
                        <a:latin typeface="Times New Roman" panose="02020603050405020304" charset="0"/>
                        <a:ea typeface="Arimo"/>
                        <a:cs typeface="Times New Roman" panose="02020603050405020304" charset="0"/>
                      </a:endParaRPr>
                    </a:p>
                  </a:txBody>
                  <a:tcPr marL="76517" marR="76517" marT="61277" marB="61277" anchor="ctr" anchorCtr="0">
                    <a:lnL w="7620" cap="flat" cmpd="sng">
                      <a:solidFill>
                        <a:srgbClr val="515455"/>
                      </a:solidFill>
                      <a:prstDash val="solid"/>
                      <a:headEnd type="none" w="med" len="med"/>
                      <a:tailEnd type="none" w="med" len="med"/>
                    </a:lnL>
                    <a:lnR w="7620" cap="flat" cmpd="sng">
                      <a:solidFill>
                        <a:srgbClr val="515455"/>
                      </a:solidFill>
                      <a:prstDash val="solid"/>
                      <a:headEnd type="none" w="med" len="med"/>
                      <a:tailEnd type="none" w="med" len="med"/>
                    </a:lnR>
                    <a:lnT w="7620" cap="flat" cmpd="sng">
                      <a:solidFill>
                        <a:srgbClr val="515455"/>
                      </a:solidFill>
                      <a:prstDash val="solid"/>
                      <a:headEnd type="none" w="med" len="med"/>
                      <a:tailEnd type="none" w="med" len="med"/>
                    </a:lnT>
                    <a:lnB w="7620" cap="flat" cmpd="sng">
                      <a:solidFill>
                        <a:srgbClr val="515455"/>
                      </a:solidFill>
                      <a:prstDash val="solid"/>
                      <a:headEnd type="none" w="med" len="med"/>
                      <a:tailEnd type="none" w="med" len="med"/>
                    </a:lnB>
                    <a:noFill/>
                  </a:tcPr>
                </a:tc>
              </a:tr>
              <a:tr h="551180">
                <a:tc>
                  <a:txBody>
                    <a:bodyPr/>
                    <a:p>
                      <a:pPr algn="ctr"/>
                      <a:r>
                        <a:rPr sz="1100" b="1" i="0">
                          <a:solidFill>
                            <a:schemeClr val="tx1"/>
                          </a:solidFill>
                          <a:latin typeface="Times New Roman" panose="02020603050405020304" charset="0"/>
                          <a:ea typeface="Arimo"/>
                          <a:cs typeface="Times New Roman" panose="02020603050405020304" charset="0"/>
                        </a:rPr>
                        <a:t>P2</a:t>
                      </a:r>
                      <a:endParaRPr sz="1100" b="1" i="0">
                        <a:solidFill>
                          <a:schemeClr val="tx1"/>
                        </a:solidFill>
                        <a:latin typeface="Times New Roman" panose="02020603050405020304" charset="0"/>
                        <a:ea typeface="Arimo"/>
                        <a:cs typeface="Times New Roman" panose="02020603050405020304" charset="0"/>
                      </a:endParaRPr>
                    </a:p>
                  </a:txBody>
                  <a:tcPr marL="76517" marR="76517" marT="61277" marB="61277" anchor="ctr" anchorCtr="0">
                    <a:lnL w="7620" cap="flat" cmpd="sng">
                      <a:solidFill>
                        <a:srgbClr val="515455"/>
                      </a:solidFill>
                      <a:prstDash val="solid"/>
                      <a:headEnd type="none" w="med" len="med"/>
                      <a:tailEnd type="none" w="med" len="med"/>
                    </a:lnL>
                    <a:lnR w="7620" cap="flat" cmpd="sng">
                      <a:solidFill>
                        <a:srgbClr val="515455"/>
                      </a:solidFill>
                      <a:prstDash val="solid"/>
                      <a:headEnd type="none" w="med" len="med"/>
                      <a:tailEnd type="none" w="med" len="med"/>
                    </a:lnR>
                    <a:lnT w="7620" cap="flat" cmpd="sng">
                      <a:solidFill>
                        <a:srgbClr val="515455"/>
                      </a:solidFill>
                      <a:prstDash val="solid"/>
                      <a:headEnd type="none" w="med" len="med"/>
                      <a:tailEnd type="none" w="med" len="med"/>
                    </a:lnT>
                    <a:lnB w="7620" cap="flat" cmpd="sng">
                      <a:solidFill>
                        <a:srgbClr val="515455"/>
                      </a:solidFill>
                      <a:prstDash val="solid"/>
                      <a:headEnd type="none" w="med" len="med"/>
                      <a:tailEnd type="none" w="med" len="med"/>
                    </a:lnB>
                    <a:noFill/>
                  </a:tcPr>
                </a:tc>
                <a:tc>
                  <a:txBody>
                    <a:bodyPr/>
                    <a:p>
                      <a:pPr algn="ctr"/>
                      <a:r>
                        <a:rPr sz="1100" b="1" i="0">
                          <a:solidFill>
                            <a:schemeClr val="tx1"/>
                          </a:solidFill>
                          <a:latin typeface="Times New Roman" panose="02020603050405020304" charset="0"/>
                          <a:ea typeface="Arimo"/>
                          <a:cs typeface="Times New Roman" panose="02020603050405020304" charset="0"/>
                        </a:rPr>
                        <a:t>13</a:t>
                      </a:r>
                      <a:endParaRPr sz="1100" b="1" i="0">
                        <a:solidFill>
                          <a:schemeClr val="tx1"/>
                        </a:solidFill>
                        <a:latin typeface="Times New Roman" panose="02020603050405020304" charset="0"/>
                        <a:ea typeface="Arimo"/>
                        <a:cs typeface="Times New Roman" panose="02020603050405020304" charset="0"/>
                      </a:endParaRPr>
                    </a:p>
                  </a:txBody>
                  <a:tcPr marL="76517" marR="76517" marT="61277" marB="61277" anchor="ctr" anchorCtr="0">
                    <a:lnL w="7620" cap="flat" cmpd="sng">
                      <a:solidFill>
                        <a:srgbClr val="515455"/>
                      </a:solidFill>
                      <a:prstDash val="solid"/>
                      <a:headEnd type="none" w="med" len="med"/>
                      <a:tailEnd type="none" w="med" len="med"/>
                    </a:lnL>
                    <a:lnR w="7620" cap="flat" cmpd="sng">
                      <a:solidFill>
                        <a:srgbClr val="515455"/>
                      </a:solidFill>
                      <a:prstDash val="solid"/>
                      <a:headEnd type="none" w="med" len="med"/>
                      <a:tailEnd type="none" w="med" len="med"/>
                    </a:lnR>
                    <a:lnT w="7620" cap="flat" cmpd="sng">
                      <a:solidFill>
                        <a:srgbClr val="515455"/>
                      </a:solidFill>
                      <a:prstDash val="solid"/>
                      <a:headEnd type="none" w="med" len="med"/>
                      <a:tailEnd type="none" w="med" len="med"/>
                    </a:lnT>
                    <a:lnB w="7620" cap="flat" cmpd="sng">
                      <a:solidFill>
                        <a:srgbClr val="515455"/>
                      </a:solidFill>
                      <a:prstDash val="solid"/>
                      <a:headEnd type="none" w="med" len="med"/>
                      <a:tailEnd type="none" w="med" len="med"/>
                    </a:lnB>
                    <a:noFill/>
                  </a:tcPr>
                </a:tc>
                <a:tc>
                  <a:txBody>
                    <a:bodyPr/>
                    <a:p>
                      <a:pPr algn="ctr"/>
                      <a:r>
                        <a:rPr sz="1100" b="1" i="0">
                          <a:solidFill>
                            <a:schemeClr val="tx1"/>
                          </a:solidFill>
                          <a:latin typeface="Times New Roman" panose="02020603050405020304" charset="0"/>
                          <a:ea typeface="Arimo"/>
                          <a:cs typeface="Times New Roman" panose="02020603050405020304" charset="0"/>
                        </a:rPr>
                        <a:t>13 – 5 = 8</a:t>
                      </a:r>
                      <a:endParaRPr sz="1100" b="1" i="0">
                        <a:solidFill>
                          <a:schemeClr val="tx1"/>
                        </a:solidFill>
                        <a:latin typeface="Times New Roman" panose="02020603050405020304" charset="0"/>
                        <a:ea typeface="Arimo"/>
                        <a:cs typeface="Times New Roman" panose="02020603050405020304" charset="0"/>
                      </a:endParaRPr>
                    </a:p>
                  </a:txBody>
                  <a:tcPr marL="76517" marR="76517" marT="61277" marB="61277" anchor="ctr" anchorCtr="0">
                    <a:lnL w="7620" cap="flat" cmpd="sng">
                      <a:solidFill>
                        <a:srgbClr val="515455"/>
                      </a:solidFill>
                      <a:prstDash val="solid"/>
                      <a:headEnd type="none" w="med" len="med"/>
                      <a:tailEnd type="none" w="med" len="med"/>
                    </a:lnL>
                    <a:lnR w="7620" cap="flat" cmpd="sng">
                      <a:solidFill>
                        <a:srgbClr val="515455"/>
                      </a:solidFill>
                      <a:prstDash val="solid"/>
                      <a:headEnd type="none" w="med" len="med"/>
                      <a:tailEnd type="none" w="med" len="med"/>
                    </a:lnR>
                    <a:lnT w="7620" cap="flat" cmpd="sng">
                      <a:solidFill>
                        <a:srgbClr val="515455"/>
                      </a:solidFill>
                      <a:prstDash val="solid"/>
                      <a:headEnd type="none" w="med" len="med"/>
                      <a:tailEnd type="none" w="med" len="med"/>
                    </a:lnT>
                    <a:lnB w="7620" cap="flat" cmpd="sng">
                      <a:solidFill>
                        <a:srgbClr val="515455"/>
                      </a:solidFill>
                      <a:prstDash val="solid"/>
                      <a:headEnd type="none" w="med" len="med"/>
                      <a:tailEnd type="none" w="med" len="med"/>
                    </a:lnB>
                    <a:noFill/>
                  </a:tcPr>
                </a:tc>
                <a:tc>
                  <a:txBody>
                    <a:bodyPr/>
                    <a:p>
                      <a:pPr algn="ctr"/>
                      <a:r>
                        <a:rPr sz="1100" b="1" i="0">
                          <a:solidFill>
                            <a:schemeClr val="tx1"/>
                          </a:solidFill>
                          <a:latin typeface="Times New Roman" panose="02020603050405020304" charset="0"/>
                          <a:ea typeface="Arimo"/>
                          <a:cs typeface="Times New Roman" panose="02020603050405020304" charset="0"/>
                        </a:rPr>
                        <a:t>8 – 3 = 5</a:t>
                      </a:r>
                      <a:endParaRPr sz="1100" b="1" i="0">
                        <a:solidFill>
                          <a:schemeClr val="tx1"/>
                        </a:solidFill>
                        <a:latin typeface="Times New Roman" panose="02020603050405020304" charset="0"/>
                        <a:ea typeface="Arimo"/>
                        <a:cs typeface="Times New Roman" panose="02020603050405020304" charset="0"/>
                      </a:endParaRPr>
                    </a:p>
                  </a:txBody>
                  <a:tcPr marL="76517" marR="76517" marT="61277" marB="61277" anchor="ctr" anchorCtr="0">
                    <a:lnL w="7620" cap="flat" cmpd="sng">
                      <a:solidFill>
                        <a:srgbClr val="515455"/>
                      </a:solidFill>
                      <a:prstDash val="solid"/>
                      <a:headEnd type="none" w="med" len="med"/>
                      <a:tailEnd type="none" w="med" len="med"/>
                    </a:lnL>
                    <a:lnR w="7620" cap="flat" cmpd="sng">
                      <a:solidFill>
                        <a:srgbClr val="515455"/>
                      </a:solidFill>
                      <a:prstDash val="solid"/>
                      <a:headEnd type="none" w="med" len="med"/>
                      <a:tailEnd type="none" w="med" len="med"/>
                    </a:lnR>
                    <a:lnT w="7620" cap="flat" cmpd="sng">
                      <a:solidFill>
                        <a:srgbClr val="515455"/>
                      </a:solidFill>
                      <a:prstDash val="solid"/>
                      <a:headEnd type="none" w="med" len="med"/>
                      <a:tailEnd type="none" w="med" len="med"/>
                    </a:lnT>
                    <a:lnB w="7620" cap="flat" cmpd="sng">
                      <a:solidFill>
                        <a:srgbClr val="515455"/>
                      </a:solidFill>
                      <a:prstDash val="solid"/>
                      <a:headEnd type="none" w="med" len="med"/>
                      <a:tailEnd type="none" w="med" len="med"/>
                    </a:lnB>
                    <a:noFill/>
                  </a:tcPr>
                </a:tc>
              </a:tr>
              <a:tr h="553085">
                <a:tc>
                  <a:txBody>
                    <a:bodyPr/>
                    <a:p>
                      <a:pPr algn="ctr"/>
                      <a:r>
                        <a:rPr sz="1100" b="1" i="0">
                          <a:solidFill>
                            <a:schemeClr val="tx1"/>
                          </a:solidFill>
                          <a:latin typeface="Times New Roman" panose="02020603050405020304" charset="0"/>
                          <a:ea typeface="Arimo"/>
                          <a:cs typeface="Times New Roman" panose="02020603050405020304" charset="0"/>
                        </a:rPr>
                        <a:t>P3</a:t>
                      </a:r>
                      <a:endParaRPr sz="1100" b="1" i="0">
                        <a:solidFill>
                          <a:schemeClr val="tx1"/>
                        </a:solidFill>
                        <a:latin typeface="Times New Roman" panose="02020603050405020304" charset="0"/>
                        <a:ea typeface="Arimo"/>
                        <a:cs typeface="Times New Roman" panose="02020603050405020304" charset="0"/>
                      </a:endParaRPr>
                    </a:p>
                  </a:txBody>
                  <a:tcPr marL="76517" marR="76517" marT="61277" marB="61277" anchor="ctr" anchorCtr="0">
                    <a:lnL w="7620" cap="flat" cmpd="sng">
                      <a:solidFill>
                        <a:srgbClr val="515455"/>
                      </a:solidFill>
                      <a:prstDash val="solid"/>
                      <a:headEnd type="none" w="med" len="med"/>
                      <a:tailEnd type="none" w="med" len="med"/>
                    </a:lnL>
                    <a:lnR w="7620" cap="flat" cmpd="sng">
                      <a:solidFill>
                        <a:srgbClr val="515455"/>
                      </a:solidFill>
                      <a:prstDash val="solid"/>
                      <a:headEnd type="none" w="med" len="med"/>
                      <a:tailEnd type="none" w="med" len="med"/>
                    </a:lnR>
                    <a:lnT w="7620" cap="flat" cmpd="sng">
                      <a:solidFill>
                        <a:srgbClr val="515455"/>
                      </a:solidFill>
                      <a:prstDash val="solid"/>
                      <a:headEnd type="none" w="med" len="med"/>
                      <a:tailEnd type="none" w="med" len="med"/>
                    </a:lnT>
                    <a:lnB w="7620" cap="flat" cmpd="sng">
                      <a:solidFill>
                        <a:srgbClr val="515455"/>
                      </a:solidFill>
                      <a:prstDash val="solid"/>
                      <a:headEnd type="none" w="med" len="med"/>
                      <a:tailEnd type="none" w="med" len="med"/>
                    </a:lnB>
                    <a:noFill/>
                  </a:tcPr>
                </a:tc>
                <a:tc>
                  <a:txBody>
                    <a:bodyPr/>
                    <a:p>
                      <a:pPr algn="ctr"/>
                      <a:r>
                        <a:rPr sz="1100" b="1" i="0">
                          <a:solidFill>
                            <a:schemeClr val="tx1"/>
                          </a:solidFill>
                          <a:latin typeface="Times New Roman" panose="02020603050405020304" charset="0"/>
                          <a:ea typeface="Arimo"/>
                          <a:cs typeface="Times New Roman" panose="02020603050405020304" charset="0"/>
                        </a:rPr>
                        <a:t>2</a:t>
                      </a:r>
                      <a:endParaRPr sz="1100" b="1" i="0">
                        <a:solidFill>
                          <a:schemeClr val="tx1"/>
                        </a:solidFill>
                        <a:latin typeface="Times New Roman" panose="02020603050405020304" charset="0"/>
                        <a:ea typeface="Arimo"/>
                        <a:cs typeface="Times New Roman" panose="02020603050405020304" charset="0"/>
                      </a:endParaRPr>
                    </a:p>
                  </a:txBody>
                  <a:tcPr marL="76517" marR="76517" marT="61277" marB="61277" anchor="ctr" anchorCtr="0">
                    <a:lnL w="7620" cap="flat" cmpd="sng">
                      <a:solidFill>
                        <a:srgbClr val="515455"/>
                      </a:solidFill>
                      <a:prstDash val="solid"/>
                      <a:headEnd type="none" w="med" len="med"/>
                      <a:tailEnd type="none" w="med" len="med"/>
                    </a:lnL>
                    <a:lnR w="7620" cap="flat" cmpd="sng">
                      <a:solidFill>
                        <a:srgbClr val="515455"/>
                      </a:solidFill>
                      <a:prstDash val="solid"/>
                      <a:headEnd type="none" w="med" len="med"/>
                      <a:tailEnd type="none" w="med" len="med"/>
                    </a:lnR>
                    <a:lnT w="7620" cap="flat" cmpd="sng">
                      <a:solidFill>
                        <a:srgbClr val="515455"/>
                      </a:solidFill>
                      <a:prstDash val="solid"/>
                      <a:headEnd type="none" w="med" len="med"/>
                      <a:tailEnd type="none" w="med" len="med"/>
                    </a:lnT>
                    <a:lnB w="7620" cap="flat" cmpd="sng">
                      <a:solidFill>
                        <a:srgbClr val="515455"/>
                      </a:solidFill>
                      <a:prstDash val="solid"/>
                      <a:headEnd type="none" w="med" len="med"/>
                      <a:tailEnd type="none" w="med" len="med"/>
                    </a:lnB>
                    <a:noFill/>
                  </a:tcPr>
                </a:tc>
                <a:tc>
                  <a:txBody>
                    <a:bodyPr/>
                    <a:p>
                      <a:pPr algn="ctr"/>
                      <a:r>
                        <a:rPr sz="1100" b="1" i="0">
                          <a:solidFill>
                            <a:schemeClr val="tx1"/>
                          </a:solidFill>
                          <a:latin typeface="Times New Roman" panose="02020603050405020304" charset="0"/>
                          <a:ea typeface="Arimo"/>
                          <a:cs typeface="Times New Roman" panose="02020603050405020304" charset="0"/>
                        </a:rPr>
                        <a:t>2 – 0 = 2</a:t>
                      </a:r>
                      <a:endParaRPr sz="1100" b="1" i="0">
                        <a:solidFill>
                          <a:schemeClr val="tx1"/>
                        </a:solidFill>
                        <a:latin typeface="Times New Roman" panose="02020603050405020304" charset="0"/>
                        <a:ea typeface="Arimo"/>
                        <a:cs typeface="Times New Roman" panose="02020603050405020304" charset="0"/>
                      </a:endParaRPr>
                    </a:p>
                  </a:txBody>
                  <a:tcPr marL="76517" marR="76517" marT="61277" marB="61277" anchor="ctr" anchorCtr="0">
                    <a:lnL w="7620" cap="flat" cmpd="sng">
                      <a:solidFill>
                        <a:srgbClr val="515455"/>
                      </a:solidFill>
                      <a:prstDash val="solid"/>
                      <a:headEnd type="none" w="med" len="med"/>
                      <a:tailEnd type="none" w="med" len="med"/>
                    </a:lnL>
                    <a:lnR w="7620" cap="flat" cmpd="sng">
                      <a:solidFill>
                        <a:srgbClr val="515455"/>
                      </a:solidFill>
                      <a:prstDash val="solid"/>
                      <a:headEnd type="none" w="med" len="med"/>
                      <a:tailEnd type="none" w="med" len="med"/>
                    </a:lnR>
                    <a:lnT w="7620" cap="flat" cmpd="sng">
                      <a:solidFill>
                        <a:srgbClr val="515455"/>
                      </a:solidFill>
                      <a:prstDash val="solid"/>
                      <a:headEnd type="none" w="med" len="med"/>
                      <a:tailEnd type="none" w="med" len="med"/>
                    </a:lnT>
                    <a:lnB w="7620" cap="flat" cmpd="sng">
                      <a:solidFill>
                        <a:srgbClr val="515455"/>
                      </a:solidFill>
                      <a:prstDash val="solid"/>
                      <a:headEnd type="none" w="med" len="med"/>
                      <a:tailEnd type="none" w="med" len="med"/>
                    </a:lnB>
                    <a:noFill/>
                  </a:tcPr>
                </a:tc>
                <a:tc>
                  <a:txBody>
                    <a:bodyPr/>
                    <a:p>
                      <a:pPr algn="ctr"/>
                      <a:r>
                        <a:rPr sz="1100" b="1" i="0">
                          <a:solidFill>
                            <a:schemeClr val="tx1"/>
                          </a:solidFill>
                          <a:latin typeface="Times New Roman" panose="02020603050405020304" charset="0"/>
                          <a:ea typeface="Arimo"/>
                          <a:cs typeface="Times New Roman" panose="02020603050405020304" charset="0"/>
                        </a:rPr>
                        <a:t>2 – 2 = 0</a:t>
                      </a:r>
                      <a:endParaRPr sz="1100" b="1" i="0">
                        <a:solidFill>
                          <a:schemeClr val="tx1"/>
                        </a:solidFill>
                        <a:latin typeface="Times New Roman" panose="02020603050405020304" charset="0"/>
                        <a:ea typeface="Arimo"/>
                        <a:cs typeface="Times New Roman" panose="02020603050405020304" charset="0"/>
                      </a:endParaRPr>
                    </a:p>
                  </a:txBody>
                  <a:tcPr marL="76517" marR="76517" marT="61277" marB="61277" anchor="ctr" anchorCtr="0">
                    <a:lnL w="7620" cap="flat" cmpd="sng">
                      <a:solidFill>
                        <a:srgbClr val="515455"/>
                      </a:solidFill>
                      <a:prstDash val="solid"/>
                      <a:headEnd type="none" w="med" len="med"/>
                      <a:tailEnd type="none" w="med" len="med"/>
                    </a:lnL>
                    <a:lnR w="7620" cap="flat" cmpd="sng">
                      <a:solidFill>
                        <a:srgbClr val="515455"/>
                      </a:solidFill>
                      <a:prstDash val="solid"/>
                      <a:headEnd type="none" w="med" len="med"/>
                      <a:tailEnd type="none" w="med" len="med"/>
                    </a:lnR>
                    <a:lnT w="7620" cap="flat" cmpd="sng">
                      <a:solidFill>
                        <a:srgbClr val="515455"/>
                      </a:solidFill>
                      <a:prstDash val="solid"/>
                      <a:headEnd type="none" w="med" len="med"/>
                      <a:tailEnd type="none" w="med" len="med"/>
                    </a:lnT>
                    <a:lnB w="7620" cap="flat" cmpd="sng">
                      <a:solidFill>
                        <a:srgbClr val="515455"/>
                      </a:solidFill>
                      <a:prstDash val="solid"/>
                      <a:headEnd type="none" w="med" len="med"/>
                      <a:tailEnd type="none" w="med" len="med"/>
                    </a:lnB>
                    <a:noFill/>
                  </a:tcPr>
                </a:tc>
              </a:tr>
              <a:tr h="551180">
                <a:tc>
                  <a:txBody>
                    <a:bodyPr/>
                    <a:p>
                      <a:pPr algn="ctr"/>
                      <a:r>
                        <a:rPr sz="1100" b="1" i="0">
                          <a:solidFill>
                            <a:schemeClr val="tx1"/>
                          </a:solidFill>
                          <a:latin typeface="Times New Roman" panose="02020603050405020304" charset="0"/>
                          <a:ea typeface="Arimo"/>
                          <a:cs typeface="Times New Roman" panose="02020603050405020304" charset="0"/>
                        </a:rPr>
                        <a:t>P4</a:t>
                      </a:r>
                      <a:endParaRPr sz="1100" b="1" i="0">
                        <a:solidFill>
                          <a:schemeClr val="tx1"/>
                        </a:solidFill>
                        <a:latin typeface="Times New Roman" panose="02020603050405020304" charset="0"/>
                        <a:ea typeface="Arimo"/>
                        <a:cs typeface="Times New Roman" panose="02020603050405020304" charset="0"/>
                      </a:endParaRPr>
                    </a:p>
                  </a:txBody>
                  <a:tcPr marL="76517" marR="76517" marT="61277" marB="61277" anchor="ctr" anchorCtr="0">
                    <a:lnL w="7620" cap="flat" cmpd="sng">
                      <a:solidFill>
                        <a:srgbClr val="515455"/>
                      </a:solidFill>
                      <a:prstDash val="solid"/>
                      <a:headEnd type="none" w="med" len="med"/>
                      <a:tailEnd type="none" w="med" len="med"/>
                    </a:lnL>
                    <a:lnR w="7620" cap="flat" cmpd="sng">
                      <a:solidFill>
                        <a:srgbClr val="515455"/>
                      </a:solidFill>
                      <a:prstDash val="solid"/>
                      <a:headEnd type="none" w="med" len="med"/>
                      <a:tailEnd type="none" w="med" len="med"/>
                    </a:lnR>
                    <a:lnT w="7620" cap="flat" cmpd="sng">
                      <a:solidFill>
                        <a:srgbClr val="515455"/>
                      </a:solidFill>
                      <a:prstDash val="solid"/>
                      <a:headEnd type="none" w="med" len="med"/>
                      <a:tailEnd type="none" w="med" len="med"/>
                    </a:lnT>
                    <a:lnB w="7620" cap="flat" cmpd="sng">
                      <a:solidFill>
                        <a:srgbClr val="515455"/>
                      </a:solidFill>
                      <a:prstDash val="solid"/>
                      <a:headEnd type="none" w="med" len="med"/>
                      <a:tailEnd type="none" w="med" len="med"/>
                    </a:lnB>
                    <a:noFill/>
                  </a:tcPr>
                </a:tc>
                <a:tc>
                  <a:txBody>
                    <a:bodyPr/>
                    <a:p>
                      <a:pPr algn="ctr"/>
                      <a:r>
                        <a:rPr sz="1100" b="1" i="0">
                          <a:solidFill>
                            <a:schemeClr val="tx1"/>
                          </a:solidFill>
                          <a:latin typeface="Times New Roman" panose="02020603050405020304" charset="0"/>
                          <a:ea typeface="Arimo"/>
                          <a:cs typeface="Times New Roman" panose="02020603050405020304" charset="0"/>
                        </a:rPr>
                        <a:t>14</a:t>
                      </a:r>
                      <a:endParaRPr sz="1100" b="1" i="0">
                        <a:solidFill>
                          <a:schemeClr val="tx1"/>
                        </a:solidFill>
                        <a:latin typeface="Times New Roman" panose="02020603050405020304" charset="0"/>
                        <a:ea typeface="Arimo"/>
                        <a:cs typeface="Times New Roman" panose="02020603050405020304" charset="0"/>
                      </a:endParaRPr>
                    </a:p>
                  </a:txBody>
                  <a:tcPr marL="76517" marR="76517" marT="61277" marB="61277" anchor="ctr" anchorCtr="0">
                    <a:lnL w="7620" cap="flat" cmpd="sng">
                      <a:solidFill>
                        <a:srgbClr val="515455"/>
                      </a:solidFill>
                      <a:prstDash val="solid"/>
                      <a:headEnd type="none" w="med" len="med"/>
                      <a:tailEnd type="none" w="med" len="med"/>
                    </a:lnL>
                    <a:lnR w="7620" cap="flat" cmpd="sng">
                      <a:solidFill>
                        <a:srgbClr val="515455"/>
                      </a:solidFill>
                      <a:prstDash val="solid"/>
                      <a:headEnd type="none" w="med" len="med"/>
                      <a:tailEnd type="none" w="med" len="med"/>
                    </a:lnR>
                    <a:lnT w="7620" cap="flat" cmpd="sng">
                      <a:solidFill>
                        <a:srgbClr val="515455"/>
                      </a:solidFill>
                      <a:prstDash val="solid"/>
                      <a:headEnd type="none" w="med" len="med"/>
                      <a:tailEnd type="none" w="med" len="med"/>
                    </a:lnT>
                    <a:lnB w="7620" cap="flat" cmpd="sng">
                      <a:solidFill>
                        <a:srgbClr val="515455"/>
                      </a:solidFill>
                      <a:prstDash val="solid"/>
                      <a:headEnd type="none" w="med" len="med"/>
                      <a:tailEnd type="none" w="med" len="med"/>
                    </a:lnB>
                    <a:noFill/>
                  </a:tcPr>
                </a:tc>
                <a:tc>
                  <a:txBody>
                    <a:bodyPr/>
                    <a:p>
                      <a:pPr algn="ctr"/>
                      <a:r>
                        <a:rPr sz="1100" b="1" i="0">
                          <a:solidFill>
                            <a:schemeClr val="tx1"/>
                          </a:solidFill>
                          <a:latin typeface="Times New Roman" panose="02020603050405020304" charset="0"/>
                          <a:ea typeface="Arimo"/>
                          <a:cs typeface="Times New Roman" panose="02020603050405020304" charset="0"/>
                        </a:rPr>
                        <a:t>14 – 5 = 9</a:t>
                      </a:r>
                      <a:endParaRPr sz="1100" b="1" i="0">
                        <a:solidFill>
                          <a:schemeClr val="tx1"/>
                        </a:solidFill>
                        <a:latin typeface="Times New Roman" panose="02020603050405020304" charset="0"/>
                        <a:ea typeface="Arimo"/>
                        <a:cs typeface="Times New Roman" panose="02020603050405020304" charset="0"/>
                      </a:endParaRPr>
                    </a:p>
                  </a:txBody>
                  <a:tcPr marL="76517" marR="76517" marT="61277" marB="61277" anchor="ctr" anchorCtr="0">
                    <a:lnL w="7620" cap="flat" cmpd="sng">
                      <a:solidFill>
                        <a:srgbClr val="515455"/>
                      </a:solidFill>
                      <a:prstDash val="solid"/>
                      <a:headEnd type="none" w="med" len="med"/>
                      <a:tailEnd type="none" w="med" len="med"/>
                    </a:lnL>
                    <a:lnR w="7620" cap="flat" cmpd="sng">
                      <a:solidFill>
                        <a:srgbClr val="515455"/>
                      </a:solidFill>
                      <a:prstDash val="solid"/>
                      <a:headEnd type="none" w="med" len="med"/>
                      <a:tailEnd type="none" w="med" len="med"/>
                    </a:lnR>
                    <a:lnT w="7620" cap="flat" cmpd="sng">
                      <a:solidFill>
                        <a:srgbClr val="515455"/>
                      </a:solidFill>
                      <a:prstDash val="solid"/>
                      <a:headEnd type="none" w="med" len="med"/>
                      <a:tailEnd type="none" w="med" len="med"/>
                    </a:lnT>
                    <a:lnB w="7620" cap="flat" cmpd="sng">
                      <a:solidFill>
                        <a:srgbClr val="515455"/>
                      </a:solidFill>
                      <a:prstDash val="solid"/>
                      <a:headEnd type="none" w="med" len="med"/>
                      <a:tailEnd type="none" w="med" len="med"/>
                    </a:lnB>
                    <a:noFill/>
                  </a:tcPr>
                </a:tc>
                <a:tc>
                  <a:txBody>
                    <a:bodyPr/>
                    <a:p>
                      <a:pPr algn="ctr"/>
                      <a:r>
                        <a:rPr sz="1100" b="1" i="0">
                          <a:solidFill>
                            <a:schemeClr val="tx1"/>
                          </a:solidFill>
                          <a:latin typeface="Times New Roman" panose="02020603050405020304" charset="0"/>
                          <a:ea typeface="Arimo"/>
                          <a:cs typeface="Times New Roman" panose="02020603050405020304" charset="0"/>
                        </a:rPr>
                        <a:t>9 – 1 = 8</a:t>
                      </a:r>
                      <a:endParaRPr sz="1100" b="1" i="0">
                        <a:solidFill>
                          <a:schemeClr val="tx1"/>
                        </a:solidFill>
                        <a:latin typeface="Times New Roman" panose="02020603050405020304" charset="0"/>
                        <a:ea typeface="Arimo"/>
                        <a:cs typeface="Times New Roman" panose="02020603050405020304" charset="0"/>
                      </a:endParaRPr>
                    </a:p>
                  </a:txBody>
                  <a:tcPr marL="76517" marR="76517" marT="61277" marB="61277" anchor="ctr" anchorCtr="0">
                    <a:lnL w="7620" cap="flat" cmpd="sng">
                      <a:solidFill>
                        <a:srgbClr val="515455"/>
                      </a:solidFill>
                      <a:prstDash val="solid"/>
                      <a:headEnd type="none" w="med" len="med"/>
                      <a:tailEnd type="none" w="med" len="med"/>
                    </a:lnL>
                    <a:lnR w="7620" cap="flat" cmpd="sng">
                      <a:solidFill>
                        <a:srgbClr val="515455"/>
                      </a:solidFill>
                      <a:prstDash val="solid"/>
                      <a:headEnd type="none" w="med" len="med"/>
                      <a:tailEnd type="none" w="med" len="med"/>
                    </a:lnR>
                    <a:lnT w="7620" cap="flat" cmpd="sng">
                      <a:solidFill>
                        <a:srgbClr val="515455"/>
                      </a:solidFill>
                      <a:prstDash val="solid"/>
                      <a:headEnd type="none" w="med" len="med"/>
                      <a:tailEnd type="none" w="med" len="med"/>
                    </a:lnT>
                    <a:lnB w="7620" cap="flat" cmpd="sng">
                      <a:solidFill>
                        <a:srgbClr val="515455"/>
                      </a:solidFill>
                      <a:prstDash val="solid"/>
                      <a:headEnd type="none" w="med" len="med"/>
                      <a:tailEnd type="none" w="med" len="med"/>
                    </a:lnB>
                    <a:noFill/>
                  </a:tcPr>
                </a:tc>
              </a:tr>
              <a:tr h="551815">
                <a:tc>
                  <a:txBody>
                    <a:bodyPr/>
                    <a:p>
                      <a:pPr algn="ctr"/>
                      <a:r>
                        <a:rPr sz="1100" b="1" i="0">
                          <a:solidFill>
                            <a:schemeClr val="tx1"/>
                          </a:solidFill>
                          <a:latin typeface="Times New Roman" panose="02020603050405020304" charset="0"/>
                          <a:ea typeface="Arimo"/>
                          <a:cs typeface="Times New Roman" panose="02020603050405020304" charset="0"/>
                        </a:rPr>
                        <a:t>P5</a:t>
                      </a:r>
                      <a:endParaRPr sz="1100" b="1" i="0">
                        <a:solidFill>
                          <a:schemeClr val="tx1"/>
                        </a:solidFill>
                        <a:latin typeface="Times New Roman" panose="02020603050405020304" charset="0"/>
                        <a:ea typeface="Arimo"/>
                        <a:cs typeface="Times New Roman" panose="02020603050405020304" charset="0"/>
                      </a:endParaRPr>
                    </a:p>
                  </a:txBody>
                  <a:tcPr marL="76517" marR="76517" marT="61277" marB="61277" anchor="ctr" anchorCtr="0">
                    <a:lnL w="7620" cap="flat" cmpd="sng">
                      <a:solidFill>
                        <a:srgbClr val="515455"/>
                      </a:solidFill>
                      <a:prstDash val="solid"/>
                      <a:headEnd type="none" w="med" len="med"/>
                      <a:tailEnd type="none" w="med" len="med"/>
                    </a:lnL>
                    <a:lnR w="7620" cap="flat" cmpd="sng">
                      <a:solidFill>
                        <a:srgbClr val="515455"/>
                      </a:solidFill>
                      <a:prstDash val="solid"/>
                      <a:headEnd type="none" w="med" len="med"/>
                      <a:tailEnd type="none" w="med" len="med"/>
                    </a:lnR>
                    <a:lnT w="7620" cap="flat" cmpd="sng">
                      <a:solidFill>
                        <a:srgbClr val="515455"/>
                      </a:solidFill>
                      <a:prstDash val="solid"/>
                      <a:headEnd type="none" w="med" len="med"/>
                      <a:tailEnd type="none" w="med" len="med"/>
                    </a:lnT>
                    <a:lnB w="7620" cap="flat" cmpd="sng">
                      <a:solidFill>
                        <a:srgbClr val="515455"/>
                      </a:solidFill>
                      <a:prstDash val="solid"/>
                      <a:headEnd type="none" w="med" len="med"/>
                      <a:tailEnd type="none" w="med" len="med"/>
                    </a:lnB>
                    <a:noFill/>
                  </a:tcPr>
                </a:tc>
                <a:tc>
                  <a:txBody>
                    <a:bodyPr/>
                    <a:p>
                      <a:pPr algn="ctr"/>
                      <a:r>
                        <a:rPr sz="1100" b="1" i="0">
                          <a:solidFill>
                            <a:schemeClr val="tx1"/>
                          </a:solidFill>
                          <a:latin typeface="Times New Roman" panose="02020603050405020304" charset="0"/>
                          <a:ea typeface="Arimo"/>
                          <a:cs typeface="Times New Roman" panose="02020603050405020304" charset="0"/>
                        </a:rPr>
                        <a:t>10</a:t>
                      </a:r>
                      <a:endParaRPr sz="1100" b="1" i="0">
                        <a:solidFill>
                          <a:schemeClr val="tx1"/>
                        </a:solidFill>
                        <a:latin typeface="Times New Roman" panose="02020603050405020304" charset="0"/>
                        <a:ea typeface="Arimo"/>
                        <a:cs typeface="Times New Roman" panose="02020603050405020304" charset="0"/>
                      </a:endParaRPr>
                    </a:p>
                  </a:txBody>
                  <a:tcPr marL="76517" marR="76517" marT="61277" marB="61277" anchor="ctr" anchorCtr="0">
                    <a:lnL w="7620" cap="flat" cmpd="sng">
                      <a:solidFill>
                        <a:srgbClr val="515455"/>
                      </a:solidFill>
                      <a:prstDash val="solid"/>
                      <a:headEnd type="none" w="med" len="med"/>
                      <a:tailEnd type="none" w="med" len="med"/>
                    </a:lnL>
                    <a:lnR w="7620" cap="flat" cmpd="sng">
                      <a:solidFill>
                        <a:srgbClr val="515455"/>
                      </a:solidFill>
                      <a:prstDash val="solid"/>
                      <a:headEnd type="none" w="med" len="med"/>
                      <a:tailEnd type="none" w="med" len="med"/>
                    </a:lnR>
                    <a:lnT w="7620" cap="flat" cmpd="sng">
                      <a:solidFill>
                        <a:srgbClr val="515455"/>
                      </a:solidFill>
                      <a:prstDash val="solid"/>
                      <a:headEnd type="none" w="med" len="med"/>
                      <a:tailEnd type="none" w="med" len="med"/>
                    </a:lnT>
                    <a:lnB w="7620" cap="flat" cmpd="sng">
                      <a:solidFill>
                        <a:srgbClr val="515455"/>
                      </a:solidFill>
                      <a:prstDash val="solid"/>
                      <a:headEnd type="none" w="med" len="med"/>
                      <a:tailEnd type="none" w="med" len="med"/>
                    </a:lnB>
                    <a:noFill/>
                  </a:tcPr>
                </a:tc>
                <a:tc>
                  <a:txBody>
                    <a:bodyPr/>
                    <a:p>
                      <a:pPr algn="ctr"/>
                      <a:r>
                        <a:rPr sz="1100" b="1" i="0">
                          <a:solidFill>
                            <a:schemeClr val="tx1"/>
                          </a:solidFill>
                          <a:latin typeface="Times New Roman" panose="02020603050405020304" charset="0"/>
                          <a:ea typeface="Arimo"/>
                          <a:cs typeface="Times New Roman" panose="02020603050405020304" charset="0"/>
                        </a:rPr>
                        <a:t>10 – 4 = 6</a:t>
                      </a:r>
                      <a:endParaRPr sz="1100" b="1" i="0">
                        <a:solidFill>
                          <a:schemeClr val="tx1"/>
                        </a:solidFill>
                        <a:latin typeface="Times New Roman" panose="02020603050405020304" charset="0"/>
                        <a:ea typeface="Arimo"/>
                        <a:cs typeface="Times New Roman" panose="02020603050405020304" charset="0"/>
                      </a:endParaRPr>
                    </a:p>
                  </a:txBody>
                  <a:tcPr marL="76517" marR="76517" marT="61277" marB="61277" anchor="ctr" anchorCtr="0">
                    <a:lnL w="7620" cap="flat" cmpd="sng">
                      <a:solidFill>
                        <a:srgbClr val="515455"/>
                      </a:solidFill>
                      <a:prstDash val="solid"/>
                      <a:headEnd type="none" w="med" len="med"/>
                      <a:tailEnd type="none" w="med" len="med"/>
                    </a:lnL>
                    <a:lnR w="7620" cap="flat" cmpd="sng">
                      <a:solidFill>
                        <a:srgbClr val="515455"/>
                      </a:solidFill>
                      <a:prstDash val="solid"/>
                      <a:headEnd type="none" w="med" len="med"/>
                      <a:tailEnd type="none" w="med" len="med"/>
                    </a:lnR>
                    <a:lnT w="7620" cap="flat" cmpd="sng">
                      <a:solidFill>
                        <a:srgbClr val="515455"/>
                      </a:solidFill>
                      <a:prstDash val="solid"/>
                      <a:headEnd type="none" w="med" len="med"/>
                      <a:tailEnd type="none" w="med" len="med"/>
                    </a:lnT>
                    <a:lnB w="7620" cap="flat" cmpd="sng">
                      <a:solidFill>
                        <a:srgbClr val="515455"/>
                      </a:solidFill>
                      <a:prstDash val="solid"/>
                      <a:headEnd type="none" w="med" len="med"/>
                      <a:tailEnd type="none" w="med" len="med"/>
                    </a:lnB>
                    <a:noFill/>
                  </a:tcPr>
                </a:tc>
                <a:tc>
                  <a:txBody>
                    <a:bodyPr/>
                    <a:p>
                      <a:pPr algn="ctr"/>
                      <a:r>
                        <a:rPr sz="1100" b="1" i="0">
                          <a:solidFill>
                            <a:schemeClr val="tx1"/>
                          </a:solidFill>
                          <a:latin typeface="Times New Roman" panose="02020603050405020304" charset="0"/>
                          <a:ea typeface="Arimo"/>
                          <a:cs typeface="Times New Roman" panose="02020603050405020304" charset="0"/>
                        </a:rPr>
                        <a:t>6 – 3 = 3</a:t>
                      </a:r>
                      <a:endParaRPr sz="1100" b="1" i="0">
                        <a:solidFill>
                          <a:schemeClr val="tx1"/>
                        </a:solidFill>
                        <a:latin typeface="Times New Roman" panose="02020603050405020304" charset="0"/>
                        <a:ea typeface="Arimo"/>
                        <a:cs typeface="Times New Roman" panose="02020603050405020304" charset="0"/>
                      </a:endParaRPr>
                    </a:p>
                  </a:txBody>
                  <a:tcPr marL="76517" marR="76517" marT="61277" marB="61277" anchor="ctr" anchorCtr="0">
                    <a:lnL w="7620" cap="flat" cmpd="sng">
                      <a:solidFill>
                        <a:srgbClr val="515455"/>
                      </a:solidFill>
                      <a:prstDash val="solid"/>
                      <a:headEnd type="none" w="med" len="med"/>
                      <a:tailEnd type="none" w="med" len="med"/>
                    </a:lnL>
                    <a:lnR w="7620" cap="flat" cmpd="sng">
                      <a:solidFill>
                        <a:srgbClr val="515455"/>
                      </a:solidFill>
                      <a:prstDash val="solid"/>
                      <a:headEnd type="none" w="med" len="med"/>
                      <a:tailEnd type="none" w="med" len="med"/>
                    </a:lnR>
                    <a:lnT w="7620" cap="flat" cmpd="sng">
                      <a:solidFill>
                        <a:srgbClr val="515455"/>
                      </a:solidFill>
                      <a:prstDash val="solid"/>
                      <a:headEnd type="none" w="med" len="med"/>
                      <a:tailEnd type="none" w="med" len="med"/>
                    </a:lnT>
                    <a:lnB w="7620" cap="flat" cmpd="sng">
                      <a:solidFill>
                        <a:srgbClr val="515455"/>
                      </a:solidFill>
                      <a:prstDash val="solid"/>
                      <a:headEnd type="none" w="med" len="med"/>
                      <a:tailEnd type="none" w="med" len="med"/>
                    </a:lnB>
                    <a:noFill/>
                  </a:tcPr>
                </a:tc>
              </a:tr>
            </a:tbl>
          </a:graphicData>
        </a:graphic>
      </p:graphicFrame>
      <p:sp>
        <p:nvSpPr>
          <p:cNvPr id="5" name="Text Box 4"/>
          <p:cNvSpPr txBox="1"/>
          <p:nvPr/>
        </p:nvSpPr>
        <p:spPr>
          <a:xfrm>
            <a:off x="1508125" y="836295"/>
            <a:ext cx="6695440" cy="1476375"/>
          </a:xfrm>
          <a:prstGeom prst="rect">
            <a:avLst/>
          </a:prstGeom>
          <a:noFill/>
        </p:spPr>
        <p:txBody>
          <a:bodyPr wrap="square" rtlCol="0">
            <a:spAutoFit/>
          </a:bodyPr>
          <a:p>
            <a:r>
              <a:rPr lang="en-GB" altLang="en-US" b="1">
                <a:latin typeface="Times New Roman" panose="02020603050405020304" charset="0"/>
                <a:cs typeface="Times New Roman" panose="02020603050405020304" charset="0"/>
                <a:sym typeface="+mn-ea"/>
              </a:rPr>
              <a:t>Turn Around time = Exit time – Arrival time</a:t>
            </a:r>
            <a:endParaRPr lang="en-GB" altLang="en-US" b="1">
              <a:latin typeface="Times New Roman" panose="02020603050405020304" charset="0"/>
              <a:cs typeface="Times New Roman" panose="02020603050405020304" charset="0"/>
            </a:endParaRPr>
          </a:p>
          <a:p>
            <a:r>
              <a:rPr lang="en-GB" altLang="en-US" b="1">
                <a:latin typeface="Times New Roman" panose="02020603050405020304" charset="0"/>
                <a:cs typeface="Times New Roman" panose="02020603050405020304" charset="0"/>
                <a:sym typeface="+mn-ea"/>
              </a:rPr>
              <a:t>Waiting time = Turn Around time – Burst time</a:t>
            </a:r>
            <a:endParaRPr lang="en-GB" altLang="en-US" b="1">
              <a:latin typeface="Times New Roman" panose="02020603050405020304" charset="0"/>
              <a:cs typeface="Times New Roman" panose="02020603050405020304" charset="0"/>
              <a:sym typeface="+mn-ea"/>
            </a:endParaRPr>
          </a:p>
          <a:p>
            <a:endParaRPr lang="en-GB" altLang="en-US"/>
          </a:p>
          <a:p>
            <a:endParaRPr lang="en-GB" altLang="en-US" b="1">
              <a:latin typeface="Times New Roman" panose="02020603050405020304" charset="0"/>
              <a:cs typeface="Times New Roman" panose="02020603050405020304" charset="0"/>
            </a:endParaRPr>
          </a:p>
          <a:p>
            <a:endParaRPr lang="en-US">
              <a:latin typeface="Times New Roman" panose="02020603050405020304" charset="0"/>
              <a:cs typeface="Times New Roman" panose="020206030504050203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43940" y="764540"/>
            <a:ext cx="7349490" cy="3753485"/>
          </a:xfrm>
          <a:prstGeom prst="rect">
            <a:avLst/>
          </a:prstGeom>
          <a:noFill/>
        </p:spPr>
        <p:txBody>
          <a:bodyPr wrap="square" rtlCol="0">
            <a:spAutoFit/>
          </a:bodyPr>
          <a:p>
            <a:r>
              <a:rPr lang="en-GB" altLang="en-US" sz="2800" b="1">
                <a:latin typeface="Times New Roman" panose="02020603050405020304" charset="0"/>
                <a:cs typeface="Times New Roman" panose="02020603050405020304" charset="0"/>
                <a:sym typeface="+mn-ea"/>
              </a:rPr>
              <a:t>Advantages</a:t>
            </a:r>
            <a:endParaRPr lang="en-GB" altLang="en-US" sz="2800">
              <a:latin typeface="Times New Roman" panose="02020603050405020304" charset="0"/>
              <a:cs typeface="Times New Roman" panose="02020603050405020304" charset="0"/>
            </a:endParaRPr>
          </a:p>
          <a:p>
            <a:r>
              <a:rPr lang="en-GB" altLang="en-US" sz="2400">
                <a:latin typeface="Times New Roman" panose="02020603050405020304" charset="0"/>
                <a:cs typeface="Times New Roman" panose="02020603050405020304" charset="0"/>
                <a:sym typeface="+mn-ea"/>
              </a:rPr>
              <a:t>It is simple and easy to understand.</a:t>
            </a:r>
            <a:endParaRPr lang="en-GB" altLang="en-US" sz="2400">
              <a:latin typeface="Times New Roman" panose="02020603050405020304" charset="0"/>
              <a:cs typeface="Times New Roman" panose="02020603050405020304" charset="0"/>
            </a:endParaRPr>
          </a:p>
          <a:p>
            <a:r>
              <a:rPr lang="en-GB" altLang="en-US" sz="2400">
                <a:latin typeface="Times New Roman" panose="02020603050405020304" charset="0"/>
                <a:cs typeface="Times New Roman" panose="02020603050405020304" charset="0"/>
                <a:sym typeface="+mn-ea"/>
              </a:rPr>
              <a:t>It can be easily implemented using queue data structure.</a:t>
            </a:r>
            <a:endParaRPr lang="en-GB" altLang="en-US" sz="2400">
              <a:latin typeface="Times New Roman" panose="02020603050405020304" charset="0"/>
              <a:cs typeface="Times New Roman" panose="02020603050405020304" charset="0"/>
            </a:endParaRPr>
          </a:p>
          <a:p>
            <a:r>
              <a:rPr lang="en-GB" altLang="en-US" sz="2400">
                <a:latin typeface="Times New Roman" panose="02020603050405020304" charset="0"/>
                <a:cs typeface="Times New Roman" panose="02020603050405020304" charset="0"/>
                <a:sym typeface="+mn-ea"/>
              </a:rPr>
              <a:t>It does not lead to starvation.</a:t>
            </a:r>
            <a:endParaRPr lang="en-GB" altLang="en-US" sz="2400">
              <a:latin typeface="Times New Roman" panose="02020603050405020304" charset="0"/>
              <a:cs typeface="Times New Roman" panose="02020603050405020304" charset="0"/>
            </a:endParaRPr>
          </a:p>
          <a:p>
            <a:endParaRPr lang="en-GB" altLang="en-US">
              <a:latin typeface="Times New Roman" panose="02020603050405020304" charset="0"/>
              <a:cs typeface="Times New Roman" panose="02020603050405020304" charset="0"/>
            </a:endParaRPr>
          </a:p>
          <a:p>
            <a:r>
              <a:rPr lang="en-GB" altLang="en-US" sz="2400" b="1">
                <a:latin typeface="Times New Roman" panose="02020603050405020304" charset="0"/>
                <a:cs typeface="Times New Roman" panose="02020603050405020304" charset="0"/>
                <a:sym typeface="+mn-ea"/>
              </a:rPr>
              <a:t>Disadvantages:</a:t>
            </a:r>
            <a:endParaRPr lang="en-GB" altLang="en-US" sz="2400" b="1">
              <a:latin typeface="Times New Roman" panose="02020603050405020304" charset="0"/>
              <a:cs typeface="Times New Roman" panose="02020603050405020304" charset="0"/>
            </a:endParaRPr>
          </a:p>
          <a:p>
            <a:r>
              <a:rPr lang="en-GB" altLang="en-US" sz="2400">
                <a:latin typeface="Times New Roman" panose="02020603050405020304" charset="0"/>
                <a:cs typeface="Times New Roman" panose="02020603050405020304" charset="0"/>
                <a:sym typeface="+mn-ea"/>
              </a:rPr>
              <a:t>It does not consider the priority or burst time of the processes.</a:t>
            </a:r>
            <a:endParaRPr lang="en-GB" altLang="en-US" sz="2400">
              <a:latin typeface="Times New Roman" panose="02020603050405020304" charset="0"/>
              <a:cs typeface="Times New Roman" panose="02020603050405020304" charset="0"/>
            </a:endParaRPr>
          </a:p>
          <a:p>
            <a:r>
              <a:rPr lang="en-GB" altLang="en-US" sz="2400">
                <a:latin typeface="Times New Roman" panose="02020603050405020304" charset="0"/>
                <a:cs typeface="Times New Roman" panose="02020603050405020304" charset="0"/>
                <a:sym typeface="+mn-ea"/>
              </a:rPr>
              <a:t>It suffers from convoy effect</a:t>
            </a:r>
            <a:endParaRPr lang="en-GB" altLang="en-US" sz="2400">
              <a:latin typeface="Times New Roman" panose="02020603050405020304" charset="0"/>
              <a:cs typeface="Times New Roman" panose="02020603050405020304" charset="0"/>
            </a:endParaRPr>
          </a:p>
          <a:p>
            <a:endParaRPr lang="en-GB" altLang="en-US" sz="2400">
              <a:latin typeface="Times New Roman" panose="02020603050405020304" charset="0"/>
              <a:cs typeface="Times New Roman" panose="020206030504050203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85470" y="965835"/>
            <a:ext cx="7948295" cy="4441190"/>
          </a:xfrm>
          <a:prstGeom prst="rect">
            <a:avLst/>
          </a:prstGeom>
          <a:noFill/>
        </p:spPr>
        <p:txBody>
          <a:bodyPr wrap="square" rtlCol="0">
            <a:noAutofit/>
          </a:bodyPr>
          <a:p>
            <a:r>
              <a:rPr lang="en-GB" altLang="en-US">
                <a:latin typeface="Times New Roman" panose="02020603050405020304" charset="0"/>
                <a:cs typeface="Times New Roman" panose="02020603050405020304" charset="0"/>
              </a:rPr>
              <a:t> </a:t>
            </a:r>
            <a:r>
              <a:rPr lang="en-GB" altLang="en-US" sz="3200" b="1">
                <a:latin typeface="Times New Roman" panose="02020603050405020304" charset="0"/>
                <a:cs typeface="Times New Roman" panose="02020603050405020304" charset="0"/>
              </a:rPr>
              <a:t>Shortest Job First:</a:t>
            </a:r>
            <a:endParaRPr lang="en-GB" altLang="en-US" sz="3200" b="1">
              <a:latin typeface="Times New Roman" panose="02020603050405020304" charset="0"/>
              <a:cs typeface="Times New Roman" panose="02020603050405020304" charset="0"/>
            </a:endParaRPr>
          </a:p>
          <a:p>
            <a:pPr marL="457200" indent="-457200">
              <a:buFont typeface="Arial" panose="020B0604020202020204" pitchFamily="34" charset="0"/>
              <a:buChar char="•"/>
            </a:pPr>
            <a:r>
              <a:rPr lang="en-GB" altLang="en-US" sz="2000">
                <a:latin typeface="Times New Roman" panose="02020603050405020304" charset="0"/>
                <a:cs typeface="Times New Roman" panose="02020603050405020304" charset="0"/>
              </a:rPr>
              <a:t>SJF Scheduling can be used in both preemptive and non-preemptive mode.</a:t>
            </a:r>
            <a:endParaRPr lang="en-GB" altLang="en-US" sz="2000">
              <a:latin typeface="Times New Roman" panose="02020603050405020304" charset="0"/>
              <a:cs typeface="Times New Roman" panose="02020603050405020304" charset="0"/>
            </a:endParaRPr>
          </a:p>
          <a:p>
            <a:pPr marL="457200" indent="-457200">
              <a:buFont typeface="Arial" panose="020B0604020202020204" pitchFamily="34" charset="0"/>
              <a:buChar char="•"/>
            </a:pPr>
            <a:r>
              <a:rPr lang="en-GB" altLang="en-US" sz="2000">
                <a:latin typeface="Times New Roman" panose="02020603050405020304" charset="0"/>
                <a:cs typeface="Times New Roman" panose="02020603050405020304" charset="0"/>
              </a:rPr>
              <a:t>Preemptive mode of Shortest Job First is called as Shortest Remaining Time First (SRTF)</a:t>
            </a:r>
            <a:r>
              <a:rPr lang="en-GB" altLang="en-US" sz="2000" b="1">
                <a:latin typeface="Times New Roman" panose="02020603050405020304" charset="0"/>
                <a:cs typeface="Times New Roman" panose="02020603050405020304" charset="0"/>
              </a:rPr>
              <a:t>.</a:t>
            </a:r>
            <a:endParaRPr lang="en-GB" altLang="en-US" sz="2000" b="1">
              <a:latin typeface="Times New Roman" panose="02020603050405020304" charset="0"/>
              <a:cs typeface="Times New Roman" panose="02020603050405020304" charset="0"/>
            </a:endParaRPr>
          </a:p>
          <a:p>
            <a:pPr marL="457200" indent="-457200">
              <a:buFont typeface="Arial" panose="020B0604020202020204" pitchFamily="34" charset="0"/>
              <a:buChar char="•"/>
            </a:pPr>
            <a:r>
              <a:rPr lang="en-GB" altLang="en-US" sz="2000" b="1">
                <a:latin typeface="Times New Roman" panose="02020603050405020304" charset="0"/>
                <a:cs typeface="Times New Roman" panose="02020603050405020304" charset="0"/>
              </a:rPr>
              <a:t>for n processes, time complexity = nlog(n)</a:t>
            </a:r>
            <a:endParaRPr lang="en-GB" altLang="en-US" sz="2000" b="1">
              <a:latin typeface="Times New Roman" panose="02020603050405020304" charset="0"/>
              <a:cs typeface="Times New Roman" panose="02020603050405020304" charset="0"/>
            </a:endParaRPr>
          </a:p>
          <a:p>
            <a:pPr marL="457200" indent="-457200">
              <a:buFont typeface="Arial" panose="020B0604020202020204" pitchFamily="34" charset="0"/>
              <a:buChar char="•"/>
            </a:pPr>
            <a:endParaRPr lang="en-GB" altLang="en-US" sz="2000" b="1">
              <a:latin typeface="Times New Roman" panose="02020603050405020304" charset="0"/>
              <a:cs typeface="Times New Roman" panose="02020603050405020304" charset="0"/>
            </a:endParaRPr>
          </a:p>
          <a:p>
            <a:pPr marL="457200" indent="-457200">
              <a:buFont typeface="Arial" panose="020B0604020202020204" pitchFamily="34" charset="0"/>
              <a:buChar char="•"/>
            </a:pPr>
            <a:r>
              <a:rPr lang="en-GB" altLang="en-US" sz="2000" b="1">
                <a:latin typeface="Times New Roman" panose="02020603050405020304" charset="0"/>
                <a:cs typeface="Times New Roman" panose="02020603050405020304" charset="0"/>
              </a:rPr>
              <a:t>Critaria: Burst Time</a:t>
            </a:r>
            <a:endParaRPr lang="en-GB" altLang="en-US" sz="2000" b="1">
              <a:latin typeface="Times New Roman" panose="02020603050405020304" charset="0"/>
              <a:cs typeface="Times New Roman" panose="02020603050405020304" charset="0"/>
            </a:endParaRPr>
          </a:p>
          <a:p>
            <a:pPr marL="457200" indent="-457200">
              <a:buFont typeface="Arial" panose="020B0604020202020204" pitchFamily="34" charset="0"/>
              <a:buChar char="•"/>
            </a:pPr>
            <a:endParaRPr lang="en-GB" altLang="en-US" sz="2000" b="1">
              <a:latin typeface="Times New Roman" panose="02020603050405020304" charset="0"/>
              <a:cs typeface="Times New Roman" panose="02020603050405020304" charset="0"/>
            </a:endParaRPr>
          </a:p>
          <a:p>
            <a:pPr marL="457200" indent="-457200">
              <a:buFont typeface="Arial" panose="020B0604020202020204" pitchFamily="34" charset="0"/>
              <a:buChar char="•"/>
            </a:pPr>
            <a:endParaRPr lang="en-GB" altLang="en-US" sz="2000" b="1">
              <a:latin typeface="Times New Roman" panose="02020603050405020304" charset="0"/>
              <a:cs typeface="Times New Roman" panose="02020603050405020304" charset="0"/>
            </a:endParaRPr>
          </a:p>
          <a:p>
            <a:endParaRPr lang="en-GB" altLang="en-US" sz="3200" b="1"/>
          </a:p>
          <a:p>
            <a:endParaRPr lang="en-GB" altLang="en-US" sz="3200" b="1"/>
          </a:p>
          <a:p>
            <a:endParaRPr lang="en-GB" altLang="en-US" sz="3200" b="1"/>
          </a:p>
          <a:p>
            <a:r>
              <a:rPr lang="en-GB" altLang="en-US" sz="3200" b="1"/>
              <a:t>   </a:t>
            </a:r>
            <a:endParaRPr lang="en-GB" altLang="en-US" sz="3200" b="1"/>
          </a:p>
          <a:p>
            <a:endParaRPr lang="en-GB" altLang="en-US" sz="3200" b="1"/>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a:xfrm>
            <a:off x="1092200" y="277813"/>
            <a:ext cx="7594600" cy="576262"/>
          </a:xfrm>
        </p:spPr>
        <p:txBody>
          <a:bodyPr vert="horz" wrap="square" lIns="91440" tIns="45720" rIns="91440" bIns="45720" anchor="b" anchorCtr="0"/>
          <a:p>
            <a:pPr eaLnBrk="1" hangingPunct="1"/>
            <a:r>
              <a:rPr lang="en-US" altLang="en-US" sz="2800" b="1" dirty="0"/>
              <a:t>Example of Shortest-remaining-time-first</a:t>
            </a:r>
            <a:endParaRPr lang="en-US" altLang="en-US" sz="2800" b="1" dirty="0"/>
          </a:p>
        </p:txBody>
      </p:sp>
      <p:sp>
        <p:nvSpPr>
          <p:cNvPr id="19459" name="Rectangle 36"/>
          <p:cNvSpPr>
            <a:spLocks noGrp="1" noChangeArrowheads="1"/>
          </p:cNvSpPr>
          <p:nvPr>
            <p:ph idx="1"/>
          </p:nvPr>
        </p:nvSpPr>
        <p:spPr>
          <a:xfrm>
            <a:off x="1046480" y="1186180"/>
            <a:ext cx="7627620" cy="457835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35000"/>
              </a:spcBef>
              <a:spcAft>
                <a:spcPct val="0"/>
              </a:spcAft>
              <a:buClr>
                <a:srgbClr val="993300"/>
              </a:buClr>
              <a:buSzPct val="90000"/>
              <a:buFont typeface="Monotype Sorts" pitchFamily="-84" charset="2"/>
              <a:buChar char="n"/>
              <a:tabLst>
                <a:tab pos="1600835" algn="ctr"/>
                <a:tab pos="3252470" algn="ctr"/>
                <a:tab pos="5141595" algn="ctr"/>
              </a:tabLst>
              <a:defRPr/>
            </a:pPr>
            <a:r>
              <a:rPr kumimoji="1" lang="en-US"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Now we add the concepts of varying arrival times and preemption to the analysis</a:t>
            </a:r>
            <a:endParaRPr kumimoji="1" lang="en-US"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tab pos="1600835" algn="ctr"/>
                <a:tab pos="3252470" algn="ctr"/>
                <a:tab pos="5141595" algn="ctr"/>
              </a:tabLst>
              <a:defRPr/>
            </a:pPr>
            <a:r>
              <a:rPr kumimoji="1" lang="en-US"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		         </a:t>
            </a:r>
            <a:r>
              <a:rPr kumimoji="1" lang="en-US" altLang="en-US" sz="1800" b="0" i="0" u="sng" strike="noStrike" kern="0" cap="none" spc="0" normalizeH="0" baseline="0" noProof="0" dirty="0" err="1" smtClean="0">
                <a:ln>
                  <a:noFill/>
                </a:ln>
                <a:solidFill>
                  <a:schemeClr val="tx1"/>
                </a:solidFill>
                <a:effectLst/>
                <a:uLnTx/>
                <a:uFillTx/>
                <a:latin typeface="+mn-lt"/>
                <a:ea typeface="MS PGothic" panose="020B0600070205080204" pitchFamily="34" charset="-128"/>
                <a:cs typeface="MS PGothic" panose="020B0600070205080204" pitchFamily="34" charset="-128"/>
              </a:rPr>
              <a:t>ProcessA</a:t>
            </a:r>
            <a:r>
              <a:rPr kumimoji="1" lang="en-US" altLang="en-US" sz="1800" b="0" i="0" u="sng"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	</a:t>
            </a:r>
            <a:r>
              <a:rPr kumimoji="1" lang="en-US" altLang="en-US" sz="1800" b="0" i="0" u="sng" strike="noStrike" kern="0" cap="none" spc="0" normalizeH="0" baseline="0" noProof="0" dirty="0" err="1" smtClean="0">
                <a:ln>
                  <a:noFill/>
                </a:ln>
                <a:solidFill>
                  <a:schemeClr val="tx1"/>
                </a:solidFill>
                <a:effectLst/>
                <a:uLnTx/>
                <a:uFillTx/>
                <a:latin typeface="+mn-lt"/>
                <a:ea typeface="MS PGothic" panose="020B0600070205080204" pitchFamily="34" charset="-128"/>
                <a:cs typeface="MS PGothic" panose="020B0600070205080204" pitchFamily="34" charset="-128"/>
              </a:rPr>
              <a:t>arri</a:t>
            </a:r>
            <a:r>
              <a:rPr kumimoji="1" lang="en-US" altLang="en-US" sz="1800" b="0" i="0" u="sng"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 </a:t>
            </a:r>
            <a:r>
              <a:rPr kumimoji="1" lang="en-US" altLang="en-US" sz="1800" b="0" i="1" u="sng"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Arrival </a:t>
            </a:r>
            <a:r>
              <a:rPr kumimoji="1" lang="en-US" altLang="en-US" sz="1800" b="0" i="0" u="sng" strike="noStrike" kern="0" cap="none" spc="0" normalizeH="0" baseline="0" noProof="0" dirty="0" err="1" smtClean="0">
                <a:ln>
                  <a:noFill/>
                </a:ln>
                <a:solidFill>
                  <a:schemeClr val="tx1"/>
                </a:solidFill>
                <a:effectLst/>
                <a:uLnTx/>
                <a:uFillTx/>
                <a:latin typeface="+mn-lt"/>
                <a:ea typeface="MS PGothic" panose="020B0600070205080204" pitchFamily="34" charset="-128"/>
                <a:cs typeface="MS PGothic" panose="020B0600070205080204" pitchFamily="34" charset="-128"/>
              </a:rPr>
              <a:t>TimeT</a:t>
            </a:r>
            <a:r>
              <a:rPr kumimoji="1" lang="en-US"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	</a:t>
            </a:r>
            <a:r>
              <a:rPr kumimoji="1" lang="en-US" altLang="en-US" sz="1800" b="0" i="0" u="sng"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Burst Time</a:t>
            </a:r>
            <a:endParaRPr kumimoji="1" lang="en-US"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tab pos="1600835" algn="ctr"/>
                <a:tab pos="3252470" algn="ctr"/>
                <a:tab pos="5141595" algn="ctr"/>
              </a:tabLst>
              <a:defRPr/>
            </a:pPr>
            <a:r>
              <a:rPr kumimoji="1" lang="en-US"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		 </a:t>
            </a:r>
            <a:r>
              <a:rPr kumimoji="1" lang="en-US" altLang="en-US" sz="1800" b="0" i="1"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P</a:t>
            </a:r>
            <a:r>
              <a:rPr kumimoji="1" lang="en-US" altLang="en-US" sz="1800" b="0" i="1" u="none" strike="noStrike" kern="0" cap="none" spc="0" normalizeH="0" baseline="-2500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1</a:t>
            </a:r>
            <a:r>
              <a:rPr kumimoji="1" lang="en-US"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	0	8</a:t>
            </a:r>
            <a:endParaRPr kumimoji="1" lang="en-US"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tab pos="1600835" algn="ctr"/>
                <a:tab pos="3252470" algn="ctr"/>
                <a:tab pos="5141595" algn="ctr"/>
              </a:tabLst>
              <a:defRPr/>
            </a:pPr>
            <a:r>
              <a:rPr kumimoji="1" lang="en-US"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		 </a:t>
            </a:r>
            <a:r>
              <a:rPr kumimoji="1" lang="en-US" altLang="en-US" sz="1800" b="0" i="1"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P</a:t>
            </a:r>
            <a:r>
              <a:rPr kumimoji="1" lang="en-US" altLang="en-US" sz="1800" b="0" i="1" u="none" strike="noStrike" kern="0" cap="none" spc="0" normalizeH="0" baseline="-2500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2 	</a:t>
            </a:r>
            <a:r>
              <a:rPr kumimoji="1" lang="en-US"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1	4</a:t>
            </a:r>
            <a:endParaRPr kumimoji="1" lang="en-US"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tab pos="1600835" algn="ctr"/>
                <a:tab pos="3252470" algn="ctr"/>
                <a:tab pos="5141595" algn="ctr"/>
              </a:tabLst>
              <a:defRPr/>
            </a:pPr>
            <a:r>
              <a:rPr kumimoji="1" lang="en-US"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		 </a:t>
            </a:r>
            <a:r>
              <a:rPr kumimoji="1" lang="en-US" altLang="en-US" sz="1800" b="0" i="1"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P</a:t>
            </a:r>
            <a:r>
              <a:rPr kumimoji="1" lang="en-US" altLang="en-US" sz="1800" b="0" i="1" u="none" strike="noStrike" kern="0" cap="none" spc="0" normalizeH="0" baseline="-2500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3</a:t>
            </a:r>
            <a:r>
              <a:rPr kumimoji="1" lang="en-US"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	2	9</a:t>
            </a:r>
            <a:endParaRPr kumimoji="1" lang="en-US"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tab pos="1600835" algn="ctr"/>
                <a:tab pos="3252470" algn="ctr"/>
                <a:tab pos="5141595" algn="ctr"/>
              </a:tabLst>
              <a:defRPr/>
            </a:pPr>
            <a:r>
              <a:rPr kumimoji="1" lang="en-US"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		 </a:t>
            </a:r>
            <a:r>
              <a:rPr kumimoji="1" lang="en-US" altLang="en-US" sz="1800" b="0" i="1"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P</a:t>
            </a:r>
            <a:r>
              <a:rPr kumimoji="1" lang="en-US" altLang="en-US" sz="1800" b="0" i="1" u="none" strike="noStrike" kern="0" cap="none" spc="0" normalizeH="0" baseline="-2500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4</a:t>
            </a:r>
            <a:r>
              <a:rPr kumimoji="1" lang="en-US"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	3	5</a:t>
            </a:r>
            <a:endParaRPr kumimoji="1" lang="en-US"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Monotype Sorts" pitchFamily="-84" charset="2"/>
              <a:buChar char="n"/>
              <a:tabLst>
                <a:tab pos="1600835" algn="ctr"/>
                <a:tab pos="3252470" algn="ctr"/>
                <a:tab pos="5141595" algn="ctr"/>
              </a:tabLst>
              <a:defRPr/>
            </a:pPr>
            <a:r>
              <a:rPr kumimoji="1" lang="en-US" altLang="en-US" sz="1800" b="0" i="1"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Preemptive </a:t>
            </a:r>
            <a:r>
              <a:rPr kumimoji="1" lang="en-US"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SJF Gantt Chart</a:t>
            </a:r>
            <a:endParaRPr kumimoji="1" lang="en-US"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Monotype Sorts" pitchFamily="-84" charset="2"/>
              <a:buChar char="n"/>
              <a:tabLst>
                <a:tab pos="1600835" algn="ctr"/>
                <a:tab pos="3252470" algn="ctr"/>
                <a:tab pos="5141595" algn="ctr"/>
              </a:tabLst>
              <a:defRPr/>
            </a:pPr>
            <a:endParaRPr kumimoji="1" lang="en-US"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Monotype Sorts" pitchFamily="-84" charset="2"/>
              <a:buChar char="n"/>
              <a:tabLst>
                <a:tab pos="1600835" algn="ctr"/>
                <a:tab pos="3252470" algn="ctr"/>
                <a:tab pos="5141595" algn="ctr"/>
              </a:tabLst>
              <a:defRPr/>
            </a:pPr>
            <a:endParaRPr kumimoji="1" lang="en-US"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tab pos="1600835" algn="ctr"/>
                <a:tab pos="3252470" algn="ctr"/>
                <a:tab pos="5141595" algn="ctr"/>
              </a:tabLst>
              <a:defRPr/>
            </a:pPr>
            <a:endParaRPr kumimoji="1" lang="en-US"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Monotype Sorts" pitchFamily="-84" charset="2"/>
              <a:buChar char="n"/>
              <a:tabLst>
                <a:tab pos="1600835" algn="ctr"/>
                <a:tab pos="3252470" algn="ctr"/>
                <a:tab pos="5141595" algn="ctr"/>
              </a:tabLst>
              <a:defRPr/>
            </a:pPr>
            <a:r>
              <a:rPr kumimoji="1" lang="en-US"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Average waiting time = [(10-1)+(1-1)+(17-2)+(5-3)]/4 = 26/4 = 6.5 </a:t>
            </a:r>
            <a:r>
              <a:rPr kumimoji="1" lang="en-US" altLang="en-US" sz="1800" b="0" i="0" u="none" strike="noStrike" kern="0" cap="none" spc="0" normalizeH="0" baseline="0" noProof="0" dirty="0" err="1" smtClean="0">
                <a:ln>
                  <a:noFill/>
                </a:ln>
                <a:solidFill>
                  <a:schemeClr val="tx1"/>
                </a:solidFill>
                <a:effectLst/>
                <a:uLnTx/>
                <a:uFillTx/>
                <a:latin typeface="+mn-lt"/>
                <a:ea typeface="MS PGothic" panose="020B0600070205080204" pitchFamily="34" charset="-128"/>
                <a:cs typeface="MS PGothic" panose="020B0600070205080204" pitchFamily="34" charset="-128"/>
              </a:rPr>
              <a:t>msec</a:t>
            </a:r>
            <a:endParaRPr kumimoji="1" lang="en-US"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Monotype Sorts" pitchFamily="-84" charset="2"/>
              <a:buChar char="n"/>
              <a:tabLst>
                <a:tab pos="1600835" algn="ctr"/>
                <a:tab pos="3252470" algn="ctr"/>
                <a:tab pos="5141595" algn="ctr"/>
              </a:tabLst>
              <a:defRPr/>
            </a:pPr>
            <a:endParaRPr kumimoji="1" lang="en-US" altLang="en-US" sz="1800" b="0" i="1" u="none" strike="noStrike" kern="0" cap="none" spc="0" normalizeH="0" baseline="-2500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tab pos="1600835" algn="ctr"/>
                <a:tab pos="3252470" algn="ctr"/>
                <a:tab pos="5141595" algn="ctr"/>
              </a:tabLst>
              <a:defRPr/>
            </a:pPr>
            <a:endParaRPr kumimoji="1" lang="en-US" altLang="en-US" sz="1800" b="0" i="1" u="none" strike="noStrike" kern="0" cap="none" spc="0" normalizeH="0" baseline="-2500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pic>
        <p:nvPicPr>
          <p:cNvPr id="19460" name="Picture 1"/>
          <p:cNvPicPr>
            <a:picLocks noChangeAspect="1"/>
          </p:cNvPicPr>
          <p:nvPr/>
        </p:nvPicPr>
        <p:blipFill>
          <a:blip r:embed="rId1"/>
          <a:stretch>
            <a:fillRect/>
          </a:stretch>
        </p:blipFill>
        <p:spPr>
          <a:xfrm>
            <a:off x="1446213" y="4284663"/>
            <a:ext cx="6535737" cy="800100"/>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971550" y="1772285"/>
            <a:ext cx="7071360" cy="2255520"/>
          </a:xfrm>
          <a:prstGeom prst="rect">
            <a:avLst/>
          </a:prstGeom>
        </p:spPr>
      </p:pic>
      <p:sp>
        <p:nvSpPr>
          <p:cNvPr id="4" name="Text Box 3"/>
          <p:cNvSpPr txBox="1"/>
          <p:nvPr/>
        </p:nvSpPr>
        <p:spPr>
          <a:xfrm>
            <a:off x="911225" y="471805"/>
            <a:ext cx="6922770" cy="1445260"/>
          </a:xfrm>
          <a:prstGeom prst="rect">
            <a:avLst/>
          </a:prstGeom>
          <a:noFill/>
        </p:spPr>
        <p:txBody>
          <a:bodyPr wrap="square" rtlCol="0">
            <a:spAutoFit/>
          </a:bodyPr>
          <a:p>
            <a:r>
              <a:rPr lang="en-GB" altLang="en-US" sz="2800" b="1">
                <a:latin typeface="Times New Roman" panose="02020603050405020304" charset="0"/>
                <a:cs typeface="Times New Roman" panose="02020603050405020304" charset="0"/>
                <a:sym typeface="+mn-ea"/>
              </a:rPr>
              <a:t>Shortest Job First:</a:t>
            </a:r>
            <a:endParaRPr lang="en-GB" altLang="en-US" sz="2800" b="1">
              <a:latin typeface="Times New Roman" panose="02020603050405020304" charset="0"/>
              <a:cs typeface="Times New Roman" panose="02020603050405020304" charset="0"/>
              <a:sym typeface="+mn-ea"/>
            </a:endParaRPr>
          </a:p>
          <a:p>
            <a:r>
              <a:rPr lang="en-GB" altLang="en-US" sz="2000" b="1">
                <a:latin typeface="Times New Roman" panose="02020603050405020304" charset="0"/>
                <a:cs typeface="Times New Roman" panose="02020603050405020304" charset="0"/>
              </a:rPr>
              <a:t>Preemptive mode of Shortest Job First is called as Shortest Remaining Time First (SRTF);  Mood : 1</a:t>
            </a:r>
            <a:endParaRPr lang="en-GB" altLang="en-US" sz="2000" b="1">
              <a:latin typeface="Times New Roman" panose="02020603050405020304" charset="0"/>
              <a:cs typeface="Times New Roman" panose="02020603050405020304" charset="0"/>
            </a:endParaRPr>
          </a:p>
          <a:p>
            <a:endParaRPr lang="en-GB" altLang="en-US" sz="2000" b="1">
              <a:latin typeface="Times New Roman" panose="02020603050405020304" charset="0"/>
              <a:cs typeface="Times New Roman" panose="02020603050405020304" charset="0"/>
            </a:endParaRPr>
          </a:p>
        </p:txBody>
      </p:sp>
      <p:graphicFrame>
        <p:nvGraphicFramePr>
          <p:cNvPr id="6" name="Table 5"/>
          <p:cNvGraphicFramePr/>
          <p:nvPr/>
        </p:nvGraphicFramePr>
        <p:xfrm>
          <a:off x="971550" y="4868545"/>
          <a:ext cx="6400165" cy="381000"/>
        </p:xfrm>
        <a:graphic>
          <a:graphicData uri="http://schemas.openxmlformats.org/drawingml/2006/table">
            <a:tbl>
              <a:tblPr firstRow="1" bandRow="1">
                <a:tableStyleId>{5C22544A-7EE6-4342-B048-85BDC9FD1C3A}</a:tableStyleId>
              </a:tblPr>
              <a:tblGrid>
                <a:gridCol w="456565"/>
                <a:gridCol w="456565"/>
                <a:gridCol w="456565"/>
                <a:gridCol w="456565"/>
                <a:gridCol w="456565"/>
                <a:gridCol w="456565"/>
                <a:gridCol w="456565"/>
                <a:gridCol w="456565"/>
                <a:gridCol w="456565"/>
                <a:gridCol w="456565"/>
                <a:gridCol w="456565"/>
                <a:gridCol w="456565"/>
                <a:gridCol w="456565"/>
                <a:gridCol w="456565"/>
              </a:tblGrid>
              <a:tr h="381000">
                <a:tc>
                  <a:txBody>
                    <a:bodyPr/>
                    <a:p>
                      <a:pPr>
                        <a:buNone/>
                      </a:pPr>
                      <a:r>
                        <a:rPr lang="en-GB" altLang="en-US"/>
                        <a:t>p4</a:t>
                      </a:r>
                      <a:endParaRPr lang="en-GB" altLang="en-US"/>
                    </a:p>
                  </a:txBody>
                  <a:tcPr/>
                </a:tc>
                <a:tc>
                  <a:txBody>
                    <a:bodyPr/>
                    <a:p>
                      <a:pPr>
                        <a:buNone/>
                      </a:pPr>
                      <a:r>
                        <a:rPr lang="en-GB" altLang="en-US"/>
                        <a:t>p2</a:t>
                      </a:r>
                      <a:endParaRPr lang="en-GB" altLang="en-US"/>
                    </a:p>
                  </a:txBody>
                  <a:tcPr/>
                </a:tc>
                <a:tc>
                  <a:txBody>
                    <a:bodyPr/>
                    <a:p>
                      <a:pPr>
                        <a:buNone/>
                      </a:pPr>
                      <a:r>
                        <a:rPr lang="en-GB" altLang="en-US"/>
                        <a:t>p2</a:t>
                      </a:r>
                      <a:endParaRPr lang="en-GB" altLang="en-US"/>
                    </a:p>
                  </a:txBody>
                  <a:tcPr/>
                </a:tc>
                <a:tc>
                  <a:txBody>
                    <a:bodyPr/>
                    <a:p>
                      <a:pPr>
                        <a:buNone/>
                      </a:pPr>
                      <a:r>
                        <a:rPr lang="en-GB" altLang="en-US"/>
                        <a:t>p1</a:t>
                      </a:r>
                      <a:endParaRPr lang="en-GB" altLang="en-US"/>
                    </a:p>
                  </a:txBody>
                  <a:tcPr/>
                </a:tc>
                <a:tc>
                  <a:txBody>
                    <a:bodyPr/>
                    <a:p>
                      <a:pPr>
                        <a:buNone/>
                      </a:pPr>
                      <a:r>
                        <a:rPr lang="en-GB" altLang="en-US"/>
                        <a:t>p2</a:t>
                      </a:r>
                      <a:endParaRPr lang="en-GB" altLang="en-US"/>
                    </a:p>
                  </a:txBody>
                  <a:tcPr/>
                </a:tc>
                <a:tc>
                  <a:txBody>
                    <a:bodyPr/>
                    <a:p>
                      <a:pPr>
                        <a:buNone/>
                      </a:pPr>
                      <a:r>
                        <a:rPr lang="en-GB" altLang="en-US"/>
                        <a:t>p2</a:t>
                      </a:r>
                      <a:endParaRPr lang="en-GB" altLang="en-US"/>
                    </a:p>
                  </a:txBody>
                  <a:tcPr/>
                </a:tc>
                <a:tc>
                  <a:txBody>
                    <a:bodyPr/>
                    <a:p>
                      <a:pPr>
                        <a:buNone/>
                      </a:pPr>
                      <a:r>
                        <a:rPr lang="en-GB" altLang="en-US"/>
                        <a:t>p3</a:t>
                      </a:r>
                      <a:endParaRPr lang="en-GB" altLang="en-US"/>
                    </a:p>
                  </a:txBody>
                  <a:tcPr/>
                </a:tc>
                <a:tc>
                  <a:txBody>
                    <a:bodyPr/>
                    <a:p>
                      <a:pPr>
                        <a:buNone/>
                      </a:pPr>
                      <a:r>
                        <a:rPr lang="en-GB" altLang="en-US"/>
                        <a:t>p3</a:t>
                      </a:r>
                      <a:endParaRPr lang="en-GB" altLang="en-US"/>
                    </a:p>
                  </a:txBody>
                  <a:tcPr/>
                </a:tc>
                <a:tc>
                  <a:txBody>
                    <a:bodyPr/>
                    <a:p>
                      <a:pPr>
                        <a:buNone/>
                      </a:pPr>
                      <a:r>
                        <a:rPr lang="en-GB" altLang="en-US"/>
                        <a:t>p5</a:t>
                      </a:r>
                      <a:endParaRPr lang="en-GB" altLang="en-US"/>
                    </a:p>
                  </a:txBody>
                  <a:tcPr/>
                </a:tc>
                <a:tc>
                  <a:txBody>
                    <a:bodyPr/>
                    <a:p>
                      <a:pPr>
                        <a:buNone/>
                      </a:pPr>
                      <a:r>
                        <a:rPr lang="en-GB" altLang="en-US"/>
                        <a:t>p5</a:t>
                      </a:r>
                      <a:endParaRPr lang="en-GB" altLang="en-US"/>
                    </a:p>
                  </a:txBody>
                  <a:tcPr/>
                </a:tc>
                <a:tc>
                  <a:txBody>
                    <a:bodyPr/>
                    <a:p>
                      <a:pPr>
                        <a:buNone/>
                      </a:pPr>
                      <a:r>
                        <a:rPr lang="en-GB" altLang="en-US"/>
                        <a:t>p5</a:t>
                      </a:r>
                      <a:endParaRPr lang="en-GB" altLang="en-US"/>
                    </a:p>
                  </a:txBody>
                  <a:tcPr/>
                </a:tc>
                <a:tc>
                  <a:txBody>
                    <a:bodyPr/>
                    <a:p>
                      <a:pPr>
                        <a:buNone/>
                      </a:pPr>
                      <a:r>
                        <a:rPr lang="en-GB" altLang="en-US"/>
                        <a:t>p4</a:t>
                      </a:r>
                      <a:endParaRPr lang="en-GB" altLang="en-US"/>
                    </a:p>
                  </a:txBody>
                  <a:tcPr/>
                </a:tc>
                <a:tc>
                  <a:txBody>
                    <a:bodyPr/>
                    <a:p>
                      <a:pPr>
                        <a:buNone/>
                      </a:pPr>
                      <a:r>
                        <a:rPr lang="en-GB" altLang="en-US"/>
                        <a:t>p4</a:t>
                      </a:r>
                      <a:endParaRPr lang="en-GB" altLang="en-US"/>
                    </a:p>
                  </a:txBody>
                  <a:tcPr/>
                </a:tc>
                <a:tc>
                  <a:txBody>
                    <a:bodyPr/>
                    <a:p>
                      <a:pPr>
                        <a:buNone/>
                      </a:pPr>
                      <a:r>
                        <a:rPr lang="en-GB" altLang="en-US"/>
                        <a:t>p4</a:t>
                      </a:r>
                      <a:endParaRPr lang="en-GB" altLang="en-US"/>
                    </a:p>
                  </a:txBody>
                  <a:tcPr/>
                </a:tc>
              </a:tr>
            </a:tbl>
          </a:graphicData>
        </a:graphic>
      </p:graphicFrame>
      <p:sp>
        <p:nvSpPr>
          <p:cNvPr id="7" name="Text Box 6"/>
          <p:cNvSpPr txBox="1"/>
          <p:nvPr/>
        </p:nvSpPr>
        <p:spPr>
          <a:xfrm>
            <a:off x="899795" y="4436745"/>
            <a:ext cx="6702425" cy="368300"/>
          </a:xfrm>
          <a:prstGeom prst="rect">
            <a:avLst/>
          </a:prstGeom>
          <a:noFill/>
        </p:spPr>
        <p:txBody>
          <a:bodyPr wrap="square" rtlCol="0">
            <a:spAutoFit/>
          </a:bodyPr>
          <a:p>
            <a:r>
              <a:rPr lang="en-GB" altLang="en-US"/>
              <a:t>0    1      2       3       4       5      6      7       8      9       10    11    12     13    16     </a:t>
            </a:r>
            <a:endParaRPr lang="en-GB" altLang="en-US"/>
          </a:p>
        </p:txBody>
      </p:sp>
      <p:graphicFrame>
        <p:nvGraphicFramePr>
          <p:cNvPr id="8" name="Table 7"/>
          <p:cNvGraphicFramePr/>
          <p:nvPr/>
        </p:nvGraphicFramePr>
        <p:xfrm>
          <a:off x="911225" y="6021070"/>
          <a:ext cx="6400165" cy="381000"/>
        </p:xfrm>
        <a:graphic>
          <a:graphicData uri="http://schemas.openxmlformats.org/drawingml/2006/table">
            <a:tbl>
              <a:tblPr firstRow="1" bandRow="1">
                <a:tableStyleId>{5C22544A-7EE6-4342-B048-85BDC9FD1C3A}</a:tableStyleId>
              </a:tblPr>
              <a:tblGrid>
                <a:gridCol w="913765"/>
                <a:gridCol w="913765"/>
                <a:gridCol w="913765"/>
                <a:gridCol w="913765"/>
                <a:gridCol w="913765"/>
                <a:gridCol w="913765"/>
                <a:gridCol w="913765"/>
              </a:tblGrid>
              <a:tr h="381000">
                <a:tc>
                  <a:txBody>
                    <a:bodyPr/>
                    <a:p>
                      <a:pPr>
                        <a:buNone/>
                      </a:pPr>
                      <a:r>
                        <a:rPr lang="en-GB" altLang="en-US"/>
                        <a:t>p4</a:t>
                      </a:r>
                      <a:endParaRPr lang="en-GB" altLang="en-US"/>
                    </a:p>
                  </a:txBody>
                  <a:tcPr/>
                </a:tc>
                <a:tc>
                  <a:txBody>
                    <a:bodyPr/>
                    <a:p>
                      <a:pPr>
                        <a:buNone/>
                      </a:pPr>
                      <a:r>
                        <a:rPr lang="en-GB" altLang="en-US"/>
                        <a:t>p2</a:t>
                      </a:r>
                      <a:endParaRPr lang="en-GB" altLang="en-US"/>
                    </a:p>
                  </a:txBody>
                  <a:tcPr/>
                </a:tc>
                <a:tc>
                  <a:txBody>
                    <a:bodyPr/>
                    <a:p>
                      <a:pPr>
                        <a:buNone/>
                      </a:pPr>
                      <a:r>
                        <a:rPr lang="en-GB" altLang="en-US"/>
                        <a:t>p1</a:t>
                      </a:r>
                      <a:endParaRPr lang="en-GB" altLang="en-US"/>
                    </a:p>
                  </a:txBody>
                  <a:tcPr/>
                </a:tc>
                <a:tc>
                  <a:txBody>
                    <a:bodyPr/>
                    <a:p>
                      <a:pPr>
                        <a:buNone/>
                      </a:pPr>
                      <a:r>
                        <a:rPr lang="en-GB" altLang="en-US"/>
                        <a:t>p2</a:t>
                      </a:r>
                      <a:endParaRPr lang="en-GB" altLang="en-US"/>
                    </a:p>
                  </a:txBody>
                  <a:tcPr/>
                </a:tc>
                <a:tc>
                  <a:txBody>
                    <a:bodyPr/>
                    <a:p>
                      <a:pPr>
                        <a:buNone/>
                      </a:pPr>
                      <a:r>
                        <a:rPr lang="en-GB" altLang="en-US"/>
                        <a:t>p3</a:t>
                      </a:r>
                      <a:endParaRPr lang="en-GB" altLang="en-US"/>
                    </a:p>
                  </a:txBody>
                  <a:tcPr/>
                </a:tc>
                <a:tc>
                  <a:txBody>
                    <a:bodyPr/>
                    <a:p>
                      <a:pPr>
                        <a:buNone/>
                      </a:pPr>
                      <a:r>
                        <a:rPr lang="en-GB" altLang="en-US"/>
                        <a:t>p5</a:t>
                      </a:r>
                      <a:endParaRPr lang="en-GB" altLang="en-US"/>
                    </a:p>
                  </a:txBody>
                  <a:tcPr/>
                </a:tc>
                <a:tc>
                  <a:txBody>
                    <a:bodyPr/>
                    <a:p>
                      <a:pPr>
                        <a:buNone/>
                      </a:pPr>
                      <a:r>
                        <a:rPr lang="en-GB" altLang="en-US"/>
                        <a:t>p4</a:t>
                      </a:r>
                      <a:endParaRPr lang="en-GB" altLang="en-US"/>
                    </a:p>
                  </a:txBody>
                  <a:tcPr/>
                </a:tc>
              </a:tr>
            </a:tbl>
          </a:graphicData>
        </a:graphic>
      </p:graphicFrame>
      <p:sp>
        <p:nvSpPr>
          <p:cNvPr id="9" name="Text Box 8"/>
          <p:cNvSpPr txBox="1"/>
          <p:nvPr/>
        </p:nvSpPr>
        <p:spPr>
          <a:xfrm>
            <a:off x="900430" y="5647055"/>
            <a:ext cx="6531610" cy="368300"/>
          </a:xfrm>
          <a:prstGeom prst="rect">
            <a:avLst/>
          </a:prstGeom>
          <a:noFill/>
        </p:spPr>
        <p:txBody>
          <a:bodyPr wrap="square" rtlCol="0">
            <a:spAutoFit/>
          </a:bodyPr>
          <a:p>
            <a:r>
              <a:rPr lang="en-GB" altLang="en-US"/>
              <a:t>0            1                3                4                6               8                11        16</a:t>
            </a:r>
            <a:endParaRPr lang="en-GB"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11505" y="548640"/>
            <a:ext cx="8220075" cy="5734685"/>
          </a:xfrm>
          <a:prstGeom prst="rect">
            <a:avLst/>
          </a:prstGeom>
          <a:noFill/>
        </p:spPr>
        <p:txBody>
          <a:bodyPr wrap="square" rtlCol="0">
            <a:noAutofit/>
          </a:bodyPr>
          <a:p>
            <a:r>
              <a:rPr lang="en-GB" altLang="en-US" sz="3600">
                <a:latin typeface="Times New Roman" panose="02020603050405020304" charset="0"/>
                <a:cs typeface="Times New Roman" panose="02020603050405020304" charset="0"/>
                <a:sym typeface="+mn-ea"/>
              </a:rPr>
              <a:t> </a:t>
            </a:r>
            <a:r>
              <a:rPr lang="en-GB" altLang="en-US" sz="3600" b="1">
                <a:latin typeface="Times New Roman" panose="02020603050405020304" charset="0"/>
                <a:cs typeface="Times New Roman" panose="02020603050405020304" charset="0"/>
                <a:sym typeface="+mn-ea"/>
              </a:rPr>
              <a:t>Shortest Job First:</a:t>
            </a:r>
            <a:endParaRPr lang="en-GB" altLang="en-US" sz="3600" b="1">
              <a:latin typeface="Times New Roman" panose="02020603050405020304" charset="0"/>
              <a:cs typeface="Times New Roman" panose="02020603050405020304" charset="0"/>
            </a:endParaRPr>
          </a:p>
          <a:p>
            <a:r>
              <a:rPr lang="en-GB" altLang="en-US" sz="3200" b="1">
                <a:latin typeface="Times New Roman" panose="02020603050405020304" charset="0"/>
                <a:cs typeface="Times New Roman" panose="02020603050405020304" charset="0"/>
              </a:rPr>
              <a:t>Advantages</a:t>
            </a:r>
            <a:endParaRPr lang="en-GB" altLang="en-US" sz="3200" b="1">
              <a:latin typeface="Times New Roman" panose="02020603050405020304" charset="0"/>
              <a:cs typeface="Times New Roman" panose="02020603050405020304" charset="0"/>
            </a:endParaRPr>
          </a:p>
          <a:p>
            <a:endParaRPr lang="en-GB" altLang="en-US">
              <a:latin typeface="Times New Roman" panose="02020603050405020304" charset="0"/>
              <a:cs typeface="Times New Roman" panose="02020603050405020304" charset="0"/>
            </a:endParaRPr>
          </a:p>
          <a:p>
            <a:pPr marL="285750" indent="-285750">
              <a:buFont typeface="Wingdings" panose="05000000000000000000" charset="0"/>
              <a:buChar char="ü"/>
            </a:pPr>
            <a:r>
              <a:rPr lang="en-GB" altLang="en-US" sz="2400">
                <a:latin typeface="Times New Roman" panose="02020603050405020304" charset="0"/>
                <a:cs typeface="Times New Roman" panose="02020603050405020304" charset="0"/>
              </a:rPr>
              <a:t>SRTF is optimal and guarantees the minimum average waiting time.</a:t>
            </a:r>
            <a:endParaRPr lang="en-GB" altLang="en-US" sz="2400">
              <a:latin typeface="Times New Roman" panose="02020603050405020304" charset="0"/>
              <a:cs typeface="Times New Roman" panose="02020603050405020304" charset="0"/>
            </a:endParaRPr>
          </a:p>
          <a:p>
            <a:pPr marL="285750" indent="-285750">
              <a:buFont typeface="Wingdings" panose="05000000000000000000" charset="0"/>
              <a:buChar char="ü"/>
            </a:pPr>
            <a:r>
              <a:rPr lang="en-GB" altLang="en-US" sz="2400">
                <a:latin typeface="Times New Roman" panose="02020603050405020304" charset="0"/>
                <a:cs typeface="Times New Roman" panose="02020603050405020304" charset="0"/>
              </a:rPr>
              <a:t>It provides a standard for other algorithms since no other algorithm performs better than it.</a:t>
            </a:r>
            <a:endParaRPr lang="en-GB" altLang="en-US" sz="2400">
              <a:latin typeface="Times New Roman" panose="02020603050405020304" charset="0"/>
              <a:cs typeface="Times New Roman" panose="02020603050405020304" charset="0"/>
            </a:endParaRPr>
          </a:p>
          <a:p>
            <a:endParaRPr lang="en-GB" altLang="en-US">
              <a:latin typeface="Times New Roman" panose="02020603050405020304" charset="0"/>
              <a:cs typeface="Times New Roman" panose="02020603050405020304" charset="0"/>
            </a:endParaRPr>
          </a:p>
          <a:p>
            <a:r>
              <a:rPr lang="en-GB" altLang="en-US" sz="3200" b="1">
                <a:latin typeface="Times New Roman" panose="02020603050405020304" charset="0"/>
                <a:cs typeface="Times New Roman" panose="02020603050405020304" charset="0"/>
              </a:rPr>
              <a:t>Disadvantages</a:t>
            </a:r>
            <a:endParaRPr lang="en-GB" altLang="en-US" sz="3200" b="1">
              <a:latin typeface="Times New Roman" panose="02020603050405020304" charset="0"/>
              <a:cs typeface="Times New Roman" panose="02020603050405020304" charset="0"/>
            </a:endParaRPr>
          </a:p>
          <a:p>
            <a:r>
              <a:rPr lang="en-GB" altLang="en-US">
                <a:latin typeface="Times New Roman" panose="02020603050405020304" charset="0"/>
                <a:cs typeface="Times New Roman" panose="02020603050405020304" charset="0"/>
              </a:rPr>
              <a:t> </a:t>
            </a:r>
            <a:endParaRPr lang="en-GB" alt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GB" altLang="en-US" sz="2400">
                <a:latin typeface="Times New Roman" panose="02020603050405020304" charset="0"/>
                <a:cs typeface="Times New Roman" panose="02020603050405020304" charset="0"/>
              </a:rPr>
              <a:t>It can not be implemented practically since burst time of the processes can not be known in advance.</a:t>
            </a:r>
            <a:endParaRPr lang="en-GB" altLang="en-US" sz="2400">
              <a:latin typeface="Times New Roman" panose="02020603050405020304" charset="0"/>
              <a:cs typeface="Times New Roman" panose="02020603050405020304" charset="0"/>
            </a:endParaRPr>
          </a:p>
          <a:p>
            <a:pPr marL="285750" indent="-285750">
              <a:buFont typeface="Wingdings" panose="05000000000000000000" charset="0"/>
              <a:buChar char="Ø"/>
            </a:pPr>
            <a:r>
              <a:rPr lang="en-GB" altLang="en-US" sz="2400">
                <a:latin typeface="Times New Roman" panose="02020603050405020304" charset="0"/>
                <a:cs typeface="Times New Roman" panose="02020603050405020304" charset="0"/>
              </a:rPr>
              <a:t>It leads to starvation for processes with larger burst time.</a:t>
            </a:r>
            <a:endParaRPr lang="en-GB" altLang="en-US" sz="2400">
              <a:latin typeface="Times New Roman" panose="02020603050405020304" charset="0"/>
              <a:cs typeface="Times New Roman" panose="02020603050405020304" charset="0"/>
            </a:endParaRPr>
          </a:p>
          <a:p>
            <a:pPr marL="285750" indent="-285750">
              <a:buFont typeface="Wingdings" panose="05000000000000000000" charset="0"/>
              <a:buChar char="Ø"/>
            </a:pPr>
            <a:r>
              <a:rPr lang="en-GB" altLang="en-US" sz="2400">
                <a:latin typeface="Times New Roman" panose="02020603050405020304" charset="0"/>
                <a:cs typeface="Times New Roman" panose="02020603050405020304" charset="0"/>
              </a:rPr>
              <a:t>Priorities can not be set for the processes.</a:t>
            </a:r>
            <a:endParaRPr lang="en-GB" altLang="en-US" sz="2400">
              <a:latin typeface="Times New Roman" panose="02020603050405020304" charset="0"/>
              <a:cs typeface="Times New Roman" panose="02020603050405020304" charset="0"/>
            </a:endParaRPr>
          </a:p>
          <a:p>
            <a:pPr marL="285750" indent="-285750">
              <a:buFont typeface="Wingdings" panose="05000000000000000000" charset="0"/>
              <a:buChar char="Ø"/>
            </a:pPr>
            <a:r>
              <a:rPr lang="en-GB" altLang="en-US" sz="2400">
                <a:latin typeface="Times New Roman" panose="02020603050405020304" charset="0"/>
                <a:cs typeface="Times New Roman" panose="02020603050405020304" charset="0"/>
              </a:rPr>
              <a:t>Processes with larger burst time have poor response time.</a:t>
            </a:r>
            <a:endParaRPr lang="en-GB" altLang="en-US" sz="2400">
              <a:latin typeface="Times New Roman" panose="02020603050405020304" charset="0"/>
              <a:cs typeface="Times New Roman" panose="02020603050405020304" charset="0"/>
            </a:endParaRPr>
          </a:p>
          <a:p>
            <a:endParaRPr lang="en-GB" altLang="en-US" sz="2400">
              <a:latin typeface="Times New Roman" panose="02020603050405020304" charset="0"/>
              <a:cs typeface="Times New Roman" panose="0202060305040502030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07085" y="683895"/>
            <a:ext cx="7428230" cy="5815965"/>
          </a:xfrm>
          <a:prstGeom prst="rect">
            <a:avLst/>
          </a:prstGeom>
          <a:noFill/>
        </p:spPr>
        <p:txBody>
          <a:bodyPr wrap="square" rtlCol="0">
            <a:spAutoFit/>
          </a:bodyPr>
          <a:p>
            <a:r>
              <a:rPr lang="en-GB" altLang="en-US" sz="3200" b="1">
                <a:latin typeface="Times New Roman" panose="02020603050405020304" charset="0"/>
                <a:cs typeface="Times New Roman" panose="02020603050405020304" charset="0"/>
              </a:rPr>
              <a:t>Round Robin Scheduling:</a:t>
            </a:r>
            <a:endParaRPr lang="en-GB" altLang="en-US" sz="3200" b="1">
              <a:latin typeface="Times New Roman" panose="02020603050405020304" charset="0"/>
              <a:cs typeface="Times New Roman" panose="02020603050405020304" charset="0"/>
            </a:endParaRPr>
          </a:p>
          <a:p>
            <a:endParaRPr lang="en-GB" altLang="en-US" sz="3200" b="1">
              <a:latin typeface="Times New Roman" panose="02020603050405020304" charset="0"/>
              <a:cs typeface="Times New Roman" panose="02020603050405020304" charset="0"/>
            </a:endParaRPr>
          </a:p>
          <a:p>
            <a:pPr marL="342900" indent="-342900">
              <a:buFont typeface="Wingdings" panose="05000000000000000000" charset="0"/>
              <a:buChar char="§"/>
            </a:pPr>
            <a:r>
              <a:rPr lang="en-GB" altLang="en-US" sz="2400">
                <a:latin typeface="Times New Roman" panose="02020603050405020304" charset="0"/>
                <a:cs typeface="Times New Roman" panose="02020603050405020304" charset="0"/>
              </a:rPr>
              <a:t>CPU is assigned to the process on the basis of FCFS for a fixed amount of time.</a:t>
            </a:r>
            <a:endParaRPr lang="en-GB" altLang="en-US" sz="2400">
              <a:latin typeface="Times New Roman" panose="02020603050405020304" charset="0"/>
              <a:cs typeface="Times New Roman" panose="02020603050405020304" charset="0"/>
            </a:endParaRPr>
          </a:p>
          <a:p>
            <a:pPr marL="342900" indent="-342900">
              <a:buFont typeface="Wingdings" panose="05000000000000000000" charset="0"/>
              <a:buChar char="§"/>
            </a:pPr>
            <a:r>
              <a:rPr lang="en-GB" altLang="en-US" sz="2400">
                <a:latin typeface="Times New Roman" panose="02020603050405020304" charset="0"/>
                <a:cs typeface="Times New Roman" panose="02020603050405020304" charset="0"/>
              </a:rPr>
              <a:t>This fixed amount of time is called as time quantum or time slice.</a:t>
            </a:r>
            <a:endParaRPr lang="en-GB" altLang="en-US" sz="2400">
              <a:latin typeface="Times New Roman" panose="02020603050405020304" charset="0"/>
              <a:cs typeface="Times New Roman" panose="02020603050405020304" charset="0"/>
            </a:endParaRPr>
          </a:p>
          <a:p>
            <a:pPr marL="342900" indent="-342900">
              <a:buFont typeface="Wingdings" panose="05000000000000000000" charset="0"/>
              <a:buChar char="§"/>
            </a:pPr>
            <a:r>
              <a:rPr lang="en-GB" altLang="en-US" sz="2400">
                <a:latin typeface="Times New Roman" panose="02020603050405020304" charset="0"/>
                <a:cs typeface="Times New Roman" panose="02020603050405020304" charset="0"/>
              </a:rPr>
              <a:t>After the time quantum expires, the running process is preempted and sent to the ready queue.</a:t>
            </a:r>
            <a:endParaRPr lang="en-GB" altLang="en-US" sz="2400">
              <a:latin typeface="Times New Roman" panose="02020603050405020304" charset="0"/>
              <a:cs typeface="Times New Roman" panose="02020603050405020304" charset="0"/>
            </a:endParaRPr>
          </a:p>
          <a:p>
            <a:pPr marL="342900" indent="-342900">
              <a:buFont typeface="Wingdings" panose="05000000000000000000" charset="0"/>
              <a:buChar char="§"/>
            </a:pPr>
            <a:r>
              <a:rPr lang="en-GB" altLang="en-US" sz="2400">
                <a:latin typeface="Times New Roman" panose="02020603050405020304" charset="0"/>
                <a:cs typeface="Times New Roman" panose="02020603050405020304" charset="0"/>
              </a:rPr>
              <a:t>Then, the processor is assigned to the next arrived process.</a:t>
            </a:r>
            <a:endParaRPr lang="en-GB" altLang="en-US" sz="2400">
              <a:latin typeface="Times New Roman" panose="02020603050405020304" charset="0"/>
              <a:cs typeface="Times New Roman" panose="02020603050405020304" charset="0"/>
            </a:endParaRPr>
          </a:p>
          <a:p>
            <a:pPr marL="342900" indent="-342900">
              <a:buFont typeface="Wingdings" panose="05000000000000000000" charset="0"/>
              <a:buChar char="§"/>
            </a:pPr>
            <a:r>
              <a:rPr lang="en-GB" altLang="en-US" sz="2400">
                <a:latin typeface="Times New Roman" panose="02020603050405020304" charset="0"/>
                <a:cs typeface="Times New Roman" panose="02020603050405020304" charset="0"/>
              </a:rPr>
              <a:t>higher value of time quantum is better in terms of number of context switch</a:t>
            </a:r>
            <a:endParaRPr lang="en-GB" altLang="en-US" sz="2400">
              <a:latin typeface="Times New Roman" panose="02020603050405020304" charset="0"/>
              <a:cs typeface="Times New Roman" panose="02020603050405020304" charset="0"/>
            </a:endParaRPr>
          </a:p>
          <a:p>
            <a:pPr marL="342900" indent="-342900">
              <a:buFont typeface="Wingdings" panose="05000000000000000000" charset="0"/>
              <a:buChar char="§"/>
            </a:pPr>
            <a:r>
              <a:rPr lang="en-GB" altLang="en-US" sz="2400">
                <a:latin typeface="Times New Roman" panose="02020603050405020304" charset="0"/>
                <a:cs typeface="Times New Roman" panose="02020603050405020304" charset="0"/>
              </a:rPr>
              <a:t>smaller value of time quantum is better in terms of response time</a:t>
            </a:r>
            <a:endParaRPr lang="en-GB" altLang="en-US" sz="2400">
              <a:latin typeface="Times New Roman" panose="02020603050405020304" charset="0"/>
              <a:cs typeface="Times New Roman" panose="02020603050405020304" charset="0"/>
            </a:endParaRPr>
          </a:p>
          <a:p>
            <a:endParaRPr lang="en-GB" altLang="en-US" sz="2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23850" y="476250"/>
            <a:ext cx="8035925" cy="5974715"/>
          </a:xfrm>
          <a:prstGeom prst="rect">
            <a:avLst/>
          </a:prstGeom>
          <a:noFill/>
        </p:spPr>
        <p:txBody>
          <a:bodyPr wrap="square" rtlCol="0">
            <a:noAutofit/>
          </a:bodyPr>
          <a:p>
            <a:r>
              <a:rPr lang="en-GB" altLang="en-US" sz="2800">
                <a:solidFill>
                  <a:schemeClr val="tx1"/>
                </a:solidFill>
              </a:rPr>
              <a:t> </a:t>
            </a:r>
            <a:r>
              <a:rPr lang="en-GB" altLang="en-US" sz="2800" b="1">
                <a:solidFill>
                  <a:schemeClr val="tx1"/>
                </a:solidFill>
              </a:rPr>
              <a:t>Round-Robin Scheduling:</a:t>
            </a:r>
            <a:endParaRPr lang="en-GB" altLang="en-US" sz="2800" b="1">
              <a:solidFill>
                <a:schemeClr val="tx1"/>
              </a:solidFill>
            </a:endParaRPr>
          </a:p>
          <a:p>
            <a:endParaRPr lang="en-GB" altLang="en-US" sz="3200" b="1">
              <a:solidFill>
                <a:srgbClr val="FF0000"/>
              </a:solidFill>
            </a:endParaRPr>
          </a:p>
          <a:p>
            <a:endParaRPr lang="en-GB" altLang="en-US" sz="2400">
              <a:solidFill>
                <a:schemeClr val="tx1"/>
              </a:solidFill>
            </a:endParaRPr>
          </a:p>
          <a:p>
            <a:endParaRPr lang="en-GB" altLang="en-US" sz="2400">
              <a:solidFill>
                <a:schemeClr val="tx1"/>
              </a:solidFill>
            </a:endParaRPr>
          </a:p>
          <a:p>
            <a:endParaRPr lang="en-GB" altLang="en-US" sz="2400">
              <a:solidFill>
                <a:schemeClr val="tx1"/>
              </a:solidFill>
            </a:endParaRPr>
          </a:p>
          <a:p>
            <a:endParaRPr lang="en-GB" altLang="en-US" sz="2400">
              <a:solidFill>
                <a:schemeClr val="tx1"/>
              </a:solidFill>
            </a:endParaRPr>
          </a:p>
          <a:p>
            <a:endParaRPr lang="en-GB" altLang="en-US" sz="2400">
              <a:solidFill>
                <a:schemeClr val="tx1"/>
              </a:solidFill>
            </a:endParaRPr>
          </a:p>
          <a:p>
            <a:endParaRPr lang="en-GB" altLang="en-US" sz="2400">
              <a:solidFill>
                <a:schemeClr val="tx1"/>
              </a:solidFill>
            </a:endParaRPr>
          </a:p>
          <a:p>
            <a:r>
              <a:rPr lang="en-GB" altLang="en-US" sz="2400">
                <a:solidFill>
                  <a:schemeClr val="tx1"/>
                </a:solidFill>
              </a:rPr>
              <a:t> </a:t>
            </a:r>
            <a:endParaRPr lang="en-GB" altLang="en-US" sz="2400">
              <a:solidFill>
                <a:schemeClr val="tx1"/>
              </a:solidFill>
            </a:endParaRPr>
          </a:p>
          <a:p>
            <a:r>
              <a:rPr lang="en-GB" altLang="en-US">
                <a:solidFill>
                  <a:schemeClr val="tx1"/>
                </a:solidFill>
              </a:rPr>
              <a:t>     </a:t>
            </a:r>
            <a:r>
              <a:rPr lang="en-GB" altLang="en-US" b="1">
                <a:solidFill>
                  <a:schemeClr val="tx1"/>
                </a:solidFill>
                <a:latin typeface="Times New Roman" panose="02020603050405020304" charset="0"/>
                <a:cs typeface="Times New Roman" panose="02020603050405020304" charset="0"/>
              </a:rPr>
              <a:t>time quantum = 2 unit</a:t>
            </a:r>
            <a:endParaRPr lang="en-GB" altLang="en-US" sz="2400">
              <a:solidFill>
                <a:schemeClr val="tx1"/>
              </a:solidFill>
            </a:endParaRPr>
          </a:p>
          <a:p>
            <a:r>
              <a:rPr lang="en-GB" altLang="en-US" sz="2400">
                <a:solidFill>
                  <a:schemeClr val="tx1"/>
                </a:solidFill>
              </a:rPr>
              <a:t>    </a:t>
            </a:r>
            <a:endParaRPr lang="en-GB" altLang="en-US" sz="2400">
              <a:solidFill>
                <a:schemeClr val="tx1"/>
              </a:solidFill>
            </a:endParaRPr>
          </a:p>
          <a:p>
            <a:r>
              <a:rPr lang="en-GB" altLang="en-US" sz="2400">
                <a:solidFill>
                  <a:schemeClr val="tx1"/>
                </a:solidFill>
              </a:rPr>
              <a:t>    </a:t>
            </a:r>
            <a:endParaRPr lang="en-GB" altLang="en-US" sz="2400">
              <a:solidFill>
                <a:schemeClr val="tx1"/>
              </a:solidFill>
            </a:endParaRPr>
          </a:p>
        </p:txBody>
      </p:sp>
      <p:sp>
        <p:nvSpPr>
          <p:cNvPr id="4" name="Text Box 3"/>
          <p:cNvSpPr txBox="1"/>
          <p:nvPr/>
        </p:nvSpPr>
        <p:spPr>
          <a:xfrm>
            <a:off x="539115" y="4459605"/>
            <a:ext cx="7914640" cy="656590"/>
          </a:xfrm>
          <a:prstGeom prst="rect">
            <a:avLst/>
          </a:prstGeom>
          <a:noFill/>
        </p:spPr>
        <p:txBody>
          <a:bodyPr wrap="square" rtlCol="0">
            <a:noAutofit/>
          </a:bodyPr>
          <a:p>
            <a:r>
              <a:rPr lang="en-GB" altLang="en-US" sz="2000" b="1"/>
              <a:t>Ready Queue:                                                                                       </a:t>
            </a:r>
            <a:endParaRPr lang="en-GB" altLang="en-US" sz="2000" b="1"/>
          </a:p>
          <a:p>
            <a:r>
              <a:rPr lang="en-GB" altLang="en-US" sz="2000" b="1"/>
              <a:t>P1, P2, P3, P1, P4, P5, P2, P6, P5, P2, P6, P5</a:t>
            </a:r>
            <a:r>
              <a:rPr lang="en-GB" altLang="en-US" sz="1400">
                <a:sym typeface="+mn-ea"/>
              </a:rPr>
              <a:t>                                                                                                                </a:t>
            </a:r>
            <a:endParaRPr lang="en-GB" altLang="en-US" sz="1400" b="1"/>
          </a:p>
        </p:txBody>
      </p:sp>
      <p:graphicFrame>
        <p:nvGraphicFramePr>
          <p:cNvPr id="5" name="Table 4"/>
          <p:cNvGraphicFramePr/>
          <p:nvPr/>
        </p:nvGraphicFramePr>
        <p:xfrm>
          <a:off x="683895" y="1052195"/>
          <a:ext cx="6398895" cy="2667000"/>
        </p:xfrm>
        <a:graphic>
          <a:graphicData uri="http://schemas.openxmlformats.org/drawingml/2006/table">
            <a:tbl>
              <a:tblPr firstRow="1" bandRow="1">
                <a:tableStyleId>{5C22544A-7EE6-4342-B048-85BDC9FD1C3A}</a:tableStyleId>
              </a:tblPr>
              <a:tblGrid>
                <a:gridCol w="2132965"/>
                <a:gridCol w="2132965"/>
                <a:gridCol w="2132965"/>
              </a:tblGrid>
              <a:tr h="381000">
                <a:tc>
                  <a:txBody>
                    <a:bodyPr/>
                    <a:p>
                      <a:pPr>
                        <a:buNone/>
                      </a:pPr>
                      <a:r>
                        <a:rPr lang="en-GB" altLang="en-US" sz="1800">
                          <a:sym typeface="+mn-ea"/>
                        </a:rPr>
                        <a:t>Process Id	</a:t>
                      </a:r>
                      <a:endParaRPr lang="en-GB" altLang="en-US"/>
                    </a:p>
                  </a:txBody>
                  <a:tcPr/>
                </a:tc>
                <a:tc>
                  <a:txBody>
                    <a:bodyPr/>
                    <a:p>
                      <a:pPr>
                        <a:buNone/>
                      </a:pPr>
                      <a:r>
                        <a:rPr lang="en-GB" altLang="en-US" sz="1800">
                          <a:sym typeface="+mn-ea"/>
                        </a:rPr>
                        <a:t> Arrival time</a:t>
                      </a:r>
                      <a:endParaRPr lang="en-GB" altLang="en-US"/>
                    </a:p>
                  </a:txBody>
                  <a:tcPr/>
                </a:tc>
                <a:tc>
                  <a:txBody>
                    <a:bodyPr/>
                    <a:p>
                      <a:pPr>
                        <a:buNone/>
                      </a:pPr>
                      <a:r>
                        <a:rPr lang="en-GB" altLang="en-US" sz="1800">
                          <a:sym typeface="+mn-ea"/>
                        </a:rPr>
                        <a:t>Burst time</a:t>
                      </a:r>
                      <a:endParaRPr lang="en-GB" altLang="en-US"/>
                    </a:p>
                  </a:txBody>
                  <a:tcPr/>
                </a:tc>
              </a:tr>
              <a:tr h="381000">
                <a:tc>
                  <a:txBody>
                    <a:bodyPr/>
                    <a:p>
                      <a:pPr>
                        <a:buNone/>
                      </a:pPr>
                      <a:r>
                        <a:rPr lang="en-GB" altLang="en-US"/>
                        <a:t>p1</a:t>
                      </a:r>
                      <a:endParaRPr lang="en-GB" altLang="en-US"/>
                    </a:p>
                  </a:txBody>
                  <a:tcPr/>
                </a:tc>
                <a:tc>
                  <a:txBody>
                    <a:bodyPr/>
                    <a:p>
                      <a:pPr>
                        <a:buNone/>
                      </a:pPr>
                      <a:r>
                        <a:rPr lang="en-GB" altLang="en-US"/>
                        <a:t>0</a:t>
                      </a:r>
                      <a:endParaRPr lang="en-GB" altLang="en-US"/>
                    </a:p>
                  </a:txBody>
                  <a:tcPr/>
                </a:tc>
                <a:tc>
                  <a:txBody>
                    <a:bodyPr/>
                    <a:p>
                      <a:pPr>
                        <a:buNone/>
                      </a:pPr>
                      <a:r>
                        <a:rPr lang="en-GB" altLang="en-US"/>
                        <a:t>4</a:t>
                      </a:r>
                      <a:endParaRPr lang="en-GB" altLang="en-US"/>
                    </a:p>
                  </a:txBody>
                  <a:tcPr/>
                </a:tc>
              </a:tr>
              <a:tr h="381000">
                <a:tc>
                  <a:txBody>
                    <a:bodyPr/>
                    <a:p>
                      <a:pPr>
                        <a:buNone/>
                      </a:pPr>
                      <a:r>
                        <a:rPr lang="en-GB" altLang="en-US"/>
                        <a:t>p2</a:t>
                      </a:r>
                      <a:endParaRPr lang="en-GB" altLang="en-US"/>
                    </a:p>
                  </a:txBody>
                  <a:tcPr/>
                </a:tc>
                <a:tc>
                  <a:txBody>
                    <a:bodyPr/>
                    <a:p>
                      <a:pPr>
                        <a:buNone/>
                      </a:pPr>
                      <a:r>
                        <a:rPr lang="en-GB" altLang="en-US"/>
                        <a:t>1</a:t>
                      </a:r>
                      <a:endParaRPr lang="en-GB" altLang="en-US"/>
                    </a:p>
                  </a:txBody>
                  <a:tcPr/>
                </a:tc>
                <a:tc>
                  <a:txBody>
                    <a:bodyPr/>
                    <a:p>
                      <a:pPr>
                        <a:buNone/>
                      </a:pPr>
                      <a:r>
                        <a:rPr lang="en-GB" altLang="en-US"/>
                        <a:t>5</a:t>
                      </a:r>
                      <a:endParaRPr lang="en-GB" altLang="en-US"/>
                    </a:p>
                  </a:txBody>
                  <a:tcPr/>
                </a:tc>
              </a:tr>
              <a:tr h="381000">
                <a:tc>
                  <a:txBody>
                    <a:bodyPr/>
                    <a:p>
                      <a:pPr>
                        <a:buNone/>
                      </a:pPr>
                      <a:r>
                        <a:rPr lang="en-GB" altLang="en-US"/>
                        <a:t>p3</a:t>
                      </a:r>
                      <a:endParaRPr lang="en-GB" altLang="en-US"/>
                    </a:p>
                  </a:txBody>
                  <a:tcPr/>
                </a:tc>
                <a:tc>
                  <a:txBody>
                    <a:bodyPr/>
                    <a:p>
                      <a:pPr>
                        <a:buNone/>
                      </a:pPr>
                      <a:r>
                        <a:rPr lang="en-GB" altLang="en-US"/>
                        <a:t>2</a:t>
                      </a:r>
                      <a:endParaRPr lang="en-GB" altLang="en-US"/>
                    </a:p>
                  </a:txBody>
                  <a:tcPr/>
                </a:tc>
                <a:tc>
                  <a:txBody>
                    <a:bodyPr/>
                    <a:p>
                      <a:pPr>
                        <a:buNone/>
                      </a:pPr>
                      <a:r>
                        <a:rPr lang="en-GB" altLang="en-US"/>
                        <a:t>2</a:t>
                      </a:r>
                      <a:endParaRPr lang="en-GB" altLang="en-US"/>
                    </a:p>
                  </a:txBody>
                  <a:tcPr/>
                </a:tc>
              </a:tr>
              <a:tr h="381000">
                <a:tc>
                  <a:txBody>
                    <a:bodyPr/>
                    <a:p>
                      <a:pPr>
                        <a:buNone/>
                      </a:pPr>
                      <a:r>
                        <a:rPr lang="en-GB" altLang="en-US"/>
                        <a:t>p4</a:t>
                      </a:r>
                      <a:endParaRPr lang="en-GB" altLang="en-US"/>
                    </a:p>
                  </a:txBody>
                  <a:tcPr/>
                </a:tc>
                <a:tc>
                  <a:txBody>
                    <a:bodyPr/>
                    <a:p>
                      <a:pPr>
                        <a:buNone/>
                      </a:pPr>
                      <a:r>
                        <a:rPr lang="en-GB" altLang="en-US"/>
                        <a:t>3</a:t>
                      </a:r>
                      <a:endParaRPr lang="en-GB" altLang="en-US"/>
                    </a:p>
                  </a:txBody>
                  <a:tcPr/>
                </a:tc>
                <a:tc>
                  <a:txBody>
                    <a:bodyPr/>
                    <a:p>
                      <a:pPr>
                        <a:buNone/>
                      </a:pPr>
                      <a:r>
                        <a:rPr lang="en-GB" altLang="en-US"/>
                        <a:t>1</a:t>
                      </a:r>
                      <a:endParaRPr lang="en-GB" altLang="en-US"/>
                    </a:p>
                  </a:txBody>
                  <a:tcPr/>
                </a:tc>
              </a:tr>
              <a:tr h="381000">
                <a:tc>
                  <a:txBody>
                    <a:bodyPr/>
                    <a:p>
                      <a:pPr>
                        <a:buNone/>
                      </a:pPr>
                      <a:r>
                        <a:rPr lang="en-GB" altLang="en-US"/>
                        <a:t>p5</a:t>
                      </a:r>
                      <a:endParaRPr lang="en-GB" altLang="en-US"/>
                    </a:p>
                  </a:txBody>
                  <a:tcPr/>
                </a:tc>
                <a:tc>
                  <a:txBody>
                    <a:bodyPr/>
                    <a:p>
                      <a:pPr>
                        <a:buNone/>
                      </a:pPr>
                      <a:r>
                        <a:rPr lang="en-GB" altLang="en-US"/>
                        <a:t>4</a:t>
                      </a:r>
                      <a:endParaRPr lang="en-GB" altLang="en-US"/>
                    </a:p>
                  </a:txBody>
                  <a:tcPr/>
                </a:tc>
                <a:tc>
                  <a:txBody>
                    <a:bodyPr/>
                    <a:p>
                      <a:pPr>
                        <a:buNone/>
                      </a:pPr>
                      <a:r>
                        <a:rPr lang="en-GB" altLang="en-US"/>
                        <a:t>6</a:t>
                      </a:r>
                      <a:endParaRPr lang="en-GB" altLang="en-US"/>
                    </a:p>
                  </a:txBody>
                  <a:tcPr/>
                </a:tc>
              </a:tr>
              <a:tr h="381000">
                <a:tc>
                  <a:txBody>
                    <a:bodyPr/>
                    <a:p>
                      <a:pPr>
                        <a:buNone/>
                      </a:pPr>
                      <a:r>
                        <a:rPr lang="en-GB" altLang="en-US"/>
                        <a:t>p6</a:t>
                      </a:r>
                      <a:endParaRPr lang="en-GB" altLang="en-US"/>
                    </a:p>
                  </a:txBody>
                  <a:tcPr/>
                </a:tc>
                <a:tc>
                  <a:txBody>
                    <a:bodyPr/>
                    <a:p>
                      <a:pPr>
                        <a:buNone/>
                      </a:pPr>
                      <a:r>
                        <a:rPr lang="en-GB" altLang="en-US"/>
                        <a:t>6</a:t>
                      </a:r>
                      <a:endParaRPr lang="en-GB" altLang="en-US"/>
                    </a:p>
                  </a:txBody>
                  <a:tcPr/>
                </a:tc>
                <a:tc>
                  <a:txBody>
                    <a:bodyPr/>
                    <a:p>
                      <a:pPr>
                        <a:buNone/>
                      </a:pPr>
                      <a:r>
                        <a:rPr lang="en-GB" altLang="en-US"/>
                        <a:t>3</a:t>
                      </a:r>
                      <a:endParaRPr lang="en-GB" altLang="en-US"/>
                    </a:p>
                  </a:txBody>
                  <a:tcPr/>
                </a:tc>
              </a:tr>
            </a:tbl>
          </a:graphicData>
        </a:graphic>
      </p:graphicFrame>
      <p:graphicFrame>
        <p:nvGraphicFramePr>
          <p:cNvPr id="6" name="Table 5"/>
          <p:cNvGraphicFramePr/>
          <p:nvPr/>
        </p:nvGraphicFramePr>
        <p:xfrm>
          <a:off x="755650" y="5948680"/>
          <a:ext cx="6400165" cy="381000"/>
        </p:xfrm>
        <a:graphic>
          <a:graphicData uri="http://schemas.openxmlformats.org/drawingml/2006/table">
            <a:tbl>
              <a:tblPr firstRow="1" bandRow="1">
                <a:tableStyleId>{5C22544A-7EE6-4342-B048-85BDC9FD1C3A}</a:tableStyleId>
              </a:tblPr>
              <a:tblGrid>
                <a:gridCol w="532765"/>
                <a:gridCol w="532765"/>
                <a:gridCol w="532765"/>
                <a:gridCol w="532765"/>
                <a:gridCol w="532765"/>
                <a:gridCol w="532765"/>
                <a:gridCol w="532765"/>
                <a:gridCol w="532765"/>
                <a:gridCol w="532765"/>
                <a:gridCol w="532765"/>
                <a:gridCol w="532765"/>
                <a:gridCol w="532765"/>
              </a:tblGrid>
              <a:tr h="381000">
                <a:tc>
                  <a:txBody>
                    <a:bodyPr/>
                    <a:p>
                      <a:pPr>
                        <a:buNone/>
                      </a:pPr>
                      <a:r>
                        <a:rPr lang="en-GB" altLang="en-US"/>
                        <a:t>p1</a:t>
                      </a:r>
                      <a:endParaRPr lang="en-GB" altLang="en-US"/>
                    </a:p>
                  </a:txBody>
                  <a:tcPr/>
                </a:tc>
                <a:tc>
                  <a:txBody>
                    <a:bodyPr/>
                    <a:p>
                      <a:pPr>
                        <a:buNone/>
                      </a:pPr>
                      <a:r>
                        <a:rPr lang="en-GB" altLang="en-US"/>
                        <a:t>p2</a:t>
                      </a:r>
                      <a:endParaRPr lang="en-GB" altLang="en-US"/>
                    </a:p>
                  </a:txBody>
                  <a:tcPr/>
                </a:tc>
                <a:tc>
                  <a:txBody>
                    <a:bodyPr/>
                    <a:p>
                      <a:pPr>
                        <a:buNone/>
                      </a:pPr>
                      <a:r>
                        <a:rPr lang="en-GB" altLang="en-US"/>
                        <a:t>p3</a:t>
                      </a:r>
                      <a:endParaRPr lang="en-GB" altLang="en-US"/>
                    </a:p>
                  </a:txBody>
                  <a:tcPr/>
                </a:tc>
                <a:tc>
                  <a:txBody>
                    <a:bodyPr/>
                    <a:p>
                      <a:pPr>
                        <a:buNone/>
                      </a:pPr>
                      <a:r>
                        <a:rPr lang="en-GB" altLang="en-US"/>
                        <a:t>p1</a:t>
                      </a:r>
                      <a:endParaRPr lang="en-GB" altLang="en-US"/>
                    </a:p>
                  </a:txBody>
                  <a:tcPr/>
                </a:tc>
                <a:tc>
                  <a:txBody>
                    <a:bodyPr/>
                    <a:p>
                      <a:pPr>
                        <a:buNone/>
                      </a:pPr>
                      <a:r>
                        <a:rPr lang="en-GB" altLang="en-US"/>
                        <a:t>p4</a:t>
                      </a:r>
                      <a:endParaRPr lang="en-GB" altLang="en-US"/>
                    </a:p>
                  </a:txBody>
                  <a:tcPr/>
                </a:tc>
                <a:tc>
                  <a:txBody>
                    <a:bodyPr/>
                    <a:p>
                      <a:pPr>
                        <a:buNone/>
                      </a:pPr>
                      <a:r>
                        <a:rPr lang="en-GB" altLang="en-US"/>
                        <a:t>p5</a:t>
                      </a:r>
                      <a:endParaRPr lang="en-GB" altLang="en-US"/>
                    </a:p>
                  </a:txBody>
                  <a:tcPr/>
                </a:tc>
                <a:tc>
                  <a:txBody>
                    <a:bodyPr/>
                    <a:p>
                      <a:pPr>
                        <a:buNone/>
                      </a:pPr>
                      <a:r>
                        <a:rPr lang="en-GB" altLang="en-US"/>
                        <a:t>p2</a:t>
                      </a:r>
                      <a:endParaRPr lang="en-GB" altLang="en-US"/>
                    </a:p>
                  </a:txBody>
                  <a:tcPr/>
                </a:tc>
                <a:tc>
                  <a:txBody>
                    <a:bodyPr/>
                    <a:p>
                      <a:pPr>
                        <a:buNone/>
                      </a:pPr>
                      <a:r>
                        <a:rPr lang="en-GB" altLang="en-US"/>
                        <a:t>p6</a:t>
                      </a:r>
                      <a:endParaRPr lang="en-GB" altLang="en-US"/>
                    </a:p>
                  </a:txBody>
                  <a:tcPr/>
                </a:tc>
                <a:tc>
                  <a:txBody>
                    <a:bodyPr/>
                    <a:p>
                      <a:pPr>
                        <a:buNone/>
                      </a:pPr>
                      <a:r>
                        <a:rPr lang="en-GB" altLang="en-US"/>
                        <a:t>p5</a:t>
                      </a:r>
                      <a:endParaRPr lang="en-GB" altLang="en-US"/>
                    </a:p>
                  </a:txBody>
                  <a:tcPr/>
                </a:tc>
                <a:tc>
                  <a:txBody>
                    <a:bodyPr/>
                    <a:p>
                      <a:pPr>
                        <a:buNone/>
                      </a:pPr>
                      <a:r>
                        <a:rPr lang="en-GB" altLang="en-US"/>
                        <a:t>p2</a:t>
                      </a:r>
                      <a:endParaRPr lang="en-GB" altLang="en-US"/>
                    </a:p>
                  </a:txBody>
                  <a:tcPr/>
                </a:tc>
                <a:tc>
                  <a:txBody>
                    <a:bodyPr/>
                    <a:p>
                      <a:pPr>
                        <a:buNone/>
                      </a:pPr>
                      <a:r>
                        <a:rPr lang="en-GB" altLang="en-US"/>
                        <a:t>p6</a:t>
                      </a:r>
                      <a:endParaRPr lang="en-GB" altLang="en-US"/>
                    </a:p>
                  </a:txBody>
                  <a:tcPr/>
                </a:tc>
                <a:tc>
                  <a:txBody>
                    <a:bodyPr/>
                    <a:p>
                      <a:pPr>
                        <a:buNone/>
                      </a:pPr>
                      <a:r>
                        <a:rPr lang="en-GB" altLang="en-US"/>
                        <a:t>p5</a:t>
                      </a:r>
                      <a:endParaRPr lang="en-GB" altLang="en-US"/>
                    </a:p>
                  </a:txBody>
                  <a:tcPr/>
                </a:tc>
              </a:tr>
            </a:tbl>
          </a:graphicData>
        </a:graphic>
      </p:graphicFrame>
      <p:sp>
        <p:nvSpPr>
          <p:cNvPr id="7" name="Text Box 6"/>
          <p:cNvSpPr txBox="1"/>
          <p:nvPr/>
        </p:nvSpPr>
        <p:spPr>
          <a:xfrm>
            <a:off x="729615" y="5580380"/>
            <a:ext cx="6661150" cy="368300"/>
          </a:xfrm>
          <a:prstGeom prst="rect">
            <a:avLst/>
          </a:prstGeom>
          <a:noFill/>
        </p:spPr>
        <p:txBody>
          <a:bodyPr wrap="square" rtlCol="0">
            <a:spAutoFit/>
          </a:bodyPr>
          <a:p>
            <a:r>
              <a:rPr lang="en-GB" altLang="en-US"/>
              <a:t>0      2        4        6         8       9        11      13      15     17       18     19    21     </a:t>
            </a:r>
            <a:endParaRPr lang="en-GB"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80720" y="918845"/>
            <a:ext cx="7458710" cy="5633085"/>
          </a:xfrm>
          <a:prstGeom prst="rect">
            <a:avLst/>
          </a:prstGeom>
          <a:noFill/>
        </p:spPr>
        <p:txBody>
          <a:bodyPr wrap="square" rtlCol="0">
            <a:noAutofit/>
          </a:bodyPr>
          <a:p>
            <a:r>
              <a:rPr lang="en-GB" altLang="en-US" sz="2000" b="1">
                <a:latin typeface="Times New Roman" panose="02020603050405020304" charset="0"/>
                <a:cs typeface="Times New Roman" panose="02020603050405020304" charset="0"/>
                <a:sym typeface="+mn-ea"/>
              </a:rPr>
              <a:t>Round Robin Scheduling:</a:t>
            </a:r>
            <a:endParaRPr lang="en-GB" altLang="en-US" sz="2000" b="1">
              <a:latin typeface="Times New Roman" panose="02020603050405020304" charset="0"/>
              <a:cs typeface="Times New Roman" panose="02020603050405020304" charset="0"/>
            </a:endParaRPr>
          </a:p>
          <a:p>
            <a:endParaRPr lang="en-GB" altLang="en-US" sz="2000">
              <a:latin typeface="Times New Roman" panose="02020603050405020304" charset="0"/>
              <a:cs typeface="Times New Roman" panose="02020603050405020304" charset="0"/>
            </a:endParaRPr>
          </a:p>
          <a:p>
            <a:r>
              <a:rPr lang="en-GB" altLang="en-US" sz="2400" b="1">
                <a:latin typeface="Times New Roman" panose="02020603050405020304" charset="0"/>
                <a:cs typeface="Times New Roman" panose="02020603050405020304" charset="0"/>
              </a:rPr>
              <a:t>Advantages</a:t>
            </a:r>
            <a:endParaRPr lang="en-GB" altLang="en-US" sz="2400" b="1">
              <a:latin typeface="Times New Roman" panose="02020603050405020304" charset="0"/>
              <a:cs typeface="Times New Roman" panose="02020603050405020304" charset="0"/>
            </a:endParaRPr>
          </a:p>
          <a:p>
            <a:endParaRPr lang="en-GB" altLang="en-US" sz="2400" b="1">
              <a:latin typeface="Times New Roman" panose="02020603050405020304" charset="0"/>
              <a:cs typeface="Times New Roman" panose="02020603050405020304" charset="0"/>
            </a:endParaRPr>
          </a:p>
          <a:p>
            <a:r>
              <a:rPr lang="en-GB" altLang="en-US" sz="2000">
                <a:latin typeface="Times New Roman" panose="02020603050405020304" charset="0"/>
                <a:cs typeface="Times New Roman" panose="02020603050405020304" charset="0"/>
              </a:rPr>
              <a:t>It gives the best performance in terms of </a:t>
            </a:r>
            <a:r>
              <a:rPr lang="en-GB" altLang="en-US" sz="2000" b="1">
                <a:latin typeface="Times New Roman" panose="02020603050405020304" charset="0"/>
                <a:cs typeface="Times New Roman" panose="02020603050405020304" charset="0"/>
              </a:rPr>
              <a:t>average response time</a:t>
            </a:r>
            <a:r>
              <a:rPr lang="en-GB" altLang="en-US" sz="2000">
                <a:latin typeface="Times New Roman" panose="02020603050405020304" charset="0"/>
                <a:cs typeface="Times New Roman" panose="02020603050405020304" charset="0"/>
              </a:rPr>
              <a:t>.</a:t>
            </a:r>
            <a:endParaRPr lang="en-GB" altLang="en-US" sz="2000">
              <a:latin typeface="Times New Roman" panose="02020603050405020304" charset="0"/>
              <a:cs typeface="Times New Roman" panose="02020603050405020304" charset="0"/>
            </a:endParaRPr>
          </a:p>
          <a:p>
            <a:r>
              <a:rPr lang="en-GB" altLang="en-US" sz="2000">
                <a:latin typeface="Times New Roman" panose="02020603050405020304" charset="0"/>
                <a:cs typeface="Times New Roman" panose="02020603050405020304" charset="0"/>
              </a:rPr>
              <a:t>It is best suited for time sharing system, client server architecture and interactive system.</a:t>
            </a:r>
            <a:endParaRPr lang="en-GB" altLang="en-US" sz="2000">
              <a:latin typeface="Times New Roman" panose="02020603050405020304" charset="0"/>
              <a:cs typeface="Times New Roman" panose="02020603050405020304" charset="0"/>
            </a:endParaRPr>
          </a:p>
          <a:p>
            <a:r>
              <a:rPr lang="en-GB" altLang="en-US" sz="2000">
                <a:latin typeface="Times New Roman" panose="02020603050405020304" charset="0"/>
                <a:cs typeface="Times New Roman" panose="02020603050405020304" charset="0"/>
              </a:rPr>
              <a:t> </a:t>
            </a:r>
            <a:endParaRPr lang="en-GB" altLang="en-US" sz="2000">
              <a:latin typeface="Times New Roman" panose="02020603050405020304" charset="0"/>
              <a:cs typeface="Times New Roman" panose="02020603050405020304" charset="0"/>
            </a:endParaRPr>
          </a:p>
          <a:p>
            <a:endParaRPr lang="en-GB" altLang="en-US" sz="2000">
              <a:latin typeface="Times New Roman" panose="02020603050405020304" charset="0"/>
              <a:cs typeface="Times New Roman" panose="02020603050405020304" charset="0"/>
            </a:endParaRPr>
          </a:p>
          <a:p>
            <a:r>
              <a:rPr lang="en-GB" altLang="en-US" sz="2400" b="1">
                <a:latin typeface="Times New Roman" panose="02020603050405020304" charset="0"/>
                <a:cs typeface="Times New Roman" panose="02020603050405020304" charset="0"/>
              </a:rPr>
              <a:t>Disadvantages</a:t>
            </a:r>
            <a:endParaRPr lang="en-GB" altLang="en-US" sz="2000">
              <a:latin typeface="Times New Roman" panose="02020603050405020304" charset="0"/>
              <a:cs typeface="Times New Roman" panose="02020603050405020304" charset="0"/>
            </a:endParaRPr>
          </a:p>
          <a:p>
            <a:r>
              <a:rPr lang="en-GB" altLang="en-US" sz="2000">
                <a:latin typeface="Times New Roman" panose="02020603050405020304" charset="0"/>
                <a:cs typeface="Times New Roman" panose="02020603050405020304" charset="0"/>
              </a:rPr>
              <a:t>It leads to starvation for processes with larger burst time as they have to repeat the cycle many times.</a:t>
            </a:r>
            <a:endParaRPr lang="en-GB" altLang="en-US" sz="2000">
              <a:latin typeface="Times New Roman" panose="02020603050405020304" charset="0"/>
              <a:cs typeface="Times New Roman" panose="02020603050405020304" charset="0"/>
            </a:endParaRPr>
          </a:p>
          <a:p>
            <a:r>
              <a:rPr lang="en-GB" altLang="en-US" sz="2000">
                <a:latin typeface="Times New Roman" panose="02020603050405020304" charset="0"/>
                <a:cs typeface="Times New Roman" panose="02020603050405020304" charset="0"/>
              </a:rPr>
              <a:t>Its performance heavily depends on time quantum.</a:t>
            </a:r>
            <a:endParaRPr lang="en-GB" altLang="en-US" sz="2000">
              <a:latin typeface="Times New Roman" panose="02020603050405020304" charset="0"/>
              <a:cs typeface="Times New Roman" panose="02020603050405020304" charset="0"/>
            </a:endParaRPr>
          </a:p>
          <a:p>
            <a:r>
              <a:rPr lang="en-GB" altLang="en-US" sz="2000">
                <a:latin typeface="Times New Roman" panose="02020603050405020304" charset="0"/>
                <a:cs typeface="Times New Roman" panose="02020603050405020304" charset="0"/>
              </a:rPr>
              <a:t>Priorities can not be set for the processes.</a:t>
            </a:r>
            <a:endParaRPr lang="en-GB" altLang="en-US" sz="2000">
              <a:latin typeface="Times New Roman" panose="02020603050405020304" charset="0"/>
              <a:cs typeface="Times New Roman" panose="0202060305040502030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88060" y="606425"/>
            <a:ext cx="7312025" cy="4672965"/>
          </a:xfrm>
          <a:prstGeom prst="rect">
            <a:avLst/>
          </a:prstGeom>
          <a:noFill/>
        </p:spPr>
        <p:txBody>
          <a:bodyPr wrap="square" rtlCol="0">
            <a:noAutofit/>
          </a:bodyPr>
          <a:p>
            <a:r>
              <a:rPr lang="en-GB" altLang="en-US" sz="2800" b="1"/>
              <a:t>Priority Scheduling:</a:t>
            </a:r>
            <a:endParaRPr lang="en-GB" altLang="en-US" sz="2800" b="1"/>
          </a:p>
          <a:p>
            <a:pPr marL="342900" indent="-342900">
              <a:buFont typeface="Wingdings" panose="05000000000000000000" charset="0"/>
              <a:buChar char="Ø"/>
            </a:pPr>
            <a:r>
              <a:rPr lang="en-GB" altLang="en-US" sz="2400"/>
              <a:t>Out of all the available processes, CPU is assigned to the process having the highest priority.</a:t>
            </a:r>
            <a:endParaRPr lang="en-GB" altLang="en-US" sz="2400"/>
          </a:p>
          <a:p>
            <a:pPr marL="342900" indent="-342900">
              <a:buFont typeface="Wingdings" panose="05000000000000000000" charset="0"/>
              <a:buChar char="Ø"/>
            </a:pPr>
            <a:r>
              <a:rPr lang="en-GB" altLang="en-US" sz="2400"/>
              <a:t>In case of a tie, it is broken by FCFS Scheduling.</a:t>
            </a:r>
            <a:endParaRPr lang="en-GB" altLang="en-US" sz="2400"/>
          </a:p>
          <a:p>
            <a:endParaRPr lang="en-GB" altLang="en-US" sz="2400"/>
          </a:p>
          <a:p>
            <a:pPr marL="342900" indent="-342900">
              <a:buFont typeface="Wingdings" panose="05000000000000000000" charset="0"/>
              <a:buChar char="Ø"/>
            </a:pPr>
            <a:r>
              <a:rPr lang="en-GB" altLang="en-US" sz="2400"/>
              <a:t>Priority Scheduling can be used in both preemptive and non-preemptive mode.</a:t>
            </a:r>
            <a:endParaRPr lang="en-GB" altLang="en-US" sz="2400"/>
          </a:p>
          <a:p>
            <a:pPr marL="342900" indent="-342900">
              <a:buFont typeface="Wingdings" panose="05000000000000000000" charset="0"/>
              <a:buChar char="Ø"/>
            </a:pPr>
            <a:r>
              <a:rPr lang="en-GB" altLang="en-US" sz="2400"/>
              <a:t>Priority scheduling in preemptive mode is best suited for </a:t>
            </a:r>
            <a:r>
              <a:rPr lang="en-GB" altLang="en-US" sz="2400" b="1"/>
              <a:t>real time operating system</a:t>
            </a:r>
            <a:r>
              <a:rPr lang="en-GB" altLang="en-US" sz="2400"/>
              <a:t>.</a:t>
            </a:r>
            <a:endParaRPr lang="en-GB" altLang="en-US" sz="24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40385" y="345440"/>
            <a:ext cx="7674610" cy="4954270"/>
          </a:xfrm>
          <a:prstGeom prst="rect">
            <a:avLst/>
          </a:prstGeom>
          <a:noFill/>
        </p:spPr>
        <p:txBody>
          <a:bodyPr wrap="square" rtlCol="0">
            <a:spAutoFit/>
          </a:bodyPr>
          <a:p>
            <a:r>
              <a:rPr lang="en-GB" altLang="en-US" sz="2800" b="1">
                <a:solidFill>
                  <a:srgbClr val="FF0000"/>
                </a:solidFill>
                <a:latin typeface="Times New Roman" panose="02020603050405020304" charset="0"/>
                <a:cs typeface="Times New Roman" panose="02020603050405020304" charset="0"/>
              </a:rPr>
              <a:t>Important Note:</a:t>
            </a:r>
            <a:endParaRPr lang="en-GB" altLang="en-US" sz="2800" b="1">
              <a:solidFill>
                <a:srgbClr val="FF0000"/>
              </a:solidFill>
              <a:latin typeface="Times New Roman" panose="02020603050405020304" charset="0"/>
              <a:cs typeface="Times New Roman" panose="02020603050405020304" charset="0"/>
            </a:endParaRPr>
          </a:p>
          <a:p>
            <a:endParaRPr lang="en-GB" altLang="en-US" sz="2400">
              <a:latin typeface="Times New Roman" panose="02020603050405020304" charset="0"/>
              <a:cs typeface="Times New Roman" panose="02020603050405020304" charset="0"/>
            </a:endParaRPr>
          </a:p>
          <a:p>
            <a:r>
              <a:rPr lang="en-GB" altLang="en-US" sz="2400">
                <a:latin typeface="Times New Roman" panose="02020603050405020304" charset="0"/>
                <a:cs typeface="Times New Roman" panose="02020603050405020304" charset="0"/>
              </a:rPr>
              <a:t>The waiting time for the process having the highest priority will always be zero in preemptive mode.</a:t>
            </a:r>
            <a:endParaRPr lang="en-GB" altLang="en-US" sz="2400">
              <a:latin typeface="Times New Roman" panose="02020603050405020304" charset="0"/>
              <a:cs typeface="Times New Roman" panose="02020603050405020304" charset="0"/>
            </a:endParaRPr>
          </a:p>
          <a:p>
            <a:endParaRPr lang="en-GB" altLang="en-US" sz="2400">
              <a:latin typeface="Times New Roman" panose="02020603050405020304" charset="0"/>
              <a:cs typeface="Times New Roman" panose="02020603050405020304" charset="0"/>
            </a:endParaRPr>
          </a:p>
          <a:p>
            <a:r>
              <a:rPr lang="en-GB" altLang="en-US" sz="2400">
                <a:latin typeface="Times New Roman" panose="02020603050405020304" charset="0"/>
                <a:cs typeface="Times New Roman" panose="02020603050405020304" charset="0"/>
              </a:rPr>
              <a:t>The waiting time for the process having the highest priority may not be zero in non-preemptive mode.</a:t>
            </a:r>
            <a:endParaRPr lang="en-GB" altLang="en-US" sz="2400">
              <a:latin typeface="Times New Roman" panose="02020603050405020304" charset="0"/>
              <a:cs typeface="Times New Roman" panose="02020603050405020304" charset="0"/>
            </a:endParaRPr>
          </a:p>
          <a:p>
            <a:endParaRPr lang="en-GB" altLang="en-US" sz="2400">
              <a:latin typeface="Times New Roman" panose="02020603050405020304" charset="0"/>
              <a:cs typeface="Times New Roman" panose="02020603050405020304" charset="0"/>
            </a:endParaRPr>
          </a:p>
          <a:p>
            <a:r>
              <a:rPr lang="en-GB" altLang="en-US" sz="2400">
                <a:latin typeface="Times New Roman" panose="02020603050405020304" charset="0"/>
                <a:cs typeface="Times New Roman" panose="02020603050405020304" charset="0"/>
              </a:rPr>
              <a:t>Priority scheduling in preemptive and non-preemptive mode behaves exactly same under following conditions</a:t>
            </a:r>
            <a:endParaRPr lang="en-GB" altLang="en-US" sz="2400">
              <a:latin typeface="Times New Roman" panose="02020603050405020304" charset="0"/>
              <a:cs typeface="Times New Roman" panose="02020603050405020304" charset="0"/>
            </a:endParaRPr>
          </a:p>
          <a:p>
            <a:endParaRPr lang="en-GB" altLang="en-US" sz="2400">
              <a:latin typeface="Times New Roman" panose="02020603050405020304" charset="0"/>
              <a:cs typeface="Times New Roman" panose="02020603050405020304" charset="0"/>
            </a:endParaRPr>
          </a:p>
          <a:p>
            <a:r>
              <a:rPr lang="en-GB" altLang="en-US" sz="2400">
                <a:latin typeface="Times New Roman" panose="02020603050405020304" charset="0"/>
                <a:cs typeface="Times New Roman" panose="02020603050405020304" charset="0"/>
              </a:rPr>
              <a:t>The arrival time of all the processes is same</a:t>
            </a:r>
            <a:endParaRPr lang="en-GB" altLang="en-US" sz="2400">
              <a:latin typeface="Times New Roman" panose="02020603050405020304" charset="0"/>
              <a:cs typeface="Times New Roman" panose="02020603050405020304" charset="0"/>
            </a:endParaRPr>
          </a:p>
          <a:p>
            <a:r>
              <a:rPr lang="en-GB" altLang="en-US" sz="2400">
                <a:latin typeface="Times New Roman" panose="02020603050405020304" charset="0"/>
                <a:cs typeface="Times New Roman" panose="02020603050405020304" charset="0"/>
              </a:rPr>
              <a:t>All the processes become available</a:t>
            </a:r>
            <a:endParaRPr lang="en-GB" altLang="en-US" sz="2400">
              <a:latin typeface="Times New Roman" panose="02020603050405020304" charset="0"/>
              <a:cs typeface="Times New Roman" panose="0202060305040502030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Table 4"/>
          <p:cNvGraphicFramePr/>
          <p:nvPr/>
        </p:nvGraphicFramePr>
        <p:xfrm>
          <a:off x="971550" y="1953260"/>
          <a:ext cx="6398895" cy="2545080"/>
        </p:xfrm>
        <a:graphic>
          <a:graphicData uri="http://schemas.openxmlformats.org/drawingml/2006/table">
            <a:tbl>
              <a:tblPr firstRow="1" bandRow="1">
                <a:tableStyleId>{5C22544A-7EE6-4342-B048-85BDC9FD1C3A}</a:tableStyleId>
              </a:tblPr>
              <a:tblGrid>
                <a:gridCol w="1599724"/>
                <a:gridCol w="1599724"/>
                <a:gridCol w="1599723"/>
                <a:gridCol w="1599724"/>
              </a:tblGrid>
              <a:tr h="381000">
                <a:tc>
                  <a:txBody>
                    <a:bodyPr/>
                    <a:p>
                      <a:pPr>
                        <a:buNone/>
                      </a:pPr>
                      <a:r>
                        <a:rPr lang="en-GB" altLang="en-US" sz="1800">
                          <a:sym typeface="+mn-ea"/>
                        </a:rPr>
                        <a:t>Process Id	</a:t>
                      </a:r>
                      <a:endParaRPr lang="en-GB" altLang="en-US"/>
                    </a:p>
                  </a:txBody>
                  <a:tcPr/>
                </a:tc>
                <a:tc>
                  <a:txBody>
                    <a:bodyPr/>
                    <a:p>
                      <a:pPr>
                        <a:buNone/>
                      </a:pPr>
                      <a:r>
                        <a:rPr lang="en-GB" altLang="en-US" sz="1800">
                          <a:sym typeface="+mn-ea"/>
                        </a:rPr>
                        <a:t> Arrival time</a:t>
                      </a:r>
                      <a:endParaRPr lang="en-GB" altLang="en-US"/>
                    </a:p>
                  </a:txBody>
                  <a:tcPr/>
                </a:tc>
                <a:tc>
                  <a:txBody>
                    <a:bodyPr/>
                    <a:p>
                      <a:pPr>
                        <a:buNone/>
                      </a:pPr>
                      <a:r>
                        <a:rPr lang="en-GB" altLang="en-US" sz="1800">
                          <a:sym typeface="+mn-ea"/>
                        </a:rPr>
                        <a:t>Burst time</a:t>
                      </a:r>
                      <a:endParaRPr lang="en-GB" altLang="en-US"/>
                    </a:p>
                  </a:txBody>
                  <a:tcPr/>
                </a:tc>
                <a:tc>
                  <a:txBody>
                    <a:bodyPr/>
                    <a:p>
                      <a:pPr>
                        <a:buNone/>
                      </a:pPr>
                      <a:r>
                        <a:rPr lang="en-GB" altLang="en-US"/>
                        <a:t> Priority</a:t>
                      </a:r>
                      <a:endParaRPr lang="en-GB" altLang="en-US"/>
                    </a:p>
                  </a:txBody>
                  <a:tcPr/>
                </a:tc>
              </a:tr>
              <a:tr h="381000">
                <a:tc>
                  <a:txBody>
                    <a:bodyPr/>
                    <a:p>
                      <a:pPr>
                        <a:buNone/>
                      </a:pPr>
                      <a:r>
                        <a:rPr lang="en-GB" altLang="en-US"/>
                        <a:t>p1</a:t>
                      </a:r>
                      <a:endParaRPr lang="en-GB" altLang="en-US"/>
                    </a:p>
                  </a:txBody>
                  <a:tcPr/>
                </a:tc>
                <a:tc>
                  <a:txBody>
                    <a:bodyPr/>
                    <a:p>
                      <a:pPr>
                        <a:buNone/>
                      </a:pPr>
                      <a:r>
                        <a:rPr lang="en-GB" altLang="en-US"/>
                        <a:t>0</a:t>
                      </a:r>
                      <a:endParaRPr lang="en-GB" altLang="en-US"/>
                    </a:p>
                  </a:txBody>
                  <a:tcPr/>
                </a:tc>
                <a:tc>
                  <a:txBody>
                    <a:bodyPr/>
                    <a:p>
                      <a:pPr>
                        <a:buNone/>
                      </a:pPr>
                      <a:r>
                        <a:rPr lang="en-GB" altLang="en-US"/>
                        <a:t>4</a:t>
                      </a:r>
                      <a:endParaRPr lang="en-GB" altLang="en-US"/>
                    </a:p>
                  </a:txBody>
                  <a:tcPr/>
                </a:tc>
                <a:tc>
                  <a:txBody>
                    <a:bodyPr/>
                    <a:p>
                      <a:pPr>
                        <a:buNone/>
                      </a:pPr>
                      <a:r>
                        <a:rPr lang="en-GB" altLang="en-US"/>
                        <a:t>2</a:t>
                      </a:r>
                      <a:endParaRPr lang="en-GB" altLang="en-US"/>
                    </a:p>
                  </a:txBody>
                  <a:tcPr/>
                </a:tc>
              </a:tr>
              <a:tr h="381000">
                <a:tc>
                  <a:txBody>
                    <a:bodyPr/>
                    <a:p>
                      <a:pPr>
                        <a:buNone/>
                      </a:pPr>
                      <a:r>
                        <a:rPr lang="en-GB" altLang="en-US"/>
                        <a:t>p2</a:t>
                      </a:r>
                      <a:endParaRPr lang="en-GB" altLang="en-US"/>
                    </a:p>
                  </a:txBody>
                  <a:tcPr/>
                </a:tc>
                <a:tc>
                  <a:txBody>
                    <a:bodyPr/>
                    <a:p>
                      <a:pPr>
                        <a:buNone/>
                      </a:pPr>
                      <a:r>
                        <a:rPr lang="en-GB" altLang="en-US"/>
                        <a:t>1</a:t>
                      </a:r>
                      <a:endParaRPr lang="en-GB" altLang="en-US"/>
                    </a:p>
                  </a:txBody>
                  <a:tcPr/>
                </a:tc>
                <a:tc>
                  <a:txBody>
                    <a:bodyPr/>
                    <a:p>
                      <a:pPr>
                        <a:buNone/>
                      </a:pPr>
                      <a:r>
                        <a:rPr lang="en-GB" altLang="en-US"/>
                        <a:t>3</a:t>
                      </a:r>
                      <a:endParaRPr lang="en-GB" altLang="en-US"/>
                    </a:p>
                  </a:txBody>
                  <a:tcPr/>
                </a:tc>
                <a:tc>
                  <a:txBody>
                    <a:bodyPr/>
                    <a:p>
                      <a:pPr>
                        <a:buNone/>
                      </a:pPr>
                      <a:r>
                        <a:rPr lang="en-GB" altLang="en-US"/>
                        <a:t>3</a:t>
                      </a:r>
                      <a:endParaRPr lang="en-GB" altLang="en-US"/>
                    </a:p>
                  </a:txBody>
                  <a:tcPr/>
                </a:tc>
              </a:tr>
              <a:tr h="381000">
                <a:tc>
                  <a:txBody>
                    <a:bodyPr/>
                    <a:p>
                      <a:pPr>
                        <a:buNone/>
                      </a:pPr>
                      <a:r>
                        <a:rPr lang="en-GB" altLang="en-US"/>
                        <a:t>p3</a:t>
                      </a:r>
                      <a:endParaRPr lang="en-GB" altLang="en-US"/>
                    </a:p>
                  </a:txBody>
                  <a:tcPr/>
                </a:tc>
                <a:tc>
                  <a:txBody>
                    <a:bodyPr/>
                    <a:p>
                      <a:pPr>
                        <a:buNone/>
                      </a:pPr>
                      <a:r>
                        <a:rPr lang="en-GB" altLang="en-US"/>
                        <a:t>2</a:t>
                      </a:r>
                      <a:endParaRPr lang="en-GB" altLang="en-US"/>
                    </a:p>
                  </a:txBody>
                  <a:tcPr/>
                </a:tc>
                <a:tc>
                  <a:txBody>
                    <a:bodyPr/>
                    <a:p>
                      <a:pPr>
                        <a:buNone/>
                      </a:pPr>
                      <a:r>
                        <a:rPr lang="en-GB" altLang="en-US"/>
                        <a:t>1</a:t>
                      </a:r>
                      <a:endParaRPr lang="en-GB" altLang="en-US"/>
                    </a:p>
                  </a:txBody>
                  <a:tcPr/>
                </a:tc>
                <a:tc>
                  <a:txBody>
                    <a:bodyPr/>
                    <a:p>
                      <a:pPr>
                        <a:buNone/>
                      </a:pPr>
                      <a:r>
                        <a:rPr lang="en-GB" altLang="en-US"/>
                        <a:t>4</a:t>
                      </a:r>
                      <a:endParaRPr lang="en-GB" altLang="en-US"/>
                    </a:p>
                  </a:txBody>
                  <a:tcPr/>
                </a:tc>
              </a:tr>
              <a:tr h="381000">
                <a:tc>
                  <a:txBody>
                    <a:bodyPr/>
                    <a:p>
                      <a:pPr>
                        <a:buNone/>
                      </a:pPr>
                      <a:r>
                        <a:rPr lang="en-GB" altLang="en-US"/>
                        <a:t>p4</a:t>
                      </a:r>
                      <a:endParaRPr lang="en-GB" altLang="en-US"/>
                    </a:p>
                  </a:txBody>
                  <a:tcPr/>
                </a:tc>
                <a:tc>
                  <a:txBody>
                    <a:bodyPr/>
                    <a:p>
                      <a:pPr>
                        <a:buNone/>
                      </a:pPr>
                      <a:r>
                        <a:rPr lang="en-GB" altLang="en-US"/>
                        <a:t>3</a:t>
                      </a:r>
                      <a:endParaRPr lang="en-GB" altLang="en-US"/>
                    </a:p>
                  </a:txBody>
                  <a:tcPr/>
                </a:tc>
                <a:tc>
                  <a:txBody>
                    <a:bodyPr/>
                    <a:p>
                      <a:pPr>
                        <a:buNone/>
                      </a:pPr>
                      <a:r>
                        <a:rPr lang="en-GB" altLang="en-US"/>
                        <a:t>5</a:t>
                      </a:r>
                      <a:endParaRPr lang="en-GB" altLang="en-US"/>
                    </a:p>
                  </a:txBody>
                  <a:tcPr/>
                </a:tc>
                <a:tc>
                  <a:txBody>
                    <a:bodyPr/>
                    <a:p>
                      <a:pPr>
                        <a:buNone/>
                      </a:pPr>
                      <a:r>
                        <a:rPr lang="en-GB" altLang="en-US"/>
                        <a:t>5</a:t>
                      </a:r>
                      <a:endParaRPr lang="en-GB" altLang="en-US"/>
                    </a:p>
                  </a:txBody>
                  <a:tcPr/>
                </a:tc>
              </a:tr>
              <a:tr h="381000">
                <a:tc>
                  <a:txBody>
                    <a:bodyPr/>
                    <a:p>
                      <a:pPr>
                        <a:buNone/>
                      </a:pPr>
                      <a:r>
                        <a:rPr lang="en-GB" altLang="en-US"/>
                        <a:t>p5</a:t>
                      </a:r>
                      <a:endParaRPr lang="en-GB" altLang="en-US"/>
                    </a:p>
                  </a:txBody>
                  <a:tcPr/>
                </a:tc>
                <a:tc>
                  <a:txBody>
                    <a:bodyPr/>
                    <a:p>
                      <a:pPr>
                        <a:buNone/>
                      </a:pPr>
                      <a:r>
                        <a:rPr lang="en-GB" altLang="en-US"/>
                        <a:t>4</a:t>
                      </a:r>
                      <a:endParaRPr lang="en-GB" altLang="en-US"/>
                    </a:p>
                  </a:txBody>
                  <a:tcPr/>
                </a:tc>
                <a:tc>
                  <a:txBody>
                    <a:bodyPr/>
                    <a:p>
                      <a:pPr>
                        <a:buNone/>
                      </a:pPr>
                      <a:r>
                        <a:rPr lang="en-GB" altLang="en-US"/>
                        <a:t>2</a:t>
                      </a:r>
                      <a:endParaRPr lang="en-GB" altLang="en-US"/>
                    </a:p>
                  </a:txBody>
                  <a:tcPr/>
                </a:tc>
                <a:tc>
                  <a:txBody>
                    <a:bodyPr/>
                    <a:p>
                      <a:pPr>
                        <a:buNone/>
                      </a:pPr>
                      <a:r>
                        <a:rPr lang="en-GB" altLang="en-US"/>
                        <a:t>5</a:t>
                      </a:r>
                      <a:endParaRPr lang="en-GB" altLang="en-US"/>
                    </a:p>
                  </a:txBody>
                  <a:tcPr/>
                </a:tc>
              </a:tr>
            </a:tbl>
          </a:graphicData>
        </a:graphic>
      </p:graphicFrame>
      <p:sp>
        <p:nvSpPr>
          <p:cNvPr id="3" name="Text Box 2"/>
          <p:cNvSpPr txBox="1"/>
          <p:nvPr/>
        </p:nvSpPr>
        <p:spPr>
          <a:xfrm>
            <a:off x="971550" y="404495"/>
            <a:ext cx="6712585" cy="1322070"/>
          </a:xfrm>
          <a:prstGeom prst="rect">
            <a:avLst/>
          </a:prstGeom>
          <a:noFill/>
        </p:spPr>
        <p:txBody>
          <a:bodyPr wrap="square" rtlCol="0">
            <a:spAutoFit/>
          </a:bodyPr>
          <a:p>
            <a:r>
              <a:rPr lang="en-GB" altLang="en-US" sz="2800" b="1">
                <a:latin typeface="Times New Roman" panose="02020603050405020304" charset="0"/>
                <a:cs typeface="Times New Roman" panose="02020603050405020304" charset="0"/>
                <a:sym typeface="+mn-ea"/>
              </a:rPr>
              <a:t>Priority Scheduling:</a:t>
            </a:r>
            <a:endParaRPr lang="en-GB" altLang="en-US" sz="2800" b="1">
              <a:latin typeface="Times New Roman" panose="02020603050405020304" charset="0"/>
              <a:cs typeface="Times New Roman" panose="02020603050405020304" charset="0"/>
              <a:sym typeface="+mn-ea"/>
            </a:endParaRPr>
          </a:p>
          <a:p>
            <a:endParaRPr lang="en-GB" altLang="en-US" sz="2800" b="1">
              <a:latin typeface="Times New Roman" panose="02020603050405020304" charset="0"/>
              <a:cs typeface="Times New Roman" panose="02020603050405020304" charset="0"/>
            </a:endParaRPr>
          </a:p>
          <a:p>
            <a:r>
              <a:rPr lang="en-GB" altLang="en-US" sz="2400">
                <a:latin typeface="Times New Roman" panose="02020603050405020304" charset="0"/>
                <a:cs typeface="Times New Roman" panose="02020603050405020304" charset="0"/>
              </a:rPr>
              <a:t>Higher number represents higher priority</a:t>
            </a:r>
            <a:endParaRPr lang="en-GB" altLang="en-US" sz="2400">
              <a:latin typeface="Times New Roman" panose="02020603050405020304" charset="0"/>
              <a:cs typeface="Times New Roman" panose="02020603050405020304" charset="0"/>
            </a:endParaRPr>
          </a:p>
        </p:txBody>
      </p:sp>
      <p:graphicFrame>
        <p:nvGraphicFramePr>
          <p:cNvPr id="4" name="Table 3"/>
          <p:cNvGraphicFramePr/>
          <p:nvPr/>
        </p:nvGraphicFramePr>
        <p:xfrm>
          <a:off x="1043305" y="5228590"/>
          <a:ext cx="4848225" cy="582295"/>
        </p:xfrm>
        <a:graphic>
          <a:graphicData uri="http://schemas.openxmlformats.org/drawingml/2006/table">
            <a:tbl>
              <a:tblPr firstRow="1" bandRow="1">
                <a:tableStyleId>{5C22544A-7EE6-4342-B048-85BDC9FD1C3A}</a:tableStyleId>
              </a:tblPr>
              <a:tblGrid>
                <a:gridCol w="969645"/>
                <a:gridCol w="969645"/>
                <a:gridCol w="969645"/>
                <a:gridCol w="969645"/>
                <a:gridCol w="969645"/>
              </a:tblGrid>
              <a:tr h="582295">
                <a:tc>
                  <a:txBody>
                    <a:bodyPr/>
                    <a:p>
                      <a:pPr>
                        <a:buNone/>
                      </a:pPr>
                      <a:r>
                        <a:rPr lang="en-GB" altLang="en-US"/>
                        <a:t>p1</a:t>
                      </a:r>
                      <a:endParaRPr lang="en-GB" altLang="en-US"/>
                    </a:p>
                  </a:txBody>
                  <a:tcPr>
                    <a:solidFill>
                      <a:schemeClr val="tx1"/>
                    </a:solidFill>
                  </a:tcPr>
                </a:tc>
                <a:tc>
                  <a:txBody>
                    <a:bodyPr/>
                    <a:p>
                      <a:pPr>
                        <a:buNone/>
                      </a:pPr>
                      <a:r>
                        <a:rPr lang="en-GB" altLang="en-US"/>
                        <a:t>p4</a:t>
                      </a:r>
                      <a:endParaRPr lang="en-GB" altLang="en-US"/>
                    </a:p>
                  </a:txBody>
                  <a:tcPr>
                    <a:solidFill>
                      <a:schemeClr val="tx1"/>
                    </a:solidFill>
                  </a:tcPr>
                </a:tc>
                <a:tc>
                  <a:txBody>
                    <a:bodyPr/>
                    <a:p>
                      <a:pPr>
                        <a:buNone/>
                      </a:pPr>
                      <a:r>
                        <a:rPr lang="en-GB" altLang="en-US"/>
                        <a:t>p5</a:t>
                      </a:r>
                      <a:endParaRPr lang="en-GB" altLang="en-US"/>
                    </a:p>
                  </a:txBody>
                  <a:tcPr>
                    <a:solidFill>
                      <a:schemeClr val="tx1"/>
                    </a:solidFill>
                  </a:tcPr>
                </a:tc>
                <a:tc>
                  <a:txBody>
                    <a:bodyPr/>
                    <a:p>
                      <a:pPr>
                        <a:buNone/>
                      </a:pPr>
                      <a:r>
                        <a:rPr lang="en-GB" altLang="en-US"/>
                        <a:t>p3</a:t>
                      </a:r>
                      <a:endParaRPr lang="en-GB" altLang="en-US"/>
                    </a:p>
                  </a:txBody>
                  <a:tcPr>
                    <a:solidFill>
                      <a:schemeClr val="tx1"/>
                    </a:solidFill>
                  </a:tcPr>
                </a:tc>
                <a:tc>
                  <a:txBody>
                    <a:bodyPr/>
                    <a:p>
                      <a:pPr>
                        <a:buNone/>
                      </a:pPr>
                      <a:r>
                        <a:rPr lang="en-GB" altLang="en-US"/>
                        <a:t>p2</a:t>
                      </a:r>
                      <a:endParaRPr lang="en-GB" altLang="en-US"/>
                    </a:p>
                  </a:txBody>
                  <a:tcPr>
                    <a:solidFill>
                      <a:schemeClr val="tx1"/>
                    </a:solidFill>
                  </a:tcPr>
                </a:tc>
              </a:tr>
            </a:tbl>
          </a:graphicData>
        </a:graphic>
      </p:graphicFrame>
      <p:sp>
        <p:nvSpPr>
          <p:cNvPr id="6" name="Text Box 5"/>
          <p:cNvSpPr txBox="1"/>
          <p:nvPr/>
        </p:nvSpPr>
        <p:spPr>
          <a:xfrm>
            <a:off x="971550" y="4859655"/>
            <a:ext cx="5287645" cy="368300"/>
          </a:xfrm>
          <a:prstGeom prst="rect">
            <a:avLst/>
          </a:prstGeom>
          <a:noFill/>
        </p:spPr>
        <p:txBody>
          <a:bodyPr wrap="square" rtlCol="0">
            <a:spAutoFit/>
          </a:bodyPr>
          <a:p>
            <a:r>
              <a:rPr lang="en-GB" altLang="en-US"/>
              <a:t>0             4                9                  11            12              15</a:t>
            </a:r>
            <a:endParaRPr lang="en-GB"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27405" y="452755"/>
            <a:ext cx="7205980" cy="4584700"/>
          </a:xfrm>
          <a:prstGeom prst="rect">
            <a:avLst/>
          </a:prstGeom>
          <a:noFill/>
        </p:spPr>
        <p:txBody>
          <a:bodyPr wrap="square" rtlCol="0">
            <a:spAutoFit/>
          </a:bodyPr>
          <a:p>
            <a:r>
              <a:rPr lang="en-GB" altLang="en-US" sz="2800" b="1">
                <a:latin typeface="Times New Roman" panose="02020603050405020304" charset="0"/>
                <a:cs typeface="Times New Roman" panose="02020603050405020304" charset="0"/>
                <a:sym typeface="+mn-ea"/>
              </a:rPr>
              <a:t>Priority Scheduling:</a:t>
            </a:r>
            <a:endParaRPr lang="en-GB" altLang="en-US" sz="2800" b="1">
              <a:latin typeface="Times New Roman" panose="02020603050405020304" charset="0"/>
              <a:cs typeface="Times New Roman" panose="02020603050405020304" charset="0"/>
            </a:endParaRPr>
          </a:p>
          <a:p>
            <a:endParaRPr lang="en-GB" altLang="en-US">
              <a:latin typeface="Times New Roman" panose="02020603050405020304" charset="0"/>
              <a:cs typeface="Times New Roman" panose="02020603050405020304" charset="0"/>
            </a:endParaRPr>
          </a:p>
          <a:p>
            <a:r>
              <a:rPr lang="en-GB" altLang="en-US" sz="2400" b="1">
                <a:latin typeface="Times New Roman" panose="02020603050405020304" charset="0"/>
                <a:cs typeface="Times New Roman" panose="02020603050405020304" charset="0"/>
              </a:rPr>
              <a:t>Advantages</a:t>
            </a:r>
            <a:endParaRPr lang="en-GB" altLang="en-US" sz="2400" b="1">
              <a:latin typeface="Times New Roman" panose="02020603050405020304" charset="0"/>
              <a:cs typeface="Times New Roman" panose="02020603050405020304" charset="0"/>
            </a:endParaRPr>
          </a:p>
          <a:p>
            <a:r>
              <a:rPr lang="en-GB" altLang="en-US">
                <a:latin typeface="Times New Roman" panose="02020603050405020304" charset="0"/>
                <a:cs typeface="Times New Roman" panose="02020603050405020304" charset="0"/>
              </a:rPr>
              <a:t> </a:t>
            </a:r>
            <a:endParaRPr lang="en-GB" altLang="en-US">
              <a:latin typeface="Times New Roman" panose="02020603050405020304" charset="0"/>
              <a:cs typeface="Times New Roman" panose="02020603050405020304" charset="0"/>
            </a:endParaRPr>
          </a:p>
          <a:p>
            <a:r>
              <a:rPr lang="en-GB" altLang="en-US" sz="2400">
                <a:latin typeface="Times New Roman" panose="02020603050405020304" charset="0"/>
                <a:cs typeface="Times New Roman" panose="02020603050405020304" charset="0"/>
              </a:rPr>
              <a:t>It considers the priority of the processes and allows the important processes to run first.</a:t>
            </a:r>
            <a:endParaRPr lang="en-GB" altLang="en-US" sz="2400">
              <a:latin typeface="Times New Roman" panose="02020603050405020304" charset="0"/>
              <a:cs typeface="Times New Roman" panose="02020603050405020304" charset="0"/>
            </a:endParaRPr>
          </a:p>
          <a:p>
            <a:r>
              <a:rPr lang="en-GB" altLang="en-US" sz="2400">
                <a:latin typeface="Times New Roman" panose="02020603050405020304" charset="0"/>
                <a:cs typeface="Times New Roman" panose="02020603050405020304" charset="0"/>
              </a:rPr>
              <a:t>Priority scheduling in preemptive mode is best suited for real time operating system.</a:t>
            </a:r>
            <a:endParaRPr lang="en-GB" altLang="en-US" sz="2400">
              <a:latin typeface="Times New Roman" panose="02020603050405020304" charset="0"/>
              <a:cs typeface="Times New Roman" panose="02020603050405020304" charset="0"/>
            </a:endParaRPr>
          </a:p>
          <a:p>
            <a:r>
              <a:rPr lang="en-GB" altLang="en-US">
                <a:latin typeface="Times New Roman" panose="02020603050405020304" charset="0"/>
                <a:cs typeface="Times New Roman" panose="02020603050405020304" charset="0"/>
              </a:rPr>
              <a:t> </a:t>
            </a:r>
            <a:endParaRPr lang="en-GB" altLang="en-US">
              <a:latin typeface="Times New Roman" panose="02020603050405020304" charset="0"/>
              <a:cs typeface="Times New Roman" panose="02020603050405020304" charset="0"/>
            </a:endParaRPr>
          </a:p>
          <a:p>
            <a:r>
              <a:rPr lang="en-GB" altLang="en-US" sz="2400" b="1">
                <a:latin typeface="Times New Roman" panose="02020603050405020304" charset="0"/>
                <a:cs typeface="Times New Roman" panose="02020603050405020304" charset="0"/>
              </a:rPr>
              <a:t>Disadvantages</a:t>
            </a:r>
            <a:endParaRPr lang="en-GB" altLang="en-US" sz="2400" b="1">
              <a:latin typeface="Times New Roman" panose="02020603050405020304" charset="0"/>
              <a:cs typeface="Times New Roman" panose="02020603050405020304" charset="0"/>
            </a:endParaRPr>
          </a:p>
          <a:p>
            <a:endParaRPr lang="en-GB" altLang="en-US">
              <a:latin typeface="Times New Roman" panose="02020603050405020304" charset="0"/>
              <a:cs typeface="Times New Roman" panose="02020603050405020304" charset="0"/>
            </a:endParaRPr>
          </a:p>
          <a:p>
            <a:r>
              <a:rPr lang="en-GB" altLang="en-US" sz="2400">
                <a:latin typeface="Times New Roman" panose="02020603050405020304" charset="0"/>
                <a:cs typeface="Times New Roman" panose="02020603050405020304" charset="0"/>
              </a:rPr>
              <a:t>Processes with lesser priority may starve for CPU.</a:t>
            </a:r>
            <a:endParaRPr lang="en-GB" altLang="en-US" sz="2400">
              <a:latin typeface="Times New Roman" panose="02020603050405020304" charset="0"/>
              <a:cs typeface="Times New Roman" panose="02020603050405020304" charset="0"/>
            </a:endParaRPr>
          </a:p>
          <a:p>
            <a:r>
              <a:rPr lang="en-GB" altLang="en-US" sz="2400">
                <a:latin typeface="Times New Roman" panose="02020603050405020304" charset="0"/>
                <a:cs typeface="Times New Roman" panose="02020603050405020304" charset="0"/>
              </a:rPr>
              <a:t>There is no idea of response time and waiting time.</a:t>
            </a:r>
            <a:endParaRPr lang="en-GB" altLang="en-US" sz="2400">
              <a:latin typeface="Times New Roman" panose="02020603050405020304" charset="0"/>
              <a:cs typeface="Times New Roman" panose="0202060305040502030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52780" y="404495"/>
            <a:ext cx="7187565" cy="545465"/>
          </a:xfrm>
          <a:prstGeom prst="rect">
            <a:avLst/>
          </a:prstGeom>
          <a:noFill/>
        </p:spPr>
        <p:txBody>
          <a:bodyPr wrap="square" rtlCol="0">
            <a:noAutofit/>
          </a:bodyPr>
          <a:p>
            <a:r>
              <a:rPr lang="en-US" altLang="en-US" sz="2400" b="1" dirty="0">
                <a:sym typeface="+mn-ea"/>
              </a:rPr>
              <a:t>Deterministic Evaluation</a:t>
            </a:r>
            <a:r>
              <a:rPr lang="en-GB" altLang="en-US" sz="2400" b="1" dirty="0">
                <a:sym typeface="+mn-ea"/>
              </a:rPr>
              <a:t>:</a:t>
            </a:r>
            <a:endParaRPr lang="en-GB" altLang="en-US" sz="2400" b="1" dirty="0">
              <a:sym typeface="+mn-ea"/>
            </a:endParaRPr>
          </a:p>
          <a:p>
            <a:endParaRPr lang="en-US" altLang="en-US" sz="2400" b="1" dirty="0"/>
          </a:p>
          <a:p>
            <a:endParaRPr lang="en-GB" altLang="en-US" sz="2400" b="1"/>
          </a:p>
        </p:txBody>
      </p:sp>
      <p:sp>
        <p:nvSpPr>
          <p:cNvPr id="101378" name="Rectangle 3"/>
          <p:cNvSpPr>
            <a:spLocks noGrp="1" noChangeArrowheads="1"/>
          </p:cNvSpPr>
          <p:nvPr/>
        </p:nvSpPr>
        <p:spPr>
          <a:xfrm>
            <a:off x="518795" y="890270"/>
            <a:ext cx="8293735" cy="5854700"/>
          </a:xfrm>
          <a:prstGeom prst="rect">
            <a:avLst/>
          </a:prstGeom>
          <a:noFill/>
          <a:ln w="9525">
            <a:noFill/>
          </a:ln>
        </p:spPr>
        <p:txBody>
          <a:bodyPr vert="horz" wrap="square" lIns="91440" tIns="45720" rIns="91440" bIns="45720" numCol="1" anchor="t" anchorCtr="0" compatLnSpc="1"/>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R="0" lvl="0" algn="l" defTabSz="914400" rtl="0" eaLnBrk="0" fontAlgn="base" latinLnBrk="0" hangingPunct="0">
              <a:lnSpc>
                <a:spcPct val="100000"/>
              </a:lnSpc>
              <a:spcBef>
                <a:spcPct val="35000"/>
              </a:spcBef>
              <a:spcAft>
                <a:spcPct val="0"/>
              </a:spcAft>
              <a:buClr>
                <a:srgbClr val="993300"/>
              </a:buClr>
              <a:buSzPct val="90000"/>
              <a:buFont typeface="Wingdings" panose="05000000000000000000" charset="0"/>
              <a:buChar char="ü"/>
              <a:defRPr/>
            </a:pPr>
            <a:r>
              <a:rPr kumimoji="1" lang="en-US" sz="20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For each algorithm, calculate minimum average waiting time</a:t>
            </a:r>
            <a:endParaRPr kumimoji="1" lang="en-US" sz="20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R="0" lvl="0" algn="l" defTabSz="914400" rtl="0" eaLnBrk="0" fontAlgn="base" latinLnBrk="0" hangingPunct="0">
              <a:lnSpc>
                <a:spcPct val="100000"/>
              </a:lnSpc>
              <a:spcBef>
                <a:spcPct val="35000"/>
              </a:spcBef>
              <a:spcAft>
                <a:spcPct val="0"/>
              </a:spcAft>
              <a:buClr>
                <a:srgbClr val="993300"/>
              </a:buClr>
              <a:buSzPct val="90000"/>
              <a:buFont typeface="Wingdings" panose="05000000000000000000" charset="0"/>
              <a:buChar char="ü"/>
              <a:defRPr/>
            </a:pPr>
            <a:r>
              <a:rPr kumimoji="1" lang="en-US" sz="20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Simple and fast, but requires exact numbers for input, applies only to those inputs</a:t>
            </a:r>
            <a:endParaRPr kumimoji="1" lang="en-US" sz="20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R="0" lvl="0" algn="l" defTabSz="914400" rtl="0" eaLnBrk="0" fontAlgn="base" latinLnBrk="0" hangingPunct="0">
              <a:lnSpc>
                <a:spcPct val="100000"/>
              </a:lnSpc>
              <a:spcBef>
                <a:spcPct val="35000"/>
              </a:spcBef>
              <a:spcAft>
                <a:spcPct val="0"/>
              </a:spcAft>
              <a:buClr>
                <a:srgbClr val="993300"/>
              </a:buClr>
              <a:buSzPct val="90000"/>
              <a:buFont typeface="Wingdings" panose="05000000000000000000" charset="0"/>
              <a:buChar char="ü"/>
              <a:defRPr/>
            </a:pPr>
            <a:endParaRPr kumimoji="1" lang="en-US" sz="20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R="0" lvl="0" algn="l" defTabSz="914400" rtl="0" eaLnBrk="0" fontAlgn="base" latinLnBrk="0" hangingPunct="0">
              <a:lnSpc>
                <a:spcPct val="100000"/>
              </a:lnSpc>
              <a:spcBef>
                <a:spcPct val="35000"/>
              </a:spcBef>
              <a:spcAft>
                <a:spcPct val="0"/>
              </a:spcAft>
              <a:buClr>
                <a:srgbClr val="993300"/>
              </a:buClr>
              <a:buSzPct val="90000"/>
              <a:buFont typeface="Wingdings" panose="05000000000000000000" charset="0"/>
              <a:buChar char="ü"/>
              <a:defRPr/>
            </a:pPr>
            <a:endParaRPr kumimoji="1" lang="en-US" sz="20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R="0" lvl="0" algn="l" defTabSz="914400" rtl="0" eaLnBrk="0" fontAlgn="base" latinLnBrk="0" hangingPunct="0">
              <a:lnSpc>
                <a:spcPct val="100000"/>
              </a:lnSpc>
              <a:spcBef>
                <a:spcPct val="35000"/>
              </a:spcBef>
              <a:spcAft>
                <a:spcPct val="0"/>
              </a:spcAft>
              <a:buClr>
                <a:srgbClr val="993300"/>
              </a:buClr>
              <a:buSzPct val="90000"/>
              <a:buFont typeface="Wingdings" panose="05000000000000000000" charset="0"/>
              <a:buChar char="ü"/>
              <a:defRPr/>
            </a:pPr>
            <a:endParaRPr kumimoji="1" lang="en-US" sz="20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742315" marR="0" lvl="1" indent="-285750" algn="l" defTabSz="914400" rtl="0" eaLnBrk="0" fontAlgn="base" latinLnBrk="0" hangingPunct="0">
              <a:lnSpc>
                <a:spcPct val="100000"/>
              </a:lnSpc>
              <a:spcBef>
                <a:spcPct val="35000"/>
              </a:spcBef>
              <a:spcAft>
                <a:spcPct val="0"/>
              </a:spcAft>
              <a:buClr>
                <a:srgbClr val="CC6600"/>
              </a:buClr>
              <a:buSzPct val="80000"/>
              <a:buFont typeface="Monotype Sorts" charset="0"/>
              <a:buChar char="l"/>
              <a:defRPr/>
            </a:pPr>
            <a:r>
              <a:rPr kumimoji="1" 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FCS is 28ms</a:t>
            </a:r>
            <a:r>
              <a:rPr kumimoji="1" lang="en-GB"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           </a:t>
            </a:r>
            <a:endParaRPr kumimoji="1" 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GB"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           </a:t>
            </a:r>
            <a:endParaRPr kumimoji="1" lang="en-GB"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GB"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                                               Average waiting time: </a:t>
            </a:r>
            <a:r>
              <a:rPr lang="en-GB" altLang="en-US" kern="0" noProof="0" dirty="0" smtClean="0">
                <a:ln>
                  <a:noFill/>
                </a:ln>
                <a:effectLst/>
                <a:uLnTx/>
                <a:uFillTx/>
                <a:sym typeface="+mn-ea"/>
              </a:rPr>
              <a:t>(0+10+39+42+49)/5= 28 ms</a:t>
            </a:r>
            <a:r>
              <a:rPr kumimoji="1" lang="en-GB"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                                              </a:t>
            </a:r>
            <a:endParaRPr kumimoji="1" 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742315" marR="0" lvl="1" indent="-285750" algn="l" defTabSz="914400" rtl="0" eaLnBrk="0" fontAlgn="base" latinLnBrk="0" hangingPunct="0">
              <a:lnSpc>
                <a:spcPct val="100000"/>
              </a:lnSpc>
              <a:spcBef>
                <a:spcPct val="35000"/>
              </a:spcBef>
              <a:spcAft>
                <a:spcPct val="0"/>
              </a:spcAft>
              <a:buClr>
                <a:srgbClr val="CC6600"/>
              </a:buClr>
              <a:buSzPct val="80000"/>
              <a:buFont typeface="Monotype Sorts" charset="0"/>
              <a:buChar char="l"/>
              <a:defRPr/>
            </a:pPr>
            <a:r>
              <a:rPr kumimoji="1" 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Non-preemptive SFJ is 13ms:</a:t>
            </a:r>
            <a:endParaRPr kumimoji="1" 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265" marR="0" lvl="0" indent="-342265" algn="l" defTabSz="914400" rtl="0" eaLnBrk="0" fontAlgn="base" latinLnBrk="0" hangingPunct="0">
              <a:lnSpc>
                <a:spcPct val="100000"/>
              </a:lnSpc>
              <a:spcBef>
                <a:spcPct val="35000"/>
              </a:spcBef>
              <a:spcAft>
                <a:spcPct val="0"/>
              </a:spcAft>
              <a:buClr>
                <a:srgbClr val="993300"/>
              </a:buClr>
              <a:buSzPct val="90000"/>
              <a:buFont typeface="Monotype Sorts" charset="0"/>
              <a:buChar char="n"/>
              <a:defRPr/>
            </a:pPr>
            <a:endParaRPr kumimoji="1" 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GB"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                                             </a:t>
            </a:r>
            <a:r>
              <a:rPr lang="en-GB" altLang="en-US" kern="0" noProof="0" dirty="0" smtClean="0">
                <a:ln>
                  <a:noFill/>
                </a:ln>
                <a:effectLst/>
                <a:uLnTx/>
                <a:uFillTx/>
                <a:sym typeface="+mn-ea"/>
              </a:rPr>
              <a:t> Average waiting time: </a:t>
            </a:r>
            <a:r>
              <a:rPr lang="en-GB" altLang="en-US" kern="0" noProof="0" dirty="0" smtClean="0">
                <a:ln>
                  <a:noFill/>
                </a:ln>
                <a:effectLst/>
                <a:uLnTx/>
                <a:uFillTx/>
                <a:sym typeface="+mn-ea"/>
              </a:rPr>
              <a:t>(10+32+0+3+20)/5= 13 ms</a:t>
            </a:r>
            <a:r>
              <a:rPr lang="en-GB" altLang="en-US" kern="0" noProof="0" dirty="0" smtClean="0">
                <a:ln>
                  <a:noFill/>
                </a:ln>
                <a:effectLst/>
                <a:uLnTx/>
                <a:uFillTx/>
                <a:sym typeface="+mn-ea"/>
              </a:rPr>
              <a:t> </a:t>
            </a:r>
            <a:endParaRPr kumimoji="1" 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742315" marR="0" lvl="1" indent="-285750" algn="l" defTabSz="914400" rtl="0" eaLnBrk="0" fontAlgn="base" latinLnBrk="0" hangingPunct="0">
              <a:lnSpc>
                <a:spcPct val="100000"/>
              </a:lnSpc>
              <a:spcBef>
                <a:spcPct val="35000"/>
              </a:spcBef>
              <a:spcAft>
                <a:spcPct val="0"/>
              </a:spcAft>
              <a:buClr>
                <a:srgbClr val="CC6600"/>
              </a:buClr>
              <a:buSzPct val="80000"/>
              <a:buFont typeface="Monotype Sorts" charset="0"/>
              <a:buChar char="l"/>
              <a:defRPr/>
            </a:pPr>
            <a:r>
              <a:rPr kumimoji="1" 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RR is 23ms:</a:t>
            </a:r>
            <a:r>
              <a:rPr kumimoji="1" lang="en-GB" alt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a:t>
            </a:r>
            <a:r>
              <a:rPr lang="en-US" kern="0" noProof="0" dirty="0" smtClean="0">
                <a:ln>
                  <a:noFill/>
                </a:ln>
                <a:effectLst/>
                <a:uLnTx/>
                <a:uFillTx/>
                <a:cs typeface="MS PGothic" panose="020B0600070205080204" pitchFamily="34" charset="-128"/>
                <a:sym typeface="+mn-ea"/>
              </a:rPr>
              <a:t>preemptive </a:t>
            </a:r>
            <a:r>
              <a:rPr lang="en-GB" altLang="en-US" kern="0" noProof="0" dirty="0" smtClean="0">
                <a:ln>
                  <a:noFill/>
                </a:ln>
                <a:effectLst/>
                <a:uLnTx/>
                <a:uFillTx/>
                <a:cs typeface="MS PGothic" panose="020B0600070205080204" pitchFamily="34" charset="-128"/>
                <a:sym typeface="+mn-ea"/>
              </a:rPr>
              <a:t>)</a:t>
            </a:r>
            <a:endParaRPr kumimoji="1" lang="en-US" sz="1800" b="0" i="0" u="none" strike="noStrike" kern="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GB"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             </a:t>
            </a:r>
            <a:endParaRPr kumimoji="1" lang="en-GB"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GB"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                                                </a:t>
            </a:r>
            <a:r>
              <a:rPr lang="en-GB" altLang="en-US" kern="0" noProof="0" dirty="0">
                <a:ln>
                  <a:noFill/>
                </a:ln>
                <a:effectLst/>
                <a:uLnTx/>
                <a:uFillTx/>
                <a:sym typeface="+mn-ea"/>
              </a:rPr>
              <a:t>  </a:t>
            </a:r>
            <a:r>
              <a:rPr lang="en-GB" altLang="en-US" kern="0" noProof="0" dirty="0" smtClean="0">
                <a:ln>
                  <a:noFill/>
                </a:ln>
                <a:effectLst/>
                <a:uLnTx/>
                <a:uFillTx/>
                <a:sym typeface="+mn-ea"/>
              </a:rPr>
              <a:t> Average waiting time: (0+32+20+23+40)/5= 23 ms</a:t>
            </a:r>
            <a:endParaRPr kumimoji="1" lang="en-GB"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pic>
        <p:nvPicPr>
          <p:cNvPr id="65540" name="Picture 2" descr="Screen Shot 2012-12-17 at 9.47.12 PM.png"/>
          <p:cNvPicPr>
            <a:picLocks noChangeAspect="1"/>
          </p:cNvPicPr>
          <p:nvPr/>
        </p:nvPicPr>
        <p:blipFill>
          <a:blip r:embed="rId1"/>
          <a:stretch>
            <a:fillRect/>
          </a:stretch>
        </p:blipFill>
        <p:spPr>
          <a:xfrm>
            <a:off x="2987675" y="3140710"/>
            <a:ext cx="4445000" cy="742950"/>
          </a:xfrm>
          <a:prstGeom prst="rect">
            <a:avLst/>
          </a:prstGeom>
          <a:noFill/>
          <a:ln w="9525">
            <a:noFill/>
          </a:ln>
        </p:spPr>
      </p:pic>
      <p:pic>
        <p:nvPicPr>
          <p:cNvPr id="65541" name="Picture 3" descr="Screen Shot 2012-12-17 at 9.47.18 PM.png"/>
          <p:cNvPicPr>
            <a:picLocks noChangeAspect="1"/>
          </p:cNvPicPr>
          <p:nvPr/>
        </p:nvPicPr>
        <p:blipFill>
          <a:blip r:embed="rId2"/>
          <a:stretch>
            <a:fillRect/>
          </a:stretch>
        </p:blipFill>
        <p:spPr>
          <a:xfrm>
            <a:off x="4211638" y="4436428"/>
            <a:ext cx="4529137" cy="771525"/>
          </a:xfrm>
          <a:prstGeom prst="rect">
            <a:avLst/>
          </a:prstGeom>
          <a:noFill/>
          <a:ln w="9525">
            <a:noFill/>
          </a:ln>
        </p:spPr>
      </p:pic>
      <p:pic>
        <p:nvPicPr>
          <p:cNvPr id="65542" name="Picture 4" descr="Screen Shot 2012-12-17 at 9.47.24 PM.png"/>
          <p:cNvPicPr>
            <a:picLocks noChangeAspect="1"/>
          </p:cNvPicPr>
          <p:nvPr/>
        </p:nvPicPr>
        <p:blipFill>
          <a:blip r:embed="rId3"/>
          <a:stretch>
            <a:fillRect/>
          </a:stretch>
        </p:blipFill>
        <p:spPr>
          <a:xfrm>
            <a:off x="3996055" y="5516880"/>
            <a:ext cx="4445000" cy="752475"/>
          </a:xfrm>
          <a:prstGeom prst="rect">
            <a:avLst/>
          </a:prstGeom>
          <a:noFill/>
          <a:ln w="9525">
            <a:noFill/>
          </a:ln>
        </p:spPr>
      </p:pic>
      <p:pic>
        <p:nvPicPr>
          <p:cNvPr id="3" name="Picture 2" descr="Screenshot 2024-02-08 134103"/>
          <p:cNvPicPr>
            <a:picLocks noChangeAspect="1"/>
          </p:cNvPicPr>
          <p:nvPr/>
        </p:nvPicPr>
        <p:blipFill>
          <a:blip r:embed="rId4"/>
          <a:stretch>
            <a:fillRect/>
          </a:stretch>
        </p:blipFill>
        <p:spPr>
          <a:xfrm>
            <a:off x="2987675" y="1700530"/>
            <a:ext cx="2462530" cy="139065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537970" y="624840"/>
            <a:ext cx="6149340" cy="1160145"/>
          </a:xfrm>
          <a:prstGeom prst="rect">
            <a:avLst/>
          </a:prstGeom>
          <a:noFill/>
        </p:spPr>
        <p:txBody>
          <a:bodyPr wrap="square" rtlCol="0">
            <a:noAutofit/>
          </a:bodyPr>
          <a:p>
            <a:r>
              <a:rPr lang="en-GB" altLang="en-US" sz="2800" b="1"/>
              <a:t>Multilevel Queue Scheduling:</a:t>
            </a:r>
            <a:endParaRPr lang="en-GB" altLang="en-US" sz="2800" b="1"/>
          </a:p>
          <a:p>
            <a:r>
              <a:rPr lang="en-GB" altLang="en-US" sz="2800"/>
              <a:t>Problem called Starvation</a:t>
            </a:r>
            <a:endParaRPr lang="en-GB" altLang="en-US" sz="2800"/>
          </a:p>
          <a:p>
            <a:endParaRPr lang="en-GB" altLang="en-US" sz="2800" b="1"/>
          </a:p>
          <a:p>
            <a:endParaRPr lang="en-GB" altLang="en-US" sz="2800" b="1"/>
          </a:p>
          <a:p>
            <a:endParaRPr lang="en-GB" altLang="en-US" sz="2800" b="1"/>
          </a:p>
        </p:txBody>
      </p:sp>
      <p:pic>
        <p:nvPicPr>
          <p:cNvPr id="3" name="Picture 2" descr="MSS"/>
          <p:cNvPicPr>
            <a:picLocks noChangeAspect="1"/>
          </p:cNvPicPr>
          <p:nvPr/>
        </p:nvPicPr>
        <p:blipFill>
          <a:blip r:embed="rId1"/>
          <a:stretch>
            <a:fillRect/>
          </a:stretch>
        </p:blipFill>
        <p:spPr>
          <a:xfrm>
            <a:off x="1403985" y="1700530"/>
            <a:ext cx="6873240" cy="41224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2024-02-02 202553"/>
          <p:cNvPicPr>
            <a:picLocks noChangeAspect="1"/>
          </p:cNvPicPr>
          <p:nvPr/>
        </p:nvPicPr>
        <p:blipFill>
          <a:blip r:embed="rId1"/>
          <a:stretch>
            <a:fillRect/>
          </a:stretch>
        </p:blipFill>
        <p:spPr>
          <a:xfrm>
            <a:off x="1207770" y="1253490"/>
            <a:ext cx="6728460" cy="4240530"/>
          </a:xfrm>
          <a:prstGeom prst="rect">
            <a:avLst/>
          </a:prstGeom>
        </p:spPr>
      </p:pic>
      <p:sp>
        <p:nvSpPr>
          <p:cNvPr id="3" name="Text Box 2"/>
          <p:cNvSpPr txBox="1"/>
          <p:nvPr/>
        </p:nvSpPr>
        <p:spPr>
          <a:xfrm>
            <a:off x="1591310" y="365125"/>
            <a:ext cx="5563870" cy="829945"/>
          </a:xfrm>
          <a:prstGeom prst="rect">
            <a:avLst/>
          </a:prstGeom>
          <a:noFill/>
        </p:spPr>
        <p:txBody>
          <a:bodyPr wrap="square" rtlCol="0">
            <a:spAutoFit/>
          </a:bodyPr>
          <a:p>
            <a:r>
              <a:rPr lang="en-GB" altLang="en-US" sz="2400" b="1"/>
              <a:t>Multilevel Feedback Queue Scheduling</a:t>
            </a:r>
            <a:endParaRPr lang="en-GB" altLang="en-US" sz="2400" b="1"/>
          </a:p>
          <a:p>
            <a:endParaRPr lang="en-GB" altLang="en-US" sz="2400" b="1"/>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95020" y="847090"/>
            <a:ext cx="7486650" cy="3019425"/>
          </a:xfrm>
          <a:prstGeom prst="rect">
            <a:avLst/>
          </a:prstGeom>
          <a:noFill/>
        </p:spPr>
        <p:txBody>
          <a:bodyPr wrap="square" rtlCol="0">
            <a:noAutofit/>
          </a:bodyPr>
          <a:p>
            <a:r>
              <a:rPr lang="en-GB" altLang="en-US" sz="2800" b="1"/>
              <a:t>Real-Time CPU Scheduling:</a:t>
            </a:r>
            <a:endParaRPr lang="en-GB" altLang="en-US" sz="2800" b="1"/>
          </a:p>
          <a:p>
            <a:r>
              <a:rPr lang="en-GB" altLang="en-US" sz="2400"/>
              <a:t>Two types of latencies affect the performance of real-time systems:</a:t>
            </a:r>
            <a:endParaRPr lang="en-GB" altLang="en-US" sz="2400"/>
          </a:p>
          <a:p>
            <a:pPr lvl="1">
              <a:buFont typeface="Arial" panose="020B0604020202020204" pitchFamily="34" charset="0"/>
              <a:buAutoNum type="arabicPeriod"/>
            </a:pPr>
            <a:r>
              <a:rPr lang="en-US" altLang="en-US" sz="2400" b="1" dirty="0">
                <a:sym typeface="+mn-ea"/>
              </a:rPr>
              <a:t>Interrupt latency </a:t>
            </a:r>
            <a:r>
              <a:rPr lang="en-GB" altLang="en-US" sz="2400" b="1" dirty="0">
                <a:sym typeface="+mn-ea"/>
              </a:rPr>
              <a:t>:</a:t>
            </a:r>
            <a:r>
              <a:rPr lang="en-US" altLang="en-US" sz="2400" dirty="0">
                <a:sym typeface="+mn-ea"/>
              </a:rPr>
              <a:t> time from arrival of interrupt to start of routine that services interrupt</a:t>
            </a:r>
            <a:endParaRPr lang="en-US" altLang="en-US" sz="2400" dirty="0"/>
          </a:p>
          <a:p>
            <a:pPr lvl="1">
              <a:buFont typeface="Arial" panose="020B0604020202020204" pitchFamily="34" charset="0"/>
              <a:buAutoNum type="arabicPeriod"/>
            </a:pPr>
            <a:r>
              <a:rPr lang="en-US" altLang="en-US" sz="2400" b="1" dirty="0">
                <a:sym typeface="+mn-ea"/>
              </a:rPr>
              <a:t>Dispatch latency</a:t>
            </a:r>
            <a:r>
              <a:rPr lang="en-US" altLang="en-US" sz="2400" dirty="0">
                <a:sym typeface="+mn-ea"/>
              </a:rPr>
              <a:t> –</a:t>
            </a:r>
            <a:r>
              <a:rPr lang="en-GB" altLang="en-US" sz="2400" dirty="0">
                <a:sym typeface="+mn-ea"/>
              </a:rPr>
              <a:t>:</a:t>
            </a:r>
            <a:r>
              <a:rPr lang="en-US" altLang="en-US" sz="2400" dirty="0">
                <a:sym typeface="+mn-ea"/>
              </a:rPr>
              <a:t>time for schedule to take current process off CPU and switch to another</a:t>
            </a:r>
            <a:endParaRPr lang="en-US" altLang="en-US" sz="2400" dirty="0"/>
          </a:p>
          <a:p>
            <a:endParaRPr lang="en-GB" altLang="en-US" sz="2800" b="1"/>
          </a:p>
          <a:p>
            <a:r>
              <a:rPr lang="en-GB" altLang="en-US" sz="2800" b="1"/>
              <a:t> </a:t>
            </a:r>
            <a:endParaRPr lang="en-GB" altLang="en-US" sz="2800" b="1"/>
          </a:p>
        </p:txBody>
      </p:sp>
      <p:pic>
        <p:nvPicPr>
          <p:cNvPr id="39940" name="Picture 1" descr="Screen Shot 2012-12-17 at 8.37.21 PM.png"/>
          <p:cNvPicPr>
            <a:picLocks noChangeAspect="1"/>
          </p:cNvPicPr>
          <p:nvPr/>
        </p:nvPicPr>
        <p:blipFill>
          <a:blip r:embed="rId1"/>
          <a:stretch>
            <a:fillRect/>
          </a:stretch>
        </p:blipFill>
        <p:spPr>
          <a:xfrm>
            <a:off x="-36830" y="3789045"/>
            <a:ext cx="4813300" cy="2816225"/>
          </a:xfrm>
          <a:prstGeom prst="rect">
            <a:avLst/>
          </a:prstGeom>
          <a:noFill/>
          <a:ln w="9525">
            <a:noFill/>
          </a:ln>
        </p:spPr>
      </p:pic>
      <p:pic>
        <p:nvPicPr>
          <p:cNvPr id="40964" name="Picture 3" descr="6_14.pdf"/>
          <p:cNvPicPr>
            <a:picLocks noChangeAspect="1"/>
          </p:cNvPicPr>
          <p:nvPr/>
        </p:nvPicPr>
        <p:blipFill>
          <a:blip r:embed="rId2"/>
          <a:stretch>
            <a:fillRect/>
          </a:stretch>
        </p:blipFill>
        <p:spPr>
          <a:xfrm>
            <a:off x="4427855" y="3788410"/>
            <a:ext cx="4572000" cy="2758440"/>
          </a:xfrm>
          <a:prstGeom prst="rect">
            <a:avLst/>
          </a:prstGeom>
          <a:noFill/>
          <a:ln w="9525">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68020" y="467360"/>
            <a:ext cx="7846695" cy="3705860"/>
          </a:xfrm>
          <a:prstGeom prst="rect">
            <a:avLst/>
          </a:prstGeom>
          <a:noFill/>
        </p:spPr>
        <p:txBody>
          <a:bodyPr wrap="square" rtlCol="0">
            <a:noAutofit/>
          </a:bodyPr>
          <a:p>
            <a:r>
              <a:rPr lang="en-GB" altLang="en-US" sz="2800" b="1">
                <a:sym typeface="+mn-ea"/>
              </a:rPr>
              <a:t>Rate-Monotonic Scheduling</a:t>
            </a:r>
            <a:endParaRPr lang="en-GB" altLang="en-US" sz="2800" b="1">
              <a:sym typeface="+mn-ea"/>
            </a:endParaRPr>
          </a:p>
          <a:p>
            <a:r>
              <a:rPr lang="en-US" altLang="en-US" sz="2400" dirty="0">
                <a:sym typeface="+mn-ea"/>
              </a:rPr>
              <a:t>A priority is assigned based on the inverse of its period</a:t>
            </a:r>
            <a:endParaRPr lang="en-US" altLang="en-US" sz="2400" dirty="0"/>
          </a:p>
          <a:p>
            <a:r>
              <a:rPr lang="en-US" altLang="en-US" sz="2400" dirty="0">
                <a:sym typeface="+mn-ea"/>
              </a:rPr>
              <a:t>Shorter periods = higher priority;</a:t>
            </a:r>
            <a:endParaRPr lang="en-US" altLang="en-US" sz="2400" dirty="0"/>
          </a:p>
          <a:p>
            <a:r>
              <a:rPr lang="en-US" altLang="en-US" sz="2400" dirty="0">
                <a:sym typeface="+mn-ea"/>
              </a:rPr>
              <a:t>Longer periods = lower priority</a:t>
            </a:r>
            <a:endParaRPr lang="en-US" altLang="en-US" sz="2800" dirty="0"/>
          </a:p>
          <a:p>
            <a:r>
              <a:rPr lang="en-US" altLang="en-US" sz="2800" dirty="0">
                <a:sym typeface="+mn-ea"/>
              </a:rPr>
              <a:t>P</a:t>
            </a:r>
            <a:r>
              <a:rPr lang="en-US" altLang="en-US" sz="2800" baseline="-25000" dirty="0">
                <a:sym typeface="+mn-ea"/>
              </a:rPr>
              <a:t>1</a:t>
            </a:r>
            <a:r>
              <a:rPr lang="en-US" altLang="en-US" sz="2800" dirty="0">
                <a:sym typeface="+mn-ea"/>
              </a:rPr>
              <a:t> is assigned a higher priority than P</a:t>
            </a:r>
            <a:r>
              <a:rPr lang="en-US" altLang="en-US" sz="2800" baseline="-25000" dirty="0">
                <a:sym typeface="+mn-ea"/>
              </a:rPr>
              <a:t>2</a:t>
            </a:r>
            <a:endParaRPr lang="en-GB" altLang="en-US" sz="2800" b="1">
              <a:sym typeface="+mn-ea"/>
            </a:endParaRPr>
          </a:p>
          <a:p>
            <a:r>
              <a:rPr lang="en-GB" altLang="en-US" sz="2800" b="1">
                <a:sym typeface="+mn-ea"/>
              </a:rPr>
              <a:t>Example:</a:t>
            </a:r>
            <a:endParaRPr lang="en-GB" altLang="en-US" sz="2800" b="1">
              <a:sym typeface="+mn-ea"/>
            </a:endParaRPr>
          </a:p>
          <a:p>
            <a:r>
              <a:rPr lang="en-GB" altLang="en-US" sz="2400"/>
              <a:t>p1 = 50 and p2 = 100. </a:t>
            </a:r>
            <a:endParaRPr lang="en-GB" altLang="en-US" sz="2400"/>
          </a:p>
          <a:p>
            <a:r>
              <a:rPr lang="en-GB" altLang="en-US" sz="2400"/>
              <a:t>The processing times are t1 = 20 for P1 and t2 = 35 for P2.</a:t>
            </a:r>
            <a:endParaRPr lang="en-GB" altLang="en-US" sz="2400"/>
          </a:p>
          <a:p>
            <a:endParaRPr lang="en-GB" altLang="en-US" sz="2400"/>
          </a:p>
        </p:txBody>
      </p:sp>
      <p:pic>
        <p:nvPicPr>
          <p:cNvPr id="3" name="Picture 2" descr="Screenshot 2024-02-03 092351"/>
          <p:cNvPicPr>
            <a:picLocks noChangeAspect="1"/>
          </p:cNvPicPr>
          <p:nvPr/>
        </p:nvPicPr>
        <p:blipFill>
          <a:blip r:embed="rId1"/>
          <a:stretch>
            <a:fillRect/>
          </a:stretch>
        </p:blipFill>
        <p:spPr>
          <a:xfrm>
            <a:off x="971550" y="4220845"/>
            <a:ext cx="7338060" cy="214884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5059" name="Picture 3"/>
          <p:cNvPicPr>
            <a:picLocks noChangeAspect="1"/>
          </p:cNvPicPr>
          <p:nvPr/>
        </p:nvPicPr>
        <p:blipFill>
          <a:blip r:embed="rId1"/>
          <a:srcRect l="662" t="40077" r="664" b="40047"/>
          <a:stretch>
            <a:fillRect/>
          </a:stretch>
        </p:blipFill>
        <p:spPr>
          <a:xfrm>
            <a:off x="1115695" y="4004945"/>
            <a:ext cx="7331075" cy="1108075"/>
          </a:xfrm>
          <a:prstGeom prst="rect">
            <a:avLst/>
          </a:prstGeom>
          <a:noFill/>
          <a:ln w="38100">
            <a:noFill/>
          </a:ln>
        </p:spPr>
      </p:pic>
      <p:sp>
        <p:nvSpPr>
          <p:cNvPr id="3" name="Text Box 2"/>
          <p:cNvSpPr txBox="1"/>
          <p:nvPr/>
        </p:nvSpPr>
        <p:spPr>
          <a:xfrm>
            <a:off x="1043940" y="989965"/>
            <a:ext cx="7124700" cy="2162810"/>
          </a:xfrm>
          <a:prstGeom prst="rect">
            <a:avLst/>
          </a:prstGeom>
          <a:noFill/>
        </p:spPr>
        <p:txBody>
          <a:bodyPr wrap="square" rtlCol="0">
            <a:noAutofit/>
          </a:bodyPr>
          <a:p>
            <a:r>
              <a:rPr lang="en-US" altLang="en-US" sz="2400" b="1" dirty="0">
                <a:sym typeface="+mn-ea"/>
              </a:rPr>
              <a:t>Missed Deadlines with Rate Monotonic Scheduling</a:t>
            </a:r>
            <a:endParaRPr lang="en-US" altLang="en-US" sz="2400" b="1" dirty="0">
              <a:sym typeface="+mn-ea"/>
            </a:endParaRPr>
          </a:p>
          <a:p>
            <a:r>
              <a:rPr lang="en-GB" altLang="en-US" sz="2400" b="1">
                <a:sym typeface="+mn-ea"/>
              </a:rPr>
              <a:t>Example:</a:t>
            </a:r>
            <a:endParaRPr lang="en-GB" altLang="en-US" sz="2400" b="1">
              <a:sym typeface="+mn-ea"/>
            </a:endParaRPr>
          </a:p>
          <a:p>
            <a:r>
              <a:rPr lang="en-GB" altLang="en-US" sz="2400">
                <a:sym typeface="+mn-ea"/>
              </a:rPr>
              <a:t>p1 = 50 and p2 =80. </a:t>
            </a:r>
            <a:endParaRPr lang="en-GB" altLang="en-US" sz="2400"/>
          </a:p>
          <a:p>
            <a:r>
              <a:rPr lang="en-GB" altLang="en-US" sz="2400">
                <a:sym typeface="+mn-ea"/>
              </a:rPr>
              <a:t>The processing times are t1 = 25 for P1 and t2 = 35 for P2.</a:t>
            </a:r>
            <a:endParaRPr lang="en-US" altLang="en-US" sz="2400" b="1" dirty="0">
              <a:sym typeface="+mn-ea"/>
            </a:endParaRPr>
          </a:p>
          <a:p>
            <a:endParaRPr lang="en-GB" altLang="en-US" sz="2400" b="1"/>
          </a:p>
          <a:p>
            <a:endParaRPr lang="en-GB" altLang="en-US" sz="2400" b="1"/>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99795" y="548640"/>
            <a:ext cx="7509510" cy="3243580"/>
          </a:xfrm>
          <a:prstGeom prst="rect">
            <a:avLst/>
          </a:prstGeom>
          <a:noFill/>
        </p:spPr>
        <p:txBody>
          <a:bodyPr wrap="square" rtlCol="0">
            <a:noAutofit/>
          </a:bodyPr>
          <a:p>
            <a:r>
              <a:rPr lang="en-US" altLang="en-US" sz="2800" b="1" dirty="0">
                <a:latin typeface="Times New Roman" panose="02020603050405020304" charset="0"/>
                <a:cs typeface="Times New Roman" panose="02020603050405020304" charset="0"/>
                <a:sym typeface="+mn-ea"/>
              </a:rPr>
              <a:t>Earliest Deadline First Scheduling (EDF)</a:t>
            </a:r>
            <a:endParaRPr lang="en-US" altLang="en-US" sz="2800" b="1" dirty="0">
              <a:latin typeface="Times New Roman" panose="02020603050405020304" charset="0"/>
              <a:cs typeface="Times New Roman" panose="02020603050405020304" charset="0"/>
            </a:endParaRPr>
          </a:p>
          <a:p>
            <a:r>
              <a:rPr lang="en-US" altLang="en-US" sz="2400" dirty="0">
                <a:latin typeface="Times New Roman" panose="02020603050405020304" charset="0"/>
                <a:cs typeface="Times New Roman" panose="02020603050405020304" charset="0"/>
                <a:sym typeface="+mn-ea"/>
              </a:rPr>
              <a:t>Priorities are assigned according to deadlines:</a:t>
            </a:r>
            <a:br>
              <a:rPr lang="en-US" altLang="en-US" sz="2400" dirty="0">
                <a:latin typeface="Times New Roman" panose="02020603050405020304" charset="0"/>
                <a:cs typeface="Times New Roman" panose="02020603050405020304" charset="0"/>
                <a:sym typeface="+mn-ea"/>
              </a:rPr>
            </a:br>
            <a:br>
              <a:rPr lang="en-US" altLang="en-US" sz="2400" dirty="0">
                <a:latin typeface="Times New Roman" panose="02020603050405020304" charset="0"/>
                <a:cs typeface="Times New Roman" panose="02020603050405020304" charset="0"/>
                <a:sym typeface="+mn-ea"/>
              </a:rPr>
            </a:br>
            <a:r>
              <a:rPr lang="en-GB" altLang="en-US" sz="2400" dirty="0">
                <a:latin typeface="Times New Roman" panose="02020603050405020304" charset="0"/>
                <a:cs typeface="Times New Roman" panose="02020603050405020304" charset="0"/>
                <a:sym typeface="+mn-ea"/>
              </a:rPr>
              <a:t>**T</a:t>
            </a:r>
            <a:r>
              <a:rPr lang="en-US" altLang="en-US" sz="2400" dirty="0">
                <a:latin typeface="Times New Roman" panose="02020603050405020304" charset="0"/>
                <a:cs typeface="Times New Roman" panose="02020603050405020304" charset="0"/>
                <a:sym typeface="+mn-ea"/>
              </a:rPr>
              <a:t>he earlier the deadline, the higher the priority;</a:t>
            </a:r>
            <a:endParaRPr lang="en-US" altLang="en-US" sz="2400" dirty="0">
              <a:latin typeface="Times New Roman" panose="02020603050405020304" charset="0"/>
              <a:cs typeface="Times New Roman" panose="02020603050405020304" charset="0"/>
            </a:endParaRPr>
          </a:p>
          <a:p>
            <a:pPr>
              <a:buNone/>
            </a:pPr>
            <a:r>
              <a:rPr lang="en-US" altLang="en-US" sz="2400" dirty="0">
                <a:latin typeface="Times New Roman" panose="02020603050405020304" charset="0"/>
                <a:cs typeface="Times New Roman" panose="02020603050405020304" charset="0"/>
                <a:sym typeface="+mn-ea"/>
              </a:rPr>
              <a:t>the later the deadline, the lower the priority</a:t>
            </a:r>
            <a:endParaRPr lang="en-US" altLang="en-US" sz="2400" dirty="0">
              <a:latin typeface="Times New Roman" panose="02020603050405020304" charset="0"/>
              <a:cs typeface="Times New Roman" panose="02020603050405020304" charset="0"/>
            </a:endParaRPr>
          </a:p>
          <a:p>
            <a:r>
              <a:rPr lang="en-GB" altLang="en-US" sz="2400" b="1">
                <a:sym typeface="+mn-ea"/>
              </a:rPr>
              <a:t>Example:</a:t>
            </a:r>
            <a:endParaRPr lang="en-GB" altLang="en-US" sz="2400" b="1">
              <a:sym typeface="+mn-ea"/>
            </a:endParaRPr>
          </a:p>
          <a:p>
            <a:r>
              <a:rPr lang="en-GB" altLang="en-US" sz="2400">
                <a:sym typeface="+mn-ea"/>
              </a:rPr>
              <a:t>p1 = 50 and p2 =80. </a:t>
            </a:r>
            <a:endParaRPr lang="en-GB" altLang="en-US" sz="2400"/>
          </a:p>
          <a:p>
            <a:r>
              <a:rPr lang="en-GB" altLang="en-US" sz="2400">
                <a:sym typeface="+mn-ea"/>
              </a:rPr>
              <a:t>The processing times are t1 = 25 for P1 and t2 = 35 for P2.</a:t>
            </a:r>
            <a:endParaRPr lang="en-US" altLang="en-US" sz="2400" b="1" dirty="0">
              <a:sym typeface="+mn-ea"/>
            </a:endParaRPr>
          </a:p>
          <a:p>
            <a:endParaRPr lang="en-GB" altLang="en-US" sz="2400" b="1">
              <a:latin typeface="Times New Roman" panose="02020603050405020304" charset="0"/>
              <a:cs typeface="Times New Roman" panose="02020603050405020304" charset="0"/>
            </a:endParaRPr>
          </a:p>
        </p:txBody>
      </p:sp>
      <p:pic>
        <p:nvPicPr>
          <p:cNvPr id="46084" name="Picture 4"/>
          <p:cNvPicPr>
            <a:picLocks noChangeAspect="1"/>
          </p:cNvPicPr>
          <p:nvPr/>
        </p:nvPicPr>
        <p:blipFill>
          <a:blip r:embed="rId1"/>
          <a:srcRect l="711" t="40184" r="711" b="39867"/>
          <a:stretch>
            <a:fillRect/>
          </a:stretch>
        </p:blipFill>
        <p:spPr>
          <a:xfrm>
            <a:off x="971550" y="4580890"/>
            <a:ext cx="7394575" cy="1123315"/>
          </a:xfrm>
          <a:prstGeom prst="rect">
            <a:avLst/>
          </a:prstGeom>
          <a:noFill/>
          <a:ln w="38100">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74395" y="653415"/>
            <a:ext cx="5977890" cy="1845310"/>
          </a:xfrm>
          <a:prstGeom prst="rect">
            <a:avLst/>
          </a:prstGeom>
          <a:noFill/>
        </p:spPr>
        <p:txBody>
          <a:bodyPr wrap="square" rtlCol="0">
            <a:spAutoFit/>
          </a:bodyPr>
          <a:p>
            <a:endParaRPr lang="en-GB" altLang="en-US" b="1"/>
          </a:p>
          <a:p>
            <a:r>
              <a:rPr lang="en-GB" altLang="en-US" b="1">
                <a:sym typeface="+mn-ea"/>
              </a:rPr>
              <a:t> </a:t>
            </a:r>
            <a:r>
              <a:rPr lang="en-GB" altLang="en-US" sz="2400" b="1">
                <a:sym typeface="+mn-ea"/>
              </a:rPr>
              <a:t>Proportional Share Scheduling</a:t>
            </a:r>
            <a:endParaRPr lang="en-GB" altLang="en-US" sz="2400" b="1">
              <a:sym typeface="+mn-ea"/>
            </a:endParaRPr>
          </a:p>
          <a:p>
            <a:endParaRPr lang="en-GB" altLang="en-US" sz="2400" b="1"/>
          </a:p>
          <a:p>
            <a:r>
              <a:rPr lang="en-GB" altLang="en-US" sz="2400" b="1">
                <a:sym typeface="+mn-ea"/>
              </a:rPr>
              <a:t>POSIX Real-Time Scheduling</a:t>
            </a:r>
            <a:endParaRPr lang="en-GB" altLang="en-US" sz="2400" b="1"/>
          </a:p>
          <a:p>
            <a:endParaRPr lang="en-GB" altLang="en-US" sz="2400"/>
          </a:p>
        </p:txBody>
      </p:sp>
    </p:spTree>
  </p:cSld>
  <p:clrMapOvr>
    <a:masterClrMapping/>
  </p:clrMapOvr>
</p:sld>
</file>

<file path=ppt/tags/tag1.xml><?xml version="1.0" encoding="utf-8"?>
<p:tagLst xmlns:p="http://schemas.openxmlformats.org/presentationml/2006/main">
  <p:tag name="TABLE_ENDDRAG_ORIGIN_RECT" val="531*290"/>
  <p:tag name="TABLE_ENDDRAG_RECT" val="118*170*531*29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11882</Words>
  <Application>WPS Presentation</Application>
  <PresentationFormat>On-screen Show (4:3)</PresentationFormat>
  <Paragraphs>617</Paragraphs>
  <Slides>39</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39</vt:i4>
      </vt:variant>
    </vt:vector>
  </HeadingPairs>
  <TitlesOfParts>
    <vt:vector size="57" baseType="lpstr">
      <vt:lpstr>Arial</vt:lpstr>
      <vt:lpstr>SimSun</vt:lpstr>
      <vt:lpstr>Wingdings</vt:lpstr>
      <vt:lpstr>Times New Roman</vt:lpstr>
      <vt:lpstr>Microsoft Sans Serif</vt:lpstr>
      <vt:lpstr>Wingdings</vt:lpstr>
      <vt:lpstr>Calibri</vt:lpstr>
      <vt:lpstr>Microsoft YaHei</vt:lpstr>
      <vt:lpstr>Arial Unicode MS</vt:lpstr>
      <vt:lpstr>Courier New</vt:lpstr>
      <vt:lpstr>Times New Roman</vt:lpstr>
      <vt:lpstr>Arimo</vt:lpstr>
      <vt:lpstr>Segoe Print</vt:lpstr>
      <vt:lpstr>Monotype Sorts</vt:lpstr>
      <vt:lpstr>MS PGothic</vt:lpstr>
      <vt:lpstr>Webdings</vt:lpstr>
      <vt:lpstr>Monotype Sorts</vt:lpstr>
      <vt:lpstr>Office Theme</vt:lpstr>
      <vt:lpstr>Chapter 2 Process </vt:lpstr>
      <vt:lpstr>What is process? A process is a program in execution.</vt:lpstr>
      <vt:lpstr>Layout of a process in memory:  </vt:lpstr>
      <vt:lpstr>PowerPoint 演示文稿</vt:lpstr>
      <vt:lpstr>PowerPoint 演示文稿</vt:lpstr>
      <vt:lpstr>PowerPoint 演示文稿</vt:lpstr>
      <vt:lpstr>PowerPoint 演示文稿</vt:lpstr>
      <vt:lpstr>Interprocess Communication 1.Independent process  2.cooperating Process</vt:lpstr>
      <vt:lpstr>IPC in Message-Passing Systems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Example of Shortest-remaining-time-first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process management?</dc:title>
  <dc:creator>PC</dc:creator>
  <cp:lastModifiedBy>Mohammed Arfat</cp:lastModifiedBy>
  <cp:revision>171</cp:revision>
  <dcterms:created xsi:type="dcterms:W3CDTF">2024-01-23T13:03:00Z</dcterms:created>
  <dcterms:modified xsi:type="dcterms:W3CDTF">2024-10-01T02:12:02Z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A5306376198B4F4A85BC2A43492ACD95_12</vt:lpwstr>
  </property>
  <property fmtid="{D5CDD505-2E9C-101B-9397-08002B2CF9AE}" pid="3" name="KSOProductBuildVer">
    <vt:lpwstr>1033-12.2.0.18586</vt:lpwstr>
  </property>
</Properties>
</file>