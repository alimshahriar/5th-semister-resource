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331" r:id="rId3"/>
    <p:sldId id="332" r:id="rId5"/>
    <p:sldId id="333" r:id="rId6"/>
    <p:sldId id="344" r:id="rId7"/>
    <p:sldId id="345" r:id="rId8"/>
    <p:sldId id="486" r:id="rId9"/>
    <p:sldId id="346" r:id="rId10"/>
    <p:sldId id="348" r:id="rId11"/>
    <p:sldId id="398" r:id="rId12"/>
    <p:sldId id="487" r:id="rId13"/>
    <p:sldId id="393" r:id="rId14"/>
    <p:sldId id="488" r:id="rId15"/>
    <p:sldId id="389" r:id="rId16"/>
    <p:sldId id="351" r:id="rId17"/>
    <p:sldId id="401" r:id="rId18"/>
    <p:sldId id="355" r:id="rId19"/>
    <p:sldId id="402" r:id="rId20"/>
    <p:sldId id="314" r:id="rId21"/>
    <p:sldId id="339" r:id="rId22"/>
    <p:sldId id="493" r:id="rId23"/>
    <p:sldId id="492" r:id="rId24"/>
    <p:sldId id="357" r:id="rId25"/>
  </p:sldIdLst>
  <p:sldSz cx="9144000" cy="6858000" type="screen4x3"/>
  <p:notesSz cx="6881495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7" autoAdjust="0"/>
    <p:restoredTop sz="86449" autoAdjust="0"/>
  </p:normalViewPr>
  <p:slideViewPr>
    <p:cSldViewPr snapToGrid="0" showGuides="1">
      <p:cViewPr varScale="1">
        <p:scale>
          <a:sx n="74" d="100"/>
          <a:sy n="74" d="100"/>
        </p:scale>
        <p:origin x="1212" y="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-91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685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algn="r"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algn="r"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CE38278-7045-46F9-8738-0D115AFF3EB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AAD36A-233E-4946-8BDD-D60EF2FDF08B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BDF339-D079-482E-97EF-D957DD678C8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57AB1F-3F1B-4BA4-BC1E-B4F52BC23CD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75A050-B6EF-4DC0-99C9-9163C99DD14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75A050-B6EF-4DC0-99C9-9163C99DD14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C2740B-2768-4F54-BC7D-348373841C64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A31134-7DBF-4044-AAC9-CEFAE1BA62E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9EA07E-4B01-40D1-9BF2-B2DA0AC533EB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9838E-E051-4574-9E24-21E43812D97C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82236F-6024-461D-95C0-A8C6844DD1F5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C7583-E25E-42B1-B377-9E2E25B85DE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D7A724-2969-44B4-BB3F-C936AD58245D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1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 bwMode="auto">
          <a:xfrm>
            <a:off x="403932" y="843367"/>
            <a:ext cx="8313938" cy="3817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 marL="742950" indent="-285750">
              <a:buFont typeface="Wingdings" panose="05000000000000000000" pitchFamily="2" charset="2"/>
              <a:buChar char="§"/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15900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220880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14.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302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14:  File System Implementation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933152" y="153406"/>
            <a:ext cx="80470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 </a:t>
            </a:r>
            <a:endParaRPr kumimoji="1" lang="en-US" altLang="en-US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958" y="981818"/>
            <a:ext cx="7640984" cy="4530725"/>
          </a:xfrm>
        </p:spPr>
        <p:txBody>
          <a:bodyPr/>
          <a:lstStyle/>
          <a:p>
            <a:r>
              <a:rPr lang="en-US" altLang="en-US" dirty="0"/>
              <a:t>File-System Structure</a:t>
            </a:r>
            <a:endParaRPr lang="en-US" altLang="en-US" dirty="0"/>
          </a:p>
          <a:p>
            <a:r>
              <a:rPr lang="en-US" altLang="en-US" dirty="0"/>
              <a:t>File-System Operations</a:t>
            </a:r>
            <a:endParaRPr lang="en-US" altLang="en-US" dirty="0"/>
          </a:p>
          <a:p>
            <a:r>
              <a:rPr lang="en-US" altLang="en-US" dirty="0"/>
              <a:t>Directory Implementation</a:t>
            </a:r>
            <a:endParaRPr lang="en-US" altLang="en-US" dirty="0"/>
          </a:p>
          <a:p>
            <a:r>
              <a:rPr lang="en-US" altLang="en-US" dirty="0"/>
              <a:t>Allocation Methods</a:t>
            </a:r>
            <a:endParaRPr lang="en-US" altLang="en-US" dirty="0"/>
          </a:p>
          <a:p>
            <a:r>
              <a:rPr lang="en-US" altLang="en-US" dirty="0"/>
              <a:t>Free-Space Management </a:t>
            </a:r>
            <a:endParaRPr lang="en-US" altLang="en-US" dirty="0"/>
          </a:p>
          <a:p>
            <a:r>
              <a:rPr lang="en-US" altLang="en-US" dirty="0"/>
              <a:t>Efficiency and Performance</a:t>
            </a:r>
            <a:endParaRPr lang="en-US" altLang="en-US" dirty="0"/>
          </a:p>
          <a:p>
            <a:r>
              <a:rPr lang="en-US" altLang="en-US" dirty="0"/>
              <a:t>Recovery</a:t>
            </a:r>
            <a:endParaRPr lang="en-US" altLang="en-US" dirty="0"/>
          </a:p>
          <a:p>
            <a:r>
              <a:rPr lang="en-US" altLang="en-US" dirty="0"/>
              <a:t>Example: WAFL File System</a:t>
            </a:r>
            <a:endParaRPr lang="en-US" altLang="en-US" dirty="0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974725" y="15319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326570" y="1462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3294" y="960109"/>
            <a:ext cx="7327900" cy="4530725"/>
          </a:xfrm>
        </p:spPr>
        <p:txBody>
          <a:bodyPr/>
          <a:lstStyle/>
          <a:p>
            <a:r>
              <a:rPr lang="en-US" altLang="en-US" dirty="0"/>
              <a:t>Describe the details of implementing local file systems and directory structures</a:t>
            </a:r>
            <a:endParaRPr lang="en-US" altLang="en-US" dirty="0"/>
          </a:p>
          <a:p>
            <a:r>
              <a:rPr lang="en-US" altLang="en-US" dirty="0"/>
              <a:t>Discuss block allocation and free-block algorithms and trade-offs</a:t>
            </a:r>
            <a:endParaRPr lang="en-US" altLang="en-US" dirty="0"/>
          </a:p>
          <a:p>
            <a:r>
              <a:rPr lang="en-US" altLang="en-US" dirty="0"/>
              <a:t>Explore file system efficiency and performance issues</a:t>
            </a:r>
            <a:endParaRPr lang="en-US" altLang="en-US" dirty="0"/>
          </a:p>
          <a:p>
            <a:r>
              <a:rPr lang="en-US" altLang="en-US" dirty="0"/>
              <a:t>Look at recovery from file system failures</a:t>
            </a:r>
            <a:endParaRPr lang="en-US" altLang="en-US" dirty="0"/>
          </a:p>
          <a:p>
            <a:r>
              <a:rPr lang="en-US" altLang="en-US" dirty="0"/>
              <a:t>Describe the WAFL file system as a concrete example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7469" y="132065"/>
            <a:ext cx="7567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Implementation</a:t>
            </a:r>
            <a:endParaRPr lang="en-US" altLang="en-US" dirty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612" y="952103"/>
            <a:ext cx="6690539" cy="4628565"/>
          </a:xfrm>
        </p:spPr>
        <p:txBody>
          <a:bodyPr/>
          <a:lstStyle/>
          <a:p>
            <a:r>
              <a:rPr lang="en-US" altLang="en-US" b="1" dirty="0"/>
              <a:t>Linear list</a:t>
            </a:r>
            <a:r>
              <a:rPr lang="en-US" altLang="en-US" dirty="0"/>
              <a:t> of file names with pointer to the data blocks</a:t>
            </a:r>
            <a:endParaRPr lang="en-US" altLang="en-US" dirty="0"/>
          </a:p>
          <a:p>
            <a:pPr lvl="1"/>
            <a:r>
              <a:rPr lang="en-US" altLang="en-US" dirty="0"/>
              <a:t>Simple to program</a:t>
            </a:r>
            <a:endParaRPr lang="en-US" altLang="en-US" dirty="0"/>
          </a:p>
          <a:p>
            <a:pPr lvl="1"/>
            <a:r>
              <a:rPr lang="en-US" altLang="en-US" dirty="0"/>
              <a:t>Time-consuming to execute</a:t>
            </a:r>
            <a:endParaRPr lang="en-US" altLang="en-US" dirty="0"/>
          </a:p>
          <a:p>
            <a:pPr lvl="2"/>
            <a:r>
              <a:rPr lang="en-US" altLang="en-US" dirty="0"/>
              <a:t>Linear search time</a:t>
            </a:r>
            <a:endParaRPr lang="en-US" altLang="en-US" dirty="0"/>
          </a:p>
          <a:p>
            <a:pPr lvl="2"/>
            <a:r>
              <a:rPr lang="en-US" altLang="en-US" dirty="0"/>
              <a:t>Could keep ordered alphabetically via linked list or use B+ tree</a:t>
            </a:r>
            <a:endParaRPr lang="en-US" altLang="en-US" dirty="0"/>
          </a:p>
          <a:p>
            <a:r>
              <a:rPr lang="en-US" altLang="en-US" b="1" dirty="0"/>
              <a:t>Hash Table</a:t>
            </a:r>
            <a:r>
              <a:rPr lang="en-US" altLang="en-US" dirty="0"/>
              <a:t> – linear list with hash data structure</a:t>
            </a:r>
            <a:endParaRPr lang="en-US" altLang="en-US" dirty="0"/>
          </a:p>
          <a:p>
            <a:pPr lvl="1"/>
            <a:r>
              <a:rPr lang="en-US" altLang="en-US" dirty="0"/>
              <a:t>Decreases directory search time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Collisions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situations where two file names hash to the same location</a:t>
            </a:r>
            <a:endParaRPr lang="en-US" altLang="en-US" dirty="0"/>
          </a:p>
          <a:p>
            <a:pPr lvl="1"/>
            <a:r>
              <a:rPr lang="en-US" altLang="en-US" dirty="0"/>
              <a:t>Only good if entries are fixed size, or use chained-overflow method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1023967" y="110534"/>
            <a:ext cx="7731125" cy="604019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Method </a:t>
            </a:r>
            <a:endParaRPr lang="en-US" altLang="en-US" dirty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581" y="952108"/>
            <a:ext cx="6445939" cy="4393834"/>
          </a:xfrm>
        </p:spPr>
        <p:txBody>
          <a:bodyPr/>
          <a:lstStyle/>
          <a:p>
            <a:r>
              <a:rPr lang="en-US" altLang="en-US" dirty="0"/>
              <a:t>An allocation method refers to how disk blocks are allocated for files:</a:t>
            </a:r>
            <a:endParaRPr lang="en-US" altLang="en-US" dirty="0"/>
          </a:p>
          <a:p>
            <a:pPr lvl="1"/>
            <a:r>
              <a:rPr lang="en-US" altLang="en-US" dirty="0"/>
              <a:t>Contiguous</a:t>
            </a:r>
            <a:endParaRPr lang="en-US" altLang="en-US" dirty="0"/>
          </a:p>
          <a:p>
            <a:pPr lvl="1"/>
            <a:r>
              <a:rPr lang="en-US" altLang="en-US" dirty="0"/>
              <a:t>Linked</a:t>
            </a:r>
            <a:endParaRPr lang="en-US" altLang="en-US" dirty="0"/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File Allocation Table (FAT)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1023967" y="188531"/>
            <a:ext cx="77311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Method</a:t>
            </a:r>
            <a:r>
              <a:rPr lang="en-GB" altLang="en-US" dirty="0"/>
              <a:t> 1</a:t>
            </a:r>
            <a:r>
              <a:rPr lang="en-US" altLang="en-US" dirty="0"/>
              <a:t> </a:t>
            </a:r>
            <a:endParaRPr lang="en-US" altLang="en-US" dirty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581" y="952108"/>
            <a:ext cx="6445939" cy="4393834"/>
          </a:xfrm>
        </p:spPr>
        <p:txBody>
          <a:bodyPr/>
          <a:lstStyle/>
          <a:p>
            <a:r>
              <a:rPr lang="en-US" altLang="en-US" dirty="0"/>
              <a:t>An allocation method refers to how disk blocks are allocated for files:</a:t>
            </a:r>
            <a:endParaRPr lang="en-US" altLang="en-US" dirty="0"/>
          </a:p>
          <a:p>
            <a:r>
              <a:rPr lang="en-US" altLang="en-US" dirty="0"/>
              <a:t>Each file occupies set of contiguous blocks</a:t>
            </a:r>
            <a:endParaRPr lang="en-US" altLang="en-US" dirty="0"/>
          </a:p>
          <a:p>
            <a:pPr lvl="1"/>
            <a:r>
              <a:rPr lang="en-US" altLang="en-US" dirty="0"/>
              <a:t>Best performance in most cases</a:t>
            </a:r>
            <a:endParaRPr lang="en-US" altLang="en-US" dirty="0"/>
          </a:p>
          <a:p>
            <a:pPr lvl="1"/>
            <a:r>
              <a:rPr lang="en-US" altLang="en-US" dirty="0"/>
              <a:t>Simple – only starting location (block #) and length (number of blocks) are required</a:t>
            </a:r>
            <a:endParaRPr lang="en-US" altLang="en-US" dirty="0"/>
          </a:p>
          <a:p>
            <a:pPr lvl="1"/>
            <a:r>
              <a:rPr lang="en-US" altLang="en-US" dirty="0"/>
              <a:t>Problems include:</a:t>
            </a:r>
            <a:endParaRPr lang="en-US" altLang="en-US" dirty="0"/>
          </a:p>
          <a:p>
            <a:pPr lvl="2"/>
            <a:r>
              <a:rPr lang="en-US" altLang="en-US" dirty="0"/>
              <a:t>Finding space on the disk for a file, </a:t>
            </a:r>
            <a:endParaRPr lang="en-US" altLang="en-US" dirty="0"/>
          </a:p>
          <a:p>
            <a:pPr lvl="2"/>
            <a:r>
              <a:rPr lang="en-US" altLang="en-US" dirty="0"/>
              <a:t>Knowing file size, </a:t>
            </a:r>
            <a:endParaRPr lang="en-US" altLang="en-US" dirty="0"/>
          </a:p>
          <a:p>
            <a:pPr lvl="2"/>
            <a:r>
              <a:rPr lang="en-US" altLang="en-US" dirty="0"/>
              <a:t>External fragmentation, need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off-line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downtime</a:t>
            </a:r>
            <a:r>
              <a:rPr lang="en-US" altLang="en-US" dirty="0"/>
              <a:t>)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on-line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473075" y="17920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  <a:endParaRPr lang="en-US" alt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961529"/>
            <a:ext cx="3958590" cy="3611334"/>
          </a:xfrm>
        </p:spPr>
        <p:txBody>
          <a:bodyPr/>
          <a:lstStyle/>
          <a:p>
            <a:r>
              <a:rPr lang="en-US" altLang="en-US" dirty="0"/>
              <a:t>Mapping from logical to physical (block size =512 bytes)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kumimoji="0" lang="en-US" altLang="en-US" dirty="0"/>
              <a:t>Block to be accessed = starting address +  Q</a:t>
            </a:r>
            <a:endParaRPr kumimoji="0" lang="en-US" altLang="en-US" dirty="0"/>
          </a:p>
          <a:p>
            <a:r>
              <a:rPr kumimoji="0" lang="en-US" altLang="en-US" dirty="0"/>
              <a:t>Displacement into block = R</a:t>
            </a:r>
            <a:endParaRPr kumimoji="0" lang="en-US" altLang="en-US" dirty="0"/>
          </a:p>
          <a:p>
            <a:endParaRPr kumimoji="0" lang="en-US" altLang="en-US" dirty="0"/>
          </a:p>
          <a:p>
            <a:endParaRPr kumimoji="0"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grpSp>
        <p:nvGrpSpPr>
          <p:cNvPr id="30723" name="Group 1"/>
          <p:cNvGrpSpPr/>
          <p:nvPr/>
        </p:nvGrpSpPr>
        <p:grpSpPr bwMode="auto">
          <a:xfrm>
            <a:off x="2459788" y="1668027"/>
            <a:ext cx="1917700" cy="1562306"/>
            <a:chOff x="2655888" y="2127250"/>
            <a:chExt cx="1917700" cy="1385888"/>
          </a:xfrm>
        </p:grpSpPr>
        <p:sp>
          <p:nvSpPr>
            <p:cNvPr id="30726" name="Text Box 4"/>
            <p:cNvSpPr txBox="1">
              <a:spLocks noChangeArrowheads="1"/>
            </p:cNvSpPr>
            <p:nvPr/>
          </p:nvSpPr>
          <p:spPr bwMode="auto">
            <a:xfrm>
              <a:off x="2655888" y="2584450"/>
              <a:ext cx="12652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LA/512</a:t>
              </a:r>
              <a:endParaRPr kumimoji="0" lang="en-US" altLang="en-US" dirty="0"/>
            </a:p>
          </p:txBody>
        </p:sp>
        <p:sp>
          <p:nvSpPr>
            <p:cNvPr id="30727" name="Text Box 5"/>
            <p:cNvSpPr txBox="1">
              <a:spLocks noChangeArrowheads="1"/>
            </p:cNvSpPr>
            <p:nvPr/>
          </p:nvSpPr>
          <p:spPr bwMode="auto">
            <a:xfrm>
              <a:off x="3768725" y="2127250"/>
              <a:ext cx="8048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  <a:endParaRPr kumimoji="0" lang="en-US" altLang="en-US"/>
            </a:p>
          </p:txBody>
        </p:sp>
        <p:sp>
          <p:nvSpPr>
            <p:cNvPr id="30728" name="Text Box 6"/>
            <p:cNvSpPr txBox="1">
              <a:spLocks noChangeArrowheads="1"/>
            </p:cNvSpPr>
            <p:nvPr/>
          </p:nvSpPr>
          <p:spPr bwMode="auto">
            <a:xfrm>
              <a:off x="3825875" y="3143250"/>
              <a:ext cx="635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  <a:endParaRPr kumimoji="0" lang="en-US" altLang="en-US"/>
            </a:p>
          </p:txBody>
        </p:sp>
        <p:sp>
          <p:nvSpPr>
            <p:cNvPr id="30729" name="Line 7"/>
            <p:cNvSpPr>
              <a:spLocks noChangeShapeType="1"/>
            </p:cNvSpPr>
            <p:nvPr/>
          </p:nvSpPr>
          <p:spPr bwMode="auto">
            <a:xfrm flipV="1">
              <a:off x="3675327" y="2437022"/>
              <a:ext cx="309298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0730" name="Line 8"/>
            <p:cNvSpPr>
              <a:spLocks noChangeShapeType="1"/>
            </p:cNvSpPr>
            <p:nvPr/>
          </p:nvSpPr>
          <p:spPr bwMode="auto">
            <a:xfrm>
              <a:off x="3711575" y="2954338"/>
              <a:ext cx="273050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30724" name="Rectangle 10"/>
          <p:cNvSpPr>
            <a:spLocks noChangeArrowheads="1"/>
          </p:cNvSpPr>
          <p:nvPr/>
        </p:nvSpPr>
        <p:spPr bwMode="auto">
          <a:xfrm>
            <a:off x="635000" y="5111750"/>
            <a:ext cx="404653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</p:txBody>
      </p:sp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092" y="1453720"/>
            <a:ext cx="3351213" cy="336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22493"/>
            <a:ext cx="8229600" cy="576262"/>
          </a:xfrm>
        </p:spPr>
        <p:txBody>
          <a:bodyPr/>
          <a:lstStyle/>
          <a:p>
            <a:r>
              <a:rPr lang="en-US" altLang="en-US" dirty="0"/>
              <a:t>Linked Allocation</a:t>
            </a:r>
            <a:endParaRPr lang="en-US" altLang="en-US" dirty="0"/>
          </a:p>
        </p:txBody>
      </p:sp>
      <p:sp>
        <p:nvSpPr>
          <p:cNvPr id="3481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84855" y="945492"/>
            <a:ext cx="7324648" cy="4631343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Each file is a linked list of blocks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File ends at nil pointer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No external fragmentation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Each block contains pointer to next block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No compaction, external fragmentation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Free space management system called when new block needed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Improve efficiency by clustering blocks into groups but increases internal fragmentation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Reliability can be a problem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Locating a block can take many I/</a:t>
            </a:r>
            <a:r>
              <a:rPr lang="en-US" altLang="en-US" dirty="0" err="1">
                <a:solidFill>
                  <a:srgbClr val="000000"/>
                </a:solidFill>
              </a:rPr>
              <a:t>Os</a:t>
            </a:r>
            <a:r>
              <a:rPr lang="en-US" altLang="en-US" dirty="0">
                <a:solidFill>
                  <a:srgbClr val="000000"/>
                </a:solidFill>
              </a:rPr>
              <a:t> and disk seeks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662182" y="122234"/>
            <a:ext cx="789398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 Example</a:t>
            </a:r>
            <a:r>
              <a:rPr lang="en-GB" altLang="en-US" dirty="0"/>
              <a:t> 1</a:t>
            </a:r>
            <a:endParaRPr lang="en-GB" altLang="en-US" dirty="0"/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429" y="914397"/>
            <a:ext cx="6810851" cy="5085970"/>
          </a:xfrm>
        </p:spPr>
        <p:txBody>
          <a:bodyPr/>
          <a:lstStyle/>
          <a:p>
            <a:r>
              <a:rPr lang="en-US" altLang="en-US" dirty="0"/>
              <a:t>Each file is a linked list of disk blocks: blocks may be scattered anywhere on the disk</a:t>
            </a:r>
            <a:endParaRPr lang="en-US" altLang="en-US" dirty="0"/>
          </a:p>
          <a:p>
            <a:r>
              <a:rPr lang="en-US" altLang="en-US" dirty="0"/>
              <a:t>Scheme</a:t>
            </a:r>
            <a:endParaRPr lang="en-US" alt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862" y="2073896"/>
            <a:ext cx="3301432" cy="339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662182" y="169369"/>
            <a:ext cx="789398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 (Cont.)</a:t>
            </a:r>
            <a:endParaRPr lang="en-US" altLang="en-US" dirty="0"/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429" y="942675"/>
            <a:ext cx="6160612" cy="3744222"/>
          </a:xfrm>
        </p:spPr>
        <p:txBody>
          <a:bodyPr/>
          <a:lstStyle/>
          <a:p>
            <a:r>
              <a:rPr lang="en-US" altLang="en-US" dirty="0"/>
              <a:t>Mapping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Block to be accessed is the Q</a:t>
            </a:r>
            <a:r>
              <a:rPr lang="en-US" altLang="en-US" baseline="30000" dirty="0"/>
              <a:t>th</a:t>
            </a:r>
            <a:r>
              <a:rPr lang="en-US" altLang="en-US" dirty="0"/>
              <a:t> block in the linked chain of blocks representing the file.</a:t>
            </a:r>
            <a:endParaRPr lang="en-US" altLang="en-US" dirty="0"/>
          </a:p>
          <a:p>
            <a:r>
              <a:rPr lang="en-US" altLang="en-US" dirty="0"/>
              <a:t>Displacement into block = R + 1</a:t>
            </a:r>
            <a:endParaRPr lang="en-US" altLang="en-US" dirty="0"/>
          </a:p>
          <a:p>
            <a:endParaRPr lang="en-US" altLang="en-US" dirty="0"/>
          </a:p>
        </p:txBody>
      </p:sp>
      <p:grpSp>
        <p:nvGrpSpPr>
          <p:cNvPr id="36870" name="Group 1"/>
          <p:cNvGrpSpPr/>
          <p:nvPr/>
        </p:nvGrpSpPr>
        <p:grpSpPr bwMode="auto">
          <a:xfrm>
            <a:off x="1911442" y="1357458"/>
            <a:ext cx="1386205" cy="1186557"/>
            <a:chOff x="3232150" y="3935037"/>
            <a:chExt cx="1374775" cy="985838"/>
          </a:xfrm>
        </p:grpSpPr>
        <p:sp>
          <p:nvSpPr>
            <p:cNvPr id="36871" name="Text Box 5"/>
            <p:cNvSpPr txBox="1">
              <a:spLocks noChangeArrowheads="1"/>
            </p:cNvSpPr>
            <p:nvPr/>
          </p:nvSpPr>
          <p:spPr bwMode="auto">
            <a:xfrm>
              <a:off x="3232150" y="4250950"/>
              <a:ext cx="8985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LA/511</a:t>
              </a:r>
              <a:endParaRPr kumimoji="0" lang="en-US" altLang="en-US" dirty="0"/>
            </a:p>
          </p:txBody>
        </p:sp>
        <p:sp>
          <p:nvSpPr>
            <p:cNvPr id="36872" name="Text Box 6"/>
            <p:cNvSpPr txBox="1">
              <a:spLocks noChangeArrowheads="1"/>
            </p:cNvSpPr>
            <p:nvPr/>
          </p:nvSpPr>
          <p:spPr bwMode="auto">
            <a:xfrm>
              <a:off x="4241800" y="3935037"/>
              <a:ext cx="365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Q</a:t>
              </a:r>
              <a:endParaRPr kumimoji="0" lang="en-US" altLang="en-US" dirty="0"/>
            </a:p>
          </p:txBody>
        </p:sp>
        <p:sp>
          <p:nvSpPr>
            <p:cNvPr id="36873" name="Text Box 7"/>
            <p:cNvSpPr txBox="1">
              <a:spLocks noChangeArrowheads="1"/>
            </p:cNvSpPr>
            <p:nvPr/>
          </p:nvSpPr>
          <p:spPr bwMode="auto">
            <a:xfrm>
              <a:off x="4241800" y="4550987"/>
              <a:ext cx="3524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  <a:endParaRPr kumimoji="0" lang="en-US" altLang="en-US"/>
            </a:p>
          </p:txBody>
        </p:sp>
        <p:sp>
          <p:nvSpPr>
            <p:cNvPr id="36874" name="Line 8"/>
            <p:cNvSpPr>
              <a:spLocks noChangeShapeType="1"/>
            </p:cNvSpPr>
            <p:nvPr/>
          </p:nvSpPr>
          <p:spPr bwMode="auto">
            <a:xfrm flipV="1">
              <a:off x="4049713" y="4177925"/>
              <a:ext cx="258762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6875" name="Line 9"/>
            <p:cNvSpPr>
              <a:spLocks noChangeShapeType="1"/>
            </p:cNvSpPr>
            <p:nvPr/>
          </p:nvSpPr>
          <p:spPr bwMode="auto">
            <a:xfrm>
              <a:off x="4057650" y="4489075"/>
              <a:ext cx="25876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 noChangeArrowheads="1"/>
          </p:cNvSpPr>
          <p:nvPr>
            <p:ph type="title"/>
          </p:nvPr>
        </p:nvSpPr>
        <p:spPr>
          <a:xfrm>
            <a:off x="712882" y="134756"/>
            <a:ext cx="8229600" cy="576262"/>
          </a:xfrm>
        </p:spPr>
        <p:txBody>
          <a:bodyPr/>
          <a:lstStyle/>
          <a:p>
            <a:r>
              <a:rPr lang="en-US" altLang="en-US" dirty="0"/>
              <a:t>FAT Allocation Method</a:t>
            </a:r>
            <a:endParaRPr lang="en-US" altLang="en-US" dirty="0"/>
          </a:p>
        </p:txBody>
      </p:sp>
      <p:sp>
        <p:nvSpPr>
          <p:cNvPr id="3584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84856" y="983202"/>
            <a:ext cx="7671315" cy="4530725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Beginning of volume has table, indexed by block number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Much like a linked list, but faster on disk and cacheable 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New block allocation simple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493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File-Allocation Table</a:t>
            </a:r>
            <a:endParaRPr lang="en-US" alt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613" y="1311910"/>
            <a:ext cx="45212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14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325" y="1547813"/>
            <a:ext cx="387985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94524" y="2327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662182" y="169369"/>
            <a:ext cx="789398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</a:t>
            </a:r>
            <a:endParaRPr lang="en-US" altLang="en-US" dirty="0"/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429" y="1233488"/>
            <a:ext cx="7577138" cy="749300"/>
          </a:xfrm>
        </p:spPr>
        <p:txBody>
          <a:bodyPr/>
          <a:lstStyle/>
          <a:p>
            <a:r>
              <a:rPr lang="en-US" altLang="en-US" dirty="0"/>
              <a:t>Each file is a linked list of disk blocks: blocks may be scattered anywhere on the disk</a:t>
            </a:r>
            <a:endParaRPr lang="en-US" altLang="en-US" dirty="0"/>
          </a:p>
        </p:txBody>
      </p:sp>
      <p:grpSp>
        <p:nvGrpSpPr>
          <p:cNvPr id="36867" name="Group 4"/>
          <p:cNvGrpSpPr/>
          <p:nvPr/>
        </p:nvGrpSpPr>
        <p:grpSpPr bwMode="auto">
          <a:xfrm>
            <a:off x="2673350" y="1983050"/>
            <a:ext cx="2765425" cy="1500187"/>
            <a:chOff x="1684" y="1576"/>
            <a:chExt cx="1742" cy="945"/>
          </a:xfrm>
        </p:grpSpPr>
        <p:sp>
          <p:nvSpPr>
            <p:cNvPr id="36876" name="Rectangle 5"/>
            <p:cNvSpPr>
              <a:spLocks noChangeArrowheads="1"/>
            </p:cNvSpPr>
            <p:nvPr/>
          </p:nvSpPr>
          <p:spPr bwMode="auto">
            <a:xfrm>
              <a:off x="2481" y="1576"/>
              <a:ext cx="945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pointer</a:t>
              </a:r>
              <a:endParaRPr kumimoji="0" lang="en-US" altLang="en-US" dirty="0"/>
            </a:p>
          </p:txBody>
        </p:sp>
        <p:sp>
          <p:nvSpPr>
            <p:cNvPr id="36877" name="Rectangle 6"/>
            <p:cNvSpPr>
              <a:spLocks noChangeArrowheads="1"/>
            </p:cNvSpPr>
            <p:nvPr/>
          </p:nvSpPr>
          <p:spPr bwMode="auto">
            <a:xfrm>
              <a:off x="2481" y="1848"/>
              <a:ext cx="945" cy="6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36878" name="Text Box 7"/>
            <p:cNvSpPr txBox="1">
              <a:spLocks noChangeArrowheads="1"/>
            </p:cNvSpPr>
            <p:nvPr/>
          </p:nvSpPr>
          <p:spPr bwMode="auto">
            <a:xfrm>
              <a:off x="1684" y="1596"/>
              <a:ext cx="7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block      =</a:t>
              </a:r>
              <a:endParaRPr kumimoji="0" lang="en-US" altLang="en-US"/>
            </a:p>
          </p:txBody>
        </p:sp>
      </p:grp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65077" y="3203223"/>
            <a:ext cx="7370763" cy="9064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>
              <a:buFont typeface="Monotype Sorts" pitchFamily="-84" charset="2"/>
              <a:buNone/>
              <a:defRPr/>
            </a:pPr>
            <a:endParaRPr lang="en-US" altLang="en-US" kern="0" dirty="0"/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altLang="en-US" kern="0" dirty="0"/>
              <a:t>Mapping</a:t>
            </a:r>
            <a:endParaRPr lang="en-US" altLang="en-US" kern="0" dirty="0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843774" y="4933950"/>
            <a:ext cx="7670183" cy="163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r>
              <a:rPr lang="en-US" altLang="en-US" dirty="0"/>
              <a:t>Block to be accessed is the Qth block in the linked chain of blocks representing the file.</a:t>
            </a:r>
            <a:endParaRPr lang="en-US" altLang="en-US" dirty="0"/>
          </a:p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endParaRPr lang="en-US" altLang="en-US" dirty="0"/>
          </a:p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r>
              <a:rPr lang="en-US" altLang="en-US" dirty="0"/>
              <a:t>Displacement into block = R + 1</a:t>
            </a:r>
            <a:endParaRPr lang="en-US" altLang="en-US" dirty="0"/>
          </a:p>
        </p:txBody>
      </p:sp>
      <p:grpSp>
        <p:nvGrpSpPr>
          <p:cNvPr id="36870" name="Group 1"/>
          <p:cNvGrpSpPr/>
          <p:nvPr/>
        </p:nvGrpSpPr>
        <p:grpSpPr bwMode="auto">
          <a:xfrm>
            <a:off x="3232150" y="3935413"/>
            <a:ext cx="1374775" cy="985837"/>
            <a:chOff x="3232150" y="3935037"/>
            <a:chExt cx="1374775" cy="985838"/>
          </a:xfrm>
        </p:grpSpPr>
        <p:sp>
          <p:nvSpPr>
            <p:cNvPr id="36871" name="Text Box 5"/>
            <p:cNvSpPr txBox="1">
              <a:spLocks noChangeArrowheads="1"/>
            </p:cNvSpPr>
            <p:nvPr/>
          </p:nvSpPr>
          <p:spPr bwMode="auto">
            <a:xfrm>
              <a:off x="3232150" y="4250950"/>
              <a:ext cx="8985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LA/511</a:t>
              </a:r>
              <a:endParaRPr kumimoji="0" lang="en-US" altLang="en-US"/>
            </a:p>
          </p:txBody>
        </p:sp>
        <p:sp>
          <p:nvSpPr>
            <p:cNvPr id="36872" name="Text Box 6"/>
            <p:cNvSpPr txBox="1">
              <a:spLocks noChangeArrowheads="1"/>
            </p:cNvSpPr>
            <p:nvPr/>
          </p:nvSpPr>
          <p:spPr bwMode="auto">
            <a:xfrm>
              <a:off x="4241800" y="3935037"/>
              <a:ext cx="365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  <a:endParaRPr kumimoji="0" lang="en-US" altLang="en-US"/>
            </a:p>
          </p:txBody>
        </p:sp>
        <p:sp>
          <p:nvSpPr>
            <p:cNvPr id="36873" name="Text Box 7"/>
            <p:cNvSpPr txBox="1">
              <a:spLocks noChangeArrowheads="1"/>
            </p:cNvSpPr>
            <p:nvPr/>
          </p:nvSpPr>
          <p:spPr bwMode="auto">
            <a:xfrm>
              <a:off x="4241800" y="4550987"/>
              <a:ext cx="3524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  <a:endParaRPr kumimoji="0" lang="en-US" altLang="en-US"/>
            </a:p>
          </p:txBody>
        </p:sp>
        <p:sp>
          <p:nvSpPr>
            <p:cNvPr id="36874" name="Line 8"/>
            <p:cNvSpPr>
              <a:spLocks noChangeShapeType="1"/>
            </p:cNvSpPr>
            <p:nvPr/>
          </p:nvSpPr>
          <p:spPr bwMode="auto">
            <a:xfrm flipV="1">
              <a:off x="4049713" y="4177925"/>
              <a:ext cx="258762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6875" name="Line 9"/>
            <p:cNvSpPr>
              <a:spLocks noChangeShapeType="1"/>
            </p:cNvSpPr>
            <p:nvPr/>
          </p:nvSpPr>
          <p:spPr bwMode="auto">
            <a:xfrm>
              <a:off x="4057650" y="4489075"/>
              <a:ext cx="25876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998732" y="166600"/>
            <a:ext cx="7694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(Cont.)</a:t>
            </a:r>
            <a:endParaRPr lang="en-US" altLang="en-US" dirty="0"/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7" y="1233488"/>
            <a:ext cx="7694612" cy="32051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Need index table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Random access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Dynamic access without external fragmentation, but have overhead of index block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Mapping from logical to physical in a file of maximum size of 256K bytes and block size of 512 bytes.  We need only 1 block for index table</a:t>
            </a:r>
            <a:endParaRPr lang="en-US" altLang="en-US" dirty="0"/>
          </a:p>
        </p:txBody>
      </p:sp>
      <p:grpSp>
        <p:nvGrpSpPr>
          <p:cNvPr id="46083" name="Group 1"/>
          <p:cNvGrpSpPr/>
          <p:nvPr/>
        </p:nvGrpSpPr>
        <p:grpSpPr bwMode="auto">
          <a:xfrm>
            <a:off x="2984500" y="3694113"/>
            <a:ext cx="1382713" cy="985837"/>
            <a:chOff x="2984500" y="3600450"/>
            <a:chExt cx="1382713" cy="985838"/>
          </a:xfrm>
        </p:grpSpPr>
        <p:sp>
          <p:nvSpPr>
            <p:cNvPr id="46085" name="Text Box 4"/>
            <p:cNvSpPr txBox="1">
              <a:spLocks noChangeArrowheads="1"/>
            </p:cNvSpPr>
            <p:nvPr/>
          </p:nvSpPr>
          <p:spPr bwMode="auto">
            <a:xfrm>
              <a:off x="2984500" y="3916363"/>
              <a:ext cx="9144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LA/512</a:t>
              </a:r>
              <a:endParaRPr kumimoji="0" lang="en-US" altLang="en-US"/>
            </a:p>
          </p:txBody>
        </p:sp>
        <p:sp>
          <p:nvSpPr>
            <p:cNvPr id="46086" name="Text Box 5"/>
            <p:cNvSpPr txBox="1">
              <a:spLocks noChangeArrowheads="1"/>
            </p:cNvSpPr>
            <p:nvPr/>
          </p:nvSpPr>
          <p:spPr bwMode="auto">
            <a:xfrm>
              <a:off x="4002088" y="3600450"/>
              <a:ext cx="365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  <a:endParaRPr kumimoji="0" lang="en-US" altLang="en-US"/>
            </a:p>
          </p:txBody>
        </p:sp>
        <p:sp>
          <p:nvSpPr>
            <p:cNvPr id="46087" name="Text Box 6"/>
            <p:cNvSpPr txBox="1">
              <a:spLocks noChangeArrowheads="1"/>
            </p:cNvSpPr>
            <p:nvPr/>
          </p:nvSpPr>
          <p:spPr bwMode="auto">
            <a:xfrm>
              <a:off x="4002088" y="4216400"/>
              <a:ext cx="3524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  <a:endParaRPr kumimoji="0" lang="en-US" altLang="en-US"/>
            </a:p>
          </p:txBody>
        </p:sp>
        <p:sp>
          <p:nvSpPr>
            <p:cNvPr id="46088" name="Line 7"/>
            <p:cNvSpPr>
              <a:spLocks noChangeShapeType="1"/>
            </p:cNvSpPr>
            <p:nvPr/>
          </p:nvSpPr>
          <p:spPr bwMode="auto">
            <a:xfrm flipV="1">
              <a:off x="3810000" y="3843338"/>
              <a:ext cx="25876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6089" name="Line 8"/>
            <p:cNvSpPr>
              <a:spLocks noChangeShapeType="1"/>
            </p:cNvSpPr>
            <p:nvPr/>
          </p:nvSpPr>
          <p:spPr bwMode="auto">
            <a:xfrm>
              <a:off x="3817938" y="4154488"/>
              <a:ext cx="258762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6084" name="Rectangle 9"/>
          <p:cNvSpPr>
            <a:spLocks noChangeArrowheads="1"/>
          </p:cNvSpPr>
          <p:nvPr/>
        </p:nvSpPr>
        <p:spPr bwMode="auto">
          <a:xfrm>
            <a:off x="1457325" y="4960938"/>
            <a:ext cx="702945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25755" indent="-325755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/>
              <a:t>Q = displacement into index table</a:t>
            </a:r>
            <a:endParaRPr kumimoji="0" lang="en-US" altLang="en-US"/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/>
              <a:t>R = displacement into block</a:t>
            </a:r>
            <a:endParaRPr kumimoji="0" lang="en-US" altLang="en-US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680" y="17952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Small Files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8" y="1233487"/>
            <a:ext cx="7029450" cy="441547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Mapping from logical to physical in a file of unbounded length (block size of 512 words)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Linked scheme – Link blocks of index table (no limit on size)</a:t>
            </a:r>
            <a:endParaRPr lang="en-US" altLang="en-US" dirty="0"/>
          </a:p>
        </p:txBody>
      </p:sp>
      <p:grpSp>
        <p:nvGrpSpPr>
          <p:cNvPr id="48131" name="Group 1"/>
          <p:cNvGrpSpPr/>
          <p:nvPr/>
        </p:nvGrpSpPr>
        <p:grpSpPr bwMode="auto">
          <a:xfrm>
            <a:off x="3230563" y="2765425"/>
            <a:ext cx="2368550" cy="852488"/>
            <a:chOff x="3230563" y="2765425"/>
            <a:chExt cx="2368550" cy="852488"/>
          </a:xfrm>
        </p:grpSpPr>
        <p:sp>
          <p:nvSpPr>
            <p:cNvPr id="48140" name="Text Box 4"/>
            <p:cNvSpPr txBox="1">
              <a:spLocks noChangeArrowheads="1"/>
            </p:cNvSpPr>
            <p:nvPr/>
          </p:nvSpPr>
          <p:spPr bwMode="auto">
            <a:xfrm>
              <a:off x="3230563" y="3017838"/>
              <a:ext cx="16192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LA / (512 x 511)</a:t>
              </a:r>
              <a:endParaRPr kumimoji="0" lang="en-US" altLang="en-US" sz="1600"/>
            </a:p>
          </p:txBody>
        </p:sp>
        <p:sp>
          <p:nvSpPr>
            <p:cNvPr id="48141" name="Text Box 5"/>
            <p:cNvSpPr txBox="1">
              <a:spLocks noChangeArrowheads="1"/>
            </p:cNvSpPr>
            <p:nvPr/>
          </p:nvSpPr>
          <p:spPr bwMode="auto">
            <a:xfrm>
              <a:off x="5178425" y="2765425"/>
              <a:ext cx="4206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2" name="Text Box 6"/>
            <p:cNvSpPr txBox="1">
              <a:spLocks noChangeArrowheads="1"/>
            </p:cNvSpPr>
            <p:nvPr/>
          </p:nvSpPr>
          <p:spPr bwMode="auto">
            <a:xfrm>
              <a:off x="5178425" y="3278188"/>
              <a:ext cx="4079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3" name="Line 7"/>
            <p:cNvSpPr>
              <a:spLocks noChangeShapeType="1"/>
            </p:cNvSpPr>
            <p:nvPr/>
          </p:nvSpPr>
          <p:spPr bwMode="auto">
            <a:xfrm flipV="1">
              <a:off x="4791075" y="29575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44" name="Line 8"/>
            <p:cNvSpPr>
              <a:spLocks noChangeShapeType="1"/>
            </p:cNvSpPr>
            <p:nvPr/>
          </p:nvSpPr>
          <p:spPr bwMode="auto">
            <a:xfrm>
              <a:off x="4783138" y="31988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2" name="Rectangle 9"/>
          <p:cNvSpPr>
            <a:spLocks noChangeArrowheads="1"/>
          </p:cNvSpPr>
          <p:nvPr/>
        </p:nvSpPr>
        <p:spPr bwMode="auto">
          <a:xfrm>
            <a:off x="992188" y="3581400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Q</a:t>
            </a:r>
            <a:r>
              <a:rPr kumimoji="0" lang="en-US" altLang="en-US" i="1" baseline="-25000"/>
              <a:t>1</a:t>
            </a:r>
            <a:r>
              <a:rPr kumimoji="0" lang="en-US" altLang="en-US" i="1"/>
              <a:t> </a:t>
            </a:r>
            <a:r>
              <a:rPr kumimoji="0" lang="en-US" altLang="en-US"/>
              <a:t>= block of index table</a:t>
            </a:r>
            <a:endParaRPr kumimoji="0" lang="en-US" altLang="en-US"/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R</a:t>
            </a:r>
            <a:r>
              <a:rPr kumimoji="0" lang="en-US" altLang="en-US" i="1" baseline="-25000"/>
              <a:t>1</a:t>
            </a:r>
            <a:r>
              <a:rPr kumimoji="0" lang="en-US" altLang="en-US" i="1"/>
              <a:t> </a:t>
            </a:r>
            <a:r>
              <a:rPr kumimoji="0" lang="en-US" altLang="en-US"/>
              <a:t>is used as follows:</a:t>
            </a:r>
            <a:endParaRPr kumimoji="0" lang="en-US" altLang="en-US"/>
          </a:p>
        </p:txBody>
      </p:sp>
      <p:grpSp>
        <p:nvGrpSpPr>
          <p:cNvPr id="48133" name="Group 2"/>
          <p:cNvGrpSpPr/>
          <p:nvPr/>
        </p:nvGrpSpPr>
        <p:grpSpPr bwMode="auto">
          <a:xfrm>
            <a:off x="3662363" y="4116388"/>
            <a:ext cx="1641475" cy="852487"/>
            <a:chOff x="3662363" y="4116388"/>
            <a:chExt cx="1641475" cy="852487"/>
          </a:xfrm>
        </p:grpSpPr>
        <p:sp>
          <p:nvSpPr>
            <p:cNvPr id="48135" name="Text Box 10"/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r>
                <a:rPr kumimoji="0" lang="en-US" altLang="en-US" sz="1600"/>
                <a:t> / 512</a:t>
              </a:r>
              <a:endParaRPr kumimoji="0" lang="en-US" altLang="en-US" sz="1600"/>
            </a:p>
          </p:txBody>
        </p:sp>
        <p:sp>
          <p:nvSpPr>
            <p:cNvPr id="48136" name="Text Box 11"/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7" name="Text Box 12"/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8" name="Line 13"/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39" name="Line 14"/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4" name="Rectangle 15"/>
          <p:cNvSpPr>
            <a:spLocks noChangeArrowheads="1"/>
          </p:cNvSpPr>
          <p:nvPr/>
        </p:nvSpPr>
        <p:spPr bwMode="auto">
          <a:xfrm>
            <a:off x="992188" y="5075238"/>
            <a:ext cx="70294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Q</a:t>
            </a:r>
            <a:r>
              <a:rPr kumimoji="0" lang="en-US" altLang="en-US" baseline="-25000"/>
              <a:t>2</a:t>
            </a:r>
            <a:r>
              <a:rPr kumimoji="0" lang="en-US" altLang="en-US"/>
              <a:t> = displacement into block of index table</a:t>
            </a:r>
            <a:endParaRPr kumimoji="0" lang="en-US" altLang="en-US"/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R</a:t>
            </a:r>
            <a:r>
              <a:rPr kumimoji="0" lang="en-US" altLang="en-US" baseline="-25000"/>
              <a:t>2</a:t>
            </a:r>
            <a:r>
              <a:rPr kumimoji="0" lang="en-US" altLang="en-US"/>
              <a:t> displacement into block of file:</a:t>
            </a:r>
            <a:endParaRPr kumimoji="0" lang="en-US" altLang="en-US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End of Chapter 14</a:t>
            </a: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1134787" y="181987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In-Memory File System Structures</a:t>
            </a:r>
            <a:endParaRPr lang="en-US" altLang="en-US" sz="2400" dirty="0"/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410" y="988294"/>
            <a:ext cx="7660432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Mount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storing file system mounts, mount points, file system types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System-wide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a copy of the FCB of each file and other info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Per-process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pointers to appropriate entries in system-wide open-file table as well as other info</a:t>
            </a:r>
            <a:endParaRPr lang="en-US" altLang="en-US" dirty="0"/>
          </a:p>
          <a:p>
            <a:r>
              <a:rPr lang="en-US" altLang="en-US" dirty="0"/>
              <a:t>The following figure illustrates the necessary file system structures provided by the operating systems</a:t>
            </a:r>
            <a:endParaRPr lang="en-US" altLang="en-US" dirty="0"/>
          </a:p>
          <a:p>
            <a:r>
              <a:rPr lang="en-US" altLang="en-US" dirty="0"/>
              <a:t>Figure 12-3(a) refers to opening a file</a:t>
            </a:r>
            <a:endParaRPr lang="en-US" altLang="en-US" dirty="0"/>
          </a:p>
          <a:p>
            <a:r>
              <a:rPr lang="en-US" altLang="en-US" dirty="0"/>
              <a:t>Figure 12-3(b) refers to reading a file</a:t>
            </a:r>
            <a:endParaRPr lang="en-US" altLang="en-US" dirty="0"/>
          </a:p>
          <a:p>
            <a:r>
              <a:rPr lang="en-US" altLang="en-US" dirty="0"/>
              <a:t>Plus buffers hold data blocks from secondary storage</a:t>
            </a:r>
            <a:endParaRPr lang="en-US" altLang="en-US" dirty="0"/>
          </a:p>
          <a:p>
            <a:r>
              <a:rPr lang="en-US" altLang="en-US" dirty="0"/>
              <a:t>Open returns a file handle for subsequent use</a:t>
            </a:r>
            <a:endParaRPr lang="en-US" altLang="en-US" dirty="0"/>
          </a:p>
          <a:p>
            <a:r>
              <a:rPr lang="en-US" altLang="en-US" dirty="0"/>
              <a:t>Data from read eventually copied to specified user process memory address</a:t>
            </a:r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680" y="17952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Linked Scheme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8" y="962189"/>
            <a:ext cx="7029450" cy="45799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Link blocks of index table (no limit on size)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Outer-level mapping scheme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= block of index table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is used as follows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is used as follows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 marL="0" indent="0">
              <a:lnSpc>
                <a:spcPct val="90000"/>
              </a:lnSpc>
              <a:buNone/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r>
              <a:rPr kumimoji="0" lang="en-US" altLang="en-US" dirty="0"/>
              <a:t>Inner-level  mapping scheme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= displacement into block of index table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displacement into block of file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48131" name="Group 1"/>
          <p:cNvGrpSpPr/>
          <p:nvPr/>
        </p:nvGrpSpPr>
        <p:grpSpPr bwMode="auto">
          <a:xfrm>
            <a:off x="2337674" y="1327396"/>
            <a:ext cx="2368550" cy="852488"/>
            <a:chOff x="3230563" y="2765425"/>
            <a:chExt cx="2368550" cy="852488"/>
          </a:xfrm>
        </p:grpSpPr>
        <p:sp>
          <p:nvSpPr>
            <p:cNvPr id="48140" name="Text Box 4"/>
            <p:cNvSpPr txBox="1">
              <a:spLocks noChangeArrowheads="1"/>
            </p:cNvSpPr>
            <p:nvPr/>
          </p:nvSpPr>
          <p:spPr bwMode="auto">
            <a:xfrm>
              <a:off x="3230563" y="3017838"/>
              <a:ext cx="16192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LA / (512 x 511)</a:t>
              </a:r>
              <a:endParaRPr kumimoji="0" lang="en-US" altLang="en-US" sz="1600" dirty="0"/>
            </a:p>
          </p:txBody>
        </p:sp>
        <p:sp>
          <p:nvSpPr>
            <p:cNvPr id="48141" name="Text Box 5"/>
            <p:cNvSpPr txBox="1">
              <a:spLocks noChangeArrowheads="1"/>
            </p:cNvSpPr>
            <p:nvPr/>
          </p:nvSpPr>
          <p:spPr bwMode="auto">
            <a:xfrm>
              <a:off x="5178425" y="2765425"/>
              <a:ext cx="4206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2" name="Text Box 6"/>
            <p:cNvSpPr txBox="1">
              <a:spLocks noChangeArrowheads="1"/>
            </p:cNvSpPr>
            <p:nvPr/>
          </p:nvSpPr>
          <p:spPr bwMode="auto">
            <a:xfrm>
              <a:off x="5178425" y="3278188"/>
              <a:ext cx="4079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3" name="Line 7"/>
            <p:cNvSpPr>
              <a:spLocks noChangeShapeType="1"/>
            </p:cNvSpPr>
            <p:nvPr/>
          </p:nvSpPr>
          <p:spPr bwMode="auto">
            <a:xfrm flipV="1">
              <a:off x="4791075" y="29575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44" name="Line 8"/>
            <p:cNvSpPr>
              <a:spLocks noChangeShapeType="1"/>
            </p:cNvSpPr>
            <p:nvPr/>
          </p:nvSpPr>
          <p:spPr bwMode="auto">
            <a:xfrm>
              <a:off x="4783138" y="31988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2" name="Rectangle 9"/>
          <p:cNvSpPr>
            <a:spLocks noChangeArrowheads="1"/>
          </p:cNvSpPr>
          <p:nvPr/>
        </p:nvSpPr>
        <p:spPr bwMode="auto">
          <a:xfrm>
            <a:off x="992188" y="5600757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grpSp>
        <p:nvGrpSpPr>
          <p:cNvPr id="48133" name="Group 2"/>
          <p:cNvGrpSpPr/>
          <p:nvPr/>
        </p:nvGrpSpPr>
        <p:grpSpPr bwMode="auto">
          <a:xfrm>
            <a:off x="1743245" y="3446588"/>
            <a:ext cx="1641475" cy="1051444"/>
            <a:chOff x="3662363" y="4116388"/>
            <a:chExt cx="1641475" cy="852487"/>
          </a:xfrm>
        </p:grpSpPr>
        <p:sp>
          <p:nvSpPr>
            <p:cNvPr id="48135" name="Text Box 10"/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R</a:t>
              </a:r>
              <a:r>
                <a:rPr kumimoji="0" lang="en-US" altLang="en-US" sz="1600" baseline="-25000" dirty="0"/>
                <a:t>1</a:t>
              </a:r>
              <a:r>
                <a:rPr kumimoji="0" lang="en-US" altLang="en-US" sz="1600" dirty="0"/>
                <a:t> / 512</a:t>
              </a:r>
              <a:endParaRPr kumimoji="0" lang="en-US" altLang="en-US" sz="1600" dirty="0"/>
            </a:p>
          </p:txBody>
        </p:sp>
        <p:sp>
          <p:nvSpPr>
            <p:cNvPr id="48136" name="Text Box 11"/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7" name="Text Box 12"/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8" name="Line 13"/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39" name="Line 14"/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680" y="17952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Linked Scheme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8" y="962189"/>
            <a:ext cx="7029450" cy="45799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Link blocks of index table (no limit on size)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Outer-level Mapping scheme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= block of index table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is used as follows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r>
              <a:rPr kumimoji="0" lang="en-US" altLang="en-US" dirty="0"/>
              <a:t>Inner-level Mapping scheme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= displacement into block of index table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displacement into block of file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48131" name="Group 1"/>
          <p:cNvGrpSpPr/>
          <p:nvPr/>
        </p:nvGrpSpPr>
        <p:grpSpPr bwMode="auto">
          <a:xfrm>
            <a:off x="2337674" y="1327396"/>
            <a:ext cx="2368550" cy="852488"/>
            <a:chOff x="3230563" y="2765425"/>
            <a:chExt cx="2368550" cy="852488"/>
          </a:xfrm>
        </p:grpSpPr>
        <p:sp>
          <p:nvSpPr>
            <p:cNvPr id="48140" name="Text Box 4"/>
            <p:cNvSpPr txBox="1">
              <a:spLocks noChangeArrowheads="1"/>
            </p:cNvSpPr>
            <p:nvPr/>
          </p:nvSpPr>
          <p:spPr bwMode="auto">
            <a:xfrm>
              <a:off x="3230563" y="3017838"/>
              <a:ext cx="16192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LA / (512 x 511)</a:t>
              </a:r>
              <a:endParaRPr kumimoji="0" lang="en-US" altLang="en-US" sz="1600" dirty="0"/>
            </a:p>
          </p:txBody>
        </p:sp>
        <p:sp>
          <p:nvSpPr>
            <p:cNvPr id="48141" name="Text Box 5"/>
            <p:cNvSpPr txBox="1">
              <a:spLocks noChangeArrowheads="1"/>
            </p:cNvSpPr>
            <p:nvPr/>
          </p:nvSpPr>
          <p:spPr bwMode="auto">
            <a:xfrm>
              <a:off x="5178425" y="2765425"/>
              <a:ext cx="4206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2" name="Text Box 6"/>
            <p:cNvSpPr txBox="1">
              <a:spLocks noChangeArrowheads="1"/>
            </p:cNvSpPr>
            <p:nvPr/>
          </p:nvSpPr>
          <p:spPr bwMode="auto">
            <a:xfrm>
              <a:off x="5178425" y="3278188"/>
              <a:ext cx="4079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3" name="Line 7"/>
            <p:cNvSpPr>
              <a:spLocks noChangeShapeType="1"/>
            </p:cNvSpPr>
            <p:nvPr/>
          </p:nvSpPr>
          <p:spPr bwMode="auto">
            <a:xfrm flipV="1">
              <a:off x="4791075" y="29575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44" name="Line 8"/>
            <p:cNvSpPr>
              <a:spLocks noChangeShapeType="1"/>
            </p:cNvSpPr>
            <p:nvPr/>
          </p:nvSpPr>
          <p:spPr bwMode="auto">
            <a:xfrm>
              <a:off x="4783138" y="31988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2" name="Rectangle 9"/>
          <p:cNvSpPr>
            <a:spLocks noChangeArrowheads="1"/>
          </p:cNvSpPr>
          <p:nvPr/>
        </p:nvSpPr>
        <p:spPr bwMode="auto">
          <a:xfrm>
            <a:off x="992188" y="5600757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grpSp>
        <p:nvGrpSpPr>
          <p:cNvPr id="48133" name="Group 2"/>
          <p:cNvGrpSpPr/>
          <p:nvPr/>
        </p:nvGrpSpPr>
        <p:grpSpPr bwMode="auto">
          <a:xfrm>
            <a:off x="1743245" y="3667654"/>
            <a:ext cx="1641475" cy="940906"/>
            <a:chOff x="3662363" y="4116388"/>
            <a:chExt cx="1641475" cy="852487"/>
          </a:xfrm>
        </p:grpSpPr>
        <p:sp>
          <p:nvSpPr>
            <p:cNvPr id="48135" name="Text Box 10"/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R</a:t>
              </a:r>
              <a:r>
                <a:rPr kumimoji="0" lang="en-US" altLang="en-US" sz="1600" baseline="-25000" dirty="0"/>
                <a:t>1</a:t>
              </a:r>
              <a:r>
                <a:rPr kumimoji="0" lang="en-US" altLang="en-US" sz="1600" dirty="0"/>
                <a:t> / 512</a:t>
              </a:r>
              <a:endParaRPr kumimoji="0" lang="en-US" altLang="en-US" sz="1600" dirty="0"/>
            </a:p>
          </p:txBody>
        </p:sp>
        <p:sp>
          <p:nvSpPr>
            <p:cNvPr id="48136" name="Text Box 11"/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7" name="Text Box 12"/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8" name="Line 13"/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39" name="Line 14"/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1767" y="952140"/>
            <a:ext cx="7430858" cy="4457306"/>
          </a:xfrm>
        </p:spPr>
        <p:txBody>
          <a:bodyPr/>
          <a:lstStyle/>
          <a:p>
            <a:r>
              <a:rPr lang="en-US" altLang="en-US" dirty="0"/>
              <a:t>Two-level index (4K blocks could store 1,024 four-byte pointers in outer index -&gt; 1,048,567 data blocks and file size of up to 4GB)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Mapping scheme:</a:t>
            </a:r>
            <a:endParaRPr lang="en-US" altLang="en-US" dirty="0"/>
          </a:p>
        </p:txBody>
      </p:sp>
      <p:grpSp>
        <p:nvGrpSpPr>
          <p:cNvPr id="50179" name="Group 1"/>
          <p:cNvGrpSpPr/>
          <p:nvPr/>
        </p:nvGrpSpPr>
        <p:grpSpPr bwMode="auto">
          <a:xfrm>
            <a:off x="2620826" y="1720015"/>
            <a:ext cx="2376487" cy="852488"/>
            <a:chOff x="3294063" y="2101850"/>
            <a:chExt cx="2376487" cy="852488"/>
          </a:xfrm>
        </p:grpSpPr>
        <p:sp>
          <p:nvSpPr>
            <p:cNvPr id="50188" name="Text Box 4"/>
            <p:cNvSpPr txBox="1">
              <a:spLocks noChangeArrowheads="1"/>
            </p:cNvSpPr>
            <p:nvPr/>
          </p:nvSpPr>
          <p:spPr bwMode="auto">
            <a:xfrm>
              <a:off x="3294063" y="2354263"/>
              <a:ext cx="16351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LA / (512 x 512)</a:t>
              </a:r>
              <a:endParaRPr kumimoji="0" lang="en-US" altLang="en-US" sz="1600" dirty="0"/>
            </a:p>
          </p:txBody>
        </p:sp>
        <p:sp>
          <p:nvSpPr>
            <p:cNvPr id="50189" name="Text Box 5"/>
            <p:cNvSpPr txBox="1">
              <a:spLocks noChangeArrowheads="1"/>
            </p:cNvSpPr>
            <p:nvPr/>
          </p:nvSpPr>
          <p:spPr bwMode="auto">
            <a:xfrm>
              <a:off x="5249863" y="2101850"/>
              <a:ext cx="4206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50190" name="Text Box 6"/>
            <p:cNvSpPr txBox="1">
              <a:spLocks noChangeArrowheads="1"/>
            </p:cNvSpPr>
            <p:nvPr/>
          </p:nvSpPr>
          <p:spPr bwMode="auto">
            <a:xfrm>
              <a:off x="5249863" y="2616200"/>
              <a:ext cx="4079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50191" name="Line 7"/>
            <p:cNvSpPr>
              <a:spLocks noChangeShapeType="1"/>
            </p:cNvSpPr>
            <p:nvPr/>
          </p:nvSpPr>
          <p:spPr bwMode="auto">
            <a:xfrm flipV="1">
              <a:off x="4862513" y="2293938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50192" name="Line 8"/>
            <p:cNvSpPr>
              <a:spLocks noChangeShapeType="1"/>
            </p:cNvSpPr>
            <p:nvPr/>
          </p:nvSpPr>
          <p:spPr bwMode="auto">
            <a:xfrm>
              <a:off x="4854575" y="2535238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50180" name="Rectangle 9"/>
          <p:cNvSpPr>
            <a:spLocks noChangeArrowheads="1"/>
          </p:cNvSpPr>
          <p:nvPr/>
        </p:nvSpPr>
        <p:spPr bwMode="auto">
          <a:xfrm>
            <a:off x="841375" y="3419475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Q</a:t>
            </a:r>
            <a:r>
              <a:rPr kumimoji="0" lang="en-US" altLang="en-US" baseline="-25000"/>
              <a:t>1</a:t>
            </a:r>
            <a:r>
              <a:rPr kumimoji="0" lang="en-US" altLang="en-US"/>
              <a:t> = displacement into outer-index</a:t>
            </a:r>
            <a:endParaRPr kumimoji="0" lang="en-US" altLang="en-US"/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R</a:t>
            </a:r>
            <a:r>
              <a:rPr kumimoji="0" lang="en-US" altLang="en-US" baseline="-25000"/>
              <a:t>1</a:t>
            </a:r>
            <a:r>
              <a:rPr kumimoji="0" lang="en-US" altLang="en-US"/>
              <a:t> is used as follows:</a:t>
            </a:r>
            <a:endParaRPr kumimoji="0" lang="en-US" altLang="en-US"/>
          </a:p>
        </p:txBody>
      </p:sp>
      <p:grpSp>
        <p:nvGrpSpPr>
          <p:cNvPr id="50181" name="Group 2"/>
          <p:cNvGrpSpPr/>
          <p:nvPr/>
        </p:nvGrpSpPr>
        <p:grpSpPr bwMode="auto">
          <a:xfrm>
            <a:off x="3662363" y="4116388"/>
            <a:ext cx="1641475" cy="852487"/>
            <a:chOff x="3662363" y="4116388"/>
            <a:chExt cx="1641475" cy="852487"/>
          </a:xfrm>
        </p:grpSpPr>
        <p:sp>
          <p:nvSpPr>
            <p:cNvPr id="50183" name="Text Box 10"/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r>
                <a:rPr kumimoji="0" lang="en-US" altLang="en-US" sz="1600"/>
                <a:t> / 512</a:t>
              </a:r>
              <a:endParaRPr kumimoji="0" lang="en-US" altLang="en-US" sz="1600"/>
            </a:p>
          </p:txBody>
        </p:sp>
        <p:sp>
          <p:nvSpPr>
            <p:cNvPr id="50184" name="Text Box 11"/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50185" name="Text Box 12"/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50186" name="Line 13"/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50187" name="Line 14"/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50182" name="Rectangle 15"/>
          <p:cNvSpPr>
            <a:spLocks noChangeArrowheads="1"/>
          </p:cNvSpPr>
          <p:nvPr/>
        </p:nvSpPr>
        <p:spPr bwMode="auto">
          <a:xfrm>
            <a:off x="841375" y="5075238"/>
            <a:ext cx="70294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Q</a:t>
            </a:r>
            <a:r>
              <a:rPr kumimoji="0" lang="en-US" altLang="en-US" baseline="-25000"/>
              <a:t>2</a:t>
            </a:r>
            <a:r>
              <a:rPr kumimoji="0" lang="en-US" altLang="en-US"/>
              <a:t> = displacement into block of index table</a:t>
            </a:r>
            <a:endParaRPr kumimoji="0" lang="en-US" altLang="en-US"/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R</a:t>
            </a:r>
            <a:r>
              <a:rPr kumimoji="0" lang="en-US" altLang="en-US" baseline="-25000"/>
              <a:t>2</a:t>
            </a:r>
            <a:r>
              <a:rPr kumimoji="0" lang="en-US" altLang="en-US"/>
              <a:t> displacement into block of file:</a:t>
            </a:r>
            <a:endParaRPr kumimoji="0" lang="en-US" altLang="en-US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737122" y="161363"/>
            <a:ext cx="8229600" cy="583126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Indexed Allocation – Two-level Scheme</a:t>
            </a:r>
            <a:endParaRPr lang="en-US" altLang="en-US" sz="2800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5094</Words>
  <Application>WPS Presentation</Application>
  <PresentationFormat>On-screen Show (4:3)</PresentationFormat>
  <Paragraphs>290</Paragraphs>
  <Slides>22</Slides>
  <Notes>20</Notes>
  <HiddenSlides>6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SimSun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Wingdings</vt:lpstr>
      <vt:lpstr>Microsoft YaHei</vt:lpstr>
      <vt:lpstr>Arial Unicode MS</vt:lpstr>
      <vt:lpstr>os-8</vt:lpstr>
      <vt:lpstr>Chapter 14:  File System Implementation</vt:lpstr>
      <vt:lpstr>Outline </vt:lpstr>
      <vt:lpstr>Objectives</vt:lpstr>
      <vt:lpstr>Directory Implementation</vt:lpstr>
      <vt:lpstr>Allocation Method </vt:lpstr>
      <vt:lpstr>Contiguous Allocation Method </vt:lpstr>
      <vt:lpstr>Contiguous Allocation (Cont.)</vt:lpstr>
      <vt:lpstr>Linked Allocation</vt:lpstr>
      <vt:lpstr>Linked Allocation Example</vt:lpstr>
      <vt:lpstr>Linked Allocation (Cont.)</vt:lpstr>
      <vt:lpstr>FAT Allocation Method</vt:lpstr>
      <vt:lpstr>File-Allocation Table</vt:lpstr>
      <vt:lpstr>End of Chapter 14</vt:lpstr>
      <vt:lpstr>Linked Allocation</vt:lpstr>
      <vt:lpstr>Linked Allocation</vt:lpstr>
      <vt:lpstr>Indexed Allocation (Cont.)</vt:lpstr>
      <vt:lpstr>Indexed Allocation – Small Files</vt:lpstr>
      <vt:lpstr>End of Chapter 14</vt:lpstr>
      <vt:lpstr>In-Memory File System Structures</vt:lpstr>
      <vt:lpstr>Indexed Allocation – Linked Scheme</vt:lpstr>
      <vt:lpstr>Indexed Allocation – Linked Scheme</vt:lpstr>
      <vt:lpstr>Indexed Allocation – Two-level Scheme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324</cp:revision>
  <cp:lastPrinted>2001-06-14T13:58:00Z</cp:lastPrinted>
  <dcterms:created xsi:type="dcterms:W3CDTF">2011-01-13T23:43:00Z</dcterms:created>
  <dcterms:modified xsi:type="dcterms:W3CDTF">2024-05-15T18:00:15Z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77A57F1CA30A474B8A041C97499B4F5A_12</vt:lpwstr>
  </property>
  <property fmtid="{D5CDD505-2E9C-101B-9397-08002B2CF9AE}" pid="3" name="KSOProductBuildVer">
    <vt:lpwstr>2057-12.2.0.16909</vt:lpwstr>
  </property>
</Properties>
</file>