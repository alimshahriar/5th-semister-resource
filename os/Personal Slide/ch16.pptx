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37"/>
  </p:handoutMasterIdLst>
  <p:sldIdLst>
    <p:sldId id="331" r:id="rId3"/>
    <p:sldId id="332" r:id="rId5"/>
    <p:sldId id="333" r:id="rId6"/>
    <p:sldId id="334" r:id="rId7"/>
    <p:sldId id="335" r:id="rId8"/>
    <p:sldId id="336" r:id="rId9"/>
    <p:sldId id="338" r:id="rId10"/>
    <p:sldId id="339" r:id="rId11"/>
    <p:sldId id="337" r:id="rId12"/>
    <p:sldId id="340" r:id="rId13"/>
    <p:sldId id="389" r:id="rId14"/>
    <p:sldId id="342" r:id="rId15"/>
    <p:sldId id="346" r:id="rId16"/>
    <p:sldId id="347" r:id="rId17"/>
    <p:sldId id="348" r:id="rId18"/>
    <p:sldId id="349" r:id="rId19"/>
    <p:sldId id="350" r:id="rId20"/>
    <p:sldId id="351" r:id="rId21"/>
    <p:sldId id="353" r:id="rId22"/>
    <p:sldId id="354" r:id="rId23"/>
    <p:sldId id="390" r:id="rId24"/>
    <p:sldId id="356" r:id="rId25"/>
    <p:sldId id="358" r:id="rId26"/>
    <p:sldId id="359" r:id="rId27"/>
    <p:sldId id="386" r:id="rId28"/>
    <p:sldId id="361" r:id="rId29"/>
    <p:sldId id="378" r:id="rId30"/>
    <p:sldId id="379" r:id="rId31"/>
    <p:sldId id="391" r:id="rId32"/>
    <p:sldId id="380" r:id="rId33"/>
    <p:sldId id="381" r:id="rId34"/>
    <p:sldId id="382" r:id="rId35"/>
    <p:sldId id="385" r:id="rId36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58" autoAdjust="0"/>
    <p:restoredTop sz="94667"/>
  </p:normalViewPr>
  <p:slideViewPr>
    <p:cSldViewPr snapToGrid="0" showGuides="1">
      <p:cViewPr varScale="1">
        <p:scale>
          <a:sx n="70" d="100"/>
          <a:sy n="70" d="100"/>
        </p:scale>
        <p:origin x="1152" y="7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defTabSz="89154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algn="r" defTabSz="89154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defTabSz="89154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algn="r" defTabSz="890905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4C256248-9AFB-4C3E-BD54-6F1CB35B531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algn="r"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93150D9-DA23-40E9-A514-80F8C5389611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16C769-28F3-4BA7-85C4-F4A09645EDA4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D02728C-218C-4710-8D02-D1F469C85E32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0AD2ED-52D0-4803-A2D7-A4C228D538B5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30CEBB-66A6-4064-A8CA-F52A000F7EA0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19CC6EB-6A1E-44E4-A1FE-D4F9975B1A0C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B2D3FA-5ADC-4E9F-A445-8140FB7206DE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9B165F3-AA10-48D0-A79E-6CD11187BFAE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BD50E3E-DF79-475C-BC9A-DA4EF65F8D5C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725B18D-4B67-40E2-927D-5DB890AC4580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CA10D4-DC47-444D-B9EE-30AB3AE64D0E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EB0C7A-DF4E-4A92-A880-1D8F0FFDD226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47BFF3-4AE6-43CC-8680-66F6C405E559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851B20-52F9-4CD0-95AF-F45821076BDE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26F1548-237D-4BA2-9FAF-358DA74BAB85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2CF5AF-178B-4492-805B-A437539FA2B1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90E85D1-D69D-4EDD-976E-AE09D93E37CD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33EAD2-1B7D-459B-AB20-7F1D105BA486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142B048-5707-4B6E-BF3E-576BD5DEE66F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9028DE-DD95-4EBA-98E1-33E292F4E14E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CB4C8D-5A25-493B-BB55-6BC2727124C8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947992E-C80F-4B5B-B9C5-0225616B4BDF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D5C142-293B-4464-9EE0-3479791720EF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B62620-C8FE-46DB-9B70-FDEF05A247FE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FEBD32-27AB-48B0-8202-20449964CADD}" type="slidenum">
              <a:rPr lang="en-US" altLang="en-US" sz="1300" smtClean="0">
                <a:latin typeface="Helvetica" pitchFamily="2" charset="0"/>
              </a:rPr>
            </a:fld>
            <a:endParaRPr lang="en-US" altLang="en-US" sz="1300">
              <a:latin typeface="Helvetica" pitchFamily="2" charset="0"/>
            </a:endParaRPr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 dirty="0">
              <a:solidFill>
                <a:srgbClr val="336699"/>
              </a:solidFill>
              <a:latin typeface="Helvetica" pitchFamily="2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2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2" charset="0"/>
              </a:rPr>
              <a:t> Edition</a:t>
            </a:r>
            <a:endParaRPr lang="en-US" altLang="en-US" sz="1000" b="1" dirty="0">
              <a:solidFill>
                <a:srgbClr val="336699"/>
              </a:solidFill>
              <a:latin typeface="Helvetica" pitchFamily="2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1984" y="260229"/>
            <a:ext cx="760241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7994" y="1233488"/>
            <a:ext cx="7666406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16.</a:t>
            </a:r>
            <a:fld id="{A8E133B6-8EC2-44C8-922F-3CC1F2EF4BA1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</a:fld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03879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 Edition</a:t>
            </a:r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youtube.com/watch?v=jHydDY7wQJg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06450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16:  Security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4191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16:  Security</a:t>
            </a:r>
            <a:endParaRPr lang="en-US" altLang="en-US" dirty="0"/>
          </a:p>
        </p:txBody>
      </p:sp>
      <p:sp>
        <p:nvSpPr>
          <p:cNvPr id="717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60425" y="1135063"/>
            <a:ext cx="7351713" cy="4483100"/>
          </a:xfrm>
        </p:spPr>
        <p:txBody>
          <a:bodyPr/>
          <a:lstStyle/>
          <a:p>
            <a:r>
              <a:rPr lang="en-US" altLang="en-US" dirty="0"/>
              <a:t>The Security Problem</a:t>
            </a:r>
            <a:endParaRPr lang="en-US" altLang="en-US" dirty="0"/>
          </a:p>
          <a:p>
            <a:r>
              <a:rPr lang="en-US" altLang="en-US" dirty="0"/>
              <a:t>Program Threats</a:t>
            </a:r>
            <a:endParaRPr lang="en-US" altLang="en-US" dirty="0"/>
          </a:p>
          <a:p>
            <a:r>
              <a:rPr lang="en-US" altLang="en-US" dirty="0"/>
              <a:t>System and Network Threats</a:t>
            </a:r>
            <a:endParaRPr lang="en-US" altLang="en-US" dirty="0"/>
          </a:p>
          <a:p>
            <a:r>
              <a:rPr lang="en-US" altLang="en-US" dirty="0"/>
              <a:t>Cryptography as a Security Tool</a:t>
            </a:r>
            <a:endParaRPr lang="en-US" altLang="en-US" dirty="0"/>
          </a:p>
          <a:p>
            <a:r>
              <a:rPr lang="en-US" altLang="en-US" dirty="0"/>
              <a:t>User Authentication</a:t>
            </a:r>
            <a:endParaRPr lang="en-US" altLang="en-US" dirty="0"/>
          </a:p>
          <a:p>
            <a:r>
              <a:rPr lang="en-US" altLang="en-US" dirty="0"/>
              <a:t>Implementing Security Defenses</a:t>
            </a:r>
            <a:endParaRPr lang="en-US" altLang="en-US" dirty="0"/>
          </a:p>
          <a:p>
            <a:r>
              <a:rPr lang="en-US" altLang="en-US" dirty="0"/>
              <a:t>Firewalling to Protect Systems and </a:t>
            </a:r>
            <a:r>
              <a:rPr lang="en-US" altLang="en-US" dirty="0" smtClean="0"/>
              <a:t>Networks</a:t>
            </a: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354562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  <a:endParaRPr lang="en-US" altLang="en-US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081" y="1233488"/>
            <a:ext cx="7651099" cy="4530725"/>
          </a:xfrm>
        </p:spPr>
        <p:txBody>
          <a:bodyPr/>
          <a:lstStyle/>
          <a:p>
            <a:r>
              <a:rPr lang="en-US" altLang="en-US" dirty="0"/>
              <a:t>Discuss security threats and attacks</a:t>
            </a:r>
            <a:endParaRPr lang="en-US" altLang="en-US" dirty="0"/>
          </a:p>
          <a:p>
            <a:r>
              <a:rPr lang="en-US" altLang="en-US" dirty="0"/>
              <a:t>Explain the fundamentals of encryption, authentication, and hashing</a:t>
            </a:r>
            <a:endParaRPr lang="en-US" altLang="en-US" dirty="0"/>
          </a:p>
          <a:p>
            <a:r>
              <a:rPr lang="en-US" altLang="en-US" dirty="0"/>
              <a:t>Examine the uses of cryptography in computing</a:t>
            </a:r>
            <a:endParaRPr lang="en-US" altLang="en-US" dirty="0"/>
          </a:p>
          <a:p>
            <a:r>
              <a:rPr lang="en-US" altLang="en-US" dirty="0"/>
              <a:t>Describe the various countermeasures to security attacks</a:t>
            </a: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xfrm>
            <a:off x="363892" y="24191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The Security Problem</a:t>
            </a:r>
            <a:endParaRPr lang="en-US" altLang="en-US" dirty="0"/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6387" y="1165225"/>
            <a:ext cx="7596479" cy="4852988"/>
          </a:xfrm>
        </p:spPr>
        <p:txBody>
          <a:bodyPr/>
          <a:lstStyle/>
          <a:p>
            <a:r>
              <a:rPr lang="en-US" altLang="en-US" dirty="0"/>
              <a:t>System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secure</a:t>
            </a:r>
            <a:r>
              <a:rPr lang="en-US" altLang="en-US" dirty="0"/>
              <a:t> if resources used and accessed as intended under all circumstances</a:t>
            </a:r>
            <a:endParaRPr lang="en-US" altLang="en-US" dirty="0"/>
          </a:p>
          <a:p>
            <a:pPr lvl="1"/>
            <a:r>
              <a:rPr lang="en-US" altLang="en-US" dirty="0"/>
              <a:t>Unachievable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Intruders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crackers</a:t>
            </a:r>
            <a:r>
              <a:rPr lang="en-US" altLang="en-US" dirty="0"/>
              <a:t>) attempt to breach security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Threat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potential security violation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Attack</a:t>
            </a:r>
            <a:r>
              <a:rPr lang="en-US" altLang="en-US" dirty="0"/>
              <a:t> is attempt to breach security</a:t>
            </a:r>
            <a:endParaRPr lang="en-US" altLang="en-US" dirty="0"/>
          </a:p>
          <a:p>
            <a:r>
              <a:rPr lang="en-US" altLang="en-US" dirty="0"/>
              <a:t>Attack can be accidental or malicious</a:t>
            </a:r>
            <a:endParaRPr lang="en-US" altLang="en-US" dirty="0"/>
          </a:p>
          <a:p>
            <a:r>
              <a:rPr lang="en-US" altLang="en-US" dirty="0"/>
              <a:t>Easier to protect against accidental than malicious misuse</a:t>
            </a: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1101012" y="232587"/>
            <a:ext cx="744583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Security Violation Categories</a:t>
            </a:r>
            <a:endParaRPr lang="en-US" alt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0425" y="1165225"/>
            <a:ext cx="6700838" cy="5035550"/>
          </a:xfrm>
        </p:spPr>
        <p:txBody>
          <a:bodyPr/>
          <a:lstStyle/>
          <a:p>
            <a:r>
              <a:rPr lang="en-US" altLang="en-US" b="1" dirty="0"/>
              <a:t>Breach of confidentiality</a:t>
            </a:r>
            <a:endParaRPr lang="en-US" altLang="en-US" b="1" dirty="0"/>
          </a:p>
          <a:p>
            <a:pPr lvl="1"/>
            <a:r>
              <a:rPr lang="en-US" altLang="en-US" dirty="0"/>
              <a:t>Unauthorized reading of </a:t>
            </a:r>
            <a:r>
              <a:rPr lang="en-US" altLang="en-US" dirty="0" smtClean="0"/>
              <a:t>data 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Example: credit card information or identity information</a:t>
            </a:r>
            <a:endParaRPr lang="en-US" altLang="en-US" dirty="0"/>
          </a:p>
          <a:p>
            <a:r>
              <a:rPr lang="en-US" altLang="en-US" b="1" dirty="0"/>
              <a:t>Breach of integrity</a:t>
            </a:r>
            <a:endParaRPr lang="en-US" altLang="en-US" b="1" dirty="0"/>
          </a:p>
          <a:p>
            <a:pPr lvl="1"/>
            <a:r>
              <a:rPr lang="en-US" altLang="en-US" dirty="0"/>
              <a:t>Unauthorized modification of data</a:t>
            </a:r>
            <a:endParaRPr lang="en-US" altLang="en-US" dirty="0"/>
          </a:p>
          <a:p>
            <a:r>
              <a:rPr lang="en-US" altLang="en-US" b="1" dirty="0"/>
              <a:t>Breach of availability</a:t>
            </a:r>
            <a:endParaRPr lang="en-US" altLang="en-US" b="1" dirty="0"/>
          </a:p>
          <a:p>
            <a:pPr lvl="1"/>
            <a:r>
              <a:rPr lang="en-US" altLang="en-US" dirty="0"/>
              <a:t>Unauthorized destruction of data</a:t>
            </a:r>
            <a:endParaRPr lang="en-US" altLang="en-US" dirty="0"/>
          </a:p>
          <a:p>
            <a:r>
              <a:rPr lang="en-US" altLang="en-US" b="1" dirty="0"/>
              <a:t>Theft of service</a:t>
            </a:r>
            <a:endParaRPr lang="en-US" altLang="en-US" b="1" dirty="0"/>
          </a:p>
          <a:p>
            <a:pPr lvl="1"/>
            <a:r>
              <a:rPr lang="en-US" altLang="en-US" dirty="0"/>
              <a:t>Unauthorized use of resources</a:t>
            </a:r>
            <a:endParaRPr lang="en-US" altLang="en-US" dirty="0"/>
          </a:p>
          <a:p>
            <a:r>
              <a:rPr lang="en-US" altLang="en-US" b="1" dirty="0"/>
              <a:t>Denial of service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DOS</a:t>
            </a:r>
            <a:r>
              <a:rPr lang="en-US" altLang="en-US" b="1" dirty="0"/>
              <a:t>)</a:t>
            </a:r>
            <a:endParaRPr lang="en-US" altLang="en-US" b="1" dirty="0"/>
          </a:p>
          <a:p>
            <a:pPr lvl="1"/>
            <a:r>
              <a:rPr lang="en-US" altLang="en-US" dirty="0"/>
              <a:t>Prevention of legitimate use</a:t>
            </a: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 noChangeArrowheads="1"/>
          </p:cNvSpPr>
          <p:nvPr>
            <p:ph type="title"/>
          </p:nvPr>
        </p:nvSpPr>
        <p:spPr>
          <a:xfrm>
            <a:off x="686093" y="232587"/>
            <a:ext cx="7842085" cy="576262"/>
          </a:xfrm>
        </p:spPr>
        <p:txBody>
          <a:bodyPr/>
          <a:lstStyle/>
          <a:p>
            <a:r>
              <a:rPr lang="en-GB" altLang="en-US" dirty="0"/>
              <a:t>1 </a:t>
            </a:r>
            <a:r>
              <a:rPr lang="en-US" altLang="en-US" dirty="0"/>
              <a:t>Security Violation Methods</a:t>
            </a:r>
            <a:endParaRPr lang="en-US" altLang="en-US" dirty="0"/>
          </a:p>
        </p:txBody>
      </p:sp>
      <p:sp>
        <p:nvSpPr>
          <p:cNvPr id="1536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47725" y="796925"/>
            <a:ext cx="7123113" cy="4530725"/>
          </a:xfrm>
        </p:spPr>
        <p:txBody>
          <a:bodyPr/>
          <a:lstStyle/>
          <a:p>
            <a:pPr lvl="1"/>
            <a:endParaRPr lang="en-US" altLang="en-US" b="1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Masquerading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(breach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authentication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Pretending to be an authorized user to escalate privileges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Replay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attack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As is or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message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modification</a:t>
            </a:r>
            <a:endParaRPr lang="en-US" altLang="en-US" b="1" dirty="0" smtClean="0">
              <a:solidFill>
                <a:srgbClr val="006699"/>
              </a:solidFill>
              <a:latin typeface="+mj-lt"/>
            </a:endParaRPr>
          </a:p>
          <a:p>
            <a:pPr marL="457200" lvl="1" indent="0">
              <a:buNone/>
            </a:pPr>
            <a:r>
              <a:rPr lang="en-US" altLang="en-US" b="1" dirty="0">
                <a:solidFill>
                  <a:srgbClr val="006699"/>
                </a:solidFill>
                <a:latin typeface="+mj-lt"/>
                <a:hlinkClick r:id="rId1"/>
              </a:rPr>
              <a:t>https://</a:t>
            </a:r>
            <a:r>
              <a:rPr lang="en-US" altLang="en-US" b="1" dirty="0" smtClean="0">
                <a:solidFill>
                  <a:srgbClr val="006699"/>
                </a:solidFill>
                <a:latin typeface="+mj-lt"/>
                <a:hlinkClick r:id="rId1"/>
              </a:rPr>
              <a:t>www.youtube.com/watch?v=jHydDY7wQJg</a:t>
            </a:r>
            <a:endParaRPr lang="en-US" altLang="en-US" b="1" dirty="0" smtClean="0">
              <a:solidFill>
                <a:srgbClr val="006699"/>
              </a:solidFill>
              <a:latin typeface="+mj-lt"/>
            </a:endParaRPr>
          </a:p>
          <a:p>
            <a:pPr marL="457200" lvl="1" indent="0">
              <a:buNone/>
            </a:pP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Man-in-the-middle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attack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Intruder sits in data flow, masquerading as sender to receiver and vice versa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Session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hijacking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Intercept an already-established session to bypass authentication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Privilege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escalation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Common attack type with access beyond what a user or resource is supposed to have</a:t>
            </a: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b="1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734557" y="242923"/>
            <a:ext cx="782161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Security Measure Levels</a:t>
            </a:r>
            <a:endParaRPr lang="en-US" altLang="en-US" dirty="0"/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7725" y="1069975"/>
            <a:ext cx="7708444" cy="4921250"/>
          </a:xfrm>
        </p:spPr>
        <p:txBody>
          <a:bodyPr/>
          <a:lstStyle/>
          <a:p>
            <a:r>
              <a:rPr lang="en-US" altLang="en-US" dirty="0"/>
              <a:t>Impossible to have absolute security, but make cost to perpetrator sufficiently high to deter most intruders</a:t>
            </a:r>
            <a:endParaRPr lang="en-US" altLang="en-US" dirty="0"/>
          </a:p>
          <a:p>
            <a:r>
              <a:rPr lang="en-US" altLang="en-US" dirty="0"/>
              <a:t>Security must occur at four levels to be effective:</a:t>
            </a:r>
            <a:endParaRPr lang="en-US" altLang="en-US" dirty="0"/>
          </a:p>
          <a:p>
            <a:pPr lvl="1"/>
            <a:r>
              <a:rPr lang="en-US" altLang="en-US" b="1" dirty="0"/>
              <a:t>Physical</a:t>
            </a:r>
            <a:endParaRPr lang="en-US" altLang="en-US" b="1" dirty="0"/>
          </a:p>
          <a:p>
            <a:pPr lvl="2"/>
            <a:r>
              <a:rPr lang="en-US" altLang="en-US" dirty="0"/>
              <a:t>Data centers, servers, connected terminals</a:t>
            </a:r>
            <a:endParaRPr lang="en-US" altLang="en-US" dirty="0"/>
          </a:p>
          <a:p>
            <a:pPr lvl="1"/>
            <a:r>
              <a:rPr lang="en-US" altLang="en-US" b="1" dirty="0"/>
              <a:t>Application</a:t>
            </a:r>
            <a:endParaRPr lang="en-US" altLang="en-US" b="1" dirty="0"/>
          </a:p>
          <a:p>
            <a:pPr lvl="2"/>
            <a:r>
              <a:rPr lang="en-US" altLang="en-US" dirty="0"/>
              <a:t>Benign or malicious apps can cause security problems</a:t>
            </a:r>
            <a:endParaRPr lang="en-US" altLang="en-US" dirty="0"/>
          </a:p>
          <a:p>
            <a:pPr lvl="1"/>
            <a:r>
              <a:rPr lang="en-US" altLang="en-US" b="1" dirty="0"/>
              <a:t>Operating System</a:t>
            </a:r>
            <a:endParaRPr lang="en-US" altLang="en-US" b="1" dirty="0"/>
          </a:p>
          <a:p>
            <a:pPr lvl="2"/>
            <a:r>
              <a:rPr lang="en-US" altLang="en-US" dirty="0"/>
              <a:t>Protection mechanisms, debugging</a:t>
            </a:r>
            <a:endParaRPr lang="en-US" altLang="en-US" dirty="0"/>
          </a:p>
          <a:p>
            <a:pPr lvl="1"/>
            <a:r>
              <a:rPr lang="en-US" altLang="en-US" b="1" dirty="0"/>
              <a:t>Network</a:t>
            </a:r>
            <a:endParaRPr lang="en-US" altLang="en-US" b="1" dirty="0"/>
          </a:p>
          <a:p>
            <a:pPr lvl="2"/>
            <a:r>
              <a:rPr lang="en-US" altLang="en-US" dirty="0"/>
              <a:t>Intercepted communications, interruption, DOS</a:t>
            </a:r>
            <a:endParaRPr lang="en-US" altLang="en-US" dirty="0"/>
          </a:p>
          <a:p>
            <a:r>
              <a:rPr lang="en-US" altLang="en-US" dirty="0"/>
              <a:t>Security is as weak as the weakest link in the chain</a:t>
            </a:r>
            <a:endParaRPr lang="en-US" altLang="en-US" dirty="0"/>
          </a:p>
          <a:p>
            <a:r>
              <a:rPr lang="en-US" altLang="en-US" dirty="0"/>
              <a:t>Humans a risk too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phishing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social-engineering</a:t>
            </a:r>
            <a:r>
              <a:rPr lang="en-US" altLang="en-US" dirty="0"/>
              <a:t> attacks</a:t>
            </a:r>
            <a:endParaRPr lang="en-US" altLang="en-US" dirty="0"/>
          </a:p>
          <a:p>
            <a:r>
              <a:rPr lang="en-US" altLang="en-US" dirty="0"/>
              <a:t>But can too much security be a problem?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334897" y="248303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Program Threats</a:t>
            </a:r>
            <a:endParaRPr lang="en-US" altLang="en-US" dirty="0"/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7725" y="1082675"/>
            <a:ext cx="7704138" cy="5300663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Many variations, many names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Trojan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Horse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Code segment that misuses its environment</a:t>
            </a:r>
            <a:endParaRPr lang="en-US" altLang="en-US" dirty="0"/>
          </a:p>
          <a:p>
            <a:pPr lvl="1"/>
            <a:r>
              <a:rPr lang="en-US" altLang="en-US" dirty="0"/>
              <a:t>Exploits mechanisms for allowing programs written by users to be executed by other users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Spyware</a:t>
            </a:r>
            <a:r>
              <a:rPr lang="en-US" altLang="en-US" dirty="0"/>
              <a:t>,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pop-up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browser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windows</a:t>
            </a:r>
            <a:r>
              <a:rPr lang="en-US" altLang="en-US" dirty="0"/>
              <a:t>,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covert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channels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Up to 80% of spam delivered by spyware-infected systems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Trap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Door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Specific user identifier or password that circumvents normal security procedures</a:t>
            </a:r>
            <a:endParaRPr lang="en-US" altLang="en-US" dirty="0"/>
          </a:p>
          <a:p>
            <a:pPr lvl="1"/>
            <a:r>
              <a:rPr lang="en-US" altLang="en-US" dirty="0"/>
              <a:t>Could be included in a compiler</a:t>
            </a:r>
            <a:endParaRPr lang="en-US" altLang="en-US" dirty="0"/>
          </a:p>
          <a:p>
            <a:pPr lvl="1"/>
            <a:r>
              <a:rPr lang="en-US" altLang="en-US" dirty="0"/>
              <a:t>How to detect them?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802337" y="238549"/>
            <a:ext cx="8005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Four-layered Model of Security</a:t>
            </a:r>
            <a:endParaRPr lang="en-US" alt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8" y="2533650"/>
            <a:ext cx="8640762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 noChangeArrowheads="1"/>
          </p:cNvSpPr>
          <p:nvPr>
            <p:ph type="title"/>
          </p:nvPr>
        </p:nvSpPr>
        <p:spPr>
          <a:xfrm>
            <a:off x="1092131" y="244934"/>
            <a:ext cx="7445375" cy="576263"/>
          </a:xfrm>
        </p:spPr>
        <p:txBody>
          <a:bodyPr/>
          <a:lstStyle/>
          <a:p>
            <a:r>
              <a:rPr lang="en-US" altLang="en-US" dirty="0"/>
              <a:t>Program Threats (Cont.)</a:t>
            </a:r>
            <a:endParaRPr lang="en-US" altLang="en-US" dirty="0"/>
          </a:p>
        </p:txBody>
      </p:sp>
      <p:sp>
        <p:nvSpPr>
          <p:cNvPr id="22530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74713" y="1069975"/>
            <a:ext cx="7616825" cy="4530725"/>
          </a:xfrm>
        </p:spPr>
        <p:txBody>
          <a:bodyPr/>
          <a:lstStyle/>
          <a:p>
            <a:pPr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Malware</a:t>
            </a:r>
            <a:r>
              <a:rPr lang="en-US" altLang="en-US" b="1" dirty="0">
                <a:solidFill>
                  <a:srgbClr val="3366FF"/>
                </a:solidFill>
              </a:rPr>
              <a:t> - </a:t>
            </a:r>
            <a:r>
              <a:rPr lang="en-US" altLang="en-US" dirty="0"/>
              <a:t>Software designed to exploit, disable, or damage computer</a:t>
            </a:r>
            <a:endParaRPr lang="en-US" altLang="en-US" dirty="0"/>
          </a:p>
          <a:p>
            <a:pPr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Trojan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Horse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Program that acts in a clandestine manner</a:t>
            </a:r>
            <a:endParaRPr lang="en-US" altLang="en-US" dirty="0"/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Spyware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Program frequently installed with legitimate software to display adds, capture user data</a:t>
            </a:r>
            <a:endParaRPr lang="en-US" altLang="en-US" dirty="0"/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Ransomware</a:t>
            </a:r>
            <a:r>
              <a:rPr lang="en-US" altLang="en-US" dirty="0"/>
              <a:t> – locks up data via encryption, demanding payment to unlock it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Others include trap doors, logic </a:t>
            </a:r>
            <a:r>
              <a:rPr lang="en-US" altLang="en-US" dirty="0" err="1"/>
              <a:t>boms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All try to violate the Principle of Least Privilege</a:t>
            </a:r>
            <a:endParaRPr lang="en-US" altLang="en-US" dirty="0"/>
          </a:p>
          <a:p>
            <a:pPr>
              <a:buFont typeface="Monotype Sorts" pitchFamily="2" charset="2"/>
              <a:buChar char="n"/>
              <a:defRPr/>
            </a:pPr>
            <a:endParaRPr lang="en-US" altLang="en-US" dirty="0"/>
          </a:p>
          <a:p>
            <a:pPr>
              <a:buFont typeface="Monotype Sorts" pitchFamily="2" charset="2"/>
              <a:buChar char="n"/>
              <a:defRPr/>
            </a:pPr>
            <a:endParaRPr lang="en-US" altLang="en-US" dirty="0"/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dirty="0"/>
          </a:p>
          <a:p>
            <a:pPr>
              <a:buFont typeface="Monotype Sorts" pitchFamily="2" charset="2"/>
              <a:buChar char="n"/>
              <a:defRPr/>
            </a:pPr>
            <a:endParaRPr lang="en-US" altLang="en-US" dirty="0"/>
          </a:p>
          <a:p>
            <a:pPr>
              <a:buFont typeface="Monotype Sorts" pitchFamily="2" charset="2"/>
              <a:buChar char="n"/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Goal frequently is to leave behind Remote Access Tool (RAT) for repeated access</a:t>
            </a:r>
            <a:endParaRPr lang="en-US" altLang="en-US" dirty="0"/>
          </a:p>
          <a:p>
            <a:pPr lvl="1">
              <a:buFont typeface="Monotype Sorts" pitchFamily="2" charset="2"/>
              <a:buChar char="l"/>
              <a:defRPr/>
            </a:pPr>
            <a:endParaRPr lang="en-US" altLang="en-US" dirty="0"/>
          </a:p>
          <a:p>
            <a:pPr>
              <a:buFont typeface="Monotype Sorts" pitchFamily="2" charset="2"/>
              <a:buChar char="n"/>
              <a:defRPr/>
            </a:pPr>
            <a:endParaRPr lang="en-US" altLang="en-US" dirty="0"/>
          </a:p>
        </p:txBody>
      </p:sp>
      <p:pic>
        <p:nvPicPr>
          <p:cNvPr id="2253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425" y="3806825"/>
            <a:ext cx="4495800" cy="189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664091" y="243929"/>
            <a:ext cx="7899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Code Injection</a:t>
            </a:r>
            <a:endParaRPr lang="en-US" altLang="en-US" dirty="0"/>
          </a:p>
        </p:txBody>
      </p:sp>
      <p:sp>
        <p:nvSpPr>
          <p:cNvPr id="4" name="Content Placeholder 2"/>
          <p:cNvSpPr txBox="1">
            <a:spLocks noChangeArrowheads="1"/>
          </p:cNvSpPr>
          <p:nvPr/>
        </p:nvSpPr>
        <p:spPr>
          <a:xfrm>
            <a:off x="874713" y="1069975"/>
            <a:ext cx="7560160" cy="45307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Code-injection</a:t>
            </a:r>
            <a:r>
              <a:rPr lang="en-US" altLang="en-US" b="1" kern="0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attack</a:t>
            </a:r>
            <a:r>
              <a:rPr lang="en-US" altLang="en-US" b="1" kern="0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occurs when system code is not malicious but has bugs allowing executable code to be added or modified</a:t>
            </a:r>
            <a:endParaRPr lang="en-US" altLang="en-US" dirty="0"/>
          </a:p>
          <a:p>
            <a:pPr lvl="1"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Results from poor or insecure programming paradigms, commonly in low level languages like C or C++ which allow for direct memory access through pointers</a:t>
            </a:r>
            <a:endParaRPr lang="en-US" altLang="en-US" dirty="0"/>
          </a:p>
          <a:p>
            <a:pPr lvl="1"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Goal is a buffer overflow in which code is placed in a buffer and execution caused by the attack</a:t>
            </a:r>
            <a:endParaRPr lang="en-US" altLang="en-US" dirty="0"/>
          </a:p>
          <a:p>
            <a:pPr lvl="1"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Can be run by script kiddies – use tools written but exploit identifiers</a:t>
            </a:r>
            <a:endParaRPr lang="en-US" altLang="en-US" dirty="0"/>
          </a:p>
          <a:p>
            <a:pPr marL="0" indent="0">
              <a:buFont typeface="Monotype Sorts" pitchFamily="2" charset="2"/>
              <a:buNone/>
              <a:defRPr/>
            </a:pPr>
            <a:endParaRPr lang="en-US" altLang="en-US" kern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626770" y="243929"/>
            <a:ext cx="7899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Code </a:t>
            </a:r>
            <a:r>
              <a:rPr lang="en-US" altLang="en-US"/>
              <a:t>Injection (Cont</a:t>
            </a:r>
            <a:r>
              <a:rPr lang="en-US" altLang="en-US" dirty="0"/>
              <a:t>.)</a:t>
            </a:r>
            <a:endParaRPr lang="en-US" altLang="en-US" dirty="0"/>
          </a:p>
        </p:txBody>
      </p:sp>
      <p:sp>
        <p:nvSpPr>
          <p:cNvPr id="4" name="Content Placeholder 2"/>
          <p:cNvSpPr txBox="1">
            <a:spLocks noChangeArrowheads="1"/>
          </p:cNvSpPr>
          <p:nvPr/>
        </p:nvSpPr>
        <p:spPr>
          <a:xfrm>
            <a:off x="914400" y="1069975"/>
            <a:ext cx="4450761" cy="45307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lvl="1"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Outcomes from code injection include:</a:t>
            </a: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lvl="1"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altLang="en-US" dirty="0"/>
              <a:t>Frequently use trampoline to code execution to exploit buffer overflow: </a:t>
            </a:r>
            <a:endParaRPr lang="en-US" altLang="en-US" dirty="0"/>
          </a:p>
          <a:p>
            <a:pPr>
              <a:defRPr/>
            </a:pPr>
            <a:endParaRPr lang="en-US" altLang="en-US" kern="0" dirty="0"/>
          </a:p>
        </p:txBody>
      </p:sp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1379538"/>
            <a:ext cx="5472112" cy="268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763" y="4062413"/>
            <a:ext cx="1760537" cy="200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918124" y="248885"/>
            <a:ext cx="76660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Program Threats (Cont.)</a:t>
            </a:r>
            <a:endParaRPr lang="en-US" altLang="en-US" dirty="0"/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9120" y="1150938"/>
            <a:ext cx="7826341" cy="4530725"/>
          </a:xfrm>
        </p:spPr>
        <p:txBody>
          <a:bodyPr/>
          <a:lstStyle/>
          <a:p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Viruses</a:t>
            </a:r>
            <a:endParaRPr lang="en-US" altLang="en-US" b="1" kern="1200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Code fragment embedded in legitimate program</a:t>
            </a:r>
            <a:endParaRPr lang="en-US" altLang="en-US" dirty="0"/>
          </a:p>
          <a:p>
            <a:pPr lvl="1"/>
            <a:r>
              <a:rPr lang="en-US" altLang="en-US" dirty="0"/>
              <a:t>Self-replicating, designed to infect other computers</a:t>
            </a:r>
            <a:endParaRPr lang="en-US" altLang="en-US" dirty="0"/>
          </a:p>
          <a:p>
            <a:pPr lvl="1"/>
            <a:r>
              <a:rPr lang="en-US" altLang="en-US" dirty="0"/>
              <a:t>Very specific to CPU architecture, operating system, applications</a:t>
            </a:r>
            <a:endParaRPr lang="en-US" altLang="en-US" dirty="0"/>
          </a:p>
          <a:p>
            <a:pPr lvl="1"/>
            <a:r>
              <a:rPr lang="en-US" altLang="en-US" dirty="0"/>
              <a:t>Usually borne via email or as a macro</a:t>
            </a:r>
            <a:endParaRPr lang="en-US" altLang="en-US" dirty="0"/>
          </a:p>
          <a:p>
            <a:pPr lvl="1"/>
            <a:r>
              <a:rPr lang="en-US" altLang="en-US" dirty="0"/>
              <a:t>Visual Basic Macro to reformat hard drive</a:t>
            </a:r>
            <a:endParaRPr lang="en-US" altLang="en-US" dirty="0"/>
          </a:p>
          <a:p>
            <a:pPr lvl="2"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Sub AutoOpen()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Dim </a:t>
            </a:r>
            <a:r>
              <a:rPr lang="en-US" altLang="en-US" sz="1600" dirty="0" err="1">
                <a:latin typeface="Courier New" panose="02070309020205020404" pitchFamily="49" charset="0"/>
              </a:rPr>
              <a:t>oFS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Set </a:t>
            </a:r>
            <a:r>
              <a:rPr lang="en-US" altLang="en-US" sz="1600" dirty="0" err="1">
                <a:latin typeface="Courier New" panose="02070309020205020404" pitchFamily="49" charset="0"/>
              </a:rPr>
              <a:t>oFS</a:t>
            </a:r>
            <a:r>
              <a:rPr lang="en-US" altLang="en-US" sz="1600" dirty="0">
                <a:latin typeface="Courier New" panose="02070309020205020404" pitchFamily="49" charset="0"/>
              </a:rPr>
              <a:t> = </a:t>
            </a:r>
            <a:r>
              <a:rPr lang="en-US" altLang="en-US" sz="1600" dirty="0" err="1">
                <a:latin typeface="Courier New" panose="02070309020205020404" pitchFamily="49" charset="0"/>
              </a:rPr>
              <a:t>CreateObject</a:t>
            </a:r>
            <a:r>
              <a:rPr lang="en-US" altLang="en-US" sz="1600" dirty="0">
                <a:latin typeface="Courier New" panose="02070309020205020404" pitchFamily="49" charset="0"/>
              </a:rPr>
              <a:t>(</a:t>
            </a:r>
            <a:r>
              <a:rPr lang="ja-JP" altLang="en-US" sz="1600" dirty="0">
                <a:latin typeface="Courier New" panose="02070309020205020404" pitchFamily="49" charset="0"/>
              </a:rPr>
              <a:t>’’</a:t>
            </a:r>
            <a:r>
              <a:rPr lang="en-US" altLang="ja-JP" sz="1600" dirty="0" err="1">
                <a:latin typeface="Courier New" panose="02070309020205020404" pitchFamily="49" charset="0"/>
              </a:rPr>
              <a:t>Scripting.FileSystemObject</a:t>
            </a:r>
            <a:r>
              <a:rPr lang="ja-JP" altLang="en-US" sz="1600" dirty="0">
                <a:latin typeface="Courier New" panose="02070309020205020404" pitchFamily="49" charset="0"/>
              </a:rPr>
              <a:t>’’</a:t>
            </a:r>
            <a:r>
              <a:rPr lang="en-US" altLang="ja-JP" sz="1600" dirty="0">
                <a:latin typeface="Courier New" panose="02070309020205020404" pitchFamily="49" charset="0"/>
              </a:rPr>
              <a:t>)</a:t>
            </a:r>
            <a:endParaRPr lang="en-US" altLang="ja-JP" sz="1600" dirty="0"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vs = Shell(</a:t>
            </a:r>
            <a:r>
              <a:rPr lang="ja-JP" altLang="en-US" sz="1600" dirty="0">
                <a:latin typeface="Courier New" panose="02070309020205020404" pitchFamily="49" charset="0"/>
              </a:rPr>
              <a:t>’’</a:t>
            </a:r>
            <a:r>
              <a:rPr lang="en-US" altLang="ja-JP" sz="1600" dirty="0">
                <a:latin typeface="Courier New" panose="02070309020205020404" pitchFamily="49" charset="0"/>
              </a:rPr>
              <a:t>c:command.com /k format c:</a:t>
            </a:r>
            <a:r>
              <a:rPr lang="ja-JP" altLang="en-US" sz="1600" dirty="0">
                <a:latin typeface="Courier New" panose="02070309020205020404" pitchFamily="49" charset="0"/>
              </a:rPr>
              <a:t>’’</a:t>
            </a:r>
            <a:r>
              <a:rPr lang="en-US" altLang="ja-JP" sz="1600" dirty="0">
                <a:latin typeface="Courier New" panose="02070309020205020404" pitchFamily="49" charset="0"/>
              </a:rPr>
              <a:t>,</a:t>
            </a:r>
            <a:r>
              <a:rPr lang="en-US" altLang="ja-JP" sz="1600" dirty="0" err="1">
                <a:latin typeface="Courier New" panose="02070309020205020404" pitchFamily="49" charset="0"/>
              </a:rPr>
              <a:t>vbHide</a:t>
            </a:r>
            <a:r>
              <a:rPr lang="en-US" altLang="ja-JP" sz="1600" dirty="0">
                <a:latin typeface="Courier New" panose="02070309020205020404" pitchFamily="49" charset="0"/>
              </a:rPr>
              <a:t>)</a:t>
            </a:r>
            <a:endParaRPr lang="en-US" altLang="ja-JP" sz="1600" dirty="0"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End Sub</a:t>
            </a:r>
            <a:endParaRPr lang="en-US" altLang="en-US" sz="1600" dirty="0">
              <a:latin typeface="Courier New" panose="02070309020205020404" pitchFamily="49" charset="0"/>
            </a:endParaRPr>
          </a:p>
          <a:p>
            <a:pPr lvl="1"/>
            <a:endParaRPr lang="en-US" alt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907080" y="243929"/>
            <a:ext cx="7695741" cy="576262"/>
          </a:xfrm>
        </p:spPr>
        <p:txBody>
          <a:bodyPr/>
          <a:lstStyle/>
          <a:p>
            <a:pPr eaLnBrk="1" hangingPunct="1"/>
            <a:r>
              <a:rPr lang="en-GB" altLang="en-US" dirty="0"/>
              <a:t>1 </a:t>
            </a:r>
            <a:r>
              <a:rPr lang="en-US" altLang="en-US" dirty="0"/>
              <a:t>Program Threats (Cont.)</a:t>
            </a:r>
            <a:endParaRPr lang="en-US" altLang="en-US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9087" y="1179936"/>
            <a:ext cx="7559675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Virus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dropper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inserts virus onto the system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Many categories of viruses, literally many thousands of viruses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File / parasitic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Boot / memory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Macro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Source code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Polymorphic to avoid having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virus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signature</a:t>
            </a:r>
            <a:endParaRPr lang="en-US" altLang="en-US" b="1" kern="1200" dirty="0">
              <a:solidFill>
                <a:srgbClr val="006699"/>
              </a:solidFill>
              <a:latin typeface="+mj-lt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Encrypted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Stealth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Tunneling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Multipartite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Armored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787400" y="248303"/>
            <a:ext cx="7899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 Boot-sector Computer Virus</a:t>
            </a:r>
            <a:endParaRPr lang="en-US" alt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600" y="1120775"/>
            <a:ext cx="4953000" cy="525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43929"/>
            <a:ext cx="8229600" cy="576262"/>
          </a:xfrm>
        </p:spPr>
        <p:txBody>
          <a:bodyPr/>
          <a:lstStyle/>
          <a:p>
            <a:r>
              <a:rPr lang="en-US" altLang="en-US" dirty="0"/>
              <a:t>The Threat Continues</a:t>
            </a:r>
            <a:endParaRPr lang="en-US" altLang="en-US" dirty="0"/>
          </a:p>
        </p:txBody>
      </p:sp>
      <p:sp>
        <p:nvSpPr>
          <p:cNvPr id="3686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74713" y="1129330"/>
            <a:ext cx="7723187" cy="4530725"/>
          </a:xfrm>
        </p:spPr>
        <p:txBody>
          <a:bodyPr/>
          <a:lstStyle/>
          <a:p>
            <a:r>
              <a:rPr lang="en-US" altLang="en-US" dirty="0"/>
              <a:t>Attacks still common, still occurring</a:t>
            </a:r>
            <a:endParaRPr lang="en-US" altLang="en-US" dirty="0"/>
          </a:p>
          <a:p>
            <a:r>
              <a:rPr lang="en-US" altLang="en-US" dirty="0"/>
              <a:t>Attacks moved over time from science experiments to tools of organized crime</a:t>
            </a:r>
            <a:endParaRPr lang="en-US" altLang="en-US" dirty="0"/>
          </a:p>
          <a:p>
            <a:pPr lvl="1"/>
            <a:r>
              <a:rPr lang="en-US" altLang="en-US" dirty="0"/>
              <a:t>Targeting specific companies</a:t>
            </a:r>
            <a:endParaRPr lang="en-US" altLang="en-US" dirty="0"/>
          </a:p>
          <a:p>
            <a:pPr lvl="1"/>
            <a:r>
              <a:rPr lang="en-US" altLang="en-US" dirty="0"/>
              <a:t>Creating botnets to use as tool for spam and DDOS delivery</a:t>
            </a:r>
            <a:endParaRPr lang="en-US" altLang="en-US" dirty="0"/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Keystroke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logger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grab passwords, credit card numbers</a:t>
            </a:r>
            <a:endParaRPr lang="en-US" altLang="en-US" dirty="0"/>
          </a:p>
          <a:p>
            <a:r>
              <a:rPr lang="en-US" altLang="en-US" dirty="0"/>
              <a:t>Why is Windows the target for most attacks?</a:t>
            </a:r>
            <a:endParaRPr lang="en-US" altLang="en-US" dirty="0"/>
          </a:p>
          <a:p>
            <a:pPr lvl="1"/>
            <a:r>
              <a:rPr lang="en-US" altLang="en-US" dirty="0"/>
              <a:t>Most common</a:t>
            </a:r>
            <a:endParaRPr lang="en-US" altLang="en-US" dirty="0"/>
          </a:p>
          <a:p>
            <a:pPr lvl="1"/>
            <a:r>
              <a:rPr lang="en-US" altLang="en-US" dirty="0"/>
              <a:t>Everyone is an administrator</a:t>
            </a:r>
            <a:endParaRPr lang="en-US" altLang="en-US" dirty="0"/>
          </a:p>
          <a:p>
            <a:pPr lvl="2"/>
            <a:r>
              <a:rPr lang="en-US" altLang="en-US" dirty="0"/>
              <a:t>Licensing required?</a:t>
            </a:r>
            <a:endParaRPr lang="en-US" altLang="en-US" dirty="0"/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Monoculture</a:t>
            </a:r>
            <a:r>
              <a:rPr lang="en-US" altLang="en-US" dirty="0"/>
              <a:t> considered harmful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243929"/>
            <a:ext cx="7859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and Network Threats</a:t>
            </a:r>
            <a:endParaRPr lang="en-US" altLang="en-US" dirty="0"/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5718" y="1128907"/>
            <a:ext cx="7671122" cy="4530725"/>
          </a:xfrm>
        </p:spPr>
        <p:txBody>
          <a:bodyPr/>
          <a:lstStyle/>
          <a:p>
            <a:r>
              <a:rPr lang="en-US" altLang="en-US" dirty="0" smtClean="0">
                <a:solidFill>
                  <a:srgbClr val="000000"/>
                </a:solidFill>
              </a:rPr>
              <a:t>Worldwide connectivity makes the system vulnerable to worldwide attacks</a:t>
            </a:r>
            <a:endParaRPr lang="en-US" altLang="en-US" dirty="0" smtClean="0">
              <a:solidFill>
                <a:srgbClr val="000000"/>
              </a:solidFill>
            </a:endParaRPr>
          </a:p>
          <a:p>
            <a:r>
              <a:rPr lang="en-US" altLang="en-US" dirty="0" smtClean="0">
                <a:solidFill>
                  <a:srgbClr val="000000"/>
                </a:solidFill>
              </a:rPr>
              <a:t>Some </a:t>
            </a:r>
            <a:r>
              <a:rPr lang="en-US" altLang="en-US" dirty="0">
                <a:solidFill>
                  <a:srgbClr val="000000"/>
                </a:solidFill>
              </a:rPr>
              <a:t>systems </a:t>
            </a:r>
            <a:r>
              <a:rPr lang="ja-JP" altLang="en-US" dirty="0">
                <a:solidFill>
                  <a:srgbClr val="000000"/>
                </a:solidFill>
              </a:rPr>
              <a:t>“</a:t>
            </a:r>
            <a:r>
              <a:rPr lang="en-US" altLang="ja-JP" dirty="0">
                <a:solidFill>
                  <a:srgbClr val="000000"/>
                </a:solidFill>
              </a:rPr>
              <a:t>open</a:t>
            </a:r>
            <a:r>
              <a:rPr lang="ja-JP" altLang="en-US" dirty="0">
                <a:solidFill>
                  <a:srgbClr val="000000"/>
                </a:solidFill>
              </a:rPr>
              <a:t>”</a:t>
            </a:r>
            <a:r>
              <a:rPr lang="en-US" altLang="ja-JP" dirty="0">
                <a:solidFill>
                  <a:srgbClr val="000000"/>
                </a:solidFill>
              </a:rPr>
              <a:t> rather than </a:t>
            </a:r>
            <a:r>
              <a:rPr lang="en-US" altLang="ja-JP" b="1" kern="1200" dirty="0">
                <a:solidFill>
                  <a:srgbClr val="006699"/>
                </a:solidFill>
                <a:latin typeface="+mj-lt"/>
              </a:rPr>
              <a:t>secure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b="1" kern="1200" dirty="0">
                <a:solidFill>
                  <a:srgbClr val="006699"/>
                </a:solidFill>
                <a:latin typeface="+mj-lt"/>
              </a:rPr>
              <a:t>by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b="1" kern="1200" dirty="0">
                <a:solidFill>
                  <a:srgbClr val="006699"/>
                </a:solidFill>
                <a:latin typeface="+mj-lt"/>
              </a:rPr>
              <a:t>default</a:t>
            </a:r>
            <a:endParaRPr lang="en-US" altLang="ja-JP" b="1" kern="1200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Reduce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attack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surface</a:t>
            </a:r>
            <a:endParaRPr lang="en-US" altLang="en-US" b="1" kern="1200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But harder to use, more knowledge needed to administer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Network threats harder to detect, prevent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Protection systems weaker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More difficult to have a shared secret on which to base access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No physical limits once system attached to internet</a:t>
            </a:r>
            <a:endParaRPr lang="en-US" altLang="en-US" dirty="0">
              <a:solidFill>
                <a:srgbClr val="000000"/>
              </a:solidFill>
            </a:endParaRPr>
          </a:p>
          <a:p>
            <a:pPr lvl="2"/>
            <a:r>
              <a:rPr lang="en-US" altLang="en-US" dirty="0">
                <a:solidFill>
                  <a:srgbClr val="000000"/>
                </a:solidFill>
              </a:rPr>
              <a:t>Or on network with system attached to internet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Even determining location of connecting system difficult</a:t>
            </a:r>
            <a:endParaRPr lang="en-US" altLang="en-US" dirty="0">
              <a:solidFill>
                <a:srgbClr val="000000"/>
              </a:solidFill>
            </a:endParaRPr>
          </a:p>
          <a:p>
            <a:pPr lvl="2"/>
            <a:r>
              <a:rPr lang="en-US" altLang="en-US" dirty="0">
                <a:solidFill>
                  <a:srgbClr val="000000"/>
                </a:solidFill>
              </a:rPr>
              <a:t>IP address is only knowledge</a:t>
            </a:r>
            <a:endParaRPr lang="en-US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342" y="242921"/>
            <a:ext cx="75136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System and Network Threats (Cont.)</a:t>
            </a:r>
            <a:endParaRPr lang="en-US" altLang="en-US" dirty="0"/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0093" y="1125958"/>
            <a:ext cx="7478712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Worms</a:t>
            </a:r>
            <a:r>
              <a:rPr lang="en-US" altLang="en-US" dirty="0"/>
              <a:t> – use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spawn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mechanism; standalone program</a:t>
            </a:r>
            <a:endParaRPr lang="en-US" altLang="en-US" sz="800" dirty="0"/>
          </a:p>
          <a:p>
            <a:r>
              <a:rPr lang="en-US" altLang="en-US" dirty="0"/>
              <a:t>Internet worm</a:t>
            </a:r>
            <a:endParaRPr lang="en-US" altLang="en-US" dirty="0"/>
          </a:p>
          <a:p>
            <a:pPr lvl="1"/>
            <a:r>
              <a:rPr lang="en-US" altLang="en-US" dirty="0"/>
              <a:t>Exploited UNIX networking features (remote access) and bugs in </a:t>
            </a:r>
            <a:r>
              <a:rPr lang="en-US" altLang="en-US" i="1" dirty="0"/>
              <a:t>finger</a:t>
            </a:r>
            <a:r>
              <a:rPr lang="en-US" altLang="en-US" dirty="0"/>
              <a:t> and </a:t>
            </a:r>
            <a:r>
              <a:rPr lang="en-US" altLang="en-US" i="1" dirty="0" err="1"/>
              <a:t>sendmail</a:t>
            </a:r>
            <a:r>
              <a:rPr lang="en-US" altLang="en-US" dirty="0"/>
              <a:t> programs</a:t>
            </a:r>
            <a:endParaRPr lang="en-US" altLang="en-US" dirty="0"/>
          </a:p>
          <a:p>
            <a:pPr lvl="1"/>
            <a:r>
              <a:rPr lang="en-US" altLang="en-US" dirty="0"/>
              <a:t>Exploited trust-relationship mechanism used by </a:t>
            </a:r>
            <a:r>
              <a:rPr lang="en-US" altLang="en-US" i="1" dirty="0" err="1"/>
              <a:t>rsh</a:t>
            </a:r>
            <a:r>
              <a:rPr lang="en-US" altLang="en-US" i="1" dirty="0"/>
              <a:t> </a:t>
            </a:r>
            <a:r>
              <a:rPr lang="en-US" altLang="en-US" dirty="0"/>
              <a:t>to access friendly systems without use of password</a:t>
            </a:r>
            <a:endParaRPr lang="en-US" altLang="en-US" dirty="0"/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Grappling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hook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program uploaded main worm program</a:t>
            </a:r>
            <a:endParaRPr lang="en-US" altLang="en-US" dirty="0"/>
          </a:p>
          <a:p>
            <a:pPr lvl="2"/>
            <a:r>
              <a:rPr lang="en-US" altLang="en-US" dirty="0"/>
              <a:t>99 lines of C code </a:t>
            </a:r>
            <a:endParaRPr lang="en-US" altLang="en-US" dirty="0"/>
          </a:p>
          <a:p>
            <a:pPr lvl="1"/>
            <a:r>
              <a:rPr lang="en-US" altLang="en-US" dirty="0"/>
              <a:t>Hooked system then uploaded main code, tried to attack connected systems</a:t>
            </a:r>
            <a:endParaRPr lang="en-US" altLang="en-US" dirty="0"/>
          </a:p>
          <a:p>
            <a:pPr lvl="1"/>
            <a:r>
              <a:rPr lang="en-US" altLang="en-US" dirty="0"/>
              <a:t>Also tried to break into other users accounts on local system via password guessing</a:t>
            </a:r>
            <a:endParaRPr lang="en-US" altLang="en-US" dirty="0"/>
          </a:p>
          <a:p>
            <a:pPr lvl="1"/>
            <a:r>
              <a:rPr lang="en-US" altLang="en-US" dirty="0"/>
              <a:t>If target system already infected, abort, except for every 7</a:t>
            </a:r>
            <a:r>
              <a:rPr lang="en-US" altLang="en-US" baseline="30000" dirty="0"/>
              <a:t>th</a:t>
            </a:r>
            <a:r>
              <a:rPr lang="en-US" altLang="en-US" dirty="0"/>
              <a:t> time</a:t>
            </a: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 noChangeArrowheads="1"/>
          </p:cNvSpPr>
          <p:nvPr>
            <p:ph type="title"/>
          </p:nvPr>
        </p:nvSpPr>
        <p:spPr>
          <a:xfrm>
            <a:off x="1017041" y="248298"/>
            <a:ext cx="7799388" cy="576263"/>
          </a:xfrm>
        </p:spPr>
        <p:txBody>
          <a:bodyPr/>
          <a:lstStyle/>
          <a:p>
            <a:r>
              <a:rPr lang="en-US" altLang="en-US" dirty="0"/>
              <a:t>System and Network Threats (Cont.)</a:t>
            </a:r>
            <a:endParaRPr lang="en-US" altLang="en-US" dirty="0"/>
          </a:p>
        </p:txBody>
      </p:sp>
      <p:sp>
        <p:nvSpPr>
          <p:cNvPr id="4198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79669" y="1134287"/>
            <a:ext cx="7648512" cy="4530725"/>
          </a:xfrm>
        </p:spPr>
        <p:txBody>
          <a:bodyPr/>
          <a:lstStyle/>
          <a:p>
            <a:r>
              <a:rPr lang="en-US" altLang="en-US" b="1" dirty="0"/>
              <a:t>Port scanning</a:t>
            </a:r>
            <a:endParaRPr lang="en-US" altLang="en-US" dirty="0"/>
          </a:p>
          <a:p>
            <a:pPr lvl="1"/>
            <a:r>
              <a:rPr lang="en-US" altLang="en-US" dirty="0"/>
              <a:t>Automated attempt to connect to a range of ports on one or a range of IP addresses</a:t>
            </a:r>
            <a:endParaRPr lang="en-US" altLang="en-US" dirty="0"/>
          </a:p>
          <a:p>
            <a:pPr lvl="1"/>
            <a:r>
              <a:rPr lang="en-US" altLang="en-US" dirty="0"/>
              <a:t>Detection of answering service protocol</a:t>
            </a:r>
            <a:endParaRPr lang="en-US" altLang="en-US" dirty="0"/>
          </a:p>
          <a:p>
            <a:pPr lvl="1"/>
            <a:r>
              <a:rPr lang="en-US" altLang="en-US" dirty="0"/>
              <a:t>Detection of OS and version running on system</a:t>
            </a:r>
            <a:endParaRPr lang="en-US" altLang="en-US" dirty="0"/>
          </a:p>
          <a:p>
            <a:pPr lvl="1"/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nmap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/>
              <a:t>scans all ports in a given IP range for a response</a:t>
            </a:r>
            <a:endParaRPr lang="en-US" altLang="en-US" dirty="0"/>
          </a:p>
          <a:p>
            <a:pPr lvl="1"/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nessus</a:t>
            </a:r>
            <a:r>
              <a:rPr lang="en-US" altLang="en-US" dirty="0"/>
              <a:t> has a database of protocols and bugs (and exploits) to apply against a system</a:t>
            </a:r>
            <a:endParaRPr lang="en-US" altLang="en-US" dirty="0"/>
          </a:p>
          <a:p>
            <a:pPr lvl="1"/>
            <a:r>
              <a:rPr lang="en-US" altLang="en-US" dirty="0"/>
              <a:t>Frequently launched from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zombie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systems</a:t>
            </a:r>
            <a:r>
              <a:rPr lang="en-US" altLang="en-US" dirty="0"/>
              <a:t> </a:t>
            </a:r>
            <a:endParaRPr lang="en-US" altLang="en-US" dirty="0"/>
          </a:p>
          <a:p>
            <a:pPr lvl="2"/>
            <a:r>
              <a:rPr lang="en-US" altLang="en-US" dirty="0"/>
              <a:t>To decrease trace-ability	</a:t>
            </a:r>
            <a:endParaRPr lang="en-US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 noChangeArrowheads="1"/>
          </p:cNvSpPr>
          <p:nvPr>
            <p:ph type="title"/>
          </p:nvPr>
        </p:nvSpPr>
        <p:spPr>
          <a:xfrm>
            <a:off x="1066643" y="248301"/>
            <a:ext cx="7704137" cy="576263"/>
          </a:xfrm>
        </p:spPr>
        <p:txBody>
          <a:bodyPr/>
          <a:lstStyle/>
          <a:p>
            <a:r>
              <a:rPr lang="en-GB" altLang="en-US" dirty="0"/>
              <a:t>1 </a:t>
            </a:r>
            <a:r>
              <a:rPr lang="en-US" altLang="en-US" dirty="0"/>
              <a:t>System and Network Threats (Cont.)</a:t>
            </a:r>
            <a:endParaRPr lang="en-US" altLang="en-US" dirty="0"/>
          </a:p>
        </p:txBody>
      </p:sp>
      <p:sp>
        <p:nvSpPr>
          <p:cNvPr id="43010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84661" y="1101173"/>
            <a:ext cx="7783480" cy="4530725"/>
          </a:xfrm>
        </p:spPr>
        <p:txBody>
          <a:bodyPr/>
          <a:lstStyle/>
          <a:p>
            <a:r>
              <a:rPr lang="en-US" altLang="en-US" b="1" dirty="0"/>
              <a:t>Denial of </a:t>
            </a:r>
            <a:r>
              <a:rPr lang="en-US" altLang="en-US" b="1" dirty="0" smtClean="0"/>
              <a:t>Service</a:t>
            </a:r>
            <a:endParaRPr lang="en-US" altLang="en-US" b="1" dirty="0" smtClean="0"/>
          </a:p>
          <a:p>
            <a:r>
              <a:rPr lang="en-US" altLang="en-US" b="1" dirty="0" smtClean="0"/>
              <a:t>Disrupting a legitimate use of a system or facility</a:t>
            </a:r>
            <a:endParaRPr lang="en-US" altLang="en-US" b="1" dirty="0"/>
          </a:p>
          <a:p>
            <a:pPr lvl="1"/>
            <a:r>
              <a:rPr lang="en-US" altLang="en-US" sz="1600" dirty="0"/>
              <a:t>Overload the targeted computer preventing it from doing any useful work</a:t>
            </a:r>
            <a:endParaRPr lang="en-US" altLang="en-US" sz="1600" dirty="0"/>
          </a:p>
          <a:p>
            <a:pPr lvl="1"/>
            <a:r>
              <a:rPr lang="en-GB" altLang="en-US" sz="1600" b="1" kern="1200" dirty="0">
                <a:solidFill>
                  <a:srgbClr val="006699"/>
                </a:solidFill>
                <a:latin typeface="+mj-lt"/>
              </a:rPr>
              <a:t>1 </a:t>
            </a:r>
            <a:r>
              <a:rPr lang="en-US" altLang="en-US" sz="1600" b="1" kern="1200" dirty="0">
                <a:solidFill>
                  <a:srgbClr val="006699"/>
                </a:solidFill>
                <a:latin typeface="+mj-lt"/>
              </a:rPr>
              <a:t>Distributed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b="1" kern="1200" dirty="0">
                <a:solidFill>
                  <a:srgbClr val="006699"/>
                </a:solidFill>
                <a:latin typeface="+mj-lt"/>
              </a:rPr>
              <a:t>Denial-of-Service</a:t>
            </a:r>
            <a:r>
              <a:rPr lang="en-US" altLang="en-US" sz="1600" dirty="0"/>
              <a:t> (</a:t>
            </a:r>
            <a:r>
              <a:rPr lang="en-US" altLang="en-US" sz="1600" b="1" kern="1200" dirty="0">
                <a:solidFill>
                  <a:srgbClr val="006699"/>
                </a:solidFill>
                <a:latin typeface="+mj-lt"/>
              </a:rPr>
              <a:t>DDoS</a:t>
            </a:r>
            <a:r>
              <a:rPr lang="en-US" altLang="en-US" sz="1600" dirty="0"/>
              <a:t>) come from multiple sites at once</a:t>
            </a:r>
            <a:endParaRPr lang="en-US" altLang="en-US" sz="1600" dirty="0"/>
          </a:p>
          <a:p>
            <a:pPr lvl="1"/>
            <a:r>
              <a:rPr lang="en-US" altLang="en-US" sz="1600" dirty="0"/>
              <a:t>Consider the start of the IP-connection handshake (SYN)</a:t>
            </a:r>
            <a:endParaRPr lang="en-US" altLang="en-US" sz="1600" dirty="0"/>
          </a:p>
          <a:p>
            <a:pPr lvl="2"/>
            <a:r>
              <a:rPr lang="en-US" altLang="en-US" sz="1600" dirty="0"/>
              <a:t>How many started-connections can the OS handle?</a:t>
            </a:r>
            <a:endParaRPr lang="en-US" altLang="en-US" sz="1600" dirty="0"/>
          </a:p>
          <a:p>
            <a:pPr lvl="1"/>
            <a:r>
              <a:rPr lang="en-US" altLang="en-US" sz="1600" dirty="0"/>
              <a:t>Consider traffic to a web site</a:t>
            </a:r>
            <a:endParaRPr lang="en-US" altLang="en-US" sz="1600" dirty="0"/>
          </a:p>
          <a:p>
            <a:pPr lvl="2"/>
            <a:r>
              <a:rPr lang="en-US" altLang="en-US" sz="1600" dirty="0"/>
              <a:t>How can you tell the difference between being a target and being really popular?</a:t>
            </a:r>
            <a:endParaRPr lang="en-US" altLang="en-US" sz="1600" dirty="0"/>
          </a:p>
          <a:p>
            <a:pPr lvl="1"/>
            <a:r>
              <a:rPr lang="en-US" altLang="en-US" sz="1600" dirty="0"/>
              <a:t>Accidental – CS students writing bad 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altLang="en-US" sz="1600" dirty="0"/>
              <a:t>code</a:t>
            </a:r>
            <a:endParaRPr lang="en-US" altLang="en-US" sz="1600" dirty="0"/>
          </a:p>
          <a:p>
            <a:pPr lvl="1"/>
            <a:r>
              <a:rPr lang="en-US" altLang="en-US" sz="1600" dirty="0"/>
              <a:t>Purposeful – extortion, punishment</a:t>
            </a:r>
            <a:endParaRPr lang="en-US" altLang="en-US" sz="1600" dirty="0"/>
          </a:p>
          <a:p>
            <a:r>
              <a:rPr lang="en-US" altLang="en-US" sz="1600" dirty="0"/>
              <a:t>Port scanning</a:t>
            </a:r>
            <a:endParaRPr lang="en-US" altLang="en-US" sz="1600" dirty="0"/>
          </a:p>
          <a:p>
            <a:pPr lvl="1"/>
            <a:r>
              <a:rPr lang="en-US" altLang="en-US" sz="1600" dirty="0"/>
              <a:t>Automated tool to look for network ports accepting connections</a:t>
            </a:r>
            <a:endParaRPr lang="en-US" altLang="en-US" sz="1600" dirty="0"/>
          </a:p>
          <a:p>
            <a:pPr lvl="1"/>
            <a:r>
              <a:rPr lang="en-US" altLang="en-US" sz="1600" dirty="0"/>
              <a:t>Used for good and evil</a:t>
            </a:r>
            <a:endParaRPr lang="en-US" altLang="en-US" sz="16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 noChangeArrowheads="1"/>
          </p:cNvSpPr>
          <p:nvPr>
            <p:ph type="title"/>
          </p:nvPr>
        </p:nvSpPr>
        <p:spPr>
          <a:xfrm>
            <a:off x="908017" y="238972"/>
            <a:ext cx="7704137" cy="576263"/>
          </a:xfrm>
        </p:spPr>
        <p:txBody>
          <a:bodyPr/>
          <a:lstStyle/>
          <a:p>
            <a:r>
              <a:rPr lang="en-US" altLang="en-US" dirty="0"/>
              <a:t>Standard Security Attacks</a:t>
            </a:r>
            <a:endParaRPr lang="en-US" altLang="en-US" dirty="0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275" y="1343025"/>
            <a:ext cx="4572000" cy="509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855663" y="234598"/>
            <a:ext cx="7967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Cryptography as a Security Tool</a:t>
            </a:r>
            <a:endParaRPr lang="en-US" altLang="en-US" dirty="0"/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756" y="1102343"/>
            <a:ext cx="7723738" cy="4530725"/>
          </a:xfrm>
        </p:spPr>
        <p:txBody>
          <a:bodyPr/>
          <a:lstStyle/>
          <a:p>
            <a:r>
              <a:rPr lang="en-US" altLang="en-US" dirty="0"/>
              <a:t>Broadest security tool available</a:t>
            </a:r>
            <a:endParaRPr lang="en-US" altLang="en-US" dirty="0"/>
          </a:p>
          <a:p>
            <a:pPr lvl="1"/>
            <a:r>
              <a:rPr lang="en-US" altLang="en-US" dirty="0"/>
              <a:t>Internal to a given computer, source and destination of messages can be known and protected</a:t>
            </a:r>
            <a:endParaRPr lang="en-US" altLang="en-US" dirty="0"/>
          </a:p>
          <a:p>
            <a:pPr lvl="2"/>
            <a:r>
              <a:rPr lang="en-US" altLang="en-US" dirty="0"/>
              <a:t>OS creates, manages, protects process IDs, communication ports</a:t>
            </a:r>
            <a:endParaRPr lang="en-US" altLang="en-US" dirty="0"/>
          </a:p>
          <a:p>
            <a:pPr lvl="1"/>
            <a:r>
              <a:rPr lang="en-US" altLang="en-US" dirty="0"/>
              <a:t>Source and destination of messages on network cannot be trusted without cryptography</a:t>
            </a:r>
            <a:endParaRPr lang="en-US" altLang="en-US" dirty="0"/>
          </a:p>
          <a:p>
            <a:pPr lvl="2"/>
            <a:r>
              <a:rPr lang="en-US" altLang="en-US" dirty="0"/>
              <a:t>Local network – IP address?</a:t>
            </a:r>
            <a:endParaRPr lang="en-US" altLang="en-US" dirty="0"/>
          </a:p>
          <a:p>
            <a:pPr lvl="3"/>
            <a:r>
              <a:rPr lang="en-US" altLang="en-US" dirty="0"/>
              <a:t>Consider unauthorized host added</a:t>
            </a:r>
            <a:endParaRPr lang="en-US" altLang="en-US" dirty="0"/>
          </a:p>
          <a:p>
            <a:pPr lvl="2"/>
            <a:r>
              <a:rPr lang="en-US" altLang="en-US" dirty="0"/>
              <a:t>WAN / Internet – how to establish authenticity </a:t>
            </a:r>
            <a:endParaRPr lang="en-US" altLang="en-US" dirty="0"/>
          </a:p>
          <a:p>
            <a:pPr lvl="3"/>
            <a:r>
              <a:rPr lang="en-US" altLang="en-US" dirty="0"/>
              <a:t>Not via IP address</a:t>
            </a: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 noChangeArrowheads="1"/>
          </p:cNvSpPr>
          <p:nvPr>
            <p:ph type="title"/>
          </p:nvPr>
        </p:nvSpPr>
        <p:spPr>
          <a:xfrm>
            <a:off x="363891" y="238972"/>
            <a:ext cx="8229600" cy="576263"/>
          </a:xfrm>
        </p:spPr>
        <p:txBody>
          <a:bodyPr/>
          <a:lstStyle/>
          <a:p>
            <a:r>
              <a:rPr lang="en-US" altLang="en-US" dirty="0"/>
              <a:t>Cryptography</a:t>
            </a:r>
            <a:endParaRPr lang="en-US" altLang="en-US" dirty="0"/>
          </a:p>
        </p:txBody>
      </p:sp>
      <p:sp>
        <p:nvSpPr>
          <p:cNvPr id="4710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7392" y="1100914"/>
            <a:ext cx="7772753" cy="4530725"/>
          </a:xfrm>
        </p:spPr>
        <p:txBody>
          <a:bodyPr/>
          <a:lstStyle/>
          <a:p>
            <a:r>
              <a:rPr lang="en-US" altLang="en-US" dirty="0"/>
              <a:t>Means to constrain potential senders (</a:t>
            </a:r>
            <a:r>
              <a:rPr lang="en-US" altLang="en-US" i="1" dirty="0"/>
              <a:t>sources</a:t>
            </a:r>
            <a:r>
              <a:rPr lang="en-US" altLang="en-US" dirty="0"/>
              <a:t>) and / or receivers (</a:t>
            </a:r>
            <a:r>
              <a:rPr lang="en-US" altLang="en-US" i="1" dirty="0"/>
              <a:t>destinations</a:t>
            </a:r>
            <a:r>
              <a:rPr lang="en-US" altLang="en-US" dirty="0"/>
              <a:t>) of </a:t>
            </a:r>
            <a:r>
              <a:rPr lang="en-US" altLang="en-US" i="1" dirty="0"/>
              <a:t>messages</a:t>
            </a:r>
            <a:endParaRPr lang="en-US" altLang="en-US" i="1" dirty="0"/>
          </a:p>
          <a:p>
            <a:pPr lvl="1"/>
            <a:r>
              <a:rPr lang="en-US" altLang="en-US" dirty="0"/>
              <a:t>Based on secrets (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keys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Enables</a:t>
            </a:r>
            <a:endParaRPr lang="en-US" altLang="en-US" dirty="0"/>
          </a:p>
          <a:p>
            <a:pPr lvl="2"/>
            <a:r>
              <a:rPr lang="en-US" altLang="en-US" dirty="0"/>
              <a:t>Confirmation of source</a:t>
            </a:r>
            <a:endParaRPr lang="en-US" altLang="en-US" dirty="0"/>
          </a:p>
          <a:p>
            <a:pPr lvl="2"/>
            <a:r>
              <a:rPr lang="en-US" altLang="en-US" dirty="0"/>
              <a:t>Receipt only by certain destination</a:t>
            </a:r>
            <a:endParaRPr lang="en-US" altLang="en-US" dirty="0"/>
          </a:p>
          <a:p>
            <a:pPr lvl="2"/>
            <a:r>
              <a:rPr lang="en-US" altLang="en-US" dirty="0"/>
              <a:t>Trust relationship between sender and receiver</a:t>
            </a:r>
            <a:endParaRPr lang="en-US" altLang="en-US" dirty="0"/>
          </a:p>
          <a:p>
            <a:pPr lvl="2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373221" y="24392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Encryption</a:t>
            </a:r>
            <a:endParaRPr lang="en-US" altLang="en-US" dirty="0"/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7" y="1127543"/>
            <a:ext cx="7735077" cy="51736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Constrains the set of possible receivers of a message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kern="1200" dirty="0">
                <a:solidFill>
                  <a:srgbClr val="006699"/>
                </a:solidFill>
                <a:latin typeface="+mj-lt"/>
              </a:rPr>
              <a:t>Encryption</a:t>
            </a:r>
            <a:r>
              <a:rPr lang="en-US" altLang="en-US" dirty="0"/>
              <a:t> algorithm consists of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Set </a:t>
            </a:r>
            <a:r>
              <a:rPr lang="en-US" altLang="en-US" i="1" dirty="0"/>
              <a:t>K</a:t>
            </a:r>
            <a:r>
              <a:rPr lang="en-US" altLang="en-US" dirty="0"/>
              <a:t> of keys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Set </a:t>
            </a:r>
            <a:r>
              <a:rPr lang="en-US" altLang="en-US" i="1" dirty="0"/>
              <a:t>M</a:t>
            </a:r>
            <a:r>
              <a:rPr lang="en-US" altLang="en-US" dirty="0"/>
              <a:t> of Messages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Set </a:t>
            </a:r>
            <a:r>
              <a:rPr lang="en-US" altLang="en-US" i="1" dirty="0"/>
              <a:t>C</a:t>
            </a:r>
            <a:r>
              <a:rPr lang="en-US" altLang="en-US" dirty="0"/>
              <a:t> of ciphertexts (encrypted messages)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 function </a:t>
            </a:r>
            <a:r>
              <a:rPr lang="en-US" altLang="en-US" i="1" dirty="0"/>
              <a:t>E </a:t>
            </a:r>
            <a:r>
              <a:rPr lang="en-US" altLang="en-US" dirty="0"/>
              <a:t>: </a:t>
            </a:r>
            <a:r>
              <a:rPr lang="en-US" altLang="en-US" i="1" dirty="0"/>
              <a:t>K </a:t>
            </a:r>
            <a:r>
              <a:rPr lang="en-US" altLang="en-US" dirty="0"/>
              <a:t>→ (</a:t>
            </a:r>
            <a:r>
              <a:rPr lang="en-US" altLang="en-US" i="1" dirty="0"/>
              <a:t>M</a:t>
            </a:r>
            <a:r>
              <a:rPr lang="en-US" altLang="en-US" dirty="0"/>
              <a:t>→</a:t>
            </a:r>
            <a:r>
              <a:rPr lang="en-US" altLang="en-US" i="1" dirty="0"/>
              <a:t>C</a:t>
            </a:r>
            <a:r>
              <a:rPr lang="en-US" altLang="en-US" dirty="0"/>
              <a:t>). That is, for each </a:t>
            </a:r>
            <a:r>
              <a:rPr lang="en-US" altLang="en-US" i="1" dirty="0"/>
              <a:t>k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dirty="0"/>
              <a:t>, </a:t>
            </a:r>
            <a:r>
              <a:rPr lang="en-US" altLang="en-US" i="1" dirty="0" err="1"/>
              <a:t>E</a:t>
            </a:r>
            <a:r>
              <a:rPr lang="en-US" altLang="en-US" i="1" baseline="-25000" dirty="0" err="1"/>
              <a:t>k</a:t>
            </a:r>
            <a:r>
              <a:rPr lang="en-US" altLang="en-US" i="1" dirty="0"/>
              <a:t> </a:t>
            </a:r>
            <a:r>
              <a:rPr lang="en-US" altLang="en-US" dirty="0"/>
              <a:t>is a function for generating ciphertexts from messages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Both </a:t>
            </a:r>
            <a:r>
              <a:rPr lang="en-US" altLang="en-US" i="1" dirty="0"/>
              <a:t>E </a:t>
            </a:r>
            <a:r>
              <a:rPr lang="en-US" altLang="en-US" dirty="0"/>
              <a:t>and </a:t>
            </a:r>
            <a:r>
              <a:rPr lang="en-US" altLang="en-US" i="1" dirty="0" err="1"/>
              <a:t>E</a:t>
            </a:r>
            <a:r>
              <a:rPr lang="en-US" altLang="en-US" baseline="-25000" dirty="0" err="1"/>
              <a:t>k</a:t>
            </a:r>
            <a:r>
              <a:rPr lang="en-US" altLang="en-US" dirty="0"/>
              <a:t> for any </a:t>
            </a:r>
            <a:r>
              <a:rPr lang="en-US" altLang="en-US" i="1" dirty="0"/>
              <a:t>k </a:t>
            </a:r>
            <a:r>
              <a:rPr lang="en-US" altLang="en-US" dirty="0"/>
              <a:t>should be efficiently computable functions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 function </a:t>
            </a:r>
            <a:r>
              <a:rPr lang="en-US" altLang="en-US" i="1" dirty="0"/>
              <a:t>D </a:t>
            </a:r>
            <a:r>
              <a:rPr lang="en-US" altLang="en-US" dirty="0"/>
              <a:t>: </a:t>
            </a:r>
            <a:r>
              <a:rPr lang="en-US" altLang="en-US" i="1" dirty="0"/>
              <a:t>K </a:t>
            </a:r>
            <a:r>
              <a:rPr lang="en-US" altLang="en-US" dirty="0"/>
              <a:t>→ (</a:t>
            </a:r>
            <a:r>
              <a:rPr lang="en-US" altLang="en-US" i="1" dirty="0"/>
              <a:t>C </a:t>
            </a:r>
            <a:r>
              <a:rPr lang="en-US" altLang="en-US" dirty="0"/>
              <a:t>→ </a:t>
            </a:r>
            <a:r>
              <a:rPr lang="en-US" altLang="en-US" i="1" dirty="0"/>
              <a:t>M</a:t>
            </a:r>
            <a:r>
              <a:rPr lang="en-US" altLang="en-US" dirty="0"/>
              <a:t>). That is, for each </a:t>
            </a:r>
            <a:r>
              <a:rPr lang="en-US" altLang="en-US" i="1" dirty="0"/>
              <a:t>k </a:t>
            </a:r>
            <a:r>
              <a:rPr lang="en-US" altLang="en-US" i="1" dirty="0">
                <a:sym typeface="Symbol" panose="05050102010706020507" pitchFamily="18" charset="2"/>
              </a:rPr>
              <a:t>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dirty="0"/>
              <a:t>, </a:t>
            </a:r>
            <a:r>
              <a:rPr lang="en-US" altLang="en-US" i="1" dirty="0" err="1"/>
              <a:t>D</a:t>
            </a:r>
            <a:r>
              <a:rPr lang="en-US" altLang="en-US" baseline="-25000" dirty="0" err="1"/>
              <a:t>k</a:t>
            </a:r>
            <a:r>
              <a:rPr lang="en-US" altLang="en-US" dirty="0"/>
              <a:t> is a function for generating messages from ciphertexts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Both </a:t>
            </a:r>
            <a:r>
              <a:rPr lang="en-US" altLang="en-US" i="1" dirty="0"/>
              <a:t>D </a:t>
            </a:r>
            <a:r>
              <a:rPr lang="en-US" altLang="en-US" dirty="0"/>
              <a:t>and </a:t>
            </a:r>
            <a:r>
              <a:rPr lang="en-US" altLang="en-US" i="1" dirty="0" err="1"/>
              <a:t>D</a:t>
            </a:r>
            <a:r>
              <a:rPr lang="en-US" altLang="en-US" baseline="-25000" dirty="0" err="1"/>
              <a:t>k</a:t>
            </a:r>
            <a:r>
              <a:rPr lang="en-US" altLang="en-US" dirty="0"/>
              <a:t> for any </a:t>
            </a:r>
            <a:r>
              <a:rPr lang="en-US" altLang="en-US" i="1" dirty="0"/>
              <a:t>k </a:t>
            </a:r>
            <a:r>
              <a:rPr lang="en-US" altLang="en-US" dirty="0"/>
              <a:t>should be efficiently computable functions</a:t>
            </a:r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392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Encryption (Cont.)</a:t>
            </a:r>
            <a:endParaRPr lang="en-US" altLang="en-US" dirty="0"/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756" y="1099556"/>
            <a:ext cx="7574448" cy="5173662"/>
          </a:xfrm>
        </p:spPr>
        <p:txBody>
          <a:bodyPr/>
          <a:lstStyle/>
          <a:p>
            <a:r>
              <a:rPr lang="en-US" altLang="en-US" dirty="0"/>
              <a:t>An encryption algorithm must provide this essential property: Given a ciphertext c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dirty="0"/>
              <a:t>C, a computer can compute m such that </a:t>
            </a:r>
            <a:r>
              <a:rPr lang="en-US" altLang="en-US" dirty="0" err="1"/>
              <a:t>E</a:t>
            </a:r>
            <a:r>
              <a:rPr lang="en-US" altLang="en-US" baseline="-25000" dirty="0" err="1"/>
              <a:t>k</a:t>
            </a:r>
            <a:r>
              <a:rPr lang="en-US" altLang="en-US" dirty="0"/>
              <a:t>(m) = c only if it possesses </a:t>
            </a:r>
            <a:r>
              <a:rPr lang="en-US" altLang="en-US" i="1" dirty="0"/>
              <a:t>k</a:t>
            </a:r>
            <a:endParaRPr lang="en-US" altLang="en-US" i="1" dirty="0"/>
          </a:p>
          <a:p>
            <a:pPr lvl="1"/>
            <a:r>
              <a:rPr lang="en-US" altLang="en-US" dirty="0"/>
              <a:t>Thus, a computer holding </a:t>
            </a:r>
            <a:r>
              <a:rPr lang="en-US" altLang="en-US" i="1" dirty="0"/>
              <a:t>k </a:t>
            </a:r>
            <a:r>
              <a:rPr lang="en-US" altLang="en-US" dirty="0"/>
              <a:t>can decrypt ciphertexts to the plaintexts used to produce them, but a computer not holding </a:t>
            </a:r>
            <a:r>
              <a:rPr lang="en-US" altLang="en-US" i="1" dirty="0"/>
              <a:t>k </a:t>
            </a:r>
            <a:r>
              <a:rPr lang="en-US" altLang="en-US" dirty="0"/>
              <a:t>cannot decrypt ciphertexts</a:t>
            </a:r>
            <a:endParaRPr lang="en-US" altLang="en-US" dirty="0"/>
          </a:p>
          <a:p>
            <a:pPr lvl="1"/>
            <a:r>
              <a:rPr lang="en-US" altLang="en-US" dirty="0"/>
              <a:t>Since ciphertexts are generally exposed (for example, sent on the network), it is important that it be infeasible to derive </a:t>
            </a:r>
            <a:r>
              <a:rPr lang="en-US" altLang="en-US" i="1" dirty="0"/>
              <a:t>k</a:t>
            </a:r>
            <a:r>
              <a:rPr lang="en-US" altLang="en-US" dirty="0"/>
              <a:t> from the ciphertexts</a:t>
            </a:r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>
          <a:xfrm>
            <a:off x="545306" y="429726"/>
            <a:ext cx="8053387" cy="449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Secure Communication over </a:t>
            </a:r>
            <a:br>
              <a:rPr lang="en-US" altLang="en-US" sz="2800" dirty="0"/>
            </a:br>
            <a:r>
              <a:rPr lang="en-GB" altLang="en-US" sz="2800" dirty="0"/>
              <a:t>1  </a:t>
            </a:r>
            <a:r>
              <a:rPr lang="en-US" altLang="en-US" sz="2800" dirty="0"/>
              <a:t>Insecure Medium</a:t>
            </a:r>
            <a:endParaRPr lang="en-US" altLang="en-US" sz="2800" dirty="0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688" y="1203325"/>
            <a:ext cx="4684712" cy="508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2923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User Authentication</a:t>
            </a:r>
            <a:endParaRPr lang="en-US" altLang="en-US" dirty="0"/>
          </a:p>
        </p:txBody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7725" y="1096963"/>
            <a:ext cx="7839075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Crucial to identify user correctly, as protection systems depend on user ID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User identity most often established through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passwords</a:t>
            </a:r>
            <a:r>
              <a:rPr lang="en-US" altLang="en-US" dirty="0"/>
              <a:t>, can be considered a special case of either keys or capabilities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Passwords must be kept secret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Frequent change of passwords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History to avoid repeats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Use of </a:t>
            </a:r>
            <a:r>
              <a:rPr lang="ja-JP" altLang="en-US" dirty="0"/>
              <a:t>“</a:t>
            </a:r>
            <a:r>
              <a:rPr lang="en-US" altLang="ja-JP" dirty="0"/>
              <a:t>non-guessable</a:t>
            </a:r>
            <a:r>
              <a:rPr lang="ja-JP" altLang="en-US" dirty="0"/>
              <a:t>”</a:t>
            </a:r>
            <a:r>
              <a:rPr lang="en-US" altLang="ja-JP" dirty="0"/>
              <a:t> passwords</a:t>
            </a:r>
            <a:endParaRPr lang="en-US" altLang="ja-JP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Log all invalid access attempts (but not the passwords themselves)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Unauthorized transfer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Passwords may also either be encrypted or allowed to be used only once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Does encrypting passwords solve the exposure problem?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Might solve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sniffing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Consider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shoulder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surfing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Consider Trojan horse keystroke logger</a:t>
            </a:r>
            <a:endParaRPr lang="en-US" altLang="en-US" sz="1600" dirty="0"/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How are passwords stored at authenticating site?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/>
          <p:cNvSpPr>
            <a:spLocks noGrp="1" noChangeArrowheads="1"/>
          </p:cNvSpPr>
          <p:nvPr>
            <p:ph type="title"/>
          </p:nvPr>
        </p:nvSpPr>
        <p:spPr>
          <a:xfrm>
            <a:off x="242595" y="248303"/>
            <a:ext cx="8229600" cy="576263"/>
          </a:xfrm>
        </p:spPr>
        <p:txBody>
          <a:bodyPr/>
          <a:lstStyle/>
          <a:p>
            <a:r>
              <a:rPr lang="en-US" altLang="en-US" dirty="0"/>
              <a:t>Passwords </a:t>
            </a:r>
            <a:endParaRPr lang="en-US" altLang="en-US" dirty="0"/>
          </a:p>
        </p:txBody>
      </p:sp>
      <p:sp>
        <p:nvSpPr>
          <p:cNvPr id="9113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06450" y="1077913"/>
            <a:ext cx="7859713" cy="5076825"/>
          </a:xfrm>
        </p:spPr>
        <p:txBody>
          <a:bodyPr/>
          <a:lstStyle/>
          <a:p>
            <a:r>
              <a:rPr lang="en-US" altLang="en-US" sz="1600" dirty="0"/>
              <a:t>Encrypt to avoid having to keep secret</a:t>
            </a:r>
            <a:endParaRPr lang="en-US" altLang="en-US" sz="1600" dirty="0"/>
          </a:p>
          <a:p>
            <a:pPr lvl="1"/>
            <a:r>
              <a:rPr lang="en-US" altLang="en-US" sz="1600" dirty="0"/>
              <a:t>But keep secret anyway (i.e. Unix uses superuser-only readably file 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/shadow</a:t>
            </a:r>
            <a:r>
              <a:rPr lang="en-US" altLang="en-US" sz="1600" dirty="0"/>
              <a:t>)</a:t>
            </a:r>
            <a:endParaRPr lang="en-US" altLang="en-US" sz="1600" dirty="0"/>
          </a:p>
          <a:p>
            <a:pPr lvl="1"/>
            <a:r>
              <a:rPr lang="en-US" altLang="en-US" sz="1600" dirty="0"/>
              <a:t>Use algorithm easy to compute but difficult to invert</a:t>
            </a:r>
            <a:endParaRPr lang="en-US" altLang="en-US" sz="1600" dirty="0"/>
          </a:p>
          <a:p>
            <a:pPr lvl="1"/>
            <a:r>
              <a:rPr lang="en-US" altLang="en-US" sz="1600" dirty="0"/>
              <a:t>Only encrypted password stored, never decrypted</a:t>
            </a:r>
            <a:endParaRPr lang="en-US" altLang="en-US" sz="1600" dirty="0"/>
          </a:p>
          <a:p>
            <a:pPr lvl="1"/>
            <a:r>
              <a:rPr lang="en-US" altLang="en-US" sz="1600" dirty="0"/>
              <a:t>Add </a:t>
            </a:r>
            <a:r>
              <a:rPr lang="ja-JP" altLang="en-US" sz="1600" dirty="0"/>
              <a:t>“</a:t>
            </a:r>
            <a:r>
              <a:rPr lang="en-US" altLang="ja-JP" sz="1600" dirty="0"/>
              <a:t>salt</a:t>
            </a:r>
            <a:r>
              <a:rPr lang="ja-JP" altLang="en-US" sz="1600" dirty="0"/>
              <a:t>”</a:t>
            </a:r>
            <a:r>
              <a:rPr lang="en-US" altLang="ja-JP" sz="1600" dirty="0"/>
              <a:t> to avoid the same password being encrypted to the same value</a:t>
            </a:r>
            <a:endParaRPr lang="en-US" altLang="en-US" sz="1600" dirty="0"/>
          </a:p>
          <a:p>
            <a:r>
              <a:rPr lang="en-US" altLang="en-US" sz="1600" dirty="0"/>
              <a:t>One-time passwords</a:t>
            </a:r>
            <a:endParaRPr lang="en-US" altLang="en-US" sz="1600" dirty="0"/>
          </a:p>
          <a:p>
            <a:pPr lvl="1"/>
            <a:r>
              <a:rPr lang="en-US" altLang="en-US" sz="1600" dirty="0"/>
              <a:t>Use a function based on a seed to compute a password, both user and computer</a:t>
            </a:r>
            <a:endParaRPr lang="en-US" altLang="en-US" sz="1600" dirty="0"/>
          </a:p>
          <a:p>
            <a:pPr lvl="1"/>
            <a:r>
              <a:rPr lang="en-US" altLang="en-US" sz="1600" dirty="0"/>
              <a:t>Hardware device / calculator / key fob to generate the password</a:t>
            </a:r>
            <a:endParaRPr lang="en-US" altLang="en-US" sz="1600" dirty="0"/>
          </a:p>
          <a:p>
            <a:pPr lvl="2"/>
            <a:r>
              <a:rPr lang="en-US" altLang="en-US" sz="1600" dirty="0"/>
              <a:t>Changes very frequently</a:t>
            </a:r>
            <a:endParaRPr lang="en-US" altLang="en-US" sz="1600" dirty="0"/>
          </a:p>
          <a:p>
            <a:r>
              <a:rPr lang="en-US" altLang="en-US" sz="1600" dirty="0"/>
              <a:t>Biometrics</a:t>
            </a:r>
            <a:endParaRPr lang="en-US" altLang="en-US" sz="1600" dirty="0"/>
          </a:p>
          <a:p>
            <a:pPr lvl="1"/>
            <a:r>
              <a:rPr lang="en-US" altLang="en-US" sz="1600" dirty="0"/>
              <a:t>Some physical attribute (fingerprint, hand scan)</a:t>
            </a:r>
            <a:endParaRPr lang="en-US" altLang="en-US" sz="1600" dirty="0"/>
          </a:p>
          <a:p>
            <a:r>
              <a:rPr lang="en-US" altLang="en-US" sz="1600" dirty="0"/>
              <a:t>Multi-factor authentication</a:t>
            </a:r>
            <a:endParaRPr lang="en-US" altLang="en-US" sz="1600" dirty="0"/>
          </a:p>
          <a:p>
            <a:pPr lvl="1"/>
            <a:r>
              <a:rPr lang="en-US" altLang="en-US" sz="1600" dirty="0"/>
              <a:t>Need two or more factors for authentication</a:t>
            </a:r>
            <a:endParaRPr lang="en-US" altLang="en-US" sz="1600" dirty="0"/>
          </a:p>
          <a:p>
            <a:pPr lvl="2"/>
            <a:r>
              <a:rPr lang="en-US" altLang="en-US" sz="1600" dirty="0"/>
              <a:t>i.e., USB </a:t>
            </a:r>
            <a:r>
              <a:rPr lang="ja-JP" altLang="en-US" sz="1600" dirty="0"/>
              <a:t>“</a:t>
            </a:r>
            <a:r>
              <a:rPr lang="en-US" altLang="ja-JP" sz="1600" dirty="0"/>
              <a:t>dongle</a:t>
            </a:r>
            <a:r>
              <a:rPr lang="ja-JP" altLang="en-US" sz="1600" dirty="0"/>
              <a:t>”</a:t>
            </a:r>
            <a:r>
              <a:rPr lang="en-US" altLang="ja-JP" sz="1600" dirty="0"/>
              <a:t>, biometric measure, and password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/>
          <p:cNvSpPr>
            <a:spLocks noGrp="1" noChangeArrowheads="1"/>
          </p:cNvSpPr>
          <p:nvPr>
            <p:ph type="title"/>
          </p:nvPr>
        </p:nvSpPr>
        <p:spPr>
          <a:xfrm>
            <a:off x="429207" y="276291"/>
            <a:ext cx="8229600" cy="576263"/>
          </a:xfrm>
        </p:spPr>
        <p:txBody>
          <a:bodyPr/>
          <a:lstStyle/>
          <a:p>
            <a:r>
              <a:rPr lang="en-US" altLang="en-US" dirty="0"/>
              <a:t>Passwords (Cont.) </a:t>
            </a:r>
            <a:endParaRPr lang="en-US" altLang="en-US" dirty="0"/>
          </a:p>
        </p:txBody>
      </p:sp>
      <p:pic>
        <p:nvPicPr>
          <p:cNvPr id="92162" name="Content Placeholder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9163" y="1470025"/>
            <a:ext cx="7632700" cy="4292600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>
          <a:xfrm>
            <a:off x="935038" y="247880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Implementing Security Defenses</a:t>
            </a:r>
            <a:endParaRPr lang="en-US" altLang="en-US" dirty="0"/>
          </a:p>
        </p:txBody>
      </p:sp>
      <p:sp>
        <p:nvSpPr>
          <p:cNvPr id="931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7725" y="1055687"/>
            <a:ext cx="7750175" cy="5119481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Defense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depth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is most common security theory – multiple layers of security</a:t>
            </a:r>
            <a:endParaRPr lang="en-US" altLang="en-US" sz="16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Security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policy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describes what is being secured</a:t>
            </a:r>
            <a:endParaRPr lang="en-US" altLang="en-US" sz="1600" dirty="0"/>
          </a:p>
          <a:p>
            <a:r>
              <a:rPr lang="en-US" altLang="en-US" sz="1600" dirty="0"/>
              <a:t>Vulnerability assessment compares real state of system / network compared to security policy</a:t>
            </a:r>
            <a:endParaRPr lang="en-US" altLang="en-US" sz="1600" dirty="0"/>
          </a:p>
          <a:p>
            <a:r>
              <a:rPr lang="en-US" altLang="en-US" sz="1600" dirty="0"/>
              <a:t>Intrusion detection endeavors to detect attempted or successful intrusions</a:t>
            </a:r>
            <a:endParaRPr lang="en-US" altLang="en-US" sz="1600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Signature-based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detection spots known bad patterns</a:t>
            </a:r>
            <a:endParaRPr lang="en-US" altLang="en-US" sz="1600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Anomaly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detection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spots differences from normal behavior</a:t>
            </a:r>
            <a:endParaRPr lang="en-US" altLang="en-US" sz="1600" dirty="0"/>
          </a:p>
          <a:p>
            <a:pPr lvl="2"/>
            <a:r>
              <a:rPr lang="en-US" altLang="en-US" sz="1600" dirty="0"/>
              <a:t>Can detect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zero-day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attacks</a:t>
            </a:r>
            <a:endParaRPr lang="en-US" altLang="en-US" sz="1600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False-positives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false-negatives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a problem</a:t>
            </a:r>
            <a:endParaRPr lang="en-US" altLang="en-US" sz="1600" dirty="0"/>
          </a:p>
          <a:p>
            <a:r>
              <a:rPr lang="en-US" altLang="en-US" sz="1600" dirty="0"/>
              <a:t>Virus protection</a:t>
            </a:r>
            <a:endParaRPr lang="en-US" altLang="en-US" sz="1600" dirty="0"/>
          </a:p>
          <a:p>
            <a:pPr lvl="1"/>
            <a:r>
              <a:rPr lang="en-US" altLang="en-US" sz="1600" dirty="0"/>
              <a:t>Searching all programs or programs at execution for known virus patterns</a:t>
            </a:r>
            <a:endParaRPr lang="en-US" altLang="en-US" sz="1600" dirty="0"/>
          </a:p>
          <a:p>
            <a:r>
              <a:rPr lang="en-US" altLang="en-US" sz="1600" dirty="0" smtClean="0"/>
              <a:t>Auditing</a:t>
            </a:r>
            <a:r>
              <a:rPr lang="en-US" altLang="en-US" sz="1600" dirty="0"/>
              <a:t>, accounting, and logging of all or specific system or network activities</a:t>
            </a:r>
            <a:endParaRPr lang="en-US" altLang="en-US" sz="1600" dirty="0"/>
          </a:p>
          <a:p>
            <a:r>
              <a:rPr lang="en-US" altLang="en-US" sz="1600" dirty="0"/>
              <a:t>Practice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safe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computing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– avoid sources of infection, download from only “good” sites, </a:t>
            </a:r>
            <a:r>
              <a:rPr lang="en-US" altLang="en-US" sz="1600" dirty="0" err="1"/>
              <a:t>etc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>
          <a:xfrm>
            <a:off x="758953" y="414439"/>
            <a:ext cx="7797218" cy="47783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Firewalling to Protect Systems</a:t>
            </a:r>
            <a:br>
              <a:rPr lang="en-US" altLang="en-US" sz="2800" dirty="0"/>
            </a:br>
            <a:r>
              <a:rPr lang="en-US" altLang="en-US" sz="2800" dirty="0"/>
              <a:t>and Networks</a:t>
            </a:r>
            <a:endParaRPr lang="en-US" altLang="en-US" sz="2800" dirty="0"/>
          </a:p>
        </p:txBody>
      </p:sp>
      <p:sp>
        <p:nvSpPr>
          <p:cNvPr id="952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8418" y="1069975"/>
            <a:ext cx="7695746" cy="49101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network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firewall</a:t>
            </a:r>
            <a:r>
              <a:rPr lang="en-US" altLang="en-US" dirty="0"/>
              <a:t> is placed between trusted and untrusted hosts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The firewall limits network access between these two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security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domains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Can be tunneled or spoofed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Tunneling allows disallowed protocol to travel within allowed protocol (i.e., telnet inside of HTTP)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Firewall rules typically based on host name or IP address which can be spoofed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Personal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firewall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software layer on given host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Can monitor / limit traffic to and from the host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proxy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firewall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understands application protocol and can control them (i.e., SMTP)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System-call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firewall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monitors all important system calls and apply rules to them (i.e., this program can execute that system call)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>
          <a:xfrm>
            <a:off x="949030" y="421984"/>
            <a:ext cx="7504501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Network Security Through</a:t>
            </a:r>
            <a:br>
              <a:rPr lang="en-US" altLang="en-US" sz="2800" dirty="0"/>
            </a:br>
            <a:r>
              <a:rPr lang="en-US" altLang="en-US" sz="2800" dirty="0"/>
              <a:t>Domain Separation Via Firewall</a:t>
            </a:r>
            <a:endParaRPr lang="en-US" altLang="en-US" sz="2800" dirty="0"/>
          </a:p>
        </p:txBody>
      </p:sp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1609725"/>
            <a:ext cx="6634163" cy="404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16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11526</Words>
  <Application>WPS Presentation</Application>
  <PresentationFormat>On-screen Show (4:3)</PresentationFormat>
  <Paragraphs>348</Paragraphs>
  <Slides>33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8" baseType="lpstr">
      <vt:lpstr>Arial</vt:lpstr>
      <vt:lpstr>SimSun</vt:lpstr>
      <vt:lpstr>Wingdings</vt:lpstr>
      <vt:lpstr>Verdana</vt:lpstr>
      <vt:lpstr>MS PGothic</vt:lpstr>
      <vt:lpstr>Times New Roman</vt:lpstr>
      <vt:lpstr>Helvetica</vt:lpstr>
      <vt:lpstr>Webdings</vt:lpstr>
      <vt:lpstr>Monotype Sorts</vt:lpstr>
      <vt:lpstr>Microsoft YaHei</vt:lpstr>
      <vt:lpstr>Arial Unicode MS</vt:lpstr>
      <vt:lpstr>Wingdings</vt:lpstr>
      <vt:lpstr>Courier New</vt:lpstr>
      <vt:lpstr>Symbol</vt:lpstr>
      <vt:lpstr>os-8</vt:lpstr>
      <vt:lpstr>Chapter 16:  Security</vt:lpstr>
      <vt:lpstr>Chapter 16:  Security</vt:lpstr>
      <vt:lpstr>Objectives</vt:lpstr>
      <vt:lpstr>The Security Problem</vt:lpstr>
      <vt:lpstr>Security Violation Categories</vt:lpstr>
      <vt:lpstr>Security Violation Methods</vt:lpstr>
      <vt:lpstr>Security Measure Levels</vt:lpstr>
      <vt:lpstr>Program Threats</vt:lpstr>
      <vt:lpstr>Four-layered Model of Security</vt:lpstr>
      <vt:lpstr>Program Threats (Cont.)</vt:lpstr>
      <vt:lpstr>Code Injection</vt:lpstr>
      <vt:lpstr>Code Injection (Cont.)</vt:lpstr>
      <vt:lpstr>Program Threats (Cont.)</vt:lpstr>
      <vt:lpstr>Program Threats (Cont.)</vt:lpstr>
      <vt:lpstr>A Boot-sector Computer Virus</vt:lpstr>
      <vt:lpstr>The Threat Continues</vt:lpstr>
      <vt:lpstr>System and Network Threats</vt:lpstr>
      <vt:lpstr>System and Network Threats (Cont.)</vt:lpstr>
      <vt:lpstr>System and Network Threats (Cont.)</vt:lpstr>
      <vt:lpstr>System and Network Threats (Cont.)</vt:lpstr>
      <vt:lpstr>Standard Security Attacks</vt:lpstr>
      <vt:lpstr>Cryptography as a Security Tool</vt:lpstr>
      <vt:lpstr>Cryptography</vt:lpstr>
      <vt:lpstr>Encryption</vt:lpstr>
      <vt:lpstr>Encryption (Cont.)</vt:lpstr>
      <vt:lpstr>Secure Communication over  Insecure Medium</vt:lpstr>
      <vt:lpstr>User Authentication</vt:lpstr>
      <vt:lpstr>Passwords </vt:lpstr>
      <vt:lpstr>Passwords (Cont.) </vt:lpstr>
      <vt:lpstr>Implementing Security Defenses</vt:lpstr>
      <vt:lpstr>Firewalling to Protect Systems and Networks</vt:lpstr>
      <vt:lpstr>Network Security Through Domain Separation Via Firewall</vt:lpstr>
      <vt:lpstr>End of Chapter 16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PC</cp:lastModifiedBy>
  <cp:revision>253</cp:revision>
  <cp:lastPrinted>2013-09-10T17:57:00Z</cp:lastPrinted>
  <dcterms:created xsi:type="dcterms:W3CDTF">2011-01-13T23:43:00Z</dcterms:created>
  <dcterms:modified xsi:type="dcterms:W3CDTF">2024-05-15T18:03:24Z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FDF6A70C94BE499DBABD6E273715A013_12</vt:lpwstr>
  </property>
  <property fmtid="{D5CDD505-2E9C-101B-9397-08002B2CF9AE}" pid="3" name="KSOProductBuildVer">
    <vt:lpwstr>2057-12.2.0.16909</vt:lpwstr>
  </property>
</Properties>
</file>