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94" r:id="rId3"/>
    <p:sldId id="258" r:id="rId4"/>
    <p:sldId id="265" r:id="rId5"/>
    <p:sldId id="273" r:id="rId6"/>
    <p:sldId id="274" r:id="rId7"/>
    <p:sldId id="275" r:id="rId8"/>
    <p:sldId id="276" r:id="rId9"/>
    <p:sldId id="277" r:id="rId10"/>
    <p:sldId id="264" r:id="rId11"/>
    <p:sldId id="259" r:id="rId12"/>
    <p:sldId id="261" r:id="rId13"/>
    <p:sldId id="263" r:id="rId14"/>
    <p:sldId id="266" r:id="rId15"/>
    <p:sldId id="269" r:id="rId16"/>
    <p:sldId id="267" r:id="rId17"/>
    <p:sldId id="268" r:id="rId18"/>
    <p:sldId id="270" r:id="rId19"/>
    <p:sldId id="271" r:id="rId20"/>
    <p:sldId id="272"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8" userDrawn="1">
          <p15:clr>
            <a:srgbClr val="A4A3A4"/>
          </p15:clr>
        </p15:guide>
        <p15:guide id="2" pos="3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81" d="100"/>
          <a:sy n="81" d="100"/>
        </p:scale>
        <p:origin x="706" y="62"/>
      </p:cViewPr>
      <p:guideLst>
        <p:guide orient="horz" pos="2028"/>
        <p:guide pos="38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6/13/2026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7" Type="http://schemas.openxmlformats.org/officeDocument/2006/relationships/image" Target="../media/image210.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4" name="object 3"/>
          <p:cNvSpPr/>
          <p:nvPr/>
        </p:nvSpPr>
        <p:spPr>
          <a:xfrm>
            <a:off x="0" y="0"/>
            <a:ext cx="12186285" cy="2559685"/>
          </a:xfrm>
          <a:custGeom>
            <a:avLst/>
            <a:gdLst/>
            <a:ahLst/>
            <a:cxnLst/>
            <a:rect l="l" t="t" r="r" b="b"/>
            <a:pathLst>
              <a:path w="12186285" h="2228215">
                <a:moveTo>
                  <a:pt x="12185904" y="0"/>
                </a:moveTo>
                <a:lnTo>
                  <a:pt x="0" y="0"/>
                </a:lnTo>
                <a:lnTo>
                  <a:pt x="0" y="2228088"/>
                </a:lnTo>
                <a:lnTo>
                  <a:pt x="12185904" y="2228088"/>
                </a:lnTo>
                <a:lnTo>
                  <a:pt x="12185904" y="0"/>
                </a:lnTo>
                <a:close/>
              </a:path>
            </a:pathLst>
          </a:custGeom>
          <a:solidFill>
            <a:schemeClr val="accent4"/>
          </a:solidFill>
        </p:spPr>
        <p:txBody>
          <a:bodyPr wrap="square" lIns="0" tIns="0" rIns="0" bIns="0" rtlCol="0"/>
          <a:lstStyle/>
          <a:p>
            <a:endParaRPr/>
          </a:p>
        </p:txBody>
      </p:sp>
      <p:sp>
        <p:nvSpPr>
          <p:cNvPr id="5" name="object 4"/>
          <p:cNvSpPr txBox="1"/>
          <p:nvPr/>
        </p:nvSpPr>
        <p:spPr>
          <a:xfrm>
            <a:off x="4720209" y="5911392"/>
            <a:ext cx="2647315" cy="319405"/>
          </a:xfrm>
          <a:prstGeom prst="rect">
            <a:avLst/>
          </a:prstGeom>
        </p:spPr>
        <p:txBody>
          <a:bodyPr vert="horz" wrap="square" lIns="0" tIns="12065" rIns="0" bIns="0" rtlCol="0">
            <a:spAutoFit/>
          </a:bodyPr>
          <a:lstStyle/>
          <a:p>
            <a:pPr marL="12700" algn="ctr">
              <a:lnSpc>
                <a:spcPct val="100000"/>
              </a:lnSpc>
              <a:spcBef>
                <a:spcPts val="95"/>
              </a:spcBef>
            </a:pPr>
            <a:r>
              <a:rPr lang="en-US" sz="2000" b="1">
                <a:solidFill>
                  <a:schemeClr val="accent2">
                    <a:lumMod val="50000"/>
                  </a:schemeClr>
                </a:solidFill>
                <a:latin typeface="Verdana" panose="020B0604030504040204"/>
                <a:cs typeface="Verdana" panose="020B0604030504040204"/>
              </a:rPr>
              <a:t>Spring 2026</a:t>
            </a:r>
            <a:endParaRPr lang="en-US" sz="2000" b="1" spc="-20" dirty="0">
              <a:solidFill>
                <a:schemeClr val="accent2">
                  <a:lumMod val="50000"/>
                </a:schemeClr>
              </a:solidFill>
              <a:latin typeface="Verdana" panose="020B0604030504040204"/>
              <a:cs typeface="Verdana" panose="020B0604030504040204"/>
            </a:endParaRPr>
          </a:p>
        </p:txBody>
      </p:sp>
      <p:sp>
        <p:nvSpPr>
          <p:cNvPr id="6" name="object 5"/>
          <p:cNvSpPr/>
          <p:nvPr/>
        </p:nvSpPr>
        <p:spPr>
          <a:xfrm>
            <a:off x="969010" y="182245"/>
            <a:ext cx="9527540" cy="1790065"/>
          </a:xfrm>
          <a:custGeom>
            <a:avLst/>
            <a:gdLst/>
            <a:ahLst/>
            <a:cxnLst/>
            <a:rect l="l" t="t" r="r" b="b"/>
            <a:pathLst>
              <a:path w="8906510" h="1853564">
                <a:moveTo>
                  <a:pt x="8906256" y="0"/>
                </a:moveTo>
                <a:lnTo>
                  <a:pt x="0" y="0"/>
                </a:lnTo>
                <a:lnTo>
                  <a:pt x="0" y="1853184"/>
                </a:lnTo>
                <a:lnTo>
                  <a:pt x="8906256" y="1853184"/>
                </a:lnTo>
                <a:lnTo>
                  <a:pt x="8906256" y="0"/>
                </a:lnTo>
                <a:close/>
              </a:path>
            </a:pathLst>
          </a:custGeom>
          <a:solidFill>
            <a:schemeClr val="accent1">
              <a:lumMod val="75000"/>
            </a:schemeClr>
          </a:solidFill>
        </p:spPr>
        <p:txBody>
          <a:bodyPr wrap="square" lIns="0" tIns="0" rIns="0" bIns="0" rtlCol="0"/>
          <a:lstStyle/>
          <a:p>
            <a:endParaRPr/>
          </a:p>
        </p:txBody>
      </p:sp>
      <p:sp>
        <p:nvSpPr>
          <p:cNvPr id="7" name="object 6"/>
          <p:cNvSpPr txBox="1"/>
          <p:nvPr/>
        </p:nvSpPr>
        <p:spPr>
          <a:xfrm>
            <a:off x="1387475" y="378460"/>
            <a:ext cx="9509760" cy="2172335"/>
          </a:xfrm>
          <a:prstGeom prst="rect">
            <a:avLst/>
          </a:prstGeom>
          <a:solidFill>
            <a:schemeClr val="accent1">
              <a:lumMod val="50000"/>
            </a:schemeClr>
          </a:solidFill>
        </p:spPr>
        <p:txBody>
          <a:bodyPr vert="horz" wrap="square" lIns="0" tIns="12065" rIns="0" bIns="0" rtlCol="0">
            <a:noAutofit/>
          </a:bodyPr>
          <a:lstStyle/>
          <a:p>
            <a:pPr marL="1137285" marR="5080" indent="-1125220">
              <a:lnSpc>
                <a:spcPct val="136000"/>
              </a:lnSpc>
              <a:spcBef>
                <a:spcPts val="95"/>
              </a:spcBef>
              <a:tabLst>
                <a:tab pos="3933190" algn="l"/>
              </a:tabLst>
            </a:pPr>
            <a:r>
              <a:rPr lang="en-US" sz="2800" b="1" spc="-10" dirty="0">
                <a:solidFill>
                  <a:srgbClr val="FFFFFF"/>
                </a:solidFill>
                <a:latin typeface="Verdana" panose="020B0604030504040204"/>
                <a:cs typeface="Verdana" panose="020B0604030504040204"/>
              </a:rPr>
              <a:t>   </a:t>
            </a:r>
            <a:r>
              <a:rPr lang="en-US" sz="3600" b="1" spc="-10" dirty="0">
                <a:solidFill>
                  <a:srgbClr val="FFFFFF"/>
                </a:solidFill>
                <a:latin typeface="Verdana" panose="020B0604030504040204"/>
                <a:cs typeface="Verdana" panose="020B0604030504040204"/>
              </a:rPr>
              <a:t>EE</a:t>
            </a:r>
            <a:r>
              <a:rPr sz="3600" b="1" spc="-10" dirty="0">
                <a:solidFill>
                  <a:srgbClr val="FFFFFF"/>
                </a:solidFill>
                <a:latin typeface="Verdana" panose="020B0604030504040204"/>
                <a:cs typeface="Verdana" panose="020B0604030504040204"/>
              </a:rPr>
              <a:t>E-</a:t>
            </a:r>
            <a:r>
              <a:rPr lang="en-US" sz="3600" b="1" spc="-10" dirty="0">
                <a:solidFill>
                  <a:srgbClr val="FFFFFF"/>
                </a:solidFill>
                <a:latin typeface="Verdana" panose="020B0604030504040204"/>
                <a:cs typeface="Verdana" panose="020B0604030504040204"/>
              </a:rPr>
              <a:t>2421</a:t>
            </a:r>
            <a:r>
              <a:rPr sz="3600" b="1" dirty="0">
                <a:solidFill>
                  <a:srgbClr val="FFFFFF"/>
                </a:solidFill>
                <a:latin typeface="Verdana" panose="020B0604030504040204"/>
                <a:cs typeface="Verdana" panose="020B0604030504040204"/>
              </a:rPr>
              <a:t>:</a:t>
            </a:r>
            <a:r>
              <a:rPr sz="3600" b="1" spc="-120" dirty="0">
                <a:solidFill>
                  <a:srgbClr val="FFFFFF"/>
                </a:solidFill>
                <a:latin typeface="Verdana" panose="020B0604030504040204"/>
                <a:cs typeface="Verdana" panose="020B0604030504040204"/>
              </a:rPr>
              <a:t> </a:t>
            </a:r>
            <a:r>
              <a:rPr lang="en-US" sz="3600" b="1" dirty="0">
                <a:solidFill>
                  <a:srgbClr val="FFFFFF"/>
                </a:solidFill>
                <a:latin typeface="Verdana" panose="020B0604030504040204"/>
                <a:cs typeface="Verdana" panose="020B0604030504040204"/>
              </a:rPr>
              <a:t>Electrical Drives and   Instrumentation</a:t>
            </a:r>
            <a:r>
              <a:rPr sz="3600" b="1" spc="-75" dirty="0">
                <a:solidFill>
                  <a:srgbClr val="FFFFFF"/>
                </a:solidFill>
                <a:latin typeface="Verdana" panose="020B0604030504040204"/>
                <a:cs typeface="Verdana" panose="020B0604030504040204"/>
              </a:rPr>
              <a:t> </a:t>
            </a:r>
            <a:r>
              <a:rPr sz="3600" b="1" spc="-10" dirty="0">
                <a:solidFill>
                  <a:srgbClr val="FFFFFF"/>
                </a:solidFill>
                <a:latin typeface="Verdana" panose="020B0604030504040204"/>
                <a:cs typeface="Verdana" panose="020B0604030504040204"/>
              </a:rPr>
              <a:t> </a:t>
            </a:r>
            <a:r>
              <a:rPr lang="en-US" sz="3600" b="1" spc="-50" dirty="0">
                <a:solidFill>
                  <a:srgbClr val="FFFFFF"/>
                </a:solidFill>
                <a:latin typeface="Verdana" panose="020B0604030504040204"/>
                <a:cs typeface="Verdana" panose="020B0604030504040204"/>
              </a:rPr>
              <a:t>                                   </a:t>
            </a:r>
            <a:r>
              <a:rPr lang="en-US" sz="2800" b="1" spc="-50" dirty="0">
                <a:solidFill>
                  <a:srgbClr val="FFFFFF"/>
                </a:solidFill>
                <a:latin typeface="Verdana" panose="020B0604030504040204"/>
                <a:cs typeface="Verdana" panose="020B0604030504040204"/>
              </a:rPr>
              <a:t>                         </a:t>
            </a:r>
            <a:r>
              <a:rPr sz="2800" b="1" dirty="0">
                <a:solidFill>
                  <a:srgbClr val="FFFFFF"/>
                </a:solidFill>
                <a:latin typeface="Verdana" panose="020B0604030504040204"/>
                <a:cs typeface="Verdana" panose="020B0604030504040204"/>
              </a:rPr>
              <a:t>Credit</a:t>
            </a:r>
            <a:r>
              <a:rPr sz="2800" b="1" spc="10" dirty="0">
                <a:solidFill>
                  <a:srgbClr val="FFFFFF"/>
                </a:solidFill>
                <a:latin typeface="Verdana" panose="020B0604030504040204"/>
                <a:cs typeface="Verdana" panose="020B0604030504040204"/>
              </a:rPr>
              <a:t> </a:t>
            </a:r>
            <a:r>
              <a:rPr sz="2800" b="1" spc="-20" dirty="0">
                <a:solidFill>
                  <a:srgbClr val="FFFFFF"/>
                </a:solidFill>
                <a:latin typeface="Verdana" panose="020B0604030504040204"/>
                <a:cs typeface="Verdana" panose="020B0604030504040204"/>
              </a:rPr>
              <a:t>Hours</a:t>
            </a:r>
            <a:r>
              <a:rPr lang="en-US" sz="2800" b="1" spc="-20" dirty="0">
                <a:solidFill>
                  <a:srgbClr val="FFFFFF"/>
                </a:solidFill>
                <a:latin typeface="Verdana" panose="020B0604030504040204"/>
                <a:cs typeface="Verdana" panose="020B0604030504040204"/>
              </a:rPr>
              <a:t> </a:t>
            </a:r>
            <a:r>
              <a:rPr sz="2800" b="1" spc="-20" dirty="0">
                <a:solidFill>
                  <a:srgbClr val="FFFFFF"/>
                </a:solidFill>
                <a:latin typeface="Verdana" panose="020B0604030504040204"/>
                <a:cs typeface="Verdana" panose="020B0604030504040204"/>
              </a:rPr>
              <a:t>-</a:t>
            </a:r>
            <a:r>
              <a:rPr lang="en-US" sz="2800" b="1" spc="-20" dirty="0">
                <a:solidFill>
                  <a:srgbClr val="FFFFFF"/>
                </a:solidFill>
                <a:latin typeface="Verdana" panose="020B0604030504040204"/>
                <a:cs typeface="Verdana" panose="020B0604030504040204"/>
              </a:rPr>
              <a:t> 2</a:t>
            </a:r>
            <a:r>
              <a:rPr lang="en-US" sz="2800" b="1" spc="-50" dirty="0">
                <a:solidFill>
                  <a:srgbClr val="FFFFFF"/>
                </a:solidFill>
                <a:latin typeface="Verdana" panose="020B0604030504040204"/>
                <a:cs typeface="Verdana" panose="020B0604030504040204"/>
              </a:rPr>
              <a:t>           Segment - 5</a:t>
            </a:r>
          </a:p>
        </p:txBody>
      </p:sp>
      <p:sp>
        <p:nvSpPr>
          <p:cNvPr id="9" name="object 9"/>
          <p:cNvSpPr/>
          <p:nvPr/>
        </p:nvSpPr>
        <p:spPr>
          <a:xfrm>
            <a:off x="0" y="6355080"/>
            <a:ext cx="12186285" cy="502920"/>
          </a:xfrm>
          <a:custGeom>
            <a:avLst/>
            <a:gdLst/>
            <a:ahLst/>
            <a:cxnLst/>
            <a:rect l="l" t="t" r="r" b="b"/>
            <a:pathLst>
              <a:path w="12186285" h="502920">
                <a:moveTo>
                  <a:pt x="12185904" y="0"/>
                </a:moveTo>
                <a:lnTo>
                  <a:pt x="0" y="0"/>
                </a:lnTo>
                <a:lnTo>
                  <a:pt x="0" y="502919"/>
                </a:lnTo>
                <a:lnTo>
                  <a:pt x="12185904" y="502919"/>
                </a:lnTo>
                <a:lnTo>
                  <a:pt x="12185904" y="0"/>
                </a:lnTo>
                <a:close/>
              </a:path>
            </a:pathLst>
          </a:custGeom>
          <a:solidFill>
            <a:srgbClr val="FFC000"/>
          </a:solidFill>
        </p:spPr>
        <p:txBody>
          <a:bodyPr wrap="square" lIns="0" tIns="0" rIns="0" bIns="0" rtlCol="0"/>
          <a:lstStyle/>
          <a:p>
            <a:endParaRPr/>
          </a:p>
        </p:txBody>
      </p:sp>
      <p:sp>
        <p:nvSpPr>
          <p:cNvPr id="12" name="object 2"/>
          <p:cNvSpPr txBox="1"/>
          <p:nvPr/>
        </p:nvSpPr>
        <p:spPr>
          <a:xfrm>
            <a:off x="1823720" y="2397760"/>
            <a:ext cx="8690610" cy="1854200"/>
          </a:xfrm>
          <a:prstGeom prst="rect">
            <a:avLst/>
          </a:prstGeom>
        </p:spPr>
        <p:txBody>
          <a:bodyPr vert="horz" wrap="square" lIns="0" tIns="233045" rIns="0" bIns="0" rtlCol="0">
            <a:noAutofit/>
          </a:bodyPr>
          <a:lstStyle>
            <a:lvl1pPr marL="0">
              <a:defRPr sz="3200" b="1" i="0">
                <a:solidFill>
                  <a:srgbClr val="622422"/>
                </a:solidFill>
                <a:latin typeface="Verdana" panose="020B0604030504040204"/>
                <a:ea typeface="+mn-ea"/>
                <a:cs typeface="Verdana" panose="020B060403050404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540" marR="12065" lvl="0" indent="0" algn="ctr" defTabSz="914400" eaLnBrk="1" fontAlgn="auto" latinLnBrk="0" hangingPunct="1">
              <a:lnSpc>
                <a:spcPct val="100000"/>
              </a:lnSpc>
              <a:spcBef>
                <a:spcPts val="1835"/>
              </a:spcBef>
              <a:spcAft>
                <a:spcPts val="0"/>
              </a:spcAft>
              <a:buClrTx/>
              <a:buSzTx/>
              <a:buFontTx/>
              <a:buNone/>
              <a:defRPr/>
            </a:pPr>
            <a:r>
              <a:rPr kumimoji="0" lang="en-US" sz="2800" b="1" i="0" u="none" strike="noStrike" kern="0" cap="none" spc="0" normalizeH="0" baseline="0" noProof="0" dirty="0" err="1">
                <a:ln>
                  <a:noFill/>
                </a:ln>
                <a:solidFill>
                  <a:srgbClr val="622422"/>
                </a:solidFill>
                <a:effectLst/>
                <a:uLnTx/>
                <a:uFillTx/>
                <a:latin typeface="Verdana" panose="020B0604030504040204"/>
                <a:ea typeface="+mn-ea"/>
              </a:rPr>
              <a:t>Saif</a:t>
            </a:r>
            <a:r>
              <a:rPr kumimoji="0" lang="en-US" sz="2800" b="1" i="0" u="none" strike="noStrike" kern="0" cap="none" spc="-50" normalizeH="0" baseline="0" noProof="0" dirty="0">
                <a:ln>
                  <a:noFill/>
                </a:ln>
                <a:solidFill>
                  <a:srgbClr val="622422"/>
                </a:solidFill>
                <a:effectLst/>
                <a:uLnTx/>
                <a:uFillTx/>
                <a:latin typeface="Verdana" panose="020B0604030504040204"/>
                <a:ea typeface="+mn-ea"/>
              </a:rPr>
              <a:t> </a:t>
            </a:r>
            <a:r>
              <a:rPr kumimoji="0" lang="en-US" sz="2800" b="1" i="0" u="none" strike="noStrike" kern="0" cap="none" spc="-10" normalizeH="0" baseline="0" noProof="0" dirty="0" err="1">
                <a:ln>
                  <a:noFill/>
                </a:ln>
                <a:solidFill>
                  <a:srgbClr val="622422"/>
                </a:solidFill>
                <a:effectLst/>
                <a:uLnTx/>
                <a:uFillTx/>
                <a:latin typeface="Verdana" panose="020B0604030504040204"/>
                <a:ea typeface="+mn-ea"/>
              </a:rPr>
              <a:t>Sabbir</a:t>
            </a:r>
            <a:endParaRPr kumimoji="0" lang="en-US" sz="2800" b="1" i="0" u="none" strike="noStrike" kern="0" cap="none" spc="-10" normalizeH="0" baseline="0" noProof="0" dirty="0">
              <a:ln>
                <a:noFill/>
              </a:ln>
              <a:solidFill>
                <a:srgbClr val="622422"/>
              </a:solidFill>
              <a:effectLst/>
              <a:uLnTx/>
              <a:uFillTx/>
              <a:latin typeface="Verdana" panose="020B0604030504040204"/>
              <a:ea typeface="+mn-ea"/>
            </a:endParaRPr>
          </a:p>
          <a:p>
            <a:pPr marR="0" lvl="0" indent="0" algn="ctr" defTabSz="914400" fontAlgn="auto">
              <a:lnSpc>
                <a:spcPct val="100000"/>
              </a:lnSpc>
              <a:spcBef>
                <a:spcPts val="0"/>
              </a:spcBef>
              <a:spcAft>
                <a:spcPts val="0"/>
              </a:spcAft>
              <a:buClrTx/>
              <a:buSzTx/>
              <a:buFontTx/>
              <a:buNone/>
              <a:defRPr/>
            </a:pPr>
            <a:r>
              <a:rPr kumimoji="0" lang="en-US" sz="2000" b="1" i="0" u="none" strike="noStrike" kern="0" cap="none" spc="-10" normalizeH="0" baseline="0" noProof="0" dirty="0">
                <a:ln>
                  <a:noFill/>
                </a:ln>
                <a:solidFill>
                  <a:srgbClr val="622422"/>
                </a:solidFill>
                <a:effectLst/>
                <a:uLnTx/>
                <a:uFillTx/>
                <a:latin typeface="Verdana" panose="020B0604030504040204"/>
                <a:ea typeface="+mn-ea"/>
              </a:rPr>
              <a:t>Lecturer</a:t>
            </a:r>
            <a:endParaRPr kumimoji="0" lang="en-US" sz="2000" b="1" i="0" u="none" strike="noStrike" kern="0" cap="none" spc="0" normalizeH="0" baseline="0" noProof="0" dirty="0">
              <a:ln>
                <a:noFill/>
              </a:ln>
              <a:solidFill>
                <a:srgbClr val="622422"/>
              </a:solidFill>
              <a:effectLst/>
              <a:uLnTx/>
              <a:uFillTx/>
              <a:latin typeface="Verdana" panose="020B0604030504040204"/>
              <a:ea typeface="+mn-ea"/>
            </a:endParaRPr>
          </a:p>
          <a:p>
            <a:pPr marL="15875" marR="0" lvl="0" indent="0" algn="ctr" defTabSz="914400" eaLnBrk="1" fontAlgn="auto" latinLnBrk="0" hangingPunct="1">
              <a:lnSpc>
                <a:spcPct val="100000"/>
              </a:lnSpc>
              <a:spcBef>
                <a:spcPts val="5"/>
              </a:spcBef>
              <a:spcAft>
                <a:spcPts val="0"/>
              </a:spcAft>
              <a:buClrTx/>
              <a:buSzTx/>
              <a:buFontTx/>
              <a:buNone/>
              <a:defRPr/>
            </a:pPr>
            <a:r>
              <a:rPr kumimoji="0" lang="en-US" sz="2000" b="1" i="0" u="none" strike="noStrike" kern="0" cap="none" spc="-20" normalizeH="0" baseline="0" noProof="0" dirty="0">
                <a:ln>
                  <a:noFill/>
                </a:ln>
                <a:solidFill>
                  <a:srgbClr val="622422"/>
                </a:solidFill>
                <a:effectLst/>
                <a:uLnTx/>
                <a:uFillTx/>
                <a:latin typeface="Verdana" panose="020B0604030504040204"/>
                <a:ea typeface="+mn-ea"/>
              </a:rPr>
              <a:t>Department</a:t>
            </a:r>
            <a:r>
              <a:rPr kumimoji="0" lang="en-US" sz="2000" b="1" i="0" u="none" strike="noStrike" kern="0" cap="none" spc="-95"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of</a:t>
            </a:r>
            <a:r>
              <a:rPr kumimoji="0" lang="en-US" sz="2000" b="1" i="0" u="none" strike="noStrike" kern="0" cap="none" spc="-9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25" normalizeH="0" baseline="0" noProof="0" dirty="0">
                <a:ln>
                  <a:noFill/>
                </a:ln>
                <a:solidFill>
                  <a:srgbClr val="622422"/>
                </a:solidFill>
                <a:effectLst/>
                <a:uLnTx/>
                <a:uFillTx/>
                <a:latin typeface="Verdana" panose="020B0604030504040204"/>
                <a:ea typeface="+mn-ea"/>
              </a:rPr>
              <a:t>CSE</a:t>
            </a:r>
            <a:endParaRPr kumimoji="0" lang="en-US" sz="2000" b="1" i="0" u="none" strike="noStrike" kern="0" cap="none" spc="0" normalizeH="0" baseline="0" noProof="0" dirty="0">
              <a:ln>
                <a:noFill/>
              </a:ln>
              <a:solidFill>
                <a:srgbClr val="622422"/>
              </a:solidFill>
              <a:effectLst/>
              <a:uLnTx/>
              <a:uFillTx/>
              <a:latin typeface="Verdana" panose="020B0604030504040204"/>
              <a:ea typeface="+mn-ea"/>
            </a:endParaRPr>
          </a:p>
          <a:p>
            <a:pPr marL="2540" marR="0" lvl="0" indent="0" algn="ctr" defTabSz="914400" eaLnBrk="1" fontAlgn="auto" latinLnBrk="0" hangingPunct="1">
              <a:lnSpc>
                <a:spcPct val="100000"/>
              </a:lnSpc>
              <a:spcBef>
                <a:spcPts val="570"/>
              </a:spcBef>
              <a:spcAft>
                <a:spcPts val="0"/>
              </a:spcAft>
              <a:buClrTx/>
              <a:buSzTx/>
              <a:buFontTx/>
              <a:buNone/>
              <a:defRPr/>
            </a:pPr>
            <a:r>
              <a:rPr kumimoji="0" lang="en-US" sz="2000" b="1" i="0" u="none" strike="noStrike" kern="0" cap="none" spc="0" normalizeH="0" baseline="0" noProof="0" dirty="0">
                <a:ln>
                  <a:noFill/>
                </a:ln>
                <a:solidFill>
                  <a:srgbClr val="622422"/>
                </a:solidFill>
                <a:effectLst/>
                <a:uLnTx/>
                <a:uFillTx/>
                <a:latin typeface="Verdana" panose="020B0604030504040204"/>
                <a:ea typeface="+mn-ea"/>
              </a:rPr>
              <a:t>International</a:t>
            </a:r>
            <a:r>
              <a:rPr kumimoji="0" lang="en-US" sz="2000" b="1" i="0" u="none" strike="noStrike" kern="0" cap="none" spc="-18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Islamic</a:t>
            </a:r>
            <a:r>
              <a:rPr kumimoji="0" lang="en-US" sz="2000" b="1" i="0" u="none" strike="noStrike" kern="0" cap="none" spc="-16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University</a:t>
            </a:r>
            <a:r>
              <a:rPr kumimoji="0" lang="en-US" sz="2000" b="1" i="0" u="none" strike="noStrike" kern="0" cap="none" spc="-145"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Chittagong</a:t>
            </a:r>
            <a:r>
              <a:rPr kumimoji="0" lang="en-US" sz="2000" b="1" i="0" u="none" strike="noStrike" kern="0" cap="none" spc="-16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10" normalizeH="0" baseline="0" noProof="0" dirty="0">
                <a:ln>
                  <a:noFill/>
                </a:ln>
                <a:solidFill>
                  <a:srgbClr val="622422"/>
                </a:solidFill>
                <a:effectLst/>
                <a:uLnTx/>
                <a:uFillTx/>
                <a:latin typeface="Verdana" panose="020B0604030504040204"/>
                <a:ea typeface="+mn-ea"/>
              </a:rPr>
              <a:t>(IIUC)</a:t>
            </a:r>
            <a:endParaRPr kumimoji="0" lang="en-US" sz="2000" b="1" i="0" u="none" strike="noStrike" kern="0" cap="none" spc="0" normalizeH="0" baseline="0" noProof="0" dirty="0">
              <a:ln>
                <a:noFill/>
              </a:ln>
              <a:solidFill>
                <a:srgbClr val="622422"/>
              </a:solidFill>
              <a:effectLst/>
              <a:uLnTx/>
              <a:uFillTx/>
              <a:latin typeface="Verdana" panose="020B0604030504040204"/>
              <a:ea typeface="+mn-ea"/>
            </a:endParaRPr>
          </a:p>
        </p:txBody>
      </p:sp>
      <p:pic>
        <p:nvPicPr>
          <p:cNvPr id="13" name="Picture 12"/>
          <p:cNvPicPr/>
          <p:nvPr/>
        </p:nvPicPr>
        <p:blipFill>
          <a:blip r:embed="rId2"/>
          <a:stretch>
            <a:fillRect/>
          </a:stretch>
        </p:blipFill>
        <p:spPr>
          <a:xfrm>
            <a:off x="5330825" y="4183380"/>
            <a:ext cx="1491615" cy="16744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4315" y="1136015"/>
            <a:ext cx="10960735" cy="4351655"/>
          </a:xfrm>
        </p:spPr>
        <p:txBody>
          <a:bodyPr/>
          <a:lstStyle/>
          <a:p>
            <a:pPr marL="0" indent="0">
              <a:buNone/>
            </a:pPr>
            <a:r>
              <a:rPr lang="en-US" dirty="0"/>
              <a:t>➢An alternator may operate as synchronous motor like DC m/c</a:t>
            </a:r>
          </a:p>
          <a:p>
            <a:pPr marL="0" indent="0">
              <a:buNone/>
            </a:pPr>
            <a:r>
              <a:rPr lang="en-US" dirty="0"/>
              <a:t> ➢</a:t>
            </a:r>
            <a:r>
              <a:rPr lang="en-US" dirty="0">
                <a:solidFill>
                  <a:schemeClr val="accent1">
                    <a:lumMod val="75000"/>
                  </a:schemeClr>
                </a:solidFill>
              </a:rPr>
              <a:t>Synchronous motor (SM) </a:t>
            </a:r>
            <a:r>
              <a:rPr lang="en-US" dirty="0"/>
              <a:t>is very similar to a synchronous gen.</a:t>
            </a:r>
          </a:p>
        </p:txBody>
      </p:sp>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solidFill>
                <a:srgbClr val="FF0000"/>
              </a:solidFill>
            </a:endParaRPr>
          </a:p>
        </p:txBody>
      </p:sp>
      <p:sp>
        <p:nvSpPr>
          <p:cNvPr id="5" name="Text Box 4"/>
          <p:cNvSpPr txBox="1"/>
          <p:nvPr/>
        </p:nvSpPr>
        <p:spPr>
          <a:xfrm>
            <a:off x="66675" y="-17145"/>
            <a:ext cx="10968355" cy="830997"/>
          </a:xfrm>
          <a:prstGeom prst="rect">
            <a:avLst/>
          </a:prstGeom>
        </p:spPr>
        <p:txBody>
          <a:bodyPr wrap="square">
            <a:spAutoFit/>
          </a:bodyPr>
          <a:lstStyle/>
          <a:p>
            <a:r>
              <a:rPr lang="en-US" sz="4800" dirty="0"/>
              <a:t>Synchronous Motors</a:t>
            </a:r>
            <a:endParaRPr lang="en-US" sz="4800" b="1" dirty="0">
              <a:solidFill>
                <a:srgbClr val="000000"/>
              </a:solidFill>
              <a:latin typeface="Bahnschrift Light" panose="020B0502040204020203" charset="0"/>
              <a:ea typeface="Calibri-Bold"/>
              <a:cs typeface="Bahnschrift Light" panose="020B0502040204020203" charset="0"/>
            </a:endParaRPr>
          </a:p>
        </p:txBody>
      </p:sp>
      <p:pic>
        <p:nvPicPr>
          <p:cNvPr id="6" name="Picture 5">
            <a:extLst>
              <a:ext uri="{FF2B5EF4-FFF2-40B4-BE49-F238E27FC236}">
                <a16:creationId xmlns:a16="http://schemas.microsoft.com/office/drawing/2014/main" id="{3DB1C08A-59ED-4029-3793-1431774E016A}"/>
              </a:ext>
            </a:extLst>
          </p:cNvPr>
          <p:cNvPicPr>
            <a:picLocks noChangeAspect="1"/>
          </p:cNvPicPr>
          <p:nvPr/>
        </p:nvPicPr>
        <p:blipFill>
          <a:blip r:embed="rId2"/>
          <a:stretch>
            <a:fillRect/>
          </a:stretch>
        </p:blipFill>
        <p:spPr>
          <a:xfrm>
            <a:off x="234315" y="2431815"/>
            <a:ext cx="11946890" cy="40756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30997"/>
          </a:xfrm>
          <a:prstGeom prst="rect">
            <a:avLst/>
          </a:prstGeom>
        </p:spPr>
        <p:txBody>
          <a:bodyPr wrap="square">
            <a:spAutoFit/>
          </a:bodyPr>
          <a:lstStyle/>
          <a:p>
            <a:r>
              <a:rPr lang="en-US" sz="4800" dirty="0"/>
              <a:t>Synchronous Motors (Cont.) </a:t>
            </a:r>
            <a:endParaRPr 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3" name="Text Box 2"/>
          <p:cNvSpPr txBox="1"/>
          <p:nvPr/>
        </p:nvSpPr>
        <p:spPr>
          <a:xfrm>
            <a:off x="52706" y="1012371"/>
            <a:ext cx="12202160" cy="6433458"/>
          </a:xfrm>
          <a:prstGeom prst="rect">
            <a:avLst/>
          </a:prstGeom>
        </p:spPr>
        <p:txBody>
          <a:bodyPr wrap="square">
            <a:noAutofit/>
          </a:bodyPr>
          <a:lstStyle/>
          <a:p>
            <a:r>
              <a:rPr lang="en-US" sz="3200" dirty="0"/>
              <a:t>➢Rated </a:t>
            </a:r>
            <a:r>
              <a:rPr lang="en-US" sz="3200" dirty="0">
                <a:solidFill>
                  <a:schemeClr val="accent1">
                    <a:lumMod val="75000"/>
                  </a:schemeClr>
                </a:solidFill>
              </a:rPr>
              <a:t>15 MW~ 150kW </a:t>
            </a:r>
            <a:r>
              <a:rPr lang="en-US" sz="3200" dirty="0"/>
              <a:t>(150~1800 rpm).. </a:t>
            </a:r>
          </a:p>
          <a:p>
            <a:r>
              <a:rPr lang="en-US" sz="3200" dirty="0"/>
              <a:t>➢It runs either at </a:t>
            </a:r>
            <a:r>
              <a:rPr lang="en-US" sz="3200" dirty="0">
                <a:solidFill>
                  <a:schemeClr val="accent1">
                    <a:lumMod val="75000"/>
                  </a:schemeClr>
                </a:solidFill>
              </a:rPr>
              <a:t>synchronous speed* Ns (120f/P) </a:t>
            </a:r>
            <a:r>
              <a:rPr lang="en-US" sz="3200" dirty="0"/>
              <a:t>or not at all but N can be changed </a:t>
            </a:r>
            <a:r>
              <a:rPr lang="en-US" sz="3200" dirty="0">
                <a:solidFill>
                  <a:schemeClr val="accent1">
                    <a:lumMod val="75000"/>
                  </a:schemeClr>
                </a:solidFill>
              </a:rPr>
              <a:t>from f changing (f - converting).. </a:t>
            </a:r>
          </a:p>
          <a:p>
            <a:r>
              <a:rPr lang="en-US" sz="3200" dirty="0"/>
              <a:t>➢It is </a:t>
            </a:r>
            <a:r>
              <a:rPr lang="en-US" sz="3200" dirty="0">
                <a:solidFill>
                  <a:schemeClr val="accent1">
                    <a:lumMod val="75000"/>
                  </a:schemeClr>
                </a:solidFill>
              </a:rPr>
              <a:t>not inherently self starting…</a:t>
            </a:r>
          </a:p>
          <a:p>
            <a:r>
              <a:rPr lang="en-US" sz="3200" dirty="0"/>
              <a:t>➢Can be operated wide range of </a:t>
            </a:r>
            <a:r>
              <a:rPr lang="en-US" sz="3200" dirty="0" err="1"/>
              <a:t>p.f</a:t>
            </a:r>
            <a:r>
              <a:rPr lang="en-US" sz="3200" dirty="0">
                <a:solidFill>
                  <a:schemeClr val="accent1">
                    <a:lumMod val="75000"/>
                  </a:schemeClr>
                </a:solidFill>
              </a:rPr>
              <a:t>. (lag-unity-lead) by field</a:t>
            </a:r>
            <a:r>
              <a:rPr lang="en-US" sz="3200" dirty="0"/>
              <a:t>.. </a:t>
            </a:r>
          </a:p>
          <a:p>
            <a:endParaRPr lang="en-US" sz="3200" dirty="0">
              <a:solidFill>
                <a:srgbClr val="000000"/>
              </a:solidFill>
              <a:latin typeface="Times New Roman" panose="02020603050405020304" charset="0"/>
              <a:ea typeface="Times New Roman" panose="02020603050405020304"/>
              <a:cs typeface="Times New Roman" panose="02020603050405020304" charset="0"/>
            </a:endParaRPr>
          </a:p>
          <a:p>
            <a:endParaRPr lang="en-US" sz="3200" dirty="0">
              <a:solidFill>
                <a:srgbClr val="000000"/>
              </a:solidFill>
              <a:latin typeface="Times New Roman" panose="02020603050405020304" charset="0"/>
              <a:ea typeface="Times New Roman" panose="02020603050405020304"/>
              <a:cs typeface="Times New Roman" panose="02020603050405020304" charset="0"/>
            </a:endParaRPr>
          </a:p>
          <a:p>
            <a:endParaRPr lang="en-US" sz="3200" dirty="0">
              <a:solidFill>
                <a:srgbClr val="000000"/>
              </a:solidFill>
              <a:latin typeface="Times New Roman" panose="02020603050405020304" charset="0"/>
              <a:ea typeface="Times New Roman" panose="02020603050405020304"/>
              <a:cs typeface="Times New Roman" panose="02020603050405020304" charset="0"/>
            </a:endParaRPr>
          </a:p>
          <a:p>
            <a:endParaRPr lang="en-US" sz="3200" dirty="0">
              <a:solidFill>
                <a:srgbClr val="000000"/>
              </a:solidFill>
              <a:latin typeface="Times New Roman" panose="02020603050405020304" charset="0"/>
              <a:ea typeface="Times New Roman" panose="02020603050405020304"/>
              <a:cs typeface="Times New Roman" panose="02020603050405020304" charset="0"/>
            </a:endParaRPr>
          </a:p>
        </p:txBody>
      </p:sp>
      <p:pic>
        <p:nvPicPr>
          <p:cNvPr id="6" name="Picture 5">
            <a:extLst>
              <a:ext uri="{FF2B5EF4-FFF2-40B4-BE49-F238E27FC236}">
                <a16:creationId xmlns:a16="http://schemas.microsoft.com/office/drawing/2014/main" id="{3986C932-E1F5-EE9D-6A7D-CCB1C255C611}"/>
              </a:ext>
            </a:extLst>
          </p:cNvPr>
          <p:cNvPicPr>
            <a:picLocks noChangeAspect="1"/>
          </p:cNvPicPr>
          <p:nvPr/>
        </p:nvPicPr>
        <p:blipFill>
          <a:blip r:embed="rId4"/>
          <a:stretch>
            <a:fillRect/>
          </a:stretch>
        </p:blipFill>
        <p:spPr>
          <a:xfrm>
            <a:off x="632882" y="3820884"/>
            <a:ext cx="10598091" cy="28085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30997"/>
          </a:xfrm>
          <a:prstGeom prst="rect">
            <a:avLst/>
          </a:prstGeom>
        </p:spPr>
        <p:txBody>
          <a:bodyPr wrap="square">
            <a:spAutoFit/>
          </a:bodyPr>
          <a:lstStyle/>
          <a:p>
            <a:r>
              <a:rPr lang="en-US" sz="4800" dirty="0"/>
              <a:t>Synchronous Motors (Cont.)</a:t>
            </a:r>
            <a:endParaRPr 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3" name="Text Box 2"/>
          <p:cNvSpPr txBox="1"/>
          <p:nvPr/>
        </p:nvSpPr>
        <p:spPr>
          <a:xfrm>
            <a:off x="136525" y="791210"/>
            <a:ext cx="12022455" cy="5973445"/>
          </a:xfrm>
          <a:prstGeom prst="rect">
            <a:avLst/>
          </a:prstGeom>
        </p:spPr>
        <p:txBody>
          <a:bodyPr wrap="square">
            <a:noAutofit/>
          </a:bodyPr>
          <a:lstStyle/>
          <a:p>
            <a:endParaRPr lang="en-US" sz="3200" dirty="0"/>
          </a:p>
          <a:p>
            <a:endParaRPr lang="en-US" sz="3200" dirty="0"/>
          </a:p>
          <a:p>
            <a:endParaRPr lang="en-US" sz="3200" dirty="0"/>
          </a:p>
          <a:p>
            <a:r>
              <a:rPr lang="en-US" sz="3200" dirty="0"/>
              <a:t>➢ </a:t>
            </a:r>
            <a:r>
              <a:rPr lang="en-US" sz="3200" b="1" dirty="0">
                <a:solidFill>
                  <a:schemeClr val="accent6">
                    <a:lumMod val="75000"/>
                  </a:schemeClr>
                </a:solidFill>
              </a:rPr>
              <a:t>Synchronous speed: </a:t>
            </a:r>
            <a:r>
              <a:rPr lang="en-US" sz="3200" dirty="0">
                <a:solidFill>
                  <a:schemeClr val="accent1">
                    <a:lumMod val="75000"/>
                  </a:schemeClr>
                </a:solidFill>
              </a:rPr>
              <a:t>The speed at which the rotating field moves around the stator is called synchronous speed, Ns = 120f/P</a:t>
            </a:r>
            <a:r>
              <a:rPr lang="en-US" sz="3200" dirty="0"/>
              <a:t>, usually measured in rpm.</a:t>
            </a:r>
            <a:endParaRPr sz="3200" dirty="0">
              <a:solidFill>
                <a:srgbClr val="000000"/>
              </a:solidFill>
              <a:latin typeface="Times New Roman" panose="02020603050405020304" charset="0"/>
              <a:ea typeface="Times New Roman" panose="02020603050405020304"/>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30997"/>
          </a:xfrm>
          <a:prstGeom prst="rect">
            <a:avLst/>
          </a:prstGeom>
        </p:spPr>
        <p:txBody>
          <a:bodyPr wrap="square">
            <a:spAutoFit/>
          </a:bodyPr>
          <a:lstStyle/>
          <a:p>
            <a:r>
              <a:rPr lang="en-US" sz="4800" dirty="0"/>
              <a:t>Applications of Synchronous Motors </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3" name="Text Box 2"/>
          <p:cNvSpPr txBox="1"/>
          <p:nvPr/>
        </p:nvSpPr>
        <p:spPr>
          <a:xfrm>
            <a:off x="0" y="1510390"/>
            <a:ext cx="12022455" cy="5973445"/>
          </a:xfrm>
          <a:prstGeom prst="rect">
            <a:avLst/>
          </a:prstGeom>
        </p:spPr>
        <p:txBody>
          <a:bodyPr wrap="square">
            <a:noAutofit/>
          </a:bodyPr>
          <a:lstStyle/>
          <a:p>
            <a:pPr marL="457200" indent="-457200">
              <a:buAutoNum type="arabicPeriod"/>
            </a:pPr>
            <a:r>
              <a:rPr lang="en-US" sz="2800" dirty="0"/>
              <a:t>Synchronous motors are particularly attractive </a:t>
            </a:r>
            <a:r>
              <a:rPr lang="en-US" sz="2800" dirty="0">
                <a:solidFill>
                  <a:schemeClr val="accent1">
                    <a:lumMod val="75000"/>
                  </a:schemeClr>
                </a:solidFill>
              </a:rPr>
              <a:t>for constant speed &amp; low speeds </a:t>
            </a:r>
            <a:r>
              <a:rPr lang="en-US" sz="2800" dirty="0"/>
              <a:t>(&lt; 300 </a:t>
            </a:r>
            <a:r>
              <a:rPr lang="en-US" sz="2800" dirty="0" err="1"/>
              <a:t>r.p.m</a:t>
            </a:r>
            <a:r>
              <a:rPr lang="en-US" sz="2800" dirty="0"/>
              <a:t>.) because the     power factor can always be adjusted to unity and efficiency is higher</a:t>
            </a:r>
          </a:p>
          <a:p>
            <a:pPr marL="457200" indent="-457200">
              <a:buAutoNum type="arabicPeriod"/>
            </a:pPr>
            <a:r>
              <a:rPr lang="en-US" sz="2800" dirty="0"/>
              <a:t>Overexcited synchronous motors can be used to improve the pf of system where lagging loads (IM, light, welders.. etc.)</a:t>
            </a:r>
          </a:p>
          <a:p>
            <a:pPr marL="457200" indent="-457200">
              <a:buAutoNum type="arabicPeriod"/>
            </a:pPr>
            <a:r>
              <a:rPr lang="en-US" sz="2800" dirty="0"/>
              <a:t>They are used to improve the voltage regulation of transmission line (SM with field regulator, rise &amp; fall controlled)</a:t>
            </a:r>
          </a:p>
          <a:p>
            <a:pPr marL="457200" indent="-457200">
              <a:buAutoNum type="arabicPeriod"/>
            </a:pPr>
            <a:r>
              <a:rPr lang="en-US" sz="2800" dirty="0"/>
              <a:t>High-power electronic converters generating very low frequencies enable us to run SM at ultra-low speeds, Large motors in the 10 MW range are use in industry and variable-speed ball mills etc..</a:t>
            </a:r>
            <a:endParaRPr lang="en-US" altLang="en-US" sz="2800" dirty="0">
              <a:solidFill>
                <a:srgbClr val="000000"/>
              </a:solidFill>
              <a:latin typeface="Times New Roman" panose="02020603050405020304" charset="0"/>
              <a:ea typeface="Times New Roman" panose="02020603050405020304"/>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30997"/>
          </a:xfrm>
          <a:prstGeom prst="rect">
            <a:avLst/>
          </a:prstGeom>
        </p:spPr>
        <p:txBody>
          <a:bodyPr wrap="square">
            <a:spAutoFit/>
          </a:bodyPr>
          <a:lstStyle/>
          <a:p>
            <a:r>
              <a:rPr lang="en-US" sz="4800" dirty="0"/>
              <a:t>Construction of SM</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pic>
        <p:nvPicPr>
          <p:cNvPr id="6" name="Picture 5">
            <a:extLst>
              <a:ext uri="{FF2B5EF4-FFF2-40B4-BE49-F238E27FC236}">
                <a16:creationId xmlns:a16="http://schemas.microsoft.com/office/drawing/2014/main" id="{CCA942C3-7323-53AE-4D6B-01E7F65B58EA}"/>
              </a:ext>
            </a:extLst>
          </p:cNvPr>
          <p:cNvPicPr>
            <a:picLocks noChangeAspect="1"/>
          </p:cNvPicPr>
          <p:nvPr/>
        </p:nvPicPr>
        <p:blipFill>
          <a:blip r:embed="rId4"/>
          <a:stretch>
            <a:fillRect/>
          </a:stretch>
        </p:blipFill>
        <p:spPr>
          <a:xfrm>
            <a:off x="246290" y="1258525"/>
            <a:ext cx="11379654" cy="52729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30997"/>
          </a:xfrm>
          <a:prstGeom prst="rect">
            <a:avLst/>
          </a:prstGeom>
        </p:spPr>
        <p:txBody>
          <a:bodyPr wrap="square">
            <a:spAutoFit/>
          </a:bodyPr>
          <a:lstStyle/>
          <a:p>
            <a:r>
              <a:rPr lang="en-US" sz="4800" dirty="0"/>
              <a:t>Operating Principle </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7" name="TextBox 6">
            <a:extLst>
              <a:ext uri="{FF2B5EF4-FFF2-40B4-BE49-F238E27FC236}">
                <a16:creationId xmlns:a16="http://schemas.microsoft.com/office/drawing/2014/main" id="{88BE6958-0957-088E-0A2D-654E62D25F13}"/>
              </a:ext>
            </a:extLst>
          </p:cNvPr>
          <p:cNvSpPr txBox="1"/>
          <p:nvPr/>
        </p:nvSpPr>
        <p:spPr>
          <a:xfrm>
            <a:off x="359229" y="1077687"/>
            <a:ext cx="11691257" cy="2677656"/>
          </a:xfrm>
          <a:prstGeom prst="rect">
            <a:avLst/>
          </a:prstGeom>
          <a:noFill/>
        </p:spPr>
        <p:txBody>
          <a:bodyPr wrap="square">
            <a:spAutoFit/>
          </a:bodyPr>
          <a:lstStyle/>
          <a:p>
            <a:r>
              <a:rPr lang="en-US" sz="2400" dirty="0"/>
              <a:t>➢Consider a 3-phase SM </a:t>
            </a:r>
            <a:r>
              <a:rPr lang="en-US" sz="2400" dirty="0">
                <a:solidFill>
                  <a:schemeClr val="accent1">
                    <a:lumMod val="75000"/>
                  </a:schemeClr>
                </a:solidFill>
              </a:rPr>
              <a:t>having two rotor poles NR and SR </a:t>
            </a:r>
          </a:p>
          <a:p>
            <a:r>
              <a:rPr lang="en-US" sz="2400" dirty="0"/>
              <a:t>➢The stator is designed </a:t>
            </a:r>
            <a:r>
              <a:rPr lang="en-US" sz="2400" dirty="0">
                <a:solidFill>
                  <a:schemeClr val="accent1">
                    <a:lumMod val="75000"/>
                  </a:schemeClr>
                </a:solidFill>
              </a:rPr>
              <a:t>for two poles NS and SS </a:t>
            </a:r>
          </a:p>
          <a:p>
            <a:r>
              <a:rPr lang="en-US" sz="2400" dirty="0"/>
              <a:t>➢DC applied to the rotor and </a:t>
            </a:r>
            <a:r>
              <a:rPr lang="en-US" sz="2400" dirty="0">
                <a:solidFill>
                  <a:schemeClr val="accent1">
                    <a:lumMod val="75000"/>
                  </a:schemeClr>
                </a:solidFill>
              </a:rPr>
              <a:t>a 3-phase voltage applied stator </a:t>
            </a:r>
          </a:p>
          <a:p>
            <a:r>
              <a:rPr lang="en-US" sz="2400" dirty="0"/>
              <a:t>➢</a:t>
            </a:r>
            <a:r>
              <a:rPr lang="en-US" sz="2400" dirty="0">
                <a:solidFill>
                  <a:schemeClr val="accent1">
                    <a:lumMod val="75000"/>
                  </a:schemeClr>
                </a:solidFill>
              </a:rPr>
              <a:t>The stator winding produces a rotating field</a:t>
            </a:r>
            <a:r>
              <a:rPr lang="en-US" sz="2400" dirty="0"/>
              <a:t> which revolves round the stator at</a:t>
            </a:r>
          </a:p>
          <a:p>
            <a:r>
              <a:rPr lang="en-US" sz="2400" dirty="0">
                <a:solidFill>
                  <a:schemeClr val="accent1">
                    <a:lumMod val="75000"/>
                  </a:schemeClr>
                </a:solidFill>
              </a:rPr>
              <a:t>synchronous speed Ns</a:t>
            </a:r>
            <a:r>
              <a:rPr lang="en-US" sz="2400" dirty="0"/>
              <a:t>(=120 f/P) </a:t>
            </a:r>
          </a:p>
          <a:p>
            <a:r>
              <a:rPr lang="en-US" sz="2400" dirty="0"/>
              <a:t>➢A pair of </a:t>
            </a:r>
            <a:r>
              <a:rPr lang="en-US" sz="2400" dirty="0">
                <a:solidFill>
                  <a:schemeClr val="accent1">
                    <a:lumMod val="75000"/>
                  </a:schemeClr>
                </a:solidFill>
              </a:rPr>
              <a:t>revolving armature poles </a:t>
            </a:r>
            <a:r>
              <a:rPr lang="en-US" sz="2400" dirty="0"/>
              <a:t>(i.e., Ns - Ss) and a pair of </a:t>
            </a:r>
            <a:r>
              <a:rPr lang="en-US" sz="2400" dirty="0">
                <a:solidFill>
                  <a:schemeClr val="accent1">
                    <a:lumMod val="75000"/>
                  </a:schemeClr>
                </a:solidFill>
              </a:rPr>
              <a:t>stationary rotor poles </a:t>
            </a:r>
          </a:p>
          <a:p>
            <a:r>
              <a:rPr lang="en-US" sz="2400" dirty="0"/>
              <a:t>(i.e., NR - SR )</a:t>
            </a:r>
          </a:p>
        </p:txBody>
      </p:sp>
      <p:pic>
        <p:nvPicPr>
          <p:cNvPr id="9" name="Picture 8">
            <a:extLst>
              <a:ext uri="{FF2B5EF4-FFF2-40B4-BE49-F238E27FC236}">
                <a16:creationId xmlns:a16="http://schemas.microsoft.com/office/drawing/2014/main" id="{C56603FD-C903-6092-FBF1-0880F7C615F5}"/>
              </a:ext>
            </a:extLst>
          </p:cNvPr>
          <p:cNvPicPr>
            <a:picLocks noChangeAspect="1"/>
          </p:cNvPicPr>
          <p:nvPr/>
        </p:nvPicPr>
        <p:blipFill>
          <a:blip r:embed="rId4"/>
          <a:stretch>
            <a:fillRect/>
          </a:stretch>
        </p:blipFill>
        <p:spPr>
          <a:xfrm>
            <a:off x="1681843" y="3804558"/>
            <a:ext cx="8507185" cy="27143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30997"/>
          </a:xfrm>
          <a:prstGeom prst="rect">
            <a:avLst/>
          </a:prstGeom>
        </p:spPr>
        <p:txBody>
          <a:bodyPr wrap="square">
            <a:spAutoFit/>
          </a:bodyPr>
          <a:lstStyle/>
          <a:p>
            <a:r>
              <a:rPr lang="en-US" sz="4800" dirty="0"/>
              <a:t>Operating Principle (Cont.)</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3" name="TextBox 2">
            <a:extLst>
              <a:ext uri="{FF2B5EF4-FFF2-40B4-BE49-F238E27FC236}">
                <a16:creationId xmlns:a16="http://schemas.microsoft.com/office/drawing/2014/main" id="{913D5A44-941D-7B9E-9BB1-EA92E48CB3EE}"/>
              </a:ext>
            </a:extLst>
          </p:cNvPr>
          <p:cNvSpPr txBox="1"/>
          <p:nvPr/>
        </p:nvSpPr>
        <p:spPr>
          <a:xfrm>
            <a:off x="311085" y="1036948"/>
            <a:ext cx="11774078" cy="1569660"/>
          </a:xfrm>
          <a:prstGeom prst="rect">
            <a:avLst/>
          </a:prstGeom>
          <a:noFill/>
        </p:spPr>
        <p:txBody>
          <a:bodyPr wrap="square">
            <a:spAutoFit/>
          </a:bodyPr>
          <a:lstStyle/>
          <a:p>
            <a:r>
              <a:rPr lang="en-US" sz="2400" dirty="0"/>
              <a:t>➢Suppose at any instant, the stator poles are at positions Fig. </a:t>
            </a:r>
            <a:r>
              <a:rPr lang="en-US" sz="2400" dirty="0">
                <a:solidFill>
                  <a:schemeClr val="accent1">
                    <a:lumMod val="75000"/>
                  </a:schemeClr>
                </a:solidFill>
              </a:rPr>
              <a:t>NS and NR repel each other </a:t>
            </a:r>
            <a:r>
              <a:rPr lang="en-US" sz="2400" dirty="0"/>
              <a:t>and so do the poles Ss and SR . The rotor tends to move in the </a:t>
            </a:r>
            <a:r>
              <a:rPr lang="en-US" sz="2400" dirty="0" err="1">
                <a:solidFill>
                  <a:schemeClr val="accent1">
                    <a:lumMod val="75000"/>
                  </a:schemeClr>
                </a:solidFill>
              </a:rPr>
              <a:t>ccw</a:t>
            </a:r>
            <a:r>
              <a:rPr lang="en-US" sz="2400" dirty="0">
                <a:solidFill>
                  <a:schemeClr val="accent1">
                    <a:lumMod val="75000"/>
                  </a:schemeClr>
                </a:solidFill>
              </a:rPr>
              <a:t> direction </a:t>
            </a:r>
          </a:p>
          <a:p>
            <a:r>
              <a:rPr lang="en-US" sz="2400" dirty="0"/>
              <a:t>➢After a period of half-cycle, the polarities of the stator poles </a:t>
            </a:r>
            <a:r>
              <a:rPr lang="en-US" sz="2400" dirty="0">
                <a:solidFill>
                  <a:schemeClr val="accent1">
                    <a:lumMod val="75000"/>
                  </a:schemeClr>
                </a:solidFill>
              </a:rPr>
              <a:t>are reversed </a:t>
            </a:r>
            <a:r>
              <a:rPr lang="en-US" sz="2400" dirty="0"/>
              <a:t>but not the rotor poles. Now </a:t>
            </a:r>
            <a:r>
              <a:rPr lang="en-US" sz="2400" dirty="0">
                <a:solidFill>
                  <a:schemeClr val="accent1">
                    <a:lumMod val="75000"/>
                  </a:schemeClr>
                </a:solidFill>
              </a:rPr>
              <a:t>Ss and NR attract </a:t>
            </a:r>
            <a:r>
              <a:rPr lang="en-US" sz="2400" dirty="0"/>
              <a:t>each other and so do Ns and SR . </a:t>
            </a:r>
          </a:p>
        </p:txBody>
      </p:sp>
      <p:pic>
        <p:nvPicPr>
          <p:cNvPr id="11" name="Picture 10">
            <a:extLst>
              <a:ext uri="{FF2B5EF4-FFF2-40B4-BE49-F238E27FC236}">
                <a16:creationId xmlns:a16="http://schemas.microsoft.com/office/drawing/2014/main" id="{8FB2480C-884A-6D3B-6980-A0D892D91673}"/>
              </a:ext>
            </a:extLst>
          </p:cNvPr>
          <p:cNvPicPr>
            <a:picLocks noChangeAspect="1"/>
          </p:cNvPicPr>
          <p:nvPr/>
        </p:nvPicPr>
        <p:blipFill>
          <a:blip r:embed="rId4"/>
          <a:stretch>
            <a:fillRect/>
          </a:stretch>
        </p:blipFill>
        <p:spPr>
          <a:xfrm>
            <a:off x="718458" y="2835775"/>
            <a:ext cx="10316572" cy="34343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30997"/>
          </a:xfrm>
          <a:prstGeom prst="rect">
            <a:avLst/>
          </a:prstGeom>
        </p:spPr>
        <p:txBody>
          <a:bodyPr wrap="square">
            <a:spAutoFit/>
          </a:bodyPr>
          <a:lstStyle/>
          <a:p>
            <a:r>
              <a:rPr lang="en-US" sz="4800" dirty="0"/>
              <a:t>Operating Principle (Cont.) </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3" name="TextBox 2">
            <a:extLst>
              <a:ext uri="{FF2B5EF4-FFF2-40B4-BE49-F238E27FC236}">
                <a16:creationId xmlns:a16="http://schemas.microsoft.com/office/drawing/2014/main" id="{8B126EA3-7A24-45DC-B61A-9D836116CB3B}"/>
              </a:ext>
            </a:extLst>
          </p:cNvPr>
          <p:cNvSpPr txBox="1"/>
          <p:nvPr/>
        </p:nvSpPr>
        <p:spPr>
          <a:xfrm>
            <a:off x="195943" y="996043"/>
            <a:ext cx="11609614" cy="1569660"/>
          </a:xfrm>
          <a:prstGeom prst="rect">
            <a:avLst/>
          </a:prstGeom>
          <a:noFill/>
        </p:spPr>
        <p:txBody>
          <a:bodyPr wrap="square">
            <a:spAutoFit/>
          </a:bodyPr>
          <a:lstStyle/>
          <a:p>
            <a:r>
              <a:rPr lang="en-US" sz="2400" dirty="0"/>
              <a:t>➢Therefore, the rotor </a:t>
            </a:r>
            <a:r>
              <a:rPr lang="en-US" sz="2400" dirty="0">
                <a:solidFill>
                  <a:schemeClr val="accent1">
                    <a:lumMod val="75000"/>
                  </a:schemeClr>
                </a:solidFill>
              </a:rPr>
              <a:t>tends to move </a:t>
            </a:r>
            <a:r>
              <a:rPr lang="en-US" sz="2400" dirty="0"/>
              <a:t>in the clockwise direction. Since the stator poles change their polarities rapidly, they tend to pull the rotor </a:t>
            </a:r>
            <a:r>
              <a:rPr lang="en-US" sz="2400" dirty="0">
                <a:solidFill>
                  <a:schemeClr val="accent1">
                    <a:lumMod val="50000"/>
                  </a:schemeClr>
                </a:solidFill>
              </a:rPr>
              <a:t>first in one direction and then after a period of half-cycle in the other</a:t>
            </a:r>
            <a:r>
              <a:rPr lang="en-US" sz="2400" dirty="0"/>
              <a:t>. Due to high inertia of the rotor, the motor fails to start. Thus</a:t>
            </a:r>
            <a:r>
              <a:rPr lang="en-US" sz="2400" b="1" dirty="0">
                <a:solidFill>
                  <a:schemeClr val="accent1">
                    <a:lumMod val="50000"/>
                  </a:schemeClr>
                </a:solidFill>
              </a:rPr>
              <a:t>, SM has no self-starting torque</a:t>
            </a:r>
          </a:p>
        </p:txBody>
      </p:sp>
      <p:pic>
        <p:nvPicPr>
          <p:cNvPr id="7" name="Picture 6">
            <a:extLst>
              <a:ext uri="{FF2B5EF4-FFF2-40B4-BE49-F238E27FC236}">
                <a16:creationId xmlns:a16="http://schemas.microsoft.com/office/drawing/2014/main" id="{DBE5630D-1DE3-7D00-2C13-5201A34828F8}"/>
              </a:ext>
            </a:extLst>
          </p:cNvPr>
          <p:cNvPicPr>
            <a:picLocks noChangeAspect="1"/>
          </p:cNvPicPr>
          <p:nvPr/>
        </p:nvPicPr>
        <p:blipFill>
          <a:blip r:embed="rId4"/>
          <a:stretch>
            <a:fillRect/>
          </a:stretch>
        </p:blipFill>
        <p:spPr>
          <a:xfrm>
            <a:off x="416702" y="2716561"/>
            <a:ext cx="10836987" cy="38514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30997"/>
          </a:xfrm>
          <a:prstGeom prst="rect">
            <a:avLst/>
          </a:prstGeom>
        </p:spPr>
        <p:txBody>
          <a:bodyPr wrap="square">
            <a:spAutoFit/>
          </a:bodyPr>
          <a:lstStyle/>
          <a:p>
            <a:r>
              <a:rPr lang="en-US" sz="4800" dirty="0"/>
              <a:t>Operating Principle (cont.) </a:t>
            </a:r>
            <a:endParaRPr 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7"/>
            </p:blipFill>
            <p:spPr>
              <a:xfrm>
                <a:off x="7670800" y="749300"/>
                <a:ext cx="196850" cy="360"/>
              </a:xfrm>
              <a:prstGeom prst="rect"/>
            </p:spPr>
          </p:pic>
        </mc:Fallback>
      </mc:AlternateContent>
      <p:sp>
        <p:nvSpPr>
          <p:cNvPr id="7" name="TextBox 6">
            <a:extLst>
              <a:ext uri="{FF2B5EF4-FFF2-40B4-BE49-F238E27FC236}">
                <a16:creationId xmlns:a16="http://schemas.microsoft.com/office/drawing/2014/main" id="{92FC527D-53AC-A123-0F87-DE5D4846708D}"/>
              </a:ext>
            </a:extLst>
          </p:cNvPr>
          <p:cNvSpPr txBox="1"/>
          <p:nvPr/>
        </p:nvSpPr>
        <p:spPr>
          <a:xfrm>
            <a:off x="391886" y="1159329"/>
            <a:ext cx="11381014" cy="1938992"/>
          </a:xfrm>
          <a:prstGeom prst="rect">
            <a:avLst/>
          </a:prstGeom>
          <a:noFill/>
        </p:spPr>
        <p:txBody>
          <a:bodyPr wrap="square">
            <a:spAutoFit/>
          </a:bodyPr>
          <a:lstStyle/>
          <a:p>
            <a:r>
              <a:rPr lang="en-US" sz="2400" dirty="0"/>
              <a:t>➢</a:t>
            </a:r>
            <a:r>
              <a:rPr lang="en-US" sz="2400" b="1" dirty="0">
                <a:solidFill>
                  <a:srgbClr val="C00000"/>
                </a:solidFill>
              </a:rPr>
              <a:t>How to get continuous unidirectional torque? </a:t>
            </a:r>
            <a:r>
              <a:rPr lang="en-US" sz="2400" dirty="0"/>
              <a:t>If the rotor poles are rotated </a:t>
            </a:r>
            <a:r>
              <a:rPr lang="en-US" sz="2400" dirty="0">
                <a:solidFill>
                  <a:schemeClr val="accent1">
                    <a:lumMod val="75000"/>
                  </a:schemeClr>
                </a:solidFill>
              </a:rPr>
              <a:t>by some external means</a:t>
            </a:r>
            <a:r>
              <a:rPr lang="en-US" sz="2400" dirty="0"/>
              <a:t> at such a speed that they interchange their positions along the stator poles, then rotor will experience a </a:t>
            </a:r>
            <a:r>
              <a:rPr lang="en-US" sz="2400" dirty="0">
                <a:solidFill>
                  <a:schemeClr val="accent1">
                    <a:lumMod val="75000"/>
                  </a:schemeClr>
                </a:solidFill>
              </a:rPr>
              <a:t>continuous unidirectional torque </a:t>
            </a:r>
          </a:p>
          <a:p>
            <a:r>
              <a:rPr lang="en-US" sz="2400" dirty="0"/>
              <a:t>➢</a:t>
            </a:r>
            <a:r>
              <a:rPr lang="en-US" sz="2400" dirty="0">
                <a:solidFill>
                  <a:schemeClr val="accent1">
                    <a:lumMod val="75000"/>
                  </a:schemeClr>
                </a:solidFill>
              </a:rPr>
              <a:t>NR -Ss locked and vice versa </a:t>
            </a:r>
            <a:r>
              <a:rPr lang="en-US" sz="2400" dirty="0"/>
              <a:t>both rotating synchronism at synchronous speed of the supply voltage.</a:t>
            </a:r>
          </a:p>
        </p:txBody>
      </p:sp>
      <p:pic>
        <p:nvPicPr>
          <p:cNvPr id="13" name="Picture 12">
            <a:extLst>
              <a:ext uri="{FF2B5EF4-FFF2-40B4-BE49-F238E27FC236}">
                <a16:creationId xmlns:a16="http://schemas.microsoft.com/office/drawing/2014/main" id="{C60D62DE-7F8F-4606-2EC8-B2758ED1A0D2}"/>
              </a:ext>
            </a:extLst>
          </p:cNvPr>
          <p:cNvPicPr>
            <a:picLocks noChangeAspect="1"/>
          </p:cNvPicPr>
          <p:nvPr/>
        </p:nvPicPr>
        <p:blipFill>
          <a:blip r:embed="rId8"/>
          <a:stretch>
            <a:fillRect/>
          </a:stretch>
        </p:blipFill>
        <p:spPr>
          <a:xfrm>
            <a:off x="733923" y="3098321"/>
            <a:ext cx="9862458" cy="36529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s 8"/>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66675" y="-17145"/>
            <a:ext cx="10925810" cy="830997"/>
          </a:xfrm>
          <a:prstGeom prst="rect">
            <a:avLst/>
          </a:prstGeom>
        </p:spPr>
        <p:txBody>
          <a:bodyPr wrap="square">
            <a:spAutoFit/>
          </a:bodyPr>
          <a:lstStyle/>
          <a:p>
            <a:r>
              <a:rPr lang="en-US" sz="4800" dirty="0"/>
              <a:t>Methods of Starting</a:t>
            </a:r>
            <a:endParaRPr lang="en-US" sz="4800" b="1" dirty="0">
              <a:solidFill>
                <a:srgbClr val="000000"/>
              </a:solidFill>
              <a:latin typeface="Bahnschrift Light" panose="020B0502040204020203" charset="0"/>
              <a:ea typeface="Calibri-Bold"/>
              <a:cs typeface="Bahnschrift Light" panose="020B0502040204020203" charset="0"/>
            </a:endParaRPr>
          </a:p>
        </p:txBody>
      </p:sp>
      <p:sp>
        <p:nvSpPr>
          <p:cNvPr id="6" name="TextBox 5">
            <a:extLst>
              <a:ext uri="{FF2B5EF4-FFF2-40B4-BE49-F238E27FC236}">
                <a16:creationId xmlns:a16="http://schemas.microsoft.com/office/drawing/2014/main" id="{0768FC9F-C3E9-A6AF-8570-73258B566BA9}"/>
              </a:ext>
            </a:extLst>
          </p:cNvPr>
          <p:cNvSpPr txBox="1"/>
          <p:nvPr/>
        </p:nvSpPr>
        <p:spPr>
          <a:xfrm>
            <a:off x="277585" y="1143000"/>
            <a:ext cx="11593285" cy="1569660"/>
          </a:xfrm>
          <a:prstGeom prst="rect">
            <a:avLst/>
          </a:prstGeom>
          <a:noFill/>
        </p:spPr>
        <p:txBody>
          <a:bodyPr wrap="square">
            <a:spAutoFit/>
          </a:bodyPr>
          <a:lstStyle/>
          <a:p>
            <a:r>
              <a:rPr lang="en-US" sz="2400" dirty="0"/>
              <a:t>➢ The rotor has to be speed up </a:t>
            </a:r>
            <a:r>
              <a:rPr lang="en-US" sz="2400" dirty="0">
                <a:solidFill>
                  <a:schemeClr val="accent1">
                    <a:lumMod val="75000"/>
                  </a:schemeClr>
                </a:solidFill>
              </a:rPr>
              <a:t>Ns/near Ns by arrangements… </a:t>
            </a:r>
          </a:p>
          <a:p>
            <a:r>
              <a:rPr lang="en-US" sz="2400" dirty="0"/>
              <a:t>➢ </a:t>
            </a:r>
            <a:r>
              <a:rPr lang="en-US" sz="2400" dirty="0">
                <a:solidFill>
                  <a:schemeClr val="accent1">
                    <a:lumMod val="75000"/>
                  </a:schemeClr>
                </a:solidFill>
              </a:rPr>
              <a:t>NR -Ss and vice versa </a:t>
            </a:r>
            <a:r>
              <a:rPr lang="en-US" sz="2400" dirty="0"/>
              <a:t>both interlocked for synchronism </a:t>
            </a:r>
          </a:p>
          <a:p>
            <a:r>
              <a:rPr lang="en-US" sz="2400" dirty="0"/>
              <a:t>➢ In reality </a:t>
            </a:r>
            <a:r>
              <a:rPr lang="en-US" sz="2400" dirty="0">
                <a:solidFill>
                  <a:schemeClr val="accent1">
                    <a:lumMod val="75000"/>
                  </a:schemeClr>
                </a:solidFill>
              </a:rPr>
              <a:t>rotor brought up to Ns by </a:t>
            </a:r>
            <a:r>
              <a:rPr lang="en-US" sz="2400" dirty="0"/>
              <a:t>a) A shunt motor b) Exciter as a DC motor c) IM (less poles) &amp; d) Damper winding as a IM</a:t>
            </a:r>
          </a:p>
        </p:txBody>
      </p:sp>
      <p:pic>
        <p:nvPicPr>
          <p:cNvPr id="14" name="Picture 13">
            <a:extLst>
              <a:ext uri="{FF2B5EF4-FFF2-40B4-BE49-F238E27FC236}">
                <a16:creationId xmlns:a16="http://schemas.microsoft.com/office/drawing/2014/main" id="{A62FE5C2-95EE-EA4A-EF24-E256B0E7C48F}"/>
              </a:ext>
            </a:extLst>
          </p:cNvPr>
          <p:cNvPicPr>
            <a:picLocks noChangeAspect="1"/>
          </p:cNvPicPr>
          <p:nvPr/>
        </p:nvPicPr>
        <p:blipFill>
          <a:blip r:embed="rId2"/>
          <a:stretch>
            <a:fillRect/>
          </a:stretch>
        </p:blipFill>
        <p:spPr>
          <a:xfrm>
            <a:off x="1174437" y="3135086"/>
            <a:ext cx="3779824" cy="2579914"/>
          </a:xfrm>
          <a:prstGeom prst="rect">
            <a:avLst/>
          </a:prstGeom>
        </p:spPr>
      </p:pic>
      <p:pic>
        <p:nvPicPr>
          <p:cNvPr id="16" name="Picture 15">
            <a:extLst>
              <a:ext uri="{FF2B5EF4-FFF2-40B4-BE49-F238E27FC236}">
                <a16:creationId xmlns:a16="http://schemas.microsoft.com/office/drawing/2014/main" id="{0EF92B6B-98EC-476C-D59D-55096C910CE1}"/>
              </a:ext>
            </a:extLst>
          </p:cNvPr>
          <p:cNvPicPr>
            <a:picLocks noChangeAspect="1"/>
          </p:cNvPicPr>
          <p:nvPr/>
        </p:nvPicPr>
        <p:blipFill>
          <a:blip r:embed="rId3"/>
          <a:stretch>
            <a:fillRect/>
          </a:stretch>
        </p:blipFill>
        <p:spPr>
          <a:xfrm>
            <a:off x="5529580" y="3037939"/>
            <a:ext cx="4757420" cy="27742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66675" y="-17145"/>
            <a:ext cx="10925810" cy="830997"/>
          </a:xfrm>
          <a:prstGeom prst="rect">
            <a:avLst/>
          </a:prstGeom>
        </p:spPr>
        <p:txBody>
          <a:bodyPr wrap="square">
            <a:spAutoFit/>
          </a:bodyPr>
          <a:lstStyle/>
          <a:p>
            <a:r>
              <a:rPr lang="en-US" sz="4800" dirty="0"/>
              <a:t>Making SM Self-Starting</a:t>
            </a:r>
            <a:endParaRPr lang="en-US" sz="4800" b="1" dirty="0">
              <a:solidFill>
                <a:srgbClr val="000000"/>
              </a:solidFill>
              <a:latin typeface="Bahnschrift Light" panose="020B0502040204020203" charset="0"/>
              <a:ea typeface="Calibri-Bold"/>
              <a:cs typeface="Bahnschrift Light" panose="020B0502040204020203" charset="0"/>
            </a:endParaRPr>
          </a:p>
        </p:txBody>
      </p:sp>
      <p:sp>
        <p:nvSpPr>
          <p:cNvPr id="9" name="TextBox 8">
            <a:extLst>
              <a:ext uri="{FF2B5EF4-FFF2-40B4-BE49-F238E27FC236}">
                <a16:creationId xmlns:a16="http://schemas.microsoft.com/office/drawing/2014/main" id="{8DD8B30B-BDE3-F499-AC70-E513AECCE3C1}"/>
              </a:ext>
            </a:extLst>
          </p:cNvPr>
          <p:cNvSpPr txBox="1"/>
          <p:nvPr/>
        </p:nvSpPr>
        <p:spPr>
          <a:xfrm>
            <a:off x="261257" y="963386"/>
            <a:ext cx="11756572" cy="2308324"/>
          </a:xfrm>
          <a:prstGeom prst="rect">
            <a:avLst/>
          </a:prstGeom>
          <a:noFill/>
        </p:spPr>
        <p:txBody>
          <a:bodyPr wrap="square">
            <a:spAutoFit/>
          </a:bodyPr>
          <a:lstStyle/>
          <a:p>
            <a:r>
              <a:rPr lang="en-US" sz="2400" dirty="0"/>
              <a:t>A synchronous motor </a:t>
            </a:r>
            <a:r>
              <a:rPr lang="en-US" sz="2400" dirty="0">
                <a:solidFill>
                  <a:schemeClr val="accent1">
                    <a:lumMod val="75000"/>
                  </a:schemeClr>
                </a:solidFill>
              </a:rPr>
              <a:t>cannot start by itself</a:t>
            </a:r>
            <a:r>
              <a:rPr lang="en-US" sz="2400" dirty="0"/>
              <a:t>., If stator is feed &amp; rotor excitation is given motor develop </a:t>
            </a:r>
            <a:r>
              <a:rPr lang="en-US" sz="2400" dirty="0">
                <a:solidFill>
                  <a:schemeClr val="accent1">
                    <a:lumMod val="75000"/>
                  </a:schemeClr>
                </a:solidFill>
              </a:rPr>
              <a:t>no torque at standstill</a:t>
            </a:r>
            <a:r>
              <a:rPr lang="en-US" sz="2400" dirty="0"/>
              <a:t>. It will develop running torque once it has been brought up to Ns. In order to make the motor self-starting, There are several methods of accomplishing this.</a:t>
            </a:r>
          </a:p>
          <a:p>
            <a:endParaRPr lang="en-US" sz="2400" dirty="0"/>
          </a:p>
          <a:p>
            <a:r>
              <a:rPr lang="en-US" sz="2400" dirty="0">
                <a:solidFill>
                  <a:schemeClr val="accent1">
                    <a:lumMod val="75000"/>
                  </a:schemeClr>
                </a:solidFill>
              </a:rPr>
              <a:t>        a) Induction start </a:t>
            </a:r>
          </a:p>
          <a:p>
            <a:r>
              <a:rPr lang="en-US" sz="2400" dirty="0">
                <a:solidFill>
                  <a:schemeClr val="accent1">
                    <a:lumMod val="75000"/>
                  </a:schemeClr>
                </a:solidFill>
              </a:rPr>
              <a:t>        b) Auxiliary devices </a:t>
            </a:r>
          </a:p>
        </p:txBody>
      </p:sp>
      <p:sp>
        <p:nvSpPr>
          <p:cNvPr id="14" name="TextBox 13">
            <a:extLst>
              <a:ext uri="{FF2B5EF4-FFF2-40B4-BE49-F238E27FC236}">
                <a16:creationId xmlns:a16="http://schemas.microsoft.com/office/drawing/2014/main" id="{5BB8AE3A-A2BA-4AA9-5E58-661AEB04EABF}"/>
              </a:ext>
            </a:extLst>
          </p:cNvPr>
          <p:cNvSpPr txBox="1"/>
          <p:nvPr/>
        </p:nvSpPr>
        <p:spPr>
          <a:xfrm>
            <a:off x="261257" y="3428998"/>
            <a:ext cx="7592786" cy="2308324"/>
          </a:xfrm>
          <a:prstGeom prst="rect">
            <a:avLst/>
          </a:prstGeom>
          <a:noFill/>
        </p:spPr>
        <p:txBody>
          <a:bodyPr wrap="square">
            <a:spAutoFit/>
          </a:bodyPr>
          <a:lstStyle/>
          <a:p>
            <a:r>
              <a:rPr lang="en-US" sz="2400" b="1" dirty="0">
                <a:solidFill>
                  <a:srgbClr val="C00000"/>
                </a:solidFill>
              </a:rPr>
              <a:t>Induction start</a:t>
            </a:r>
            <a:r>
              <a:rPr lang="en-US" sz="2400" dirty="0"/>
              <a:t>: All most all SM are equipped with squirrel cage winding (also called </a:t>
            </a:r>
            <a:r>
              <a:rPr lang="en-US" sz="2400" dirty="0">
                <a:solidFill>
                  <a:schemeClr val="accent1">
                    <a:lumMod val="75000"/>
                  </a:schemeClr>
                </a:solidFill>
              </a:rPr>
              <a:t>damper winding</a:t>
            </a:r>
            <a:r>
              <a:rPr lang="en-US" sz="2400" dirty="0"/>
              <a:t>) is provided on the rotor. The damper winding consists of </a:t>
            </a:r>
            <a:r>
              <a:rPr lang="en-US" sz="2400" dirty="0">
                <a:solidFill>
                  <a:schemeClr val="accent1">
                    <a:lumMod val="75000"/>
                  </a:schemeClr>
                </a:solidFill>
              </a:rPr>
              <a:t>copper bars </a:t>
            </a:r>
            <a:r>
              <a:rPr lang="en-US" sz="2400" dirty="0"/>
              <a:t>embedded in the pole face. The bars are short-circuited at both ends. Act as a IM during starting period</a:t>
            </a:r>
          </a:p>
          <a:p>
            <a:endParaRPr lang="en-US" sz="2400" dirty="0"/>
          </a:p>
        </p:txBody>
      </p:sp>
      <p:pic>
        <p:nvPicPr>
          <p:cNvPr id="16" name="Picture 15">
            <a:extLst>
              <a:ext uri="{FF2B5EF4-FFF2-40B4-BE49-F238E27FC236}">
                <a16:creationId xmlns:a16="http://schemas.microsoft.com/office/drawing/2014/main" id="{4EE4F892-CDFD-0D95-E0F1-847F8ABF70F1}"/>
              </a:ext>
            </a:extLst>
          </p:cNvPr>
          <p:cNvPicPr>
            <a:picLocks noChangeAspect="1"/>
          </p:cNvPicPr>
          <p:nvPr/>
        </p:nvPicPr>
        <p:blipFill>
          <a:blip r:embed="rId2"/>
          <a:stretch>
            <a:fillRect/>
          </a:stretch>
        </p:blipFill>
        <p:spPr>
          <a:xfrm>
            <a:off x="8365145" y="2775621"/>
            <a:ext cx="3069833" cy="32698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66675" y="-17145"/>
            <a:ext cx="12038965" cy="830997"/>
          </a:xfrm>
          <a:prstGeom prst="rect">
            <a:avLst/>
          </a:prstGeom>
        </p:spPr>
        <p:txBody>
          <a:bodyPr wrap="square">
            <a:spAutoFit/>
          </a:bodyPr>
          <a:lstStyle/>
          <a:p>
            <a:r>
              <a:rPr lang="en-US" sz="4800" dirty="0"/>
              <a:t>Making SM Self-Starting (Cont.)</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sp>
        <p:nvSpPr>
          <p:cNvPr id="6" name="TextBox 5">
            <a:extLst>
              <a:ext uri="{FF2B5EF4-FFF2-40B4-BE49-F238E27FC236}">
                <a16:creationId xmlns:a16="http://schemas.microsoft.com/office/drawing/2014/main" id="{ECE688B2-0889-2C8A-81EC-9C9CCFB9957A}"/>
              </a:ext>
            </a:extLst>
          </p:cNvPr>
          <p:cNvSpPr txBox="1"/>
          <p:nvPr/>
        </p:nvSpPr>
        <p:spPr>
          <a:xfrm>
            <a:off x="310244" y="1175657"/>
            <a:ext cx="5785756" cy="5262979"/>
          </a:xfrm>
          <a:prstGeom prst="rect">
            <a:avLst/>
          </a:prstGeom>
          <a:noFill/>
        </p:spPr>
        <p:txBody>
          <a:bodyPr wrap="square">
            <a:spAutoFit/>
          </a:bodyPr>
          <a:lstStyle/>
          <a:p>
            <a:r>
              <a:rPr lang="en-US" sz="2400" b="1" dirty="0">
                <a:solidFill>
                  <a:srgbClr val="00B050"/>
                </a:solidFill>
              </a:rPr>
              <a:t>Auxiliary devices:</a:t>
            </a:r>
          </a:p>
          <a:p>
            <a:r>
              <a:rPr lang="en-US" sz="2400" dirty="0"/>
              <a:t> (</a:t>
            </a:r>
            <a:r>
              <a:rPr lang="en-US" sz="2400" dirty="0" err="1"/>
              <a:t>i</a:t>
            </a:r>
            <a:r>
              <a:rPr lang="en-US" sz="2400" dirty="0">
                <a:solidFill>
                  <a:schemeClr val="accent1">
                    <a:lumMod val="75000"/>
                  </a:schemeClr>
                </a:solidFill>
              </a:rPr>
              <a:t>) A direct coupled: </a:t>
            </a:r>
            <a:r>
              <a:rPr lang="en-US" sz="2400" dirty="0"/>
              <a:t>DC/Induction Motor can be used rating is about 10% of SM, Pole less (min. 2) </a:t>
            </a:r>
          </a:p>
          <a:p>
            <a:r>
              <a:rPr lang="en-US" sz="2400" dirty="0"/>
              <a:t>(ii) </a:t>
            </a:r>
            <a:r>
              <a:rPr lang="en-US" sz="2400" dirty="0">
                <a:solidFill>
                  <a:schemeClr val="accent1">
                    <a:lumMod val="75000"/>
                  </a:schemeClr>
                </a:solidFill>
              </a:rPr>
              <a:t>SM as Alternator :</a:t>
            </a:r>
          </a:p>
          <a:p>
            <a:r>
              <a:rPr lang="en-US" sz="2400" dirty="0"/>
              <a:t>Synchronized with supply Now remove IM, will run as SM </a:t>
            </a:r>
          </a:p>
          <a:p>
            <a:r>
              <a:rPr lang="en-US" sz="2400" dirty="0"/>
              <a:t>(iii) </a:t>
            </a:r>
            <a:r>
              <a:rPr lang="en-US" sz="2400" dirty="0">
                <a:solidFill>
                  <a:schemeClr val="accent1">
                    <a:lumMod val="75000"/>
                  </a:schemeClr>
                </a:solidFill>
              </a:rPr>
              <a:t>Without Synchronizing</a:t>
            </a:r>
            <a:r>
              <a:rPr lang="en-US" sz="2400" dirty="0"/>
              <a:t>:</a:t>
            </a:r>
          </a:p>
          <a:p>
            <a:r>
              <a:rPr lang="en-US" sz="2400" dirty="0"/>
              <a:t> Need to speed up by IM or DC motor near at Ns When Ns is reached, Stator is feed and rotor is </a:t>
            </a:r>
            <a:r>
              <a:rPr lang="en-US" sz="2400" dirty="0" err="1"/>
              <a:t>excitated</a:t>
            </a:r>
            <a:r>
              <a:rPr lang="en-US" sz="2400" dirty="0"/>
              <a:t>… </a:t>
            </a:r>
          </a:p>
          <a:p>
            <a:r>
              <a:rPr lang="en-US" sz="2400" dirty="0">
                <a:solidFill>
                  <a:schemeClr val="accent1">
                    <a:lumMod val="75000"/>
                  </a:schemeClr>
                </a:solidFill>
              </a:rPr>
              <a:t>SM start…… </a:t>
            </a:r>
          </a:p>
          <a:p>
            <a:r>
              <a:rPr lang="en-US" sz="2400" dirty="0"/>
              <a:t>(iv) Using the field exciter generator as a DC motor</a:t>
            </a:r>
          </a:p>
        </p:txBody>
      </p:sp>
      <p:pic>
        <p:nvPicPr>
          <p:cNvPr id="8" name="Picture 7">
            <a:extLst>
              <a:ext uri="{FF2B5EF4-FFF2-40B4-BE49-F238E27FC236}">
                <a16:creationId xmlns:a16="http://schemas.microsoft.com/office/drawing/2014/main" id="{87F2FD05-A2E2-AC52-E8E2-358164531BA3}"/>
              </a:ext>
            </a:extLst>
          </p:cNvPr>
          <p:cNvPicPr>
            <a:picLocks noChangeAspect="1"/>
          </p:cNvPicPr>
          <p:nvPr/>
        </p:nvPicPr>
        <p:blipFill>
          <a:blip r:embed="rId2"/>
          <a:stretch>
            <a:fillRect/>
          </a:stretch>
        </p:blipFill>
        <p:spPr>
          <a:xfrm>
            <a:off x="7011539" y="2108813"/>
            <a:ext cx="5094101" cy="29127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66675" y="-17145"/>
            <a:ext cx="12038965" cy="830997"/>
          </a:xfrm>
          <a:prstGeom prst="rect">
            <a:avLst/>
          </a:prstGeom>
        </p:spPr>
        <p:txBody>
          <a:bodyPr wrap="square">
            <a:spAutoFit/>
          </a:bodyPr>
          <a:lstStyle/>
          <a:p>
            <a:r>
              <a:rPr lang="en-US" sz="4800" dirty="0"/>
              <a:t>Comparison of SM &amp; Induction Motors</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pic>
        <p:nvPicPr>
          <p:cNvPr id="3" name="Picture 2">
            <a:extLst>
              <a:ext uri="{FF2B5EF4-FFF2-40B4-BE49-F238E27FC236}">
                <a16:creationId xmlns:a16="http://schemas.microsoft.com/office/drawing/2014/main" id="{6C59DDA4-5D4C-074D-EE8C-5010C3FE2A03}"/>
              </a:ext>
            </a:extLst>
          </p:cNvPr>
          <p:cNvPicPr>
            <a:picLocks noChangeAspect="1"/>
          </p:cNvPicPr>
          <p:nvPr/>
        </p:nvPicPr>
        <p:blipFill>
          <a:blip r:embed="rId2"/>
          <a:stretch>
            <a:fillRect/>
          </a:stretch>
        </p:blipFill>
        <p:spPr>
          <a:xfrm>
            <a:off x="830489" y="1014764"/>
            <a:ext cx="10076997" cy="56082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AE3F7752-C51A-4CA6-EF56-D8E6E53852D5}"/>
              </a:ext>
            </a:extLst>
          </p:cNvPr>
          <p:cNvSpPr txBox="1"/>
          <p:nvPr/>
        </p:nvSpPr>
        <p:spPr>
          <a:xfrm>
            <a:off x="269823" y="766252"/>
            <a:ext cx="8866681" cy="400110"/>
          </a:xfrm>
          <a:prstGeom prst="rect">
            <a:avLst/>
          </a:prstGeom>
          <a:noFill/>
        </p:spPr>
        <p:txBody>
          <a:bodyPr wrap="square">
            <a:spAutoFit/>
          </a:bodyPr>
          <a:lstStyle/>
          <a:p>
            <a:r>
              <a:rPr lang="en-US" sz="2000" b="1" dirty="0"/>
              <a:t>Inverter Fed Open Loop Synchronous Motor Drive</a:t>
            </a:r>
          </a:p>
        </p:txBody>
      </p:sp>
      <p:sp>
        <p:nvSpPr>
          <p:cNvPr id="20" name="TextBox 19">
            <a:extLst>
              <a:ext uri="{FF2B5EF4-FFF2-40B4-BE49-F238E27FC236}">
                <a16:creationId xmlns:a16="http://schemas.microsoft.com/office/drawing/2014/main" id="{6DA6A619-4DEE-826A-FD14-0F4B74D88499}"/>
              </a:ext>
            </a:extLst>
          </p:cNvPr>
          <p:cNvSpPr txBox="1"/>
          <p:nvPr/>
        </p:nvSpPr>
        <p:spPr>
          <a:xfrm>
            <a:off x="318542" y="1292855"/>
            <a:ext cx="7585023" cy="1754326"/>
          </a:xfrm>
          <a:prstGeom prst="rect">
            <a:avLst/>
          </a:prstGeom>
          <a:noFill/>
        </p:spPr>
        <p:txBody>
          <a:bodyPr wrap="square">
            <a:spAutoFit/>
          </a:bodyPr>
          <a:lstStyle/>
          <a:p>
            <a:r>
              <a:rPr lang="en-US" dirty="0"/>
              <a:t>In this method, the synchronous motor is supplied by a variable frequency inverter in an open loop. Open loop means there is no feedback to the supply, so the inverter doesn’t know the rotor’s position. This method is suitable when precise speed control isn’t necessary. The main supply is fed into a rectifier inverter set to achieve the desired frequency. The motor’s synchronous speed can be varied according to this frequency.</a:t>
            </a:r>
          </a:p>
        </p:txBody>
      </p:sp>
      <p:pic>
        <p:nvPicPr>
          <p:cNvPr id="22" name="Picture 21">
            <a:extLst>
              <a:ext uri="{FF2B5EF4-FFF2-40B4-BE49-F238E27FC236}">
                <a16:creationId xmlns:a16="http://schemas.microsoft.com/office/drawing/2014/main" id="{CEABE8C4-B20F-5645-FF48-33752544F10B}"/>
              </a:ext>
            </a:extLst>
          </p:cNvPr>
          <p:cNvPicPr>
            <a:picLocks noChangeAspect="1"/>
          </p:cNvPicPr>
          <p:nvPr/>
        </p:nvPicPr>
        <p:blipFill>
          <a:blip r:embed="rId2"/>
          <a:stretch>
            <a:fillRect/>
          </a:stretch>
        </p:blipFill>
        <p:spPr>
          <a:xfrm>
            <a:off x="7854846" y="1292855"/>
            <a:ext cx="4343925" cy="1447975"/>
          </a:xfrm>
          <a:prstGeom prst="rect">
            <a:avLst/>
          </a:prstGeom>
        </p:spPr>
      </p:pic>
      <p:pic>
        <p:nvPicPr>
          <p:cNvPr id="24" name="Picture 23">
            <a:extLst>
              <a:ext uri="{FF2B5EF4-FFF2-40B4-BE49-F238E27FC236}">
                <a16:creationId xmlns:a16="http://schemas.microsoft.com/office/drawing/2014/main" id="{D19D9522-9259-0313-678C-5D9DE072DABB}"/>
              </a:ext>
            </a:extLst>
          </p:cNvPr>
          <p:cNvPicPr>
            <a:picLocks noChangeAspect="1"/>
          </p:cNvPicPr>
          <p:nvPr/>
        </p:nvPicPr>
        <p:blipFill>
          <a:blip r:embed="rId3"/>
          <a:stretch>
            <a:fillRect/>
          </a:stretch>
        </p:blipFill>
        <p:spPr>
          <a:xfrm>
            <a:off x="2308486" y="3173674"/>
            <a:ext cx="6625651" cy="1447975"/>
          </a:xfrm>
          <a:prstGeom prst="rect">
            <a:avLst/>
          </a:prstGeom>
        </p:spPr>
      </p:pic>
      <p:sp>
        <p:nvSpPr>
          <p:cNvPr id="28" name="TextBox 27">
            <a:extLst>
              <a:ext uri="{FF2B5EF4-FFF2-40B4-BE49-F238E27FC236}">
                <a16:creationId xmlns:a16="http://schemas.microsoft.com/office/drawing/2014/main" id="{CB37C5C3-528B-2509-2ACB-404F87326113}"/>
              </a:ext>
            </a:extLst>
          </p:cNvPr>
          <p:cNvSpPr txBox="1"/>
          <p:nvPr/>
        </p:nvSpPr>
        <p:spPr>
          <a:xfrm>
            <a:off x="318542" y="119921"/>
            <a:ext cx="11508697" cy="646331"/>
          </a:xfrm>
          <a:prstGeom prst="rect">
            <a:avLst/>
          </a:prstGeom>
          <a:noFill/>
        </p:spPr>
        <p:txBody>
          <a:bodyPr wrap="square">
            <a:spAutoFit/>
          </a:bodyPr>
          <a:lstStyle/>
          <a:p>
            <a:r>
              <a:rPr lang="en-US" dirty="0"/>
              <a:t>A combination of rectifiers and inverters can be used to control the speed of synchronous motors. There are two main methods for this:</a:t>
            </a:r>
          </a:p>
        </p:txBody>
      </p:sp>
      <p:sp>
        <p:nvSpPr>
          <p:cNvPr id="30" name="TextBox 29">
            <a:extLst>
              <a:ext uri="{FF2B5EF4-FFF2-40B4-BE49-F238E27FC236}">
                <a16:creationId xmlns:a16="http://schemas.microsoft.com/office/drawing/2014/main" id="{52B10324-0CF2-0DD6-6134-925836751754}"/>
              </a:ext>
            </a:extLst>
          </p:cNvPr>
          <p:cNvSpPr txBox="1"/>
          <p:nvPr/>
        </p:nvSpPr>
        <p:spPr>
          <a:xfrm>
            <a:off x="318542" y="4748142"/>
            <a:ext cx="11554916" cy="1754326"/>
          </a:xfrm>
          <a:prstGeom prst="rect">
            <a:avLst/>
          </a:prstGeom>
          <a:noFill/>
        </p:spPr>
        <p:txBody>
          <a:bodyPr wrap="square">
            <a:spAutoFit/>
          </a:bodyPr>
          <a:lstStyle/>
          <a:p>
            <a:r>
              <a:rPr lang="en-US" dirty="0"/>
              <a:t>In above figure, you can see the block diagram of the speed control drive. The three-phase supply from the mains is converted to dc by using rectifiers. Then the rippled dc is smoothened by using LC filters. The DC is fed to the inverters. These inverters can be either voltage source inverters or current source inverter. The frequency of the supply fed to the motor can be varied and accordingly speed control of synchronous motor can be done. Open loop operation is useful when a number of motors need to be run at exactly the same speed. This method has a disadvantage though. This method causes spontaneous oscillation or hunting.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66675" y="-17145"/>
            <a:ext cx="12038965" cy="830997"/>
          </a:xfrm>
          <a:prstGeom prst="rect">
            <a:avLst/>
          </a:prstGeom>
          <a:solidFill>
            <a:schemeClr val="accent2"/>
          </a:solidFill>
        </p:spPr>
        <p:txBody>
          <a:bodyPr wrap="square">
            <a:spAutoFit/>
          </a:bodyPr>
          <a:lstStyle/>
          <a:p>
            <a:r>
              <a:rPr lang="en-US" sz="4800" dirty="0"/>
              <a:t>Self Synchronous (Closed – Loop) Operation</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sp>
        <p:nvSpPr>
          <p:cNvPr id="5" name="TextBox 4">
            <a:extLst>
              <a:ext uri="{FF2B5EF4-FFF2-40B4-BE49-F238E27FC236}">
                <a16:creationId xmlns:a16="http://schemas.microsoft.com/office/drawing/2014/main" id="{5BF8AB6B-FD49-C838-8726-56BB773C4573}"/>
              </a:ext>
            </a:extLst>
          </p:cNvPr>
          <p:cNvSpPr txBox="1"/>
          <p:nvPr/>
        </p:nvSpPr>
        <p:spPr>
          <a:xfrm>
            <a:off x="449705" y="1124262"/>
            <a:ext cx="11302584" cy="1323439"/>
          </a:xfrm>
          <a:prstGeom prst="rect">
            <a:avLst/>
          </a:prstGeom>
          <a:noFill/>
        </p:spPr>
        <p:txBody>
          <a:bodyPr wrap="square">
            <a:spAutoFit/>
          </a:bodyPr>
          <a:lstStyle/>
          <a:p>
            <a:r>
              <a:rPr lang="en-US" sz="2000" dirty="0"/>
              <a:t>Self-synchronous (closed-loop) operation is used for precise speed control. Here, the inverter output frequency is based on the rotor speed. The rotor speed is fed back to a differentiator, and the difference between preset and actual speed is sent to the rectifier. The inverter then adjusts the frequency to control the motor speed accurately</a:t>
            </a:r>
          </a:p>
        </p:txBody>
      </p:sp>
      <p:pic>
        <p:nvPicPr>
          <p:cNvPr id="7" name="Picture 6">
            <a:extLst>
              <a:ext uri="{FF2B5EF4-FFF2-40B4-BE49-F238E27FC236}">
                <a16:creationId xmlns:a16="http://schemas.microsoft.com/office/drawing/2014/main" id="{4D618956-56C6-2C23-9D60-A3A9DCD5E517}"/>
              </a:ext>
            </a:extLst>
          </p:cNvPr>
          <p:cNvPicPr>
            <a:picLocks noChangeAspect="1"/>
          </p:cNvPicPr>
          <p:nvPr/>
        </p:nvPicPr>
        <p:blipFill>
          <a:blip r:embed="rId2"/>
          <a:stretch>
            <a:fillRect/>
          </a:stretch>
        </p:blipFill>
        <p:spPr>
          <a:xfrm>
            <a:off x="2158585" y="2442813"/>
            <a:ext cx="6655632" cy="2683507"/>
          </a:xfrm>
          <a:prstGeom prst="rect">
            <a:avLst/>
          </a:prstGeom>
        </p:spPr>
      </p:pic>
      <p:sp>
        <p:nvSpPr>
          <p:cNvPr id="9" name="TextBox 8">
            <a:extLst>
              <a:ext uri="{FF2B5EF4-FFF2-40B4-BE49-F238E27FC236}">
                <a16:creationId xmlns:a16="http://schemas.microsoft.com/office/drawing/2014/main" id="{5EF8D860-B25E-4E5A-BE55-62CDD1B8469A}"/>
              </a:ext>
            </a:extLst>
          </p:cNvPr>
          <p:cNvSpPr txBox="1"/>
          <p:nvPr/>
        </p:nvSpPr>
        <p:spPr>
          <a:xfrm>
            <a:off x="428833" y="5410572"/>
            <a:ext cx="11302584" cy="646331"/>
          </a:xfrm>
          <a:prstGeom prst="rect">
            <a:avLst/>
          </a:prstGeom>
          <a:noFill/>
        </p:spPr>
        <p:txBody>
          <a:bodyPr wrap="square">
            <a:spAutoFit/>
          </a:bodyPr>
          <a:lstStyle/>
          <a:p>
            <a:r>
              <a:rPr lang="en-US" dirty="0"/>
              <a:t>For example, if the speed drops due to increased load, the stator supply frequency reduces to keep the rotor in sync with the stator magnetic field. This method prevents spontaneous oscillation or hunting.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66676" y="-17145"/>
            <a:ext cx="11924220" cy="1569660"/>
          </a:xfrm>
          <a:prstGeom prst="rect">
            <a:avLst/>
          </a:prstGeom>
          <a:solidFill>
            <a:schemeClr val="accent2"/>
          </a:solidFill>
        </p:spPr>
        <p:txBody>
          <a:bodyPr wrap="square">
            <a:spAutoFit/>
          </a:bodyPr>
          <a:lstStyle/>
          <a:p>
            <a:r>
              <a:rPr lang="en-US" sz="4800" dirty="0"/>
              <a:t>Performance with current-source inverter (CSI) drive</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pic>
        <p:nvPicPr>
          <p:cNvPr id="5" name="Picture 4">
            <a:extLst>
              <a:ext uri="{FF2B5EF4-FFF2-40B4-BE49-F238E27FC236}">
                <a16:creationId xmlns:a16="http://schemas.microsoft.com/office/drawing/2014/main" id="{F90AA310-02A1-B084-4AB7-9B1BA7E8142F}"/>
              </a:ext>
            </a:extLst>
          </p:cNvPr>
          <p:cNvPicPr>
            <a:picLocks noChangeAspect="1"/>
          </p:cNvPicPr>
          <p:nvPr/>
        </p:nvPicPr>
        <p:blipFill>
          <a:blip r:embed="rId2"/>
          <a:stretch>
            <a:fillRect/>
          </a:stretch>
        </p:blipFill>
        <p:spPr>
          <a:xfrm>
            <a:off x="297520" y="1717407"/>
            <a:ext cx="11504839" cy="49284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5715" y="0"/>
            <a:ext cx="12038965" cy="1569660"/>
          </a:xfrm>
          <a:prstGeom prst="rect">
            <a:avLst/>
          </a:prstGeom>
          <a:solidFill>
            <a:schemeClr val="accent2"/>
          </a:solidFill>
        </p:spPr>
        <p:txBody>
          <a:bodyPr wrap="square">
            <a:spAutoFit/>
          </a:bodyPr>
          <a:lstStyle/>
          <a:p>
            <a:r>
              <a:rPr lang="en-US" sz="4800" dirty="0"/>
              <a:t>Brushless DC operation of CSI driven synchronous motor</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sp>
        <p:nvSpPr>
          <p:cNvPr id="7" name="TextBox 6">
            <a:extLst>
              <a:ext uri="{FF2B5EF4-FFF2-40B4-BE49-F238E27FC236}">
                <a16:creationId xmlns:a16="http://schemas.microsoft.com/office/drawing/2014/main" id="{DB167BA7-CB2F-1213-93EC-A6DFCD9B919F}"/>
              </a:ext>
            </a:extLst>
          </p:cNvPr>
          <p:cNvSpPr txBox="1"/>
          <p:nvPr/>
        </p:nvSpPr>
        <p:spPr>
          <a:xfrm>
            <a:off x="209862" y="1723869"/>
            <a:ext cx="11834818" cy="1938992"/>
          </a:xfrm>
          <a:prstGeom prst="rect">
            <a:avLst/>
          </a:prstGeom>
          <a:noFill/>
        </p:spPr>
        <p:txBody>
          <a:bodyPr wrap="square">
            <a:spAutoFit/>
          </a:bodyPr>
          <a:lstStyle/>
          <a:p>
            <a:r>
              <a:rPr lang="en-US" sz="2000" dirty="0"/>
              <a:t>In the following analysis, it is assumed that the supply current waveform for each phase is sinusoidal and of controllable amplitude or RMS value. It is also assumed that the phase angle between current and induced back emf in each phase can be arbitrarily chosen. All of these tasks are arranged through continuous rotor position feedback and continuous control of stator currents in closed loops. In other words, phase current references, and hence actual rotor currents, are assumed to be </a:t>
            </a:r>
            <a:r>
              <a:rPr lang="en-US" sz="2000" dirty="0" err="1"/>
              <a:t>synchronised</a:t>
            </a:r>
            <a:r>
              <a:rPr lang="en-US" sz="2000" dirty="0"/>
              <a:t> with the rotor position (angle). [In a more general sense, this type of control is equivalent to controlling the motor currents in the rotor reference frame].</a:t>
            </a:r>
          </a:p>
        </p:txBody>
      </p:sp>
      <p:pic>
        <p:nvPicPr>
          <p:cNvPr id="9" name="Picture 8">
            <a:extLst>
              <a:ext uri="{FF2B5EF4-FFF2-40B4-BE49-F238E27FC236}">
                <a16:creationId xmlns:a16="http://schemas.microsoft.com/office/drawing/2014/main" id="{611C99FD-7298-4919-9BC5-481E3375C637}"/>
              </a:ext>
            </a:extLst>
          </p:cNvPr>
          <p:cNvPicPr>
            <a:picLocks noChangeAspect="1"/>
          </p:cNvPicPr>
          <p:nvPr/>
        </p:nvPicPr>
        <p:blipFill>
          <a:blip r:embed="rId2"/>
          <a:stretch>
            <a:fillRect/>
          </a:stretch>
        </p:blipFill>
        <p:spPr>
          <a:xfrm>
            <a:off x="4034898" y="3817070"/>
            <a:ext cx="2500813" cy="270045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5715" y="0"/>
            <a:ext cx="12038965" cy="830997"/>
          </a:xfrm>
          <a:prstGeom prst="rect">
            <a:avLst/>
          </a:prstGeom>
          <a:solidFill>
            <a:schemeClr val="accent2"/>
          </a:solidFill>
        </p:spPr>
        <p:txBody>
          <a:bodyPr wrap="square">
            <a:spAutoFit/>
          </a:bodyPr>
          <a:lstStyle/>
          <a:p>
            <a:r>
              <a:rPr lang="en-US" sz="4800" dirty="0"/>
              <a:t>Unity power factor operation</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pic>
        <p:nvPicPr>
          <p:cNvPr id="3" name="Picture 2">
            <a:extLst>
              <a:ext uri="{FF2B5EF4-FFF2-40B4-BE49-F238E27FC236}">
                <a16:creationId xmlns:a16="http://schemas.microsoft.com/office/drawing/2014/main" id="{B7DFC011-C109-F90B-AD61-598693DB5C75}"/>
              </a:ext>
            </a:extLst>
          </p:cNvPr>
          <p:cNvPicPr>
            <a:picLocks noChangeAspect="1"/>
          </p:cNvPicPr>
          <p:nvPr/>
        </p:nvPicPr>
        <p:blipFill>
          <a:blip r:embed="rId2"/>
          <a:stretch>
            <a:fillRect/>
          </a:stretch>
        </p:blipFill>
        <p:spPr>
          <a:xfrm>
            <a:off x="63346" y="1244184"/>
            <a:ext cx="11808863" cy="513390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5715" y="0"/>
            <a:ext cx="12038965" cy="830997"/>
          </a:xfrm>
          <a:prstGeom prst="rect">
            <a:avLst/>
          </a:prstGeom>
          <a:solidFill>
            <a:schemeClr val="accent2"/>
          </a:solidFill>
        </p:spPr>
        <p:txBody>
          <a:bodyPr wrap="square">
            <a:spAutoFit/>
          </a:bodyPr>
          <a:lstStyle/>
          <a:p>
            <a:r>
              <a:rPr lang="en-US" sz="4800" dirty="0"/>
              <a:t>Stepper Motors</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pic>
        <p:nvPicPr>
          <p:cNvPr id="9" name="Picture 8">
            <a:extLst>
              <a:ext uri="{FF2B5EF4-FFF2-40B4-BE49-F238E27FC236}">
                <a16:creationId xmlns:a16="http://schemas.microsoft.com/office/drawing/2014/main" id="{10C80545-1614-F7C5-8402-6650EC6F77A5}"/>
              </a:ext>
            </a:extLst>
          </p:cNvPr>
          <p:cNvPicPr>
            <a:picLocks noChangeAspect="1"/>
          </p:cNvPicPr>
          <p:nvPr/>
        </p:nvPicPr>
        <p:blipFill>
          <a:blip r:embed="rId2"/>
          <a:stretch>
            <a:fillRect/>
          </a:stretch>
        </p:blipFill>
        <p:spPr>
          <a:xfrm>
            <a:off x="344773" y="1434214"/>
            <a:ext cx="11050824" cy="463680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5715" y="0"/>
            <a:ext cx="12038965" cy="830997"/>
          </a:xfrm>
          <a:prstGeom prst="rect">
            <a:avLst/>
          </a:prstGeom>
          <a:solidFill>
            <a:schemeClr val="accent2"/>
          </a:solidFill>
        </p:spPr>
        <p:txBody>
          <a:bodyPr wrap="square">
            <a:spAutoFit/>
          </a:bodyPr>
          <a:lstStyle/>
          <a:p>
            <a:r>
              <a:rPr lang="en-US" sz="4800" dirty="0"/>
              <a:t>Stepper Motor</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sp>
        <p:nvSpPr>
          <p:cNvPr id="7" name="TextBox 6">
            <a:extLst>
              <a:ext uri="{FF2B5EF4-FFF2-40B4-BE49-F238E27FC236}">
                <a16:creationId xmlns:a16="http://schemas.microsoft.com/office/drawing/2014/main" id="{A91C01D2-9F41-0178-0CF5-10E17B29588E}"/>
              </a:ext>
            </a:extLst>
          </p:cNvPr>
          <p:cNvSpPr txBox="1"/>
          <p:nvPr/>
        </p:nvSpPr>
        <p:spPr>
          <a:xfrm>
            <a:off x="404735" y="1064301"/>
            <a:ext cx="11639945" cy="830997"/>
          </a:xfrm>
          <a:prstGeom prst="rect">
            <a:avLst/>
          </a:prstGeom>
          <a:noFill/>
        </p:spPr>
        <p:txBody>
          <a:bodyPr wrap="square">
            <a:spAutoFit/>
          </a:bodyPr>
          <a:lstStyle/>
          <a:p>
            <a:r>
              <a:rPr lang="en-US" sz="2400" dirty="0"/>
              <a:t>➢ A</a:t>
            </a:r>
            <a:r>
              <a:rPr lang="en-US" sz="2400" b="1" dirty="0"/>
              <a:t> stepper motor </a:t>
            </a:r>
            <a:r>
              <a:rPr lang="en-US" sz="2400" dirty="0"/>
              <a:t>or </a:t>
            </a:r>
            <a:r>
              <a:rPr lang="en-US" sz="2400" b="1" dirty="0"/>
              <a:t>step motor </a:t>
            </a:r>
            <a:r>
              <a:rPr lang="en-US" sz="2400" dirty="0"/>
              <a:t>or </a:t>
            </a:r>
            <a:r>
              <a:rPr lang="en-US" sz="2400" b="1" dirty="0"/>
              <a:t>stepping motor </a:t>
            </a:r>
            <a:r>
              <a:rPr lang="en-US" sz="2400" dirty="0"/>
              <a:t>is a </a:t>
            </a:r>
            <a:r>
              <a:rPr lang="en-US" sz="2400" b="1" dirty="0">
                <a:solidFill>
                  <a:schemeClr val="accent1">
                    <a:lumMod val="75000"/>
                  </a:schemeClr>
                </a:solidFill>
              </a:rPr>
              <a:t>brushless DC electric motor that </a:t>
            </a:r>
            <a:r>
              <a:rPr lang="en-US" sz="2400" dirty="0"/>
              <a:t>divides a full rotation into a number of equal steps.</a:t>
            </a:r>
          </a:p>
        </p:txBody>
      </p:sp>
      <p:sp>
        <p:nvSpPr>
          <p:cNvPr id="9" name="TextBox 8">
            <a:extLst>
              <a:ext uri="{FF2B5EF4-FFF2-40B4-BE49-F238E27FC236}">
                <a16:creationId xmlns:a16="http://schemas.microsoft.com/office/drawing/2014/main" id="{F9C1F572-AC2E-D5CA-52E9-E92DED979893}"/>
              </a:ext>
            </a:extLst>
          </p:cNvPr>
          <p:cNvSpPr txBox="1"/>
          <p:nvPr/>
        </p:nvSpPr>
        <p:spPr>
          <a:xfrm>
            <a:off x="404735" y="2114414"/>
            <a:ext cx="11639945" cy="1200329"/>
          </a:xfrm>
          <a:prstGeom prst="rect">
            <a:avLst/>
          </a:prstGeom>
          <a:noFill/>
        </p:spPr>
        <p:txBody>
          <a:bodyPr wrap="square">
            <a:spAutoFit/>
          </a:bodyPr>
          <a:lstStyle/>
          <a:p>
            <a:r>
              <a:rPr lang="en-US" sz="2400" dirty="0"/>
              <a:t>➢The stepper motor is known by its property to convert a train of input pulses (typically square wave pulses) into a precisely defined increment in the shaft position. Each pulse moves the shaft through a fixed angle called </a:t>
            </a:r>
            <a:r>
              <a:rPr lang="en-US" sz="2400" b="1" dirty="0">
                <a:solidFill>
                  <a:schemeClr val="accent1">
                    <a:lumMod val="75000"/>
                  </a:schemeClr>
                </a:solidFill>
              </a:rPr>
              <a:t>step angle.</a:t>
            </a:r>
          </a:p>
        </p:txBody>
      </p:sp>
      <p:pic>
        <p:nvPicPr>
          <p:cNvPr id="12" name="Picture 11">
            <a:extLst>
              <a:ext uri="{FF2B5EF4-FFF2-40B4-BE49-F238E27FC236}">
                <a16:creationId xmlns:a16="http://schemas.microsoft.com/office/drawing/2014/main" id="{616EA65F-25C5-4562-C93C-8EEE6716E83A}"/>
              </a:ext>
            </a:extLst>
          </p:cNvPr>
          <p:cNvPicPr>
            <a:picLocks noChangeAspect="1"/>
          </p:cNvPicPr>
          <p:nvPr/>
        </p:nvPicPr>
        <p:blipFill>
          <a:blip r:embed="rId2"/>
          <a:stretch>
            <a:fillRect/>
          </a:stretch>
        </p:blipFill>
        <p:spPr>
          <a:xfrm>
            <a:off x="1229193" y="3314743"/>
            <a:ext cx="9338873" cy="351072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5715" y="0"/>
            <a:ext cx="12038965" cy="829945"/>
          </a:xfrm>
          <a:prstGeom prst="rect">
            <a:avLst/>
          </a:prstGeom>
          <a:solidFill>
            <a:schemeClr val="accent2"/>
          </a:solidFill>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rPr>
              <a:t>Advantages of stepper motors </a:t>
            </a:r>
          </a:p>
        </p:txBody>
      </p:sp>
      <p:pic>
        <p:nvPicPr>
          <p:cNvPr id="3" name="Picture 2">
            <a:extLst>
              <a:ext uri="{FF2B5EF4-FFF2-40B4-BE49-F238E27FC236}">
                <a16:creationId xmlns:a16="http://schemas.microsoft.com/office/drawing/2014/main" id="{BD303018-FC8B-F49E-A31E-F8AA757EC9DE}"/>
              </a:ext>
            </a:extLst>
          </p:cNvPr>
          <p:cNvPicPr>
            <a:picLocks noChangeAspect="1"/>
          </p:cNvPicPr>
          <p:nvPr/>
        </p:nvPicPr>
        <p:blipFill>
          <a:blip r:embed="rId2"/>
          <a:stretch>
            <a:fillRect/>
          </a:stretch>
        </p:blipFill>
        <p:spPr>
          <a:xfrm>
            <a:off x="284813" y="1074492"/>
            <a:ext cx="11197653" cy="578350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5715" y="0"/>
            <a:ext cx="12038965" cy="830997"/>
          </a:xfrm>
          <a:prstGeom prst="rect">
            <a:avLst/>
          </a:prstGeom>
          <a:solidFill>
            <a:schemeClr val="accent2"/>
          </a:solidFill>
        </p:spPr>
        <p:txBody>
          <a:bodyPr wrap="square">
            <a:spAutoFit/>
          </a:bodyPr>
          <a:lstStyle/>
          <a:p>
            <a:r>
              <a:rPr lang="en-US" sz="4800" dirty="0"/>
              <a:t>Step Angle</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sp>
        <p:nvSpPr>
          <p:cNvPr id="5" name="Text Box 4"/>
          <p:cNvSpPr txBox="1"/>
          <p:nvPr/>
        </p:nvSpPr>
        <p:spPr>
          <a:xfrm>
            <a:off x="184785" y="973455"/>
            <a:ext cx="11901805" cy="1477328"/>
          </a:xfrm>
          <a:prstGeom prst="rect">
            <a:avLst/>
          </a:prstGeom>
          <a:noFill/>
        </p:spPr>
        <p:txBody>
          <a:bodyPr wrap="square" rtlCol="0" anchor="t">
            <a:spAutoFit/>
          </a:bodyPr>
          <a:lstStyle/>
          <a:p>
            <a:pPr marL="285750" indent="-285750" algn="just">
              <a:buFontTx/>
              <a:buChar char="-"/>
            </a:pPr>
            <a:r>
              <a:rPr lang="en-US" dirty="0"/>
              <a:t>The angle through which the motor shaft rotates for each command pulse is called the step angle B. Smaller the step angle, greater the number of steps per revolution and higher the resolution or accuracy of positioning obtained. The step angles can be as small as 0.72° or as large as 90°. But the most common step sizes are 1.8°, 2.5°, 7.5° and 15°.</a:t>
            </a:r>
          </a:p>
          <a:p>
            <a:pPr marL="285750" indent="-285750" algn="just">
              <a:buFontTx/>
              <a:buChar char="-"/>
            </a:pPr>
            <a:r>
              <a:rPr lang="en-US" dirty="0"/>
              <a:t> The value of step angle can be expressed either in terms of the rotor and stator poles (teeth) N, and N, respectively or in terms of the number of stator phases (m) and the number of rotor teeth.</a:t>
            </a:r>
            <a:r>
              <a:rPr lang="en-US" altLang="en-US" b="1" dirty="0">
                <a:solidFill>
                  <a:srgbClr val="000000"/>
                </a:solidFill>
                <a:latin typeface="Times New Roman" panose="02020603050405020304" charset="0"/>
                <a:ea typeface="Calibri-Bold"/>
                <a:cs typeface="Times New Roman" panose="02020603050405020304" charset="0"/>
                <a:sym typeface="+mn-ea"/>
              </a:rPr>
              <a:t>.</a:t>
            </a:r>
          </a:p>
        </p:txBody>
      </p:sp>
      <p:pic>
        <p:nvPicPr>
          <p:cNvPr id="14" name="Picture 13">
            <a:extLst>
              <a:ext uri="{FF2B5EF4-FFF2-40B4-BE49-F238E27FC236}">
                <a16:creationId xmlns:a16="http://schemas.microsoft.com/office/drawing/2014/main" id="{47348AC0-1216-AA25-7F58-745542CD54A5}"/>
              </a:ext>
            </a:extLst>
          </p:cNvPr>
          <p:cNvPicPr>
            <a:picLocks noChangeAspect="1"/>
          </p:cNvPicPr>
          <p:nvPr/>
        </p:nvPicPr>
        <p:blipFill>
          <a:blip r:embed="rId2"/>
          <a:stretch>
            <a:fillRect/>
          </a:stretch>
        </p:blipFill>
        <p:spPr>
          <a:xfrm>
            <a:off x="1919405" y="2579053"/>
            <a:ext cx="4616307" cy="1053385"/>
          </a:xfrm>
          <a:prstGeom prst="rect">
            <a:avLst/>
          </a:prstGeom>
        </p:spPr>
      </p:pic>
      <p:sp>
        <p:nvSpPr>
          <p:cNvPr id="16" name="TextBox 15">
            <a:extLst>
              <a:ext uri="{FF2B5EF4-FFF2-40B4-BE49-F238E27FC236}">
                <a16:creationId xmlns:a16="http://schemas.microsoft.com/office/drawing/2014/main" id="{A644FE11-4A9D-D32E-9C54-8943C9138977}"/>
              </a:ext>
            </a:extLst>
          </p:cNvPr>
          <p:cNvSpPr txBox="1"/>
          <p:nvPr/>
        </p:nvSpPr>
        <p:spPr>
          <a:xfrm>
            <a:off x="129540" y="3836918"/>
            <a:ext cx="11791314" cy="2862322"/>
          </a:xfrm>
          <a:prstGeom prst="rect">
            <a:avLst/>
          </a:prstGeom>
          <a:noFill/>
        </p:spPr>
        <p:txBody>
          <a:bodyPr wrap="square">
            <a:spAutoFit/>
          </a:bodyPr>
          <a:lstStyle/>
          <a:p>
            <a:r>
              <a:rPr lang="en-US" dirty="0"/>
              <a:t>For example, if N, = 8 and N, = 6, ẞ= (8-6) x360/8 x 6= 15°</a:t>
            </a:r>
          </a:p>
          <a:p>
            <a:r>
              <a:rPr lang="en-US" dirty="0"/>
              <a:t>Resolution is given by the number of steps needed to complete one revolution of the rotor shaft. Higher the resolution, greater the accuracy of positioning of objects by the motor </a:t>
            </a:r>
          </a:p>
          <a:p>
            <a:endParaRPr lang="en-US" dirty="0"/>
          </a:p>
          <a:p>
            <a:r>
              <a:rPr lang="en-US" dirty="0"/>
              <a:t>   A stepping motor has the extraordinary ability to operate at very high stepping rates (</a:t>
            </a:r>
            <a:r>
              <a:rPr lang="en-US" dirty="0" err="1"/>
              <a:t>upto</a:t>
            </a:r>
            <a:r>
              <a:rPr lang="en-US" dirty="0"/>
              <a:t> 20,000 steps per second in some motors) and yet to remain fully in synchronism with the command pulses. When the pulse rate is high, the shaft rotation seems continuous. Operation at high speeds is called 'slewing'. When in the slewing range, the motor generally emits an audible whine having a fundamental frequency equal to the stepping rate. </a:t>
            </a:r>
            <a:r>
              <a:rPr lang="en-US" dirty="0" err="1"/>
              <a:t>Iff</a:t>
            </a:r>
            <a:r>
              <a:rPr lang="en-US" dirty="0"/>
              <a:t> is the stepping frequency (or pulse rate) in pulses per second (</a:t>
            </a:r>
            <a:r>
              <a:rPr lang="en-US" dirty="0" err="1"/>
              <a:t>pps</a:t>
            </a:r>
            <a:r>
              <a:rPr lang="en-US" dirty="0"/>
              <a:t>) and ẞ is the step angle, then motor shaft speed is given by</a:t>
            </a:r>
          </a:p>
          <a:p>
            <a:endParaRPr lang="en-US" dirty="0"/>
          </a:p>
        </p:txBody>
      </p:sp>
      <p:pic>
        <p:nvPicPr>
          <p:cNvPr id="18" name="Picture 17">
            <a:extLst>
              <a:ext uri="{FF2B5EF4-FFF2-40B4-BE49-F238E27FC236}">
                <a16:creationId xmlns:a16="http://schemas.microsoft.com/office/drawing/2014/main" id="{5025211E-4624-276E-60FA-A335A8B3C898}"/>
              </a:ext>
            </a:extLst>
          </p:cNvPr>
          <p:cNvPicPr>
            <a:picLocks noChangeAspect="1"/>
          </p:cNvPicPr>
          <p:nvPr/>
        </p:nvPicPr>
        <p:blipFill>
          <a:blip r:embed="rId3"/>
          <a:stretch>
            <a:fillRect/>
          </a:stretch>
        </p:blipFill>
        <p:spPr>
          <a:xfrm>
            <a:off x="715638" y="4770281"/>
            <a:ext cx="3830245" cy="161975"/>
          </a:xfrm>
          <a:prstGeom prst="rect">
            <a:avLst/>
          </a:prstGeom>
        </p:spPr>
      </p:pic>
      <p:pic>
        <p:nvPicPr>
          <p:cNvPr id="20" name="Picture 19">
            <a:extLst>
              <a:ext uri="{FF2B5EF4-FFF2-40B4-BE49-F238E27FC236}">
                <a16:creationId xmlns:a16="http://schemas.microsoft.com/office/drawing/2014/main" id="{1AB5970E-BA2D-87DA-E6A8-832F69287816}"/>
              </a:ext>
            </a:extLst>
          </p:cNvPr>
          <p:cNvPicPr>
            <a:picLocks noChangeAspect="1"/>
          </p:cNvPicPr>
          <p:nvPr/>
        </p:nvPicPr>
        <p:blipFill>
          <a:blip r:embed="rId4"/>
          <a:stretch>
            <a:fillRect/>
          </a:stretch>
        </p:blipFill>
        <p:spPr>
          <a:xfrm>
            <a:off x="3811119" y="6367375"/>
            <a:ext cx="4303870" cy="3318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5715" y="0"/>
            <a:ext cx="12038965" cy="830997"/>
          </a:xfrm>
          <a:prstGeom prst="rect">
            <a:avLst/>
          </a:prstGeom>
          <a:solidFill>
            <a:schemeClr val="accent2"/>
          </a:solidFill>
        </p:spPr>
        <p:txBody>
          <a:bodyPr wrap="square">
            <a:spAutoFit/>
          </a:bodyPr>
          <a:lstStyle/>
          <a:p>
            <a:r>
              <a:rPr lang="en-US" sz="4800" dirty="0"/>
              <a:t>Stepper Motor Types:</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sp>
        <p:nvSpPr>
          <p:cNvPr id="5" name="Text Box 4"/>
          <p:cNvSpPr txBox="1"/>
          <p:nvPr/>
        </p:nvSpPr>
        <p:spPr>
          <a:xfrm>
            <a:off x="71755" y="1294765"/>
            <a:ext cx="11901805" cy="1569660"/>
          </a:xfrm>
          <a:prstGeom prst="rect">
            <a:avLst/>
          </a:prstGeom>
          <a:noFill/>
        </p:spPr>
        <p:txBody>
          <a:bodyPr wrap="square" rtlCol="0" anchor="t">
            <a:spAutoFit/>
          </a:bodyPr>
          <a:lstStyle/>
          <a:p>
            <a:pPr algn="just"/>
            <a:r>
              <a:rPr lang="en-US" sz="2400" b="1" dirty="0">
                <a:solidFill>
                  <a:schemeClr val="accent1">
                    <a:lumMod val="75000"/>
                  </a:schemeClr>
                </a:solidFill>
              </a:rPr>
              <a:t>There are three basic stepper motor types: </a:t>
            </a:r>
          </a:p>
          <a:p>
            <a:pPr algn="just"/>
            <a:r>
              <a:rPr lang="en-US" sz="2400" dirty="0"/>
              <a:t> (</a:t>
            </a:r>
            <a:r>
              <a:rPr lang="en-US" sz="2400" dirty="0" err="1"/>
              <a:t>i</a:t>
            </a:r>
            <a:r>
              <a:rPr lang="en-US" sz="2400" dirty="0"/>
              <a:t>) Variable- reluctance (VR) stepper motor,</a:t>
            </a:r>
          </a:p>
          <a:p>
            <a:pPr algn="just"/>
            <a:r>
              <a:rPr lang="en-US" sz="2400" dirty="0"/>
              <a:t> (ii) Permanent-magnet (PM) stepper motor and</a:t>
            </a:r>
          </a:p>
          <a:p>
            <a:pPr algn="just"/>
            <a:r>
              <a:rPr lang="en-US" sz="2400" dirty="0"/>
              <a:t> (iii) Hybrid stepper motor…</a:t>
            </a:r>
            <a:endParaRPr lang="en-US" altLang="en-US" sz="2400" b="1" dirty="0">
              <a:solidFill>
                <a:srgbClr val="000000"/>
              </a:solidFill>
              <a:latin typeface="Times New Roman" panose="02020603050405020304" charset="0"/>
              <a:ea typeface="Calibri-Bold"/>
              <a:cs typeface="Times New Roman" panose="02020603050405020304" charset="0"/>
              <a:sym typeface="+mn-ea"/>
            </a:endParaRPr>
          </a:p>
        </p:txBody>
      </p:sp>
      <p:pic>
        <p:nvPicPr>
          <p:cNvPr id="3" name="Picture 2">
            <a:extLst>
              <a:ext uri="{FF2B5EF4-FFF2-40B4-BE49-F238E27FC236}">
                <a16:creationId xmlns:a16="http://schemas.microsoft.com/office/drawing/2014/main" id="{4E3CB40D-0B1E-F5A3-F33B-4D2209609619}"/>
              </a:ext>
            </a:extLst>
          </p:cNvPr>
          <p:cNvPicPr>
            <a:picLocks noChangeAspect="1"/>
          </p:cNvPicPr>
          <p:nvPr/>
        </p:nvPicPr>
        <p:blipFill>
          <a:blip r:embed="rId2"/>
          <a:stretch>
            <a:fillRect/>
          </a:stretch>
        </p:blipFill>
        <p:spPr>
          <a:xfrm>
            <a:off x="299803" y="3028013"/>
            <a:ext cx="11673757" cy="34313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dirty="0"/>
          </a:p>
        </p:txBody>
      </p:sp>
      <p:sp>
        <p:nvSpPr>
          <p:cNvPr id="10" name="Text Box 9"/>
          <p:cNvSpPr txBox="1"/>
          <p:nvPr/>
        </p:nvSpPr>
        <p:spPr>
          <a:xfrm>
            <a:off x="5715" y="0"/>
            <a:ext cx="12038965" cy="830997"/>
          </a:xfrm>
          <a:prstGeom prst="rect">
            <a:avLst/>
          </a:prstGeom>
          <a:solidFill>
            <a:schemeClr val="accent2"/>
          </a:solidFill>
        </p:spPr>
        <p:txBody>
          <a:bodyPr wrap="square">
            <a:spAutoFit/>
          </a:bodyPr>
          <a:lstStyle/>
          <a:p>
            <a:r>
              <a:rPr lang="en-US" sz="4800" dirty="0"/>
              <a:t>Variable Reluctance Stepper Motors</a:t>
            </a:r>
            <a:endParaRPr lang="en-US" sz="4800" b="1" dirty="0">
              <a:solidFill>
                <a:srgbClr val="000000"/>
              </a:solidFill>
              <a:latin typeface="Bahnschrift Light" panose="020B0502040204020203" charset="0"/>
              <a:ea typeface="Times New Roman" panose="02020603050405020304"/>
              <a:cs typeface="Bahnschrift Light" panose="020B0502040204020203" charset="0"/>
              <a:sym typeface="+mn-ea"/>
            </a:endParaRPr>
          </a:p>
        </p:txBody>
      </p:sp>
      <p:pic>
        <p:nvPicPr>
          <p:cNvPr id="3" name="Picture 2">
            <a:extLst>
              <a:ext uri="{FF2B5EF4-FFF2-40B4-BE49-F238E27FC236}">
                <a16:creationId xmlns:a16="http://schemas.microsoft.com/office/drawing/2014/main" id="{FF6AA0FF-0040-EB3F-5E48-D00277893ED9}"/>
              </a:ext>
            </a:extLst>
          </p:cNvPr>
          <p:cNvPicPr>
            <a:picLocks noChangeAspect="1"/>
          </p:cNvPicPr>
          <p:nvPr/>
        </p:nvPicPr>
        <p:blipFill>
          <a:blip r:embed="rId2"/>
          <a:stretch>
            <a:fillRect/>
          </a:stretch>
        </p:blipFill>
        <p:spPr>
          <a:xfrm>
            <a:off x="374754" y="1117668"/>
            <a:ext cx="11257613" cy="547800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84CE534-BD8C-1793-3E00-665E0304D585}"/>
              </a:ext>
            </a:extLst>
          </p:cNvPr>
          <p:cNvPicPr>
            <a:picLocks noChangeAspect="1"/>
          </p:cNvPicPr>
          <p:nvPr/>
        </p:nvPicPr>
        <p:blipFill>
          <a:blip r:embed="rId2"/>
          <a:stretch>
            <a:fillRect/>
          </a:stretch>
        </p:blipFill>
        <p:spPr>
          <a:xfrm>
            <a:off x="640080" y="829945"/>
            <a:ext cx="10241280" cy="5714083"/>
          </a:xfrm>
          <a:prstGeom prst="rect">
            <a:avLst/>
          </a:prstGeom>
        </p:spPr>
      </p:pic>
      <p:sp>
        <p:nvSpPr>
          <p:cNvPr id="11" name="Text Box 9">
            <a:extLst>
              <a:ext uri="{FF2B5EF4-FFF2-40B4-BE49-F238E27FC236}">
                <a16:creationId xmlns:a16="http://schemas.microsoft.com/office/drawing/2014/main" id="{FA6F980D-F356-DC0F-F5F3-C0D290FCDF6C}"/>
              </a:ext>
            </a:extLst>
          </p:cNvPr>
          <p:cNvSpPr txBox="1"/>
          <p:nvPr/>
        </p:nvSpPr>
        <p:spPr>
          <a:xfrm>
            <a:off x="-20320" y="0"/>
            <a:ext cx="12212320" cy="829945"/>
          </a:xfrm>
          <a:prstGeom prst="rect">
            <a:avLst/>
          </a:prstGeom>
          <a:solidFill>
            <a:schemeClr val="accent2"/>
          </a:solidFill>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rPr>
              <a:t>1-phase-ON or Full-step Operation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2EFC6E-7E00-22B1-A0D4-C1EB8E1FB200}"/>
              </a:ext>
            </a:extLst>
          </p:cNvPr>
          <p:cNvPicPr>
            <a:picLocks noChangeAspect="1"/>
          </p:cNvPicPr>
          <p:nvPr/>
        </p:nvPicPr>
        <p:blipFill>
          <a:blip r:embed="rId2"/>
          <a:stretch>
            <a:fillRect/>
          </a:stretch>
        </p:blipFill>
        <p:spPr>
          <a:xfrm>
            <a:off x="1244184" y="365183"/>
            <a:ext cx="9383842" cy="636747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13AA9A-F8E8-AB87-DF3E-9624D05C8E7C}"/>
              </a:ext>
            </a:extLst>
          </p:cNvPr>
          <p:cNvPicPr>
            <a:picLocks noChangeAspect="1"/>
          </p:cNvPicPr>
          <p:nvPr/>
        </p:nvPicPr>
        <p:blipFill>
          <a:blip r:embed="rId2"/>
          <a:stretch>
            <a:fillRect/>
          </a:stretch>
        </p:blipFill>
        <p:spPr>
          <a:xfrm>
            <a:off x="1071880" y="829945"/>
            <a:ext cx="10027920" cy="5840736"/>
          </a:xfrm>
          <a:prstGeom prst="rect">
            <a:avLst/>
          </a:prstGeom>
        </p:spPr>
      </p:pic>
      <p:sp>
        <p:nvSpPr>
          <p:cNvPr id="5" name="Text Box 9">
            <a:extLst>
              <a:ext uri="{FF2B5EF4-FFF2-40B4-BE49-F238E27FC236}">
                <a16:creationId xmlns:a16="http://schemas.microsoft.com/office/drawing/2014/main" id="{48B15876-27B2-46A5-0E21-C22A1C5CA9DD}"/>
              </a:ext>
            </a:extLst>
          </p:cNvPr>
          <p:cNvSpPr txBox="1"/>
          <p:nvPr/>
        </p:nvSpPr>
        <p:spPr>
          <a:xfrm>
            <a:off x="-20320" y="0"/>
            <a:ext cx="12059920" cy="829945"/>
          </a:xfrm>
          <a:prstGeom prst="rect">
            <a:avLst/>
          </a:prstGeom>
          <a:solidFill>
            <a:schemeClr val="accent2"/>
          </a:solidFill>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sym typeface="+mn-ea"/>
              </a:rPr>
              <a:t>2-phase-ON Mode</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9"/>
          <p:cNvSpPr txBox="1"/>
          <p:nvPr/>
        </p:nvSpPr>
        <p:spPr>
          <a:xfrm>
            <a:off x="5715" y="0"/>
            <a:ext cx="12038965" cy="829945"/>
          </a:xfrm>
          <a:prstGeom prst="rect">
            <a:avLst/>
          </a:prstGeom>
          <a:solidFill>
            <a:schemeClr val="accent2"/>
          </a:solidFill>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sym typeface="+mn-ea"/>
              </a:rPr>
              <a:t>Half-step Operation</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pic>
        <p:nvPicPr>
          <p:cNvPr id="4" name="Picture 3">
            <a:extLst>
              <a:ext uri="{FF2B5EF4-FFF2-40B4-BE49-F238E27FC236}">
                <a16:creationId xmlns:a16="http://schemas.microsoft.com/office/drawing/2014/main" id="{423D6B80-1519-F33C-AACC-D8836B790B73}"/>
              </a:ext>
            </a:extLst>
          </p:cNvPr>
          <p:cNvPicPr>
            <a:picLocks noChangeAspect="1"/>
          </p:cNvPicPr>
          <p:nvPr/>
        </p:nvPicPr>
        <p:blipFill>
          <a:blip r:embed="rId2"/>
          <a:stretch>
            <a:fillRect/>
          </a:stretch>
        </p:blipFill>
        <p:spPr>
          <a:xfrm>
            <a:off x="1076960" y="855051"/>
            <a:ext cx="9672320" cy="597517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9"/>
          <p:cNvSpPr txBox="1"/>
          <p:nvPr/>
        </p:nvSpPr>
        <p:spPr>
          <a:xfrm>
            <a:off x="5715" y="0"/>
            <a:ext cx="12212320" cy="829945"/>
          </a:xfrm>
          <a:prstGeom prst="rect">
            <a:avLst/>
          </a:prstGeom>
          <a:solidFill>
            <a:schemeClr val="accent2"/>
          </a:solidFill>
        </p:spPr>
        <p:txBody>
          <a:bodyPr wrap="square">
            <a:spAutoFit/>
          </a:bodyPr>
          <a:lstStyle/>
          <a:p>
            <a:r>
              <a:rPr lang="en-US" sz="4800" b="1" dirty="0">
                <a:solidFill>
                  <a:srgbClr val="000000"/>
                </a:solidFill>
                <a:latin typeface="Bahnschrift Light" panose="020B0502040204020203" charset="0"/>
                <a:ea typeface="Calibri-Bold"/>
                <a:cs typeface="Bahnschrift Light" panose="020B0502040204020203" charset="0"/>
                <a:sym typeface="+mn-ea"/>
              </a:rPr>
              <a:t>No Load Test/Open Circuit Test</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sp>
        <p:nvSpPr>
          <p:cNvPr id="2" name="Text Box 9">
            <a:extLst>
              <a:ext uri="{FF2B5EF4-FFF2-40B4-BE49-F238E27FC236}">
                <a16:creationId xmlns:a16="http://schemas.microsoft.com/office/drawing/2014/main" id="{8A141A3A-0579-F8A9-D241-5B376179EAA3}"/>
              </a:ext>
            </a:extLst>
          </p:cNvPr>
          <p:cNvSpPr txBox="1"/>
          <p:nvPr/>
        </p:nvSpPr>
        <p:spPr>
          <a:xfrm>
            <a:off x="0" y="105410"/>
            <a:ext cx="12212320" cy="830997"/>
          </a:xfrm>
          <a:prstGeom prst="rect">
            <a:avLst/>
          </a:prstGeom>
          <a:solidFill>
            <a:schemeClr val="accent2"/>
          </a:solidFill>
        </p:spPr>
        <p:txBody>
          <a:bodyPr wrap="square">
            <a:spAutoFit/>
          </a:bodyPr>
          <a:lstStyle/>
          <a:p>
            <a:r>
              <a:rPr lang="en-US" sz="4800" dirty="0"/>
              <a:t>What is micro-stepping?</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pic>
        <p:nvPicPr>
          <p:cNvPr id="9" name="Picture 8">
            <a:extLst>
              <a:ext uri="{FF2B5EF4-FFF2-40B4-BE49-F238E27FC236}">
                <a16:creationId xmlns:a16="http://schemas.microsoft.com/office/drawing/2014/main" id="{5DC7CA2B-A176-F622-7440-1F4500ABBDBE}"/>
              </a:ext>
            </a:extLst>
          </p:cNvPr>
          <p:cNvPicPr>
            <a:picLocks noChangeAspect="1"/>
          </p:cNvPicPr>
          <p:nvPr/>
        </p:nvPicPr>
        <p:blipFill>
          <a:blip r:embed="rId2"/>
          <a:stretch>
            <a:fillRect/>
          </a:stretch>
        </p:blipFill>
        <p:spPr>
          <a:xfrm>
            <a:off x="237940" y="2098255"/>
            <a:ext cx="11736440" cy="281231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9"/>
          <p:cNvSpPr txBox="1"/>
          <p:nvPr/>
        </p:nvSpPr>
        <p:spPr>
          <a:xfrm>
            <a:off x="5715" y="0"/>
            <a:ext cx="12212320" cy="830997"/>
          </a:xfrm>
          <a:prstGeom prst="rect">
            <a:avLst/>
          </a:prstGeom>
          <a:solidFill>
            <a:schemeClr val="accent2"/>
          </a:solidFill>
        </p:spPr>
        <p:txBody>
          <a:bodyPr wrap="square">
            <a:spAutoFit/>
          </a:bodyPr>
          <a:lstStyle/>
          <a:p>
            <a:r>
              <a:rPr lang="en-US" sz="4800" dirty="0"/>
              <a:t>Permanent Magnet Stepper motor</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p:sp>
        <p:nvSpPr>
          <p:cNvPr id="4" name="TextBox 3">
            <a:extLst>
              <a:ext uri="{FF2B5EF4-FFF2-40B4-BE49-F238E27FC236}">
                <a16:creationId xmlns:a16="http://schemas.microsoft.com/office/drawing/2014/main" id="{00F7227C-FA5E-591A-29B0-DBF9ABE0E3D5}"/>
              </a:ext>
            </a:extLst>
          </p:cNvPr>
          <p:cNvSpPr txBox="1"/>
          <p:nvPr/>
        </p:nvSpPr>
        <p:spPr>
          <a:xfrm>
            <a:off x="204952" y="977462"/>
            <a:ext cx="11603420" cy="1323439"/>
          </a:xfrm>
          <a:prstGeom prst="rect">
            <a:avLst/>
          </a:prstGeom>
          <a:noFill/>
        </p:spPr>
        <p:txBody>
          <a:bodyPr wrap="square">
            <a:spAutoFit/>
          </a:bodyPr>
          <a:lstStyle/>
          <a:p>
            <a:r>
              <a:rPr lang="en-US" sz="2000" dirty="0">
                <a:solidFill>
                  <a:schemeClr val="tx1">
                    <a:lumMod val="95000"/>
                    <a:lumOff val="5000"/>
                  </a:schemeClr>
                </a:solidFill>
              </a:rPr>
              <a:t>It has wound stator poles and permanently magnetized rotor poles. It has a cylindrical rotor. Its direction of rotation depends on the polarity of stator current. The stator has projecting poles. Rotor has 2 poles whereas stator has 4 poles and the two stator poles are energized by one winding, the motor has two windings or phases.</a:t>
            </a:r>
          </a:p>
        </p:txBody>
      </p:sp>
      <p:pic>
        <p:nvPicPr>
          <p:cNvPr id="9" name="Picture 8">
            <a:extLst>
              <a:ext uri="{FF2B5EF4-FFF2-40B4-BE49-F238E27FC236}">
                <a16:creationId xmlns:a16="http://schemas.microsoft.com/office/drawing/2014/main" id="{A8A353FF-C807-5E47-B6ED-06490E8D3878}"/>
              </a:ext>
            </a:extLst>
          </p:cNvPr>
          <p:cNvPicPr>
            <a:picLocks noChangeAspect="1"/>
          </p:cNvPicPr>
          <p:nvPr/>
        </p:nvPicPr>
        <p:blipFill>
          <a:blip r:embed="rId2"/>
          <a:stretch>
            <a:fillRect/>
          </a:stretch>
        </p:blipFill>
        <p:spPr>
          <a:xfrm>
            <a:off x="204952" y="2300901"/>
            <a:ext cx="11782096" cy="428908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F5E24E87-64E5-88F4-9646-2A5ECA3CCFC7}"/>
              </a:ext>
            </a:extLst>
          </p:cNvPr>
          <p:cNvSpPr txBox="1"/>
          <p:nvPr/>
        </p:nvSpPr>
        <p:spPr>
          <a:xfrm>
            <a:off x="-20320" y="0"/>
            <a:ext cx="12212320" cy="830997"/>
          </a:xfrm>
          <a:prstGeom prst="rect">
            <a:avLst/>
          </a:prstGeom>
          <a:solidFill>
            <a:schemeClr val="accent2"/>
          </a:solidFill>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rPr>
              <a:t>Working</a:t>
            </a:r>
          </a:p>
        </p:txBody>
      </p:sp>
      <p:pic>
        <p:nvPicPr>
          <p:cNvPr id="8" name="Picture 7">
            <a:extLst>
              <a:ext uri="{FF2B5EF4-FFF2-40B4-BE49-F238E27FC236}">
                <a16:creationId xmlns:a16="http://schemas.microsoft.com/office/drawing/2014/main" id="{F0274C03-61D1-5230-753F-A58D65C0A050}"/>
              </a:ext>
            </a:extLst>
          </p:cNvPr>
          <p:cNvPicPr>
            <a:picLocks noChangeAspect="1"/>
          </p:cNvPicPr>
          <p:nvPr/>
        </p:nvPicPr>
        <p:blipFill>
          <a:blip r:embed="rId2"/>
          <a:stretch>
            <a:fillRect/>
          </a:stretch>
        </p:blipFill>
        <p:spPr>
          <a:xfrm>
            <a:off x="1198177" y="1137481"/>
            <a:ext cx="9522373" cy="545637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A582C7-7BCF-DB9B-313F-892B8B8735FD}"/>
              </a:ext>
            </a:extLst>
          </p:cNvPr>
          <p:cNvPicPr>
            <a:picLocks noChangeAspect="1"/>
          </p:cNvPicPr>
          <p:nvPr/>
        </p:nvPicPr>
        <p:blipFill>
          <a:blip r:embed="rId2"/>
          <a:stretch>
            <a:fillRect/>
          </a:stretch>
        </p:blipFill>
        <p:spPr>
          <a:xfrm>
            <a:off x="2207172" y="146973"/>
            <a:ext cx="7504386" cy="672679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B1E518-5F1F-27BB-246A-F29C1D2AAF6A}"/>
              </a:ext>
            </a:extLst>
          </p:cNvPr>
          <p:cNvPicPr>
            <a:picLocks noChangeAspect="1"/>
          </p:cNvPicPr>
          <p:nvPr/>
        </p:nvPicPr>
        <p:blipFill>
          <a:blip r:embed="rId2"/>
          <a:stretch>
            <a:fillRect/>
          </a:stretch>
        </p:blipFill>
        <p:spPr>
          <a:xfrm>
            <a:off x="0" y="-582244"/>
            <a:ext cx="12481152" cy="821275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1865</Words>
  <Application>Microsoft Office PowerPoint</Application>
  <PresentationFormat>Widescreen</PresentationFormat>
  <Paragraphs>100</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Bahnschrift Light</vt:lpstr>
      <vt:lpstr>Calibri</vt:lpstr>
      <vt:lpstr>Calibri Light</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User</dc:creator>
  <cp:lastModifiedBy>jsiddiquetalim@outlook.com</cp:lastModifiedBy>
  <cp:revision>23</cp:revision>
  <dcterms:created xsi:type="dcterms:W3CDTF">2025-07-23T00:59:00Z</dcterms:created>
  <dcterms:modified xsi:type="dcterms:W3CDTF">2026-06-12T22:00:47Z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1033-12.1.0.25242</vt:lpwstr>
  </property>
</Properties>
</file>