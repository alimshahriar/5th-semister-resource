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94" r:id="rId3"/>
    <p:sldId id="299" r:id="rId4"/>
    <p:sldId id="300" r:id="rId5"/>
    <p:sldId id="302" r:id="rId6"/>
    <p:sldId id="304" r:id="rId7"/>
    <p:sldId id="305" r:id="rId8"/>
    <p:sldId id="306" r:id="rId9"/>
    <p:sldId id="307" r:id="rId10"/>
    <p:sldId id="258" r:id="rId11"/>
    <p:sldId id="308" r:id="rId12"/>
    <p:sldId id="309" r:id="rId13"/>
    <p:sldId id="265" r:id="rId14"/>
    <p:sldId id="310" r:id="rId15"/>
    <p:sldId id="273" r:id="rId16"/>
    <p:sldId id="311" r:id="rId17"/>
    <p:sldId id="312" r:id="rId18"/>
    <p:sldId id="313" r:id="rId19"/>
    <p:sldId id="314" r:id="rId20"/>
    <p:sldId id="315" r:id="rId21"/>
    <p:sldId id="274" r:id="rId22"/>
    <p:sldId id="316" r:id="rId23"/>
    <p:sldId id="317" r:id="rId24"/>
    <p:sldId id="318" r:id="rId25"/>
    <p:sldId id="319" r:id="rId26"/>
    <p:sldId id="320" r:id="rId27"/>
    <p:sldId id="321" r:id="rId28"/>
    <p:sldId id="322" r:id="rId29"/>
    <p:sldId id="275" r:id="rId30"/>
    <p:sldId id="323" r:id="rId31"/>
    <p:sldId id="324" r:id="rId32"/>
    <p:sldId id="325" r:id="rId33"/>
    <p:sldId id="326" r:id="rId34"/>
    <p:sldId id="327" r:id="rId35"/>
    <p:sldId id="32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AAA932A-2749-4B1B-89B3-C1CDAA0703C8}">
          <p14:sldIdLst>
            <p14:sldId id="257"/>
            <p14:sldId id="294"/>
            <p14:sldId id="299"/>
            <p14:sldId id="300"/>
            <p14:sldId id="302"/>
            <p14:sldId id="304"/>
            <p14:sldId id="305"/>
            <p14:sldId id="306"/>
            <p14:sldId id="307"/>
            <p14:sldId id="258"/>
            <p14:sldId id="308"/>
            <p14:sldId id="309"/>
            <p14:sldId id="265"/>
            <p14:sldId id="310"/>
            <p14:sldId id="273"/>
            <p14:sldId id="311"/>
            <p14:sldId id="312"/>
            <p14:sldId id="313"/>
            <p14:sldId id="314"/>
            <p14:sldId id="315"/>
            <p14:sldId id="274"/>
            <p14:sldId id="316"/>
            <p14:sldId id="317"/>
            <p14:sldId id="318"/>
            <p14:sldId id="319"/>
            <p14:sldId id="320"/>
            <p14:sldId id="321"/>
            <p14:sldId id="322"/>
            <p14:sldId id="275"/>
            <p14:sldId id="323"/>
            <p14:sldId id="324"/>
            <p14:sldId id="325"/>
            <p14:sldId id="326"/>
            <p14:sldId id="327"/>
            <p14:sldId id="328"/>
          </p14:sldIdLst>
        </p14:section>
        <p14:section name="Untitled Section" id="{81FB23F9-ADEC-437E-AE20-E57F8CEC75FE}">
          <p14:sldIdLst/>
        </p14:section>
        <p14:section name="Untitled Section" id="{3F3F49AC-4D06-4DE5-BFD1-831299F6F992}">
          <p14:sldIdLst/>
        </p14:section>
      </p14:sectionLst>
    </p:ext>
    <p:ext uri="{EFAFB233-063F-42B5-8137-9DF3F51BA10A}">
      <p15:sldGuideLst xmlns:p15="http://schemas.microsoft.com/office/powerpoint/2012/main">
        <p15:guide id="1" orient="horz" pos="2028" userDrawn="1">
          <p15:clr>
            <a:srgbClr val="A4A3A4"/>
          </p15:clr>
        </p15:guide>
        <p15:guide id="2" pos="3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81" d="100"/>
          <a:sy n="81" d="100"/>
        </p:scale>
        <p:origin x="706" y="62"/>
      </p:cViewPr>
      <p:guideLst>
        <p:guide orient="horz" pos="2028"/>
        <p:guide pos="38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6-03-12T16:41:36"/>
    </inkml:context>
    <inkml:brush xml:id="br0">
      <inkml:brushProperty name="width" value="0.09701" units="cm"/>
      <inkml:brushProperty name="height" value="0.09701" units="cm"/>
      <inkml:brushProperty name="color" value="#FF0000"/>
    </inkml:brush>
  </inkml:definitions>
  <inkml:trace contextRef="#ctx0" brushRef="#br0">1208 118,'0'0,"0"0,0 0,0 0,0 0,0 0,0 0,0 0,0 0,0 0,0 0,0 0,0 0,0 0,0 0,0 0,17 0,-17 0,0 0,0 0,0 0,0 0,0 0,0 0,0 0,0 0,0 0,0 0,0 0,17 0,-17 0,0 0,0 0,0 0,0 0,0 0,0 0,0 0,0 0,0 0,0 0,0 0,17 0,-17 0,0 0,0 0,0 0,0 0,0 0,0 0,0 0,0 0,0 0,0 0,17 0,-17 0,17 0,1 0,-18 0,17 0,0 0,0 0,0 0,17 0,0 0,-17 0,18 0,-18 0,17 0,-17 0,0 0,0 0,0 0,-17 0,17 0,-17 0,17 0,-17 0,18 0,-18 0,17 0,-17 0,0 0,0 0,17 0,-17 0,0 0,0 0,17 0,-17 0,17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6/15/2026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0.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41.png"/><Relationship Id="rId2" Type="http://schemas.openxmlformats.org/officeDocument/2006/relationships/customXml" Target="../ink/ink11.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2.xml"/><Relationship Id="rId1" Type="http://schemas.openxmlformats.org/officeDocument/2006/relationships/slideLayout" Target="../slideLayouts/slideLayout2.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4" name="object 3"/>
          <p:cNvSpPr/>
          <p:nvPr/>
        </p:nvSpPr>
        <p:spPr>
          <a:xfrm>
            <a:off x="0" y="0"/>
            <a:ext cx="12186285" cy="2559685"/>
          </a:xfrm>
          <a:custGeom>
            <a:avLst/>
            <a:gdLst/>
            <a:ahLst/>
            <a:cxnLst/>
            <a:rect l="l" t="t" r="r" b="b"/>
            <a:pathLst>
              <a:path w="12186285" h="2228215">
                <a:moveTo>
                  <a:pt x="12185904" y="0"/>
                </a:moveTo>
                <a:lnTo>
                  <a:pt x="0" y="0"/>
                </a:lnTo>
                <a:lnTo>
                  <a:pt x="0" y="2228088"/>
                </a:lnTo>
                <a:lnTo>
                  <a:pt x="12185904" y="2228088"/>
                </a:lnTo>
                <a:lnTo>
                  <a:pt x="12185904" y="0"/>
                </a:lnTo>
                <a:close/>
              </a:path>
            </a:pathLst>
          </a:custGeom>
          <a:solidFill>
            <a:schemeClr val="accent4"/>
          </a:solidFill>
        </p:spPr>
        <p:txBody>
          <a:bodyPr wrap="square" lIns="0" tIns="0" rIns="0" bIns="0" rtlCol="0"/>
          <a:lstStyle/>
          <a:p>
            <a:endParaRPr/>
          </a:p>
        </p:txBody>
      </p:sp>
      <p:sp>
        <p:nvSpPr>
          <p:cNvPr id="5" name="object 4"/>
          <p:cNvSpPr txBox="1"/>
          <p:nvPr/>
        </p:nvSpPr>
        <p:spPr>
          <a:xfrm>
            <a:off x="4720209" y="5911392"/>
            <a:ext cx="2647315" cy="319405"/>
          </a:xfrm>
          <a:prstGeom prst="rect">
            <a:avLst/>
          </a:prstGeom>
        </p:spPr>
        <p:txBody>
          <a:bodyPr vert="horz" wrap="square" lIns="0" tIns="12065" rIns="0" bIns="0" rtlCol="0">
            <a:spAutoFit/>
          </a:bodyPr>
          <a:lstStyle/>
          <a:p>
            <a:pPr marL="12700" algn="ctr">
              <a:lnSpc>
                <a:spcPct val="100000"/>
              </a:lnSpc>
              <a:spcBef>
                <a:spcPts val="95"/>
              </a:spcBef>
            </a:pPr>
            <a:r>
              <a:rPr lang="en-US" sz="2000" b="1">
                <a:solidFill>
                  <a:schemeClr val="accent2">
                    <a:lumMod val="50000"/>
                  </a:schemeClr>
                </a:solidFill>
                <a:latin typeface="Verdana" panose="020B0604030504040204"/>
                <a:cs typeface="Verdana" panose="020B0604030504040204"/>
              </a:rPr>
              <a:t>Spring 2026</a:t>
            </a:r>
            <a:endParaRPr lang="en-US" sz="2000" b="1" spc="-20" dirty="0">
              <a:solidFill>
                <a:schemeClr val="accent2">
                  <a:lumMod val="50000"/>
                </a:schemeClr>
              </a:solidFill>
              <a:latin typeface="Verdana" panose="020B0604030504040204"/>
              <a:cs typeface="Verdana" panose="020B0604030504040204"/>
            </a:endParaRPr>
          </a:p>
        </p:txBody>
      </p:sp>
      <p:sp>
        <p:nvSpPr>
          <p:cNvPr id="6" name="object 5"/>
          <p:cNvSpPr/>
          <p:nvPr/>
        </p:nvSpPr>
        <p:spPr>
          <a:xfrm>
            <a:off x="969010" y="182245"/>
            <a:ext cx="9527540" cy="1790065"/>
          </a:xfrm>
          <a:custGeom>
            <a:avLst/>
            <a:gdLst/>
            <a:ahLst/>
            <a:cxnLst/>
            <a:rect l="l" t="t" r="r" b="b"/>
            <a:pathLst>
              <a:path w="8906510" h="1853564">
                <a:moveTo>
                  <a:pt x="8906256" y="0"/>
                </a:moveTo>
                <a:lnTo>
                  <a:pt x="0" y="0"/>
                </a:lnTo>
                <a:lnTo>
                  <a:pt x="0" y="1853184"/>
                </a:lnTo>
                <a:lnTo>
                  <a:pt x="8906256" y="1853184"/>
                </a:lnTo>
                <a:lnTo>
                  <a:pt x="8906256" y="0"/>
                </a:lnTo>
                <a:close/>
              </a:path>
            </a:pathLst>
          </a:custGeom>
          <a:solidFill>
            <a:schemeClr val="accent1">
              <a:lumMod val="75000"/>
            </a:schemeClr>
          </a:solidFill>
        </p:spPr>
        <p:txBody>
          <a:bodyPr wrap="square" lIns="0" tIns="0" rIns="0" bIns="0" rtlCol="0"/>
          <a:lstStyle/>
          <a:p>
            <a:endParaRPr/>
          </a:p>
        </p:txBody>
      </p:sp>
      <p:sp>
        <p:nvSpPr>
          <p:cNvPr id="7" name="object 6"/>
          <p:cNvSpPr txBox="1"/>
          <p:nvPr/>
        </p:nvSpPr>
        <p:spPr>
          <a:xfrm>
            <a:off x="1387475" y="378460"/>
            <a:ext cx="9509760" cy="2172335"/>
          </a:xfrm>
          <a:prstGeom prst="rect">
            <a:avLst/>
          </a:prstGeom>
          <a:solidFill>
            <a:schemeClr val="accent1">
              <a:lumMod val="50000"/>
            </a:schemeClr>
          </a:solidFill>
        </p:spPr>
        <p:txBody>
          <a:bodyPr vert="horz" wrap="square" lIns="0" tIns="12065" rIns="0" bIns="0" rtlCol="0">
            <a:noAutofit/>
          </a:bodyPr>
          <a:lstStyle/>
          <a:p>
            <a:pPr marL="1137285" marR="5080" indent="-1125220">
              <a:lnSpc>
                <a:spcPct val="136000"/>
              </a:lnSpc>
              <a:spcBef>
                <a:spcPts val="95"/>
              </a:spcBef>
              <a:tabLst>
                <a:tab pos="3933190" algn="l"/>
              </a:tabLst>
            </a:pPr>
            <a:r>
              <a:rPr lang="en-US" sz="2800" b="1" spc="-10" dirty="0">
                <a:solidFill>
                  <a:srgbClr val="FFFFFF"/>
                </a:solidFill>
                <a:latin typeface="Verdana" panose="020B0604030504040204"/>
                <a:cs typeface="Verdana" panose="020B0604030504040204"/>
              </a:rPr>
              <a:t>   </a:t>
            </a:r>
            <a:r>
              <a:rPr lang="en-US" sz="3600" b="1" spc="-10" dirty="0">
                <a:solidFill>
                  <a:srgbClr val="FFFFFF"/>
                </a:solidFill>
                <a:latin typeface="Verdana" panose="020B0604030504040204"/>
                <a:cs typeface="Verdana" panose="020B0604030504040204"/>
              </a:rPr>
              <a:t>EE</a:t>
            </a:r>
            <a:r>
              <a:rPr sz="3600" b="1" spc="-10" dirty="0">
                <a:solidFill>
                  <a:srgbClr val="FFFFFF"/>
                </a:solidFill>
                <a:latin typeface="Verdana" panose="020B0604030504040204"/>
                <a:cs typeface="Verdana" panose="020B0604030504040204"/>
              </a:rPr>
              <a:t>E-</a:t>
            </a:r>
            <a:r>
              <a:rPr lang="en-US" sz="3600" b="1" spc="-10" dirty="0">
                <a:solidFill>
                  <a:srgbClr val="FFFFFF"/>
                </a:solidFill>
                <a:latin typeface="Verdana" panose="020B0604030504040204"/>
                <a:cs typeface="Verdana" panose="020B0604030504040204"/>
              </a:rPr>
              <a:t>2421</a:t>
            </a:r>
            <a:r>
              <a:rPr sz="3600" b="1" dirty="0">
                <a:solidFill>
                  <a:srgbClr val="FFFFFF"/>
                </a:solidFill>
                <a:latin typeface="Verdana" panose="020B0604030504040204"/>
                <a:cs typeface="Verdana" panose="020B0604030504040204"/>
              </a:rPr>
              <a:t>:</a:t>
            </a:r>
            <a:r>
              <a:rPr sz="3600" b="1" spc="-120" dirty="0">
                <a:solidFill>
                  <a:srgbClr val="FFFFFF"/>
                </a:solidFill>
                <a:latin typeface="Verdana" panose="020B0604030504040204"/>
                <a:cs typeface="Verdana" panose="020B0604030504040204"/>
              </a:rPr>
              <a:t> </a:t>
            </a:r>
            <a:r>
              <a:rPr lang="en-US" sz="3600" b="1" dirty="0">
                <a:solidFill>
                  <a:srgbClr val="FFFFFF"/>
                </a:solidFill>
                <a:latin typeface="Verdana" panose="020B0604030504040204"/>
                <a:cs typeface="Verdana" panose="020B0604030504040204"/>
              </a:rPr>
              <a:t>Electrical Drives and   Instrumentation</a:t>
            </a:r>
            <a:r>
              <a:rPr sz="3600" b="1" spc="-75" dirty="0">
                <a:solidFill>
                  <a:srgbClr val="FFFFFF"/>
                </a:solidFill>
                <a:latin typeface="Verdana" panose="020B0604030504040204"/>
                <a:cs typeface="Verdana" panose="020B0604030504040204"/>
              </a:rPr>
              <a:t> </a:t>
            </a:r>
            <a:r>
              <a:rPr sz="3600" b="1" spc="-10" dirty="0">
                <a:solidFill>
                  <a:srgbClr val="FFFFFF"/>
                </a:solidFill>
                <a:latin typeface="Verdana" panose="020B0604030504040204"/>
                <a:cs typeface="Verdana" panose="020B0604030504040204"/>
              </a:rPr>
              <a:t> </a:t>
            </a:r>
            <a:r>
              <a:rPr lang="en-US" sz="3600" b="1" spc="-50" dirty="0">
                <a:solidFill>
                  <a:srgbClr val="FFFFFF"/>
                </a:solidFill>
                <a:latin typeface="Verdana" panose="020B0604030504040204"/>
                <a:cs typeface="Verdana" panose="020B0604030504040204"/>
              </a:rPr>
              <a:t>                                   </a:t>
            </a:r>
            <a:r>
              <a:rPr lang="en-US" sz="2800" b="1" spc="-50" dirty="0">
                <a:solidFill>
                  <a:srgbClr val="FFFFFF"/>
                </a:solidFill>
                <a:latin typeface="Verdana" panose="020B0604030504040204"/>
                <a:cs typeface="Verdana" panose="020B0604030504040204"/>
              </a:rPr>
              <a:t>                         </a:t>
            </a:r>
            <a:r>
              <a:rPr sz="2800" b="1" dirty="0">
                <a:solidFill>
                  <a:srgbClr val="FFFFFF"/>
                </a:solidFill>
                <a:latin typeface="Verdana" panose="020B0604030504040204"/>
                <a:cs typeface="Verdana" panose="020B0604030504040204"/>
              </a:rPr>
              <a:t>Credit</a:t>
            </a:r>
            <a:r>
              <a:rPr sz="2800" b="1" spc="10" dirty="0">
                <a:solidFill>
                  <a:srgbClr val="FFFFFF"/>
                </a:solidFill>
                <a:latin typeface="Verdana" panose="020B0604030504040204"/>
                <a:cs typeface="Verdana" panose="020B0604030504040204"/>
              </a:rPr>
              <a:t> </a:t>
            </a:r>
            <a:r>
              <a:rPr sz="2800" b="1" spc="-20" dirty="0">
                <a:solidFill>
                  <a:srgbClr val="FFFFFF"/>
                </a:solidFill>
                <a:latin typeface="Verdana" panose="020B0604030504040204"/>
                <a:cs typeface="Verdana" panose="020B0604030504040204"/>
              </a:rPr>
              <a:t>Hours</a:t>
            </a:r>
            <a:r>
              <a:rPr lang="en-US" sz="2800" b="1" spc="-20" dirty="0">
                <a:solidFill>
                  <a:srgbClr val="FFFFFF"/>
                </a:solidFill>
                <a:latin typeface="Verdana" panose="020B0604030504040204"/>
                <a:cs typeface="Verdana" panose="020B0604030504040204"/>
              </a:rPr>
              <a:t> </a:t>
            </a:r>
            <a:r>
              <a:rPr sz="2800" b="1" spc="-20" dirty="0">
                <a:solidFill>
                  <a:srgbClr val="FFFFFF"/>
                </a:solidFill>
                <a:latin typeface="Verdana" panose="020B0604030504040204"/>
                <a:cs typeface="Verdana" panose="020B0604030504040204"/>
              </a:rPr>
              <a:t>-</a:t>
            </a:r>
            <a:r>
              <a:rPr lang="en-US" sz="2800" b="1" spc="-20" dirty="0">
                <a:solidFill>
                  <a:srgbClr val="FFFFFF"/>
                </a:solidFill>
                <a:latin typeface="Verdana" panose="020B0604030504040204"/>
                <a:cs typeface="Verdana" panose="020B0604030504040204"/>
              </a:rPr>
              <a:t> 2</a:t>
            </a:r>
            <a:r>
              <a:rPr lang="en-US" sz="2800" b="1" spc="-50" dirty="0">
                <a:solidFill>
                  <a:srgbClr val="FFFFFF"/>
                </a:solidFill>
                <a:latin typeface="Verdana" panose="020B0604030504040204"/>
                <a:cs typeface="Verdana" panose="020B0604030504040204"/>
              </a:rPr>
              <a:t>           Segment - 6</a:t>
            </a:r>
          </a:p>
        </p:txBody>
      </p:sp>
      <p:sp>
        <p:nvSpPr>
          <p:cNvPr id="9" name="object 9"/>
          <p:cNvSpPr/>
          <p:nvPr/>
        </p:nvSpPr>
        <p:spPr>
          <a:xfrm>
            <a:off x="0" y="6355080"/>
            <a:ext cx="12186285" cy="502920"/>
          </a:xfrm>
          <a:custGeom>
            <a:avLst/>
            <a:gdLst/>
            <a:ahLst/>
            <a:cxnLst/>
            <a:rect l="l" t="t" r="r" b="b"/>
            <a:pathLst>
              <a:path w="12186285" h="502920">
                <a:moveTo>
                  <a:pt x="12185904" y="0"/>
                </a:moveTo>
                <a:lnTo>
                  <a:pt x="0" y="0"/>
                </a:lnTo>
                <a:lnTo>
                  <a:pt x="0" y="502919"/>
                </a:lnTo>
                <a:lnTo>
                  <a:pt x="12185904" y="502919"/>
                </a:lnTo>
                <a:lnTo>
                  <a:pt x="12185904" y="0"/>
                </a:lnTo>
                <a:close/>
              </a:path>
            </a:pathLst>
          </a:custGeom>
          <a:solidFill>
            <a:srgbClr val="FFC000"/>
          </a:solidFill>
        </p:spPr>
        <p:txBody>
          <a:bodyPr wrap="square" lIns="0" tIns="0" rIns="0" bIns="0" rtlCol="0"/>
          <a:lstStyle/>
          <a:p>
            <a:endParaRPr/>
          </a:p>
        </p:txBody>
      </p:sp>
      <p:sp>
        <p:nvSpPr>
          <p:cNvPr id="12" name="object 2"/>
          <p:cNvSpPr txBox="1"/>
          <p:nvPr/>
        </p:nvSpPr>
        <p:spPr>
          <a:xfrm>
            <a:off x="1823720" y="2397760"/>
            <a:ext cx="8690610" cy="1854200"/>
          </a:xfrm>
          <a:prstGeom prst="rect">
            <a:avLst/>
          </a:prstGeom>
        </p:spPr>
        <p:txBody>
          <a:bodyPr vert="horz" wrap="square" lIns="0" tIns="233045" rIns="0" bIns="0" rtlCol="0">
            <a:noAutofit/>
          </a:bodyPr>
          <a:lstStyle>
            <a:lvl1pPr marL="0">
              <a:defRPr sz="3200" b="1" i="0">
                <a:solidFill>
                  <a:srgbClr val="622422"/>
                </a:solidFill>
                <a:latin typeface="Verdana" panose="020B0604030504040204"/>
                <a:ea typeface="+mn-ea"/>
                <a:cs typeface="Verdana" panose="020B060403050404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540" marR="12065" lvl="0" indent="0" algn="ctr" defTabSz="914400" eaLnBrk="1" fontAlgn="auto" latinLnBrk="0" hangingPunct="1">
              <a:lnSpc>
                <a:spcPct val="100000"/>
              </a:lnSpc>
              <a:spcBef>
                <a:spcPts val="1835"/>
              </a:spcBef>
              <a:spcAft>
                <a:spcPts val="0"/>
              </a:spcAft>
              <a:buClrTx/>
              <a:buSzTx/>
              <a:buFontTx/>
              <a:buNone/>
              <a:defRPr/>
            </a:pPr>
            <a:r>
              <a:rPr kumimoji="0" lang="en-US" sz="2800" b="1" i="0" u="none" strike="noStrike" kern="0" cap="none" spc="0" normalizeH="0" baseline="0" noProof="0" dirty="0" err="1">
                <a:ln>
                  <a:noFill/>
                </a:ln>
                <a:solidFill>
                  <a:srgbClr val="622422"/>
                </a:solidFill>
                <a:effectLst/>
                <a:uLnTx/>
                <a:uFillTx/>
                <a:latin typeface="Verdana" panose="020B0604030504040204"/>
                <a:ea typeface="+mn-ea"/>
              </a:rPr>
              <a:t>Saif</a:t>
            </a:r>
            <a:r>
              <a:rPr kumimoji="0" lang="en-US" sz="2800" b="1" i="0" u="none" strike="noStrike" kern="0" cap="none" spc="-50" normalizeH="0" baseline="0" noProof="0" dirty="0">
                <a:ln>
                  <a:noFill/>
                </a:ln>
                <a:solidFill>
                  <a:srgbClr val="622422"/>
                </a:solidFill>
                <a:effectLst/>
                <a:uLnTx/>
                <a:uFillTx/>
                <a:latin typeface="Verdana" panose="020B0604030504040204"/>
                <a:ea typeface="+mn-ea"/>
              </a:rPr>
              <a:t> </a:t>
            </a:r>
            <a:r>
              <a:rPr kumimoji="0" lang="en-US" sz="2800" b="1" i="0" u="none" strike="noStrike" kern="0" cap="none" spc="-10" normalizeH="0" baseline="0" noProof="0" dirty="0" err="1">
                <a:ln>
                  <a:noFill/>
                </a:ln>
                <a:solidFill>
                  <a:srgbClr val="622422"/>
                </a:solidFill>
                <a:effectLst/>
                <a:uLnTx/>
                <a:uFillTx/>
                <a:latin typeface="Verdana" panose="020B0604030504040204"/>
                <a:ea typeface="+mn-ea"/>
              </a:rPr>
              <a:t>Sabbir</a:t>
            </a:r>
            <a:endParaRPr kumimoji="0" lang="en-US" sz="2800" b="1" i="0" u="none" strike="noStrike" kern="0" cap="none" spc="-10" normalizeH="0" baseline="0" noProof="0" dirty="0">
              <a:ln>
                <a:noFill/>
              </a:ln>
              <a:solidFill>
                <a:srgbClr val="622422"/>
              </a:solidFill>
              <a:effectLst/>
              <a:uLnTx/>
              <a:uFillTx/>
              <a:latin typeface="Verdana" panose="020B0604030504040204"/>
              <a:ea typeface="+mn-ea"/>
            </a:endParaRPr>
          </a:p>
          <a:p>
            <a:pPr marR="0" lvl="0" indent="0" algn="ctr" defTabSz="914400" fontAlgn="auto">
              <a:lnSpc>
                <a:spcPct val="100000"/>
              </a:lnSpc>
              <a:spcBef>
                <a:spcPts val="0"/>
              </a:spcBef>
              <a:spcAft>
                <a:spcPts val="0"/>
              </a:spcAft>
              <a:buClrTx/>
              <a:buSzTx/>
              <a:buFontTx/>
              <a:buNone/>
              <a:defRPr/>
            </a:pPr>
            <a:r>
              <a:rPr kumimoji="0" lang="en-US" sz="2000" b="1" i="0" u="none" strike="noStrike" kern="0" cap="none" spc="-10" normalizeH="0" baseline="0" noProof="0" dirty="0">
                <a:ln>
                  <a:noFill/>
                </a:ln>
                <a:solidFill>
                  <a:srgbClr val="622422"/>
                </a:solidFill>
                <a:effectLst/>
                <a:uLnTx/>
                <a:uFillTx/>
                <a:latin typeface="Verdana" panose="020B0604030504040204"/>
                <a:ea typeface="+mn-ea"/>
              </a:rPr>
              <a:t>Lecturer</a:t>
            </a:r>
            <a:endParaRPr kumimoji="0" lang="en-US" sz="2000" b="1" i="0" u="none" strike="noStrike" kern="0" cap="none" spc="0" normalizeH="0" baseline="0" noProof="0" dirty="0">
              <a:ln>
                <a:noFill/>
              </a:ln>
              <a:solidFill>
                <a:srgbClr val="622422"/>
              </a:solidFill>
              <a:effectLst/>
              <a:uLnTx/>
              <a:uFillTx/>
              <a:latin typeface="Verdana" panose="020B0604030504040204"/>
              <a:ea typeface="+mn-ea"/>
            </a:endParaRPr>
          </a:p>
          <a:p>
            <a:pPr marL="15875" marR="0" lvl="0" indent="0" algn="ctr" defTabSz="914400" eaLnBrk="1" fontAlgn="auto" latinLnBrk="0" hangingPunct="1">
              <a:lnSpc>
                <a:spcPct val="100000"/>
              </a:lnSpc>
              <a:spcBef>
                <a:spcPts val="5"/>
              </a:spcBef>
              <a:spcAft>
                <a:spcPts val="0"/>
              </a:spcAft>
              <a:buClrTx/>
              <a:buSzTx/>
              <a:buFontTx/>
              <a:buNone/>
              <a:defRPr/>
            </a:pPr>
            <a:r>
              <a:rPr kumimoji="0" lang="en-US" sz="2000" b="1" i="0" u="none" strike="noStrike" kern="0" cap="none" spc="-20" normalizeH="0" baseline="0" noProof="0" dirty="0">
                <a:ln>
                  <a:noFill/>
                </a:ln>
                <a:solidFill>
                  <a:srgbClr val="622422"/>
                </a:solidFill>
                <a:effectLst/>
                <a:uLnTx/>
                <a:uFillTx/>
                <a:latin typeface="Verdana" panose="020B0604030504040204"/>
                <a:ea typeface="+mn-ea"/>
              </a:rPr>
              <a:t>Department</a:t>
            </a:r>
            <a:r>
              <a:rPr kumimoji="0" lang="en-US" sz="2000" b="1" i="0" u="none" strike="noStrike" kern="0" cap="none" spc="-95"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0" normalizeH="0" baseline="0" noProof="0" dirty="0">
                <a:ln>
                  <a:noFill/>
                </a:ln>
                <a:solidFill>
                  <a:srgbClr val="622422"/>
                </a:solidFill>
                <a:effectLst/>
                <a:uLnTx/>
                <a:uFillTx/>
                <a:latin typeface="Verdana" panose="020B0604030504040204"/>
                <a:ea typeface="+mn-ea"/>
              </a:rPr>
              <a:t>of</a:t>
            </a:r>
            <a:r>
              <a:rPr kumimoji="0" lang="en-US" sz="2000" b="1" i="0" u="none" strike="noStrike" kern="0" cap="none" spc="-90"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25" normalizeH="0" baseline="0" noProof="0" dirty="0">
                <a:ln>
                  <a:noFill/>
                </a:ln>
                <a:solidFill>
                  <a:srgbClr val="622422"/>
                </a:solidFill>
                <a:effectLst/>
                <a:uLnTx/>
                <a:uFillTx/>
                <a:latin typeface="Verdana" panose="020B0604030504040204"/>
                <a:ea typeface="+mn-ea"/>
              </a:rPr>
              <a:t>CSE</a:t>
            </a:r>
            <a:endParaRPr kumimoji="0" lang="en-US" sz="2000" b="1" i="0" u="none" strike="noStrike" kern="0" cap="none" spc="0" normalizeH="0" baseline="0" noProof="0" dirty="0">
              <a:ln>
                <a:noFill/>
              </a:ln>
              <a:solidFill>
                <a:srgbClr val="622422"/>
              </a:solidFill>
              <a:effectLst/>
              <a:uLnTx/>
              <a:uFillTx/>
              <a:latin typeface="Verdana" panose="020B0604030504040204"/>
              <a:ea typeface="+mn-ea"/>
            </a:endParaRPr>
          </a:p>
          <a:p>
            <a:pPr marL="2540" marR="0" lvl="0" indent="0" algn="ctr" defTabSz="914400" eaLnBrk="1" fontAlgn="auto" latinLnBrk="0" hangingPunct="1">
              <a:lnSpc>
                <a:spcPct val="100000"/>
              </a:lnSpc>
              <a:spcBef>
                <a:spcPts val="570"/>
              </a:spcBef>
              <a:spcAft>
                <a:spcPts val="0"/>
              </a:spcAft>
              <a:buClrTx/>
              <a:buSzTx/>
              <a:buFontTx/>
              <a:buNone/>
              <a:defRPr/>
            </a:pPr>
            <a:r>
              <a:rPr kumimoji="0" lang="en-US" sz="2000" b="1" i="0" u="none" strike="noStrike" kern="0" cap="none" spc="0" normalizeH="0" baseline="0" noProof="0" dirty="0">
                <a:ln>
                  <a:noFill/>
                </a:ln>
                <a:solidFill>
                  <a:srgbClr val="622422"/>
                </a:solidFill>
                <a:effectLst/>
                <a:uLnTx/>
                <a:uFillTx/>
                <a:latin typeface="Verdana" panose="020B0604030504040204"/>
                <a:ea typeface="+mn-ea"/>
              </a:rPr>
              <a:t>International</a:t>
            </a:r>
            <a:r>
              <a:rPr kumimoji="0" lang="en-US" sz="2000" b="1" i="0" u="none" strike="noStrike" kern="0" cap="none" spc="-180"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0" normalizeH="0" baseline="0" noProof="0" dirty="0">
                <a:ln>
                  <a:noFill/>
                </a:ln>
                <a:solidFill>
                  <a:srgbClr val="622422"/>
                </a:solidFill>
                <a:effectLst/>
                <a:uLnTx/>
                <a:uFillTx/>
                <a:latin typeface="Verdana" panose="020B0604030504040204"/>
                <a:ea typeface="+mn-ea"/>
              </a:rPr>
              <a:t>Islamic</a:t>
            </a:r>
            <a:r>
              <a:rPr kumimoji="0" lang="en-US" sz="2000" b="1" i="0" u="none" strike="noStrike" kern="0" cap="none" spc="-160"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0" normalizeH="0" baseline="0" noProof="0" dirty="0">
                <a:ln>
                  <a:noFill/>
                </a:ln>
                <a:solidFill>
                  <a:srgbClr val="622422"/>
                </a:solidFill>
                <a:effectLst/>
                <a:uLnTx/>
                <a:uFillTx/>
                <a:latin typeface="Verdana" panose="020B0604030504040204"/>
                <a:ea typeface="+mn-ea"/>
              </a:rPr>
              <a:t>University</a:t>
            </a:r>
            <a:r>
              <a:rPr kumimoji="0" lang="en-US" sz="2000" b="1" i="0" u="none" strike="noStrike" kern="0" cap="none" spc="-145"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0" normalizeH="0" baseline="0" noProof="0" dirty="0">
                <a:ln>
                  <a:noFill/>
                </a:ln>
                <a:solidFill>
                  <a:srgbClr val="622422"/>
                </a:solidFill>
                <a:effectLst/>
                <a:uLnTx/>
                <a:uFillTx/>
                <a:latin typeface="Verdana" panose="020B0604030504040204"/>
                <a:ea typeface="+mn-ea"/>
              </a:rPr>
              <a:t>Chittagong</a:t>
            </a:r>
            <a:r>
              <a:rPr kumimoji="0" lang="en-US" sz="2000" b="1" i="0" u="none" strike="noStrike" kern="0" cap="none" spc="-160" normalizeH="0" baseline="0" noProof="0" dirty="0">
                <a:ln>
                  <a:noFill/>
                </a:ln>
                <a:solidFill>
                  <a:srgbClr val="622422"/>
                </a:solidFill>
                <a:effectLst/>
                <a:uLnTx/>
                <a:uFillTx/>
                <a:latin typeface="Verdana" panose="020B0604030504040204"/>
                <a:ea typeface="+mn-ea"/>
              </a:rPr>
              <a:t> </a:t>
            </a:r>
            <a:r>
              <a:rPr kumimoji="0" lang="en-US" sz="2000" b="1" i="0" u="none" strike="noStrike" kern="0" cap="none" spc="-10" normalizeH="0" baseline="0" noProof="0" dirty="0">
                <a:ln>
                  <a:noFill/>
                </a:ln>
                <a:solidFill>
                  <a:srgbClr val="622422"/>
                </a:solidFill>
                <a:effectLst/>
                <a:uLnTx/>
                <a:uFillTx/>
                <a:latin typeface="Verdana" panose="020B0604030504040204"/>
                <a:ea typeface="+mn-ea"/>
              </a:rPr>
              <a:t>(IIUC)</a:t>
            </a:r>
            <a:endParaRPr kumimoji="0" lang="en-US" sz="2000" b="1" i="0" u="none" strike="noStrike" kern="0" cap="none" spc="0" normalizeH="0" baseline="0" noProof="0" dirty="0">
              <a:ln>
                <a:noFill/>
              </a:ln>
              <a:solidFill>
                <a:srgbClr val="622422"/>
              </a:solidFill>
              <a:effectLst/>
              <a:uLnTx/>
              <a:uFillTx/>
              <a:latin typeface="Verdana" panose="020B0604030504040204"/>
              <a:ea typeface="+mn-ea"/>
            </a:endParaRPr>
          </a:p>
        </p:txBody>
      </p:sp>
      <p:pic>
        <p:nvPicPr>
          <p:cNvPr id="13" name="Picture 12"/>
          <p:cNvPicPr/>
          <p:nvPr/>
        </p:nvPicPr>
        <p:blipFill>
          <a:blip r:embed="rId2"/>
          <a:stretch>
            <a:fillRect/>
          </a:stretch>
        </p:blipFill>
        <p:spPr>
          <a:xfrm>
            <a:off x="5330825" y="4183380"/>
            <a:ext cx="1491615" cy="16744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364" y="1302707"/>
            <a:ext cx="11774466" cy="5260931"/>
          </a:xfrm>
        </p:spPr>
        <p:txBody>
          <a:bodyPr>
            <a:normAutofit lnSpcReduction="10000"/>
          </a:bodyPr>
          <a:lstStyle/>
          <a:p>
            <a:pPr marL="0" indent="0">
              <a:buNone/>
            </a:pPr>
            <a:r>
              <a:rPr lang="en-US" sz="3600" b="1" dirty="0">
                <a:solidFill>
                  <a:srgbClr val="C00000"/>
                </a:solidFill>
              </a:rPr>
              <a:t>1.1  Classification of instruments</a:t>
            </a:r>
          </a:p>
          <a:p>
            <a:pPr marL="0" indent="0">
              <a:buNone/>
            </a:pPr>
            <a:endParaRPr lang="en-US" sz="1100" b="1" dirty="0">
              <a:solidFill>
                <a:srgbClr val="C00000"/>
              </a:solidFill>
            </a:endParaRPr>
          </a:p>
          <a:p>
            <a:pPr lvl="2"/>
            <a:r>
              <a:rPr lang="en-US" sz="2800" b="1" dirty="0">
                <a:solidFill>
                  <a:schemeClr val="accent1">
                    <a:lumMod val="75000"/>
                  </a:schemeClr>
                </a:solidFill>
              </a:rPr>
              <a:t>Analog instrument</a:t>
            </a:r>
            <a:endParaRPr lang="en-US" sz="2800" dirty="0">
              <a:solidFill>
                <a:schemeClr val="accent1">
                  <a:lumMod val="75000"/>
                </a:schemeClr>
              </a:solidFill>
            </a:endParaRPr>
          </a:p>
          <a:p>
            <a:pPr marL="0" indent="0">
              <a:buNone/>
            </a:pPr>
            <a:r>
              <a:rPr lang="en-US" dirty="0"/>
              <a:t>The measured parameter value is display by the moveable pointer. The pointer will moved continuously with the variable parameter/analog signal which is measured. The reading is inaccurate because of </a:t>
            </a:r>
            <a:r>
              <a:rPr lang="en-US" i="1" dirty="0"/>
              <a:t>parallax </a:t>
            </a:r>
            <a:r>
              <a:rPr lang="en-US" dirty="0"/>
              <a:t>error (parallel) during the skill reading. </a:t>
            </a:r>
            <a:r>
              <a:rPr lang="en-US" dirty="0" err="1"/>
              <a:t>E.g</a:t>
            </a:r>
            <a:r>
              <a:rPr lang="en-US" dirty="0"/>
              <a:t>: ampere meter, voltage meter, ohm meter etc.</a:t>
            </a:r>
          </a:p>
          <a:p>
            <a:pPr marL="0" indent="0">
              <a:buNone/>
            </a:pPr>
            <a:r>
              <a:rPr lang="en-US" dirty="0"/>
              <a:t> </a:t>
            </a:r>
          </a:p>
          <a:p>
            <a:pPr lvl="2"/>
            <a:r>
              <a:rPr lang="en-US" sz="2800" b="1" dirty="0">
                <a:solidFill>
                  <a:schemeClr val="accent1">
                    <a:lumMod val="75000"/>
                  </a:schemeClr>
                </a:solidFill>
              </a:rPr>
              <a:t>Digital instrument</a:t>
            </a:r>
          </a:p>
          <a:p>
            <a:pPr marL="0" indent="0">
              <a:buNone/>
            </a:pPr>
            <a:r>
              <a:rPr lang="en-US" dirty="0"/>
              <a:t>The measured parameter value is display in </a:t>
            </a:r>
            <a:r>
              <a:rPr lang="en-US" i="1" dirty="0"/>
              <a:t>decimal </a:t>
            </a:r>
            <a:r>
              <a:rPr lang="en-US" dirty="0"/>
              <a:t>(digital) form which the reading can be read thru in numbers form. Therefore, the parallax error is not existed and terminated. The concept used for digital signal in a digital instrument is logic binary ‘0’and ‘1’.</a:t>
            </a:r>
          </a:p>
          <a:p>
            <a:pPr marL="0" indent="0">
              <a:buNone/>
            </a:pPr>
            <a:endParaRPr lang="en-US" dirty="0"/>
          </a:p>
        </p:txBody>
      </p:sp>
      <p:sp>
        <p:nvSpPr>
          <p:cNvPr id="4" name="Rectangles 3"/>
          <p:cNvSpPr/>
          <p:nvPr/>
        </p:nvSpPr>
        <p:spPr>
          <a:xfrm>
            <a:off x="0" y="0"/>
            <a:ext cx="12192000" cy="11360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solidFill>
                <a:srgbClr val="FF0000"/>
              </a:solidFill>
            </a:endParaRPr>
          </a:p>
        </p:txBody>
      </p:sp>
      <p:sp>
        <p:nvSpPr>
          <p:cNvPr id="5" name="Text Box 4"/>
          <p:cNvSpPr txBox="1"/>
          <p:nvPr/>
        </p:nvSpPr>
        <p:spPr>
          <a:xfrm>
            <a:off x="66675" y="-17145"/>
            <a:ext cx="10968355" cy="1200329"/>
          </a:xfrm>
          <a:prstGeom prst="rect">
            <a:avLst/>
          </a:prstGeom>
        </p:spPr>
        <p:txBody>
          <a:bodyPr wrap="square">
            <a:spAutoFit/>
          </a:bodyPr>
          <a:lstStyle/>
          <a:p>
            <a:r>
              <a:rPr lang="en-US" sz="3600" b="1" dirty="0"/>
              <a:t>BASIC CONCEPTS OF INSTRUMENTATION AND MEASUREMENT</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40B34-D373-CA62-572B-887ECBDB9E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4C5F28-2261-66FF-4B2A-C9AC5A44B973}"/>
              </a:ext>
            </a:extLst>
          </p:cNvPr>
          <p:cNvSpPr>
            <a:spLocks noGrp="1"/>
          </p:cNvSpPr>
          <p:nvPr>
            <p:ph idx="1"/>
          </p:nvPr>
        </p:nvSpPr>
        <p:spPr>
          <a:xfrm>
            <a:off x="200416" y="1002082"/>
            <a:ext cx="11749414" cy="5561556"/>
          </a:xfrm>
        </p:spPr>
        <p:txBody>
          <a:bodyPr>
            <a:normAutofit/>
          </a:bodyPr>
          <a:lstStyle/>
          <a:p>
            <a:pPr marL="0" indent="0">
              <a:buNone/>
            </a:pPr>
            <a:r>
              <a:rPr lang="en-US" sz="2400" dirty="0"/>
              <a:t>Figure 1.1 presents a generalized model of a simple instrument. The physical process to be measured is in the left of the figure and the measurand is represented by an observable physical variable </a:t>
            </a:r>
            <a:r>
              <a:rPr lang="en-US" sz="2400" b="1" i="1" dirty="0"/>
              <a:t>X</a:t>
            </a:r>
            <a:r>
              <a:rPr lang="en-US" sz="2400" dirty="0"/>
              <a:t>.</a:t>
            </a:r>
          </a:p>
          <a:p>
            <a:pPr marL="0" indent="0">
              <a:buNone/>
            </a:pPr>
            <a:endParaRPr lang="en-US" dirty="0"/>
          </a:p>
        </p:txBody>
      </p:sp>
      <p:sp>
        <p:nvSpPr>
          <p:cNvPr id="4" name="Rectangles 3">
            <a:extLst>
              <a:ext uri="{FF2B5EF4-FFF2-40B4-BE49-F238E27FC236}">
                <a16:creationId xmlns:a16="http://schemas.microsoft.com/office/drawing/2014/main" id="{5EC6D789-067B-6E20-93E6-27A5D74EA42D}"/>
              </a:ext>
            </a:extLst>
          </p:cNvPr>
          <p:cNvSpPr/>
          <p:nvPr/>
        </p:nvSpPr>
        <p:spPr>
          <a:xfrm>
            <a:off x="-20877" y="-17145"/>
            <a:ext cx="12192000" cy="789140"/>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dirty="0">
              <a:solidFill>
                <a:srgbClr val="FF0000"/>
              </a:solidFill>
            </a:endParaRPr>
          </a:p>
        </p:txBody>
      </p:sp>
      <p:sp>
        <p:nvSpPr>
          <p:cNvPr id="5" name="Text Box 4">
            <a:extLst>
              <a:ext uri="{FF2B5EF4-FFF2-40B4-BE49-F238E27FC236}">
                <a16:creationId xmlns:a16="http://schemas.microsoft.com/office/drawing/2014/main" id="{A42D96F2-CE99-B32A-1020-82A8A68C1412}"/>
              </a:ext>
            </a:extLst>
          </p:cNvPr>
          <p:cNvSpPr txBox="1"/>
          <p:nvPr/>
        </p:nvSpPr>
        <p:spPr>
          <a:xfrm>
            <a:off x="66675" y="-17145"/>
            <a:ext cx="10968355" cy="800219"/>
          </a:xfrm>
          <a:prstGeom prst="rect">
            <a:avLst/>
          </a:prstGeom>
        </p:spPr>
        <p:txBody>
          <a:bodyPr wrap="square">
            <a:spAutoFit/>
          </a:bodyPr>
          <a:lstStyle/>
          <a:p>
            <a:pPr lvl="1"/>
            <a:r>
              <a:rPr lang="en-US" sz="4600" b="1" dirty="0"/>
              <a:t>1.2 Characteristic of instruments</a:t>
            </a:r>
          </a:p>
        </p:txBody>
      </p:sp>
      <p:pic>
        <p:nvPicPr>
          <p:cNvPr id="6" name="Picture 5">
            <a:extLst>
              <a:ext uri="{FF2B5EF4-FFF2-40B4-BE49-F238E27FC236}">
                <a16:creationId xmlns:a16="http://schemas.microsoft.com/office/drawing/2014/main" id="{1734BCD9-A770-FA86-8648-382816020B34}"/>
              </a:ext>
            </a:extLst>
          </p:cNvPr>
          <p:cNvPicPr>
            <a:picLocks noChangeAspect="1"/>
          </p:cNvPicPr>
          <p:nvPr/>
        </p:nvPicPr>
        <p:blipFill>
          <a:blip r:embed="rId2"/>
          <a:stretch>
            <a:fillRect/>
          </a:stretch>
        </p:blipFill>
        <p:spPr>
          <a:xfrm>
            <a:off x="3360628" y="1912837"/>
            <a:ext cx="5160723" cy="1977371"/>
          </a:xfrm>
          <a:prstGeom prst="rect">
            <a:avLst/>
          </a:prstGeom>
        </p:spPr>
      </p:pic>
      <p:sp>
        <p:nvSpPr>
          <p:cNvPr id="8" name="TextBox 7">
            <a:extLst>
              <a:ext uri="{FF2B5EF4-FFF2-40B4-BE49-F238E27FC236}">
                <a16:creationId xmlns:a16="http://schemas.microsoft.com/office/drawing/2014/main" id="{A95F4CF6-8EAC-85EA-B163-CFF1B733EB07}"/>
              </a:ext>
            </a:extLst>
          </p:cNvPr>
          <p:cNvSpPr txBox="1"/>
          <p:nvPr/>
        </p:nvSpPr>
        <p:spPr>
          <a:xfrm>
            <a:off x="2667560" y="3952346"/>
            <a:ext cx="6093912" cy="369332"/>
          </a:xfrm>
          <a:prstGeom prst="rect">
            <a:avLst/>
          </a:prstGeom>
          <a:noFill/>
        </p:spPr>
        <p:txBody>
          <a:bodyPr wrap="square">
            <a:spAutoFit/>
          </a:bodyPr>
          <a:lstStyle/>
          <a:p>
            <a:pPr marL="37465" marR="38100" algn="ctr">
              <a:spcBef>
                <a:spcPts val="750"/>
              </a:spcBef>
              <a:buNone/>
            </a:pPr>
            <a:r>
              <a:rPr lang="en-US" sz="1800" dirty="0">
                <a:effectLst/>
                <a:latin typeface="Times New Roman" panose="02020603050405020304" pitchFamily="18" charset="0"/>
                <a:ea typeface="Times New Roman" panose="02020603050405020304" pitchFamily="18" charset="0"/>
              </a:rPr>
              <a:t>Figure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1.1:</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Simple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instrument</a:t>
            </a:r>
            <a:r>
              <a:rPr lang="en-US" sz="1800" spc="-10" dirty="0">
                <a:effectLst/>
                <a:latin typeface="Times New Roman" panose="02020603050405020304" pitchFamily="18" charset="0"/>
                <a:ea typeface="Times New Roman" panose="02020603050405020304" pitchFamily="18" charset="0"/>
              </a:rPr>
              <a:t> model.</a:t>
            </a:r>
            <a:endParaRPr lang="en-US" sz="1800"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B255EAA0-8F1C-13BD-41C2-3A6D1B35435F}"/>
              </a:ext>
            </a:extLst>
          </p:cNvPr>
          <p:cNvSpPr txBox="1"/>
          <p:nvPr/>
        </p:nvSpPr>
        <p:spPr>
          <a:xfrm>
            <a:off x="25052" y="4383816"/>
            <a:ext cx="11991584" cy="2241960"/>
          </a:xfrm>
          <a:prstGeom prst="rect">
            <a:avLst/>
          </a:prstGeom>
          <a:noFill/>
        </p:spPr>
        <p:txBody>
          <a:bodyPr wrap="square">
            <a:spAutoFit/>
          </a:bodyPr>
          <a:lstStyle/>
          <a:p>
            <a:pPr marL="228600" marR="226060" algn="just">
              <a:lnSpc>
                <a:spcPct val="150000"/>
              </a:lnSpc>
              <a:spcBef>
                <a:spcPts val="380"/>
              </a:spcBef>
              <a:buNone/>
            </a:pPr>
            <a:r>
              <a:rPr lang="en-US" sz="2400" dirty="0">
                <a:effectLst/>
                <a:latin typeface="Times New Roman" panose="02020603050405020304" pitchFamily="18" charset="0"/>
                <a:ea typeface="Times New Roman" panose="02020603050405020304" pitchFamily="18" charset="0"/>
              </a:rPr>
              <a:t>For example, the mass of an object is often measured by the process of </a:t>
            </a:r>
            <a:r>
              <a:rPr lang="en-US" sz="2400" i="1" dirty="0">
                <a:effectLst/>
                <a:latin typeface="Times New Roman" panose="02020603050405020304" pitchFamily="18" charset="0"/>
                <a:ea typeface="Times New Roman" panose="02020603050405020304" pitchFamily="18" charset="0"/>
              </a:rPr>
              <a:t>weighing, </a:t>
            </a:r>
            <a:r>
              <a:rPr lang="en-US" sz="2400" dirty="0">
                <a:effectLst/>
                <a:latin typeface="Times New Roman" panose="02020603050405020304" pitchFamily="18" charset="0"/>
                <a:ea typeface="Times New Roman" panose="02020603050405020304" pitchFamily="18" charset="0"/>
              </a:rPr>
              <a:t>where the measurand is the mass but the physical measurement variable is the downward force the mass exerts in the Earth’s gravitational field. There are many possible physical measurement variables.</a:t>
            </a:r>
          </a:p>
        </p:txBody>
      </p:sp>
    </p:spTree>
    <p:extLst>
      <p:ext uri="{BB962C8B-B14F-4D97-AF65-F5344CB8AC3E}">
        <p14:creationId xmlns:p14="http://schemas.microsoft.com/office/powerpoint/2010/main" val="3016627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5ED2B-1733-C2FA-BA61-E0BDA13E20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8D9AE6-6417-B3AF-C00B-80215876384A}"/>
              </a:ext>
            </a:extLst>
          </p:cNvPr>
          <p:cNvSpPr>
            <a:spLocks noGrp="1"/>
          </p:cNvSpPr>
          <p:nvPr>
            <p:ph idx="1"/>
          </p:nvPr>
        </p:nvSpPr>
        <p:spPr>
          <a:xfrm>
            <a:off x="275573" y="425885"/>
            <a:ext cx="11599102" cy="6137753"/>
          </a:xfrm>
        </p:spPr>
        <p:txBody>
          <a:bodyPr>
            <a:normAutofit/>
          </a:bodyPr>
          <a:lstStyle/>
          <a:p>
            <a:pPr marL="0" indent="0">
              <a:buNone/>
            </a:pPr>
            <a:r>
              <a:rPr lang="en-US" sz="2400" dirty="0"/>
              <a:t>The key functional element of the instrument model shown in Figure 1.1 is the </a:t>
            </a:r>
            <a:r>
              <a:rPr lang="en-US" sz="2400" i="1" dirty="0"/>
              <a:t>sensor, </a:t>
            </a:r>
            <a:r>
              <a:rPr lang="en-US" sz="2400" dirty="0"/>
              <a:t>which has the function of converting the </a:t>
            </a:r>
            <a:r>
              <a:rPr lang="en-US" sz="2400" i="1" dirty="0"/>
              <a:t>physical variable input </a:t>
            </a:r>
            <a:r>
              <a:rPr lang="en-US" sz="2400" dirty="0"/>
              <a:t>into a </a:t>
            </a:r>
            <a:r>
              <a:rPr lang="en-US" sz="2400" i="1" dirty="0"/>
              <a:t>signal variable output.</a:t>
            </a:r>
            <a:endParaRPr lang="en-US" sz="2400" dirty="0"/>
          </a:p>
          <a:p>
            <a:pPr marL="0" indent="0">
              <a:buNone/>
            </a:pPr>
            <a:r>
              <a:rPr lang="en-US" sz="2400" dirty="0"/>
              <a:t>Signal variables have the property that they can be manipulated in a transmission system, such as an electrical or mechanical circuit. Because of this property, the signal variable can be transmitted to an output or recording device that can be remote from the sensor. In electrical circuits, voltage is a common signal variable. In mechanical systems, displacements or force are commonly used as signal variables. Other examples of signal variable are shown in Table 1.1.</a:t>
            </a:r>
          </a:p>
          <a:p>
            <a:pPr marL="0" indent="0">
              <a:buNone/>
            </a:pPr>
            <a:endParaRPr lang="en-US" dirty="0"/>
          </a:p>
        </p:txBody>
      </p:sp>
      <p:pic>
        <p:nvPicPr>
          <p:cNvPr id="7" name="Picture 6">
            <a:extLst>
              <a:ext uri="{FF2B5EF4-FFF2-40B4-BE49-F238E27FC236}">
                <a16:creationId xmlns:a16="http://schemas.microsoft.com/office/drawing/2014/main" id="{EC718820-614D-98A8-893D-E06B0F647C06}"/>
              </a:ext>
            </a:extLst>
          </p:cNvPr>
          <p:cNvPicPr>
            <a:picLocks noChangeAspect="1"/>
          </p:cNvPicPr>
          <p:nvPr/>
        </p:nvPicPr>
        <p:blipFill>
          <a:blip r:embed="rId2"/>
          <a:stretch>
            <a:fillRect/>
          </a:stretch>
        </p:blipFill>
        <p:spPr>
          <a:xfrm>
            <a:off x="4834785" y="3247864"/>
            <a:ext cx="2522427" cy="2537920"/>
          </a:xfrm>
          <a:prstGeom prst="rect">
            <a:avLst/>
          </a:prstGeom>
        </p:spPr>
      </p:pic>
      <p:sp>
        <p:nvSpPr>
          <p:cNvPr id="11" name="TextBox 10">
            <a:extLst>
              <a:ext uri="{FF2B5EF4-FFF2-40B4-BE49-F238E27FC236}">
                <a16:creationId xmlns:a16="http://schemas.microsoft.com/office/drawing/2014/main" id="{0ADAEE14-AD1A-47C5-01B3-7BA75C729D50}"/>
              </a:ext>
            </a:extLst>
          </p:cNvPr>
          <p:cNvSpPr txBox="1"/>
          <p:nvPr/>
        </p:nvSpPr>
        <p:spPr>
          <a:xfrm>
            <a:off x="3269814" y="5785784"/>
            <a:ext cx="5652371" cy="646331"/>
          </a:xfrm>
          <a:prstGeom prst="rect">
            <a:avLst/>
          </a:prstGeom>
          <a:noFill/>
        </p:spPr>
        <p:txBody>
          <a:bodyPr wrap="square">
            <a:spAutoFit/>
          </a:bodyPr>
          <a:lstStyle/>
          <a:p>
            <a:pPr marL="37465" marR="37465" algn="ctr">
              <a:spcBef>
                <a:spcPts val="680"/>
              </a:spcBef>
              <a:buNone/>
            </a:pPr>
            <a:r>
              <a:rPr lang="en-US" sz="1800" dirty="0">
                <a:effectLst/>
                <a:latin typeface="Times New Roman" panose="02020603050405020304" pitchFamily="18" charset="0"/>
                <a:ea typeface="Times New Roman" panose="02020603050405020304" pitchFamily="18" charset="0"/>
              </a:rPr>
              <a:t>Table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1.1:</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Example</a:t>
            </a:r>
            <a:r>
              <a:rPr lang="en-US" sz="1800" spc="-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physical</a:t>
            </a:r>
            <a:r>
              <a:rPr lang="en-US" sz="1800" spc="-5" dirty="0">
                <a:effectLst/>
                <a:latin typeface="Times New Roman" panose="02020603050405020304" pitchFamily="18" charset="0"/>
                <a:ea typeface="Times New Roman" panose="02020603050405020304" pitchFamily="18" charset="0"/>
              </a:rPr>
              <a:t> </a:t>
            </a:r>
            <a:r>
              <a:rPr lang="en-US" sz="1800" spc="-10" dirty="0">
                <a:effectLst/>
                <a:latin typeface="Times New Roman" panose="02020603050405020304" pitchFamily="18" charset="0"/>
                <a:ea typeface="Times New Roman" panose="02020603050405020304" pitchFamily="18" charset="0"/>
              </a:rPr>
              <a:t>variables</a:t>
            </a:r>
            <a:endParaRPr lang="en-US" sz="1800" dirty="0">
              <a:effectLst/>
              <a:latin typeface="Times New Roman" panose="02020603050405020304" pitchFamily="18" charset="0"/>
              <a:ea typeface="Times New Roman" panose="02020603050405020304" pitchFamily="18" charset="0"/>
            </a:endParaRPr>
          </a:p>
          <a:p>
            <a:pPr marL="0" marR="0">
              <a:buNone/>
            </a:pPr>
            <a:r>
              <a:rPr lang="en-US" sz="18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3302740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C76A7-C62E-36B3-12BF-4EB342B52D6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E80AAE-A783-08E3-5821-E400C3BCC1C8}"/>
              </a:ext>
            </a:extLst>
          </p:cNvPr>
          <p:cNvSpPr>
            <a:spLocks noGrp="1"/>
          </p:cNvSpPr>
          <p:nvPr>
            <p:ph idx="1"/>
          </p:nvPr>
        </p:nvSpPr>
        <p:spPr>
          <a:xfrm>
            <a:off x="275573" y="425885"/>
            <a:ext cx="11599102" cy="6137753"/>
          </a:xfrm>
        </p:spPr>
        <p:txBody>
          <a:bodyPr>
            <a:normAutofit lnSpcReduction="10000"/>
          </a:bodyPr>
          <a:lstStyle/>
          <a:p>
            <a:pPr marL="0" indent="0">
              <a:buNone/>
            </a:pPr>
            <a:r>
              <a:rPr lang="en-US" sz="2400" dirty="0"/>
              <a:t>The signal output from the sensor can be displayed, recorded, or used as an input signal to some secondary device or system. In a basic instrument, the signal is transmitted to a </a:t>
            </a:r>
            <a:r>
              <a:rPr lang="en-US" sz="2400" i="1" dirty="0"/>
              <a:t>Display </a:t>
            </a:r>
            <a:r>
              <a:rPr lang="en-US" sz="2400" dirty="0"/>
              <a:t>or recording device where the measurement can be read by a human observer. The observed output is the measurement </a:t>
            </a:r>
            <a:r>
              <a:rPr lang="en-US" sz="2400" b="1" i="1" dirty="0"/>
              <a:t>M</a:t>
            </a:r>
            <a:r>
              <a:rPr lang="en-US" sz="2400" dirty="0"/>
              <a:t>.</a:t>
            </a:r>
          </a:p>
          <a:p>
            <a:pPr marL="0" indent="0">
              <a:buNone/>
            </a:pPr>
            <a:r>
              <a:rPr lang="en-US" sz="2400" dirty="0"/>
              <a:t>There are many types of display devices, ranging from simple scales and dial gages to sophisticated computer display systems. The signal can also be used directly by some larger system of which the instrument is a part.</a:t>
            </a:r>
          </a:p>
          <a:p>
            <a:pPr marL="0" indent="0">
              <a:buNone/>
            </a:pPr>
            <a:endParaRPr lang="en-US" sz="2400" dirty="0"/>
          </a:p>
          <a:p>
            <a:pPr marL="0" indent="0">
              <a:buNone/>
            </a:pPr>
            <a:r>
              <a:rPr lang="en-US" sz="2400" dirty="0">
                <a:solidFill>
                  <a:schemeClr val="accent1">
                    <a:lumMod val="75000"/>
                  </a:schemeClr>
                </a:solidFill>
              </a:rPr>
              <a:t>Two basic characteristic</a:t>
            </a:r>
            <a:r>
              <a:rPr lang="en-US" sz="2400" dirty="0"/>
              <a:t> of an instrument is essential for selecting the most suitable instrument for specific measuring jobs:</a:t>
            </a:r>
          </a:p>
          <a:p>
            <a:pPr marL="971550" lvl="1" indent="-514350">
              <a:buFont typeface="+mj-lt"/>
              <a:buAutoNum type="arabicPeriod"/>
            </a:pPr>
            <a:r>
              <a:rPr lang="en-US" dirty="0">
                <a:solidFill>
                  <a:schemeClr val="accent1">
                    <a:lumMod val="75000"/>
                  </a:schemeClr>
                </a:solidFill>
              </a:rPr>
              <a:t>Static characteristic</a:t>
            </a:r>
          </a:p>
          <a:p>
            <a:pPr marL="971550" lvl="1" indent="-514350">
              <a:buFont typeface="+mj-lt"/>
              <a:buAutoNum type="arabicPeriod"/>
            </a:pPr>
            <a:r>
              <a:rPr lang="en-US" dirty="0">
                <a:solidFill>
                  <a:schemeClr val="accent1">
                    <a:lumMod val="75000"/>
                  </a:schemeClr>
                </a:solidFill>
              </a:rPr>
              <a:t>Dynamic characteristic</a:t>
            </a:r>
          </a:p>
          <a:p>
            <a:pPr marL="457200" lvl="1" indent="0">
              <a:buNone/>
            </a:pPr>
            <a:endParaRPr lang="en-US" dirty="0">
              <a:solidFill>
                <a:schemeClr val="accent1">
                  <a:lumMod val="75000"/>
                </a:schemeClr>
              </a:solidFill>
            </a:endParaRPr>
          </a:p>
          <a:p>
            <a:pPr marL="0" indent="0">
              <a:buNone/>
            </a:pPr>
            <a:r>
              <a:rPr lang="en-US" sz="2400" dirty="0"/>
              <a:t>Static characteristic of an instrument are, in general, considered for instruments which are used to measure an unvarying process condition.</a:t>
            </a:r>
          </a:p>
          <a:p>
            <a:pPr marL="0" indent="0">
              <a:buNone/>
            </a:pPr>
            <a:endParaRPr lang="en-US" dirty="0">
              <a:solidFill>
                <a:schemeClr val="accent1">
                  <a:lumMod val="75000"/>
                </a:schemeClr>
              </a:solidFill>
            </a:endParaRPr>
          </a:p>
          <a:p>
            <a:pPr marL="0" indent="0">
              <a:buNone/>
            </a:pPr>
            <a:r>
              <a:rPr lang="en-US" dirty="0"/>
              <a:t> </a:t>
            </a:r>
            <a:endParaRPr lang="en-US" sz="2400" dirty="0"/>
          </a:p>
          <a:p>
            <a:pPr marL="0" indent="0">
              <a:buNone/>
            </a:pPr>
            <a:endParaRPr lang="en-US" sz="2000" dirty="0"/>
          </a:p>
          <a:p>
            <a:pPr marL="0" indent="0">
              <a:buNone/>
            </a:pPr>
            <a:endParaRPr lang="en-US" dirty="0"/>
          </a:p>
        </p:txBody>
      </p:sp>
    </p:spTree>
    <p:extLst>
      <p:ext uri="{BB962C8B-B14F-4D97-AF65-F5344CB8AC3E}">
        <p14:creationId xmlns:p14="http://schemas.microsoft.com/office/powerpoint/2010/main" val="1396656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728D4-AF42-F1A4-C7B0-BE209607BE6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70FCD4-AF05-D937-EDC9-287040E42BD1}"/>
              </a:ext>
            </a:extLst>
          </p:cNvPr>
          <p:cNvSpPr>
            <a:spLocks noGrp="1"/>
          </p:cNvSpPr>
          <p:nvPr>
            <p:ph idx="1"/>
          </p:nvPr>
        </p:nvSpPr>
        <p:spPr>
          <a:xfrm>
            <a:off x="275573" y="425885"/>
            <a:ext cx="11599102" cy="6137753"/>
          </a:xfrm>
        </p:spPr>
        <p:txBody>
          <a:bodyPr>
            <a:normAutofit/>
          </a:bodyPr>
          <a:lstStyle/>
          <a:p>
            <a:pPr marL="0" indent="0">
              <a:buNone/>
            </a:pPr>
            <a:r>
              <a:rPr lang="en-US" sz="2400" dirty="0"/>
              <a:t>Several terms of static characteristic that have discussed:</a:t>
            </a:r>
          </a:p>
          <a:p>
            <a:pPr marL="914400" lvl="1" indent="-457200">
              <a:buFont typeface="+mj-lt"/>
              <a:buAutoNum type="arabicPeriod"/>
            </a:pPr>
            <a:r>
              <a:rPr lang="en-US" b="1" dirty="0">
                <a:solidFill>
                  <a:schemeClr val="accent1">
                    <a:lumMod val="75000"/>
                  </a:schemeClr>
                </a:solidFill>
              </a:rPr>
              <a:t>Instrument</a:t>
            </a:r>
            <a:r>
              <a:rPr lang="en-US" b="1" dirty="0"/>
              <a:t> </a:t>
            </a:r>
            <a:r>
              <a:rPr lang="en-US" dirty="0"/>
              <a:t>– A device or mechanism used to determine the present value of a quantity under observation.</a:t>
            </a:r>
          </a:p>
          <a:p>
            <a:pPr marL="914400" lvl="1" indent="-457200">
              <a:buFont typeface="+mj-lt"/>
              <a:buAutoNum type="arabicPeriod"/>
            </a:pPr>
            <a:r>
              <a:rPr lang="en-US" b="1" dirty="0">
                <a:solidFill>
                  <a:schemeClr val="accent1">
                    <a:lumMod val="75000"/>
                  </a:schemeClr>
                </a:solidFill>
              </a:rPr>
              <a:t>Measurement</a:t>
            </a:r>
            <a:r>
              <a:rPr lang="en-US" b="1" dirty="0"/>
              <a:t> </a:t>
            </a:r>
            <a:r>
              <a:rPr lang="en-US" dirty="0"/>
              <a:t>– The process of determining the amount, degree, capacity by comparison (direct or indirect) with the accepted standards of the system units being used.</a:t>
            </a:r>
          </a:p>
          <a:p>
            <a:pPr marL="914400" lvl="1" indent="-457200">
              <a:buFont typeface="+mj-lt"/>
              <a:buAutoNum type="arabicPeriod"/>
            </a:pPr>
            <a:r>
              <a:rPr lang="en-US" b="1" dirty="0">
                <a:solidFill>
                  <a:schemeClr val="accent1">
                    <a:lumMod val="75000"/>
                  </a:schemeClr>
                </a:solidFill>
              </a:rPr>
              <a:t>Accuracy</a:t>
            </a:r>
            <a:r>
              <a:rPr lang="en-US" b="1" dirty="0"/>
              <a:t> </a:t>
            </a:r>
            <a:r>
              <a:rPr lang="en-US" dirty="0"/>
              <a:t>– The degree of exactness (closeness) of a measurement compared to the expected (desired) value.</a:t>
            </a:r>
          </a:p>
          <a:p>
            <a:pPr marL="914400" lvl="1" indent="-457200">
              <a:buFont typeface="+mj-lt"/>
              <a:buAutoNum type="arabicPeriod"/>
            </a:pPr>
            <a:r>
              <a:rPr lang="en-US" b="1" dirty="0">
                <a:solidFill>
                  <a:schemeClr val="accent1">
                    <a:lumMod val="75000"/>
                  </a:schemeClr>
                </a:solidFill>
              </a:rPr>
              <a:t>Resolution </a:t>
            </a:r>
            <a:r>
              <a:rPr lang="en-US" dirty="0"/>
              <a:t>– The smallest change in a measured variable to which instruments will response. Also known as ‘Threshold’.</a:t>
            </a:r>
          </a:p>
          <a:p>
            <a:pPr marL="914400" lvl="1" indent="-457200">
              <a:buFont typeface="+mj-lt"/>
              <a:buAutoNum type="arabicPeriod"/>
            </a:pPr>
            <a:r>
              <a:rPr lang="en-US" b="1" dirty="0">
                <a:solidFill>
                  <a:schemeClr val="accent1">
                    <a:lumMod val="75000"/>
                  </a:schemeClr>
                </a:solidFill>
              </a:rPr>
              <a:t>Precision</a:t>
            </a:r>
            <a:r>
              <a:rPr lang="en-US" b="1" dirty="0"/>
              <a:t> </a:t>
            </a:r>
            <a:r>
              <a:rPr lang="en-US" dirty="0"/>
              <a:t>– A measure of consistency or repeatability of measurements, i.e. successive readings do not differ or the consistency of the instrument output for a given value of input. A very precise reading though is not perfectly an accurate reading.</a:t>
            </a:r>
          </a:p>
          <a:p>
            <a:pPr marL="914400" lvl="1" indent="-457200">
              <a:buFont typeface="+mj-lt"/>
              <a:buAutoNum type="arabicPeriod"/>
            </a:pPr>
            <a:endParaRPr lang="en-US" dirty="0"/>
          </a:p>
          <a:p>
            <a:pPr marL="914400" lvl="1" indent="-457200">
              <a:buFont typeface="+mj-lt"/>
              <a:buAutoNum type="arabicPeriod"/>
            </a:pPr>
            <a:endParaRPr lang="en-US" dirty="0"/>
          </a:p>
          <a:p>
            <a:pPr marL="914400" lvl="1" indent="-457200">
              <a:buFont typeface="+mj-lt"/>
              <a:buAutoNum type="arabicPeriod"/>
            </a:pPr>
            <a:endParaRPr lang="en-US" dirty="0">
              <a:solidFill>
                <a:schemeClr val="accent1">
                  <a:lumMod val="75000"/>
                </a:schemeClr>
              </a:solidFill>
            </a:endParaRPr>
          </a:p>
        </p:txBody>
      </p:sp>
      <p:pic>
        <p:nvPicPr>
          <p:cNvPr id="30" name="Picture 29">
            <a:extLst>
              <a:ext uri="{FF2B5EF4-FFF2-40B4-BE49-F238E27FC236}">
                <a16:creationId xmlns:a16="http://schemas.microsoft.com/office/drawing/2014/main" id="{11ACEABC-6067-DD1A-3484-9D9D891CA5E9}"/>
              </a:ext>
            </a:extLst>
          </p:cNvPr>
          <p:cNvPicPr>
            <a:picLocks noChangeAspect="1"/>
          </p:cNvPicPr>
          <p:nvPr/>
        </p:nvPicPr>
        <p:blipFill>
          <a:blip r:embed="rId2"/>
          <a:stretch>
            <a:fillRect/>
          </a:stretch>
        </p:blipFill>
        <p:spPr>
          <a:xfrm>
            <a:off x="2800668" y="5341324"/>
            <a:ext cx="5578080" cy="934215"/>
          </a:xfrm>
          <a:prstGeom prst="rect">
            <a:avLst/>
          </a:prstGeom>
        </p:spPr>
      </p:pic>
    </p:spTree>
    <p:extLst>
      <p:ext uri="{BB962C8B-B14F-4D97-AF65-F5344CB8AC3E}">
        <p14:creationId xmlns:p14="http://schemas.microsoft.com/office/powerpoint/2010/main" val="370094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92991-0B92-51DC-3E5C-4FEECBE671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337F3A-4628-163A-DEB4-815863922420}"/>
              </a:ext>
            </a:extLst>
          </p:cNvPr>
          <p:cNvSpPr>
            <a:spLocks noGrp="1"/>
          </p:cNvSpPr>
          <p:nvPr>
            <p:ph idx="1"/>
          </p:nvPr>
        </p:nvSpPr>
        <p:spPr>
          <a:xfrm>
            <a:off x="150312" y="266178"/>
            <a:ext cx="11912252" cy="6397669"/>
          </a:xfrm>
        </p:spPr>
        <p:txBody>
          <a:bodyPr>
            <a:normAutofit lnSpcReduction="10000"/>
          </a:bodyPr>
          <a:lstStyle/>
          <a:p>
            <a:pPr marL="457200" lvl="1" indent="0">
              <a:buNone/>
            </a:pPr>
            <a:r>
              <a:rPr lang="en-US" b="1" dirty="0">
                <a:solidFill>
                  <a:schemeClr val="accent1">
                    <a:lumMod val="75000"/>
                  </a:schemeClr>
                </a:solidFill>
              </a:rPr>
              <a:t>6.</a:t>
            </a:r>
            <a:r>
              <a:rPr lang="en-US" b="1" dirty="0"/>
              <a:t> </a:t>
            </a:r>
            <a:r>
              <a:rPr lang="en-US" b="1" dirty="0">
                <a:solidFill>
                  <a:schemeClr val="accent1">
                    <a:lumMod val="75000"/>
                  </a:schemeClr>
                </a:solidFill>
              </a:rPr>
              <a:t>Expected value </a:t>
            </a:r>
            <a:r>
              <a:rPr lang="en-US" dirty="0"/>
              <a:t>– The design value that is, “most probable value” that calculations indicate one should expect to measure.</a:t>
            </a:r>
            <a:endParaRPr lang="en-US" sz="2000" dirty="0"/>
          </a:p>
          <a:p>
            <a:pPr marL="457200" lvl="1" indent="0">
              <a:buNone/>
            </a:pPr>
            <a:r>
              <a:rPr lang="en-US" b="1" dirty="0">
                <a:solidFill>
                  <a:schemeClr val="accent1">
                    <a:lumMod val="75000"/>
                  </a:schemeClr>
                </a:solidFill>
              </a:rPr>
              <a:t>7. </a:t>
            </a:r>
            <a:r>
              <a:rPr lang="en-US" b="1" dirty="0" err="1">
                <a:solidFill>
                  <a:schemeClr val="accent1">
                    <a:lumMod val="75000"/>
                  </a:schemeClr>
                </a:solidFill>
              </a:rPr>
              <a:t>Hysterisis</a:t>
            </a:r>
            <a:r>
              <a:rPr lang="en-US" b="1" dirty="0">
                <a:solidFill>
                  <a:schemeClr val="accent1">
                    <a:lumMod val="75000"/>
                  </a:schemeClr>
                </a:solidFill>
              </a:rPr>
              <a:t> </a:t>
            </a:r>
            <a:r>
              <a:rPr lang="en-US" dirty="0"/>
              <a:t>– The different loading and unloading curve due to the magnetic </a:t>
            </a:r>
            <a:r>
              <a:rPr lang="en-US" dirty="0" err="1"/>
              <a:t>hysterisis</a:t>
            </a:r>
            <a:r>
              <a:rPr lang="en-US" dirty="0"/>
              <a:t> of the iron. E.g.: Occur to a moving iron voltmeter, it is slowly varies from zero to full scale value and then back to zero; the input-output curve will be different.</a:t>
            </a:r>
            <a:endParaRPr lang="en-US" sz="2000" dirty="0"/>
          </a:p>
          <a:p>
            <a:pPr marL="457200" lvl="1" indent="0">
              <a:buNone/>
            </a:pPr>
            <a:r>
              <a:rPr lang="en-US" b="1" dirty="0">
                <a:solidFill>
                  <a:schemeClr val="accent1">
                    <a:lumMod val="75000"/>
                  </a:schemeClr>
                </a:solidFill>
              </a:rPr>
              <a:t>8. Dead Zone/band </a:t>
            </a:r>
            <a:r>
              <a:rPr lang="en-US" dirty="0"/>
              <a:t>– The total range of possible values for instrument will not given a reading even there is changes in measured parameter.</a:t>
            </a:r>
            <a:endParaRPr lang="en-US" sz="2000" dirty="0"/>
          </a:p>
          <a:p>
            <a:pPr marL="457200" lvl="1" indent="0">
              <a:buNone/>
            </a:pPr>
            <a:r>
              <a:rPr lang="en-US" b="1" dirty="0">
                <a:solidFill>
                  <a:schemeClr val="accent1">
                    <a:lumMod val="75000"/>
                  </a:schemeClr>
                </a:solidFill>
              </a:rPr>
              <a:t>9. Nominal value </a:t>
            </a:r>
            <a:r>
              <a:rPr lang="en-US" dirty="0"/>
              <a:t>- Is some value of input and output that had been stated by the manufacturer for user manual.</a:t>
            </a:r>
          </a:p>
          <a:p>
            <a:pPr marL="457200" lvl="1" indent="0">
              <a:buNone/>
            </a:pPr>
            <a:r>
              <a:rPr lang="en-US" b="1" dirty="0">
                <a:solidFill>
                  <a:schemeClr val="accent1">
                    <a:lumMod val="75000"/>
                  </a:schemeClr>
                </a:solidFill>
              </a:rPr>
              <a:t>10. Bias </a:t>
            </a:r>
            <a:r>
              <a:rPr lang="en-US" dirty="0"/>
              <a:t>– A constant error that occur to instrument when the pointer not starting from zero scale.</a:t>
            </a:r>
          </a:p>
          <a:p>
            <a:pPr marL="457200" lvl="1" indent="0">
              <a:buNone/>
            </a:pPr>
            <a:r>
              <a:rPr lang="en-US" b="1" dirty="0">
                <a:solidFill>
                  <a:schemeClr val="accent1">
                    <a:lumMod val="75000"/>
                  </a:schemeClr>
                </a:solidFill>
              </a:rPr>
              <a:t>11. Range </a:t>
            </a:r>
            <a:r>
              <a:rPr lang="en-US" dirty="0"/>
              <a:t>– A minimum and maximum range for instrument to operate and it is stated by the manufacturer of the instrument.</a:t>
            </a:r>
          </a:p>
          <a:p>
            <a:pPr marL="457200" lvl="1" indent="0">
              <a:buNone/>
            </a:pPr>
            <a:r>
              <a:rPr lang="en-US" b="1" dirty="0">
                <a:solidFill>
                  <a:schemeClr val="accent1">
                    <a:lumMod val="75000"/>
                  </a:schemeClr>
                </a:solidFill>
              </a:rPr>
              <a:t>12. Sensitivity </a:t>
            </a:r>
            <a:r>
              <a:rPr lang="en-US" dirty="0"/>
              <a:t>– The ratio of the change in output (response) of the instrument to a change of input or measured variable</a:t>
            </a:r>
          </a:p>
          <a:p>
            <a:pPr marL="457200" lvl="1" indent="0">
              <a:buNone/>
            </a:pPr>
            <a:endParaRPr lang="en-US" sz="2000" dirty="0"/>
          </a:p>
          <a:p>
            <a:pPr marL="457200" lvl="1" indent="0">
              <a:buNone/>
            </a:pPr>
            <a:endParaRPr lang="en-US" dirty="0"/>
          </a:p>
          <a:p>
            <a:pPr marL="457200" lvl="1" indent="0">
              <a:buNone/>
            </a:pPr>
            <a:r>
              <a:rPr lang="en-US" dirty="0"/>
              <a:t>Dynamic characteristic are concerned with the measurement of quantities that vary with time</a:t>
            </a:r>
          </a:p>
          <a:p>
            <a:pPr marL="914400" lvl="1" indent="-457200">
              <a:buFont typeface="+mj-lt"/>
              <a:buAutoNum type="arabicPeriod"/>
            </a:pPr>
            <a:endParaRPr lang="en-US" dirty="0">
              <a:solidFill>
                <a:schemeClr val="accent1">
                  <a:lumMod val="75000"/>
                </a:schemeClr>
              </a:solidFill>
            </a:endParaRPr>
          </a:p>
        </p:txBody>
      </p:sp>
      <p:pic>
        <p:nvPicPr>
          <p:cNvPr id="4" name="Picture 3">
            <a:extLst>
              <a:ext uri="{FF2B5EF4-FFF2-40B4-BE49-F238E27FC236}">
                <a16:creationId xmlns:a16="http://schemas.microsoft.com/office/drawing/2014/main" id="{6FC88899-E8BA-8FC3-CBC8-C5C0118451A7}"/>
              </a:ext>
            </a:extLst>
          </p:cNvPr>
          <p:cNvPicPr>
            <a:picLocks noChangeAspect="1"/>
          </p:cNvPicPr>
          <p:nvPr/>
        </p:nvPicPr>
        <p:blipFill>
          <a:blip r:embed="rId2"/>
          <a:stretch>
            <a:fillRect/>
          </a:stretch>
        </p:blipFill>
        <p:spPr>
          <a:xfrm>
            <a:off x="4421688" y="5000012"/>
            <a:ext cx="1903956" cy="693814"/>
          </a:xfrm>
          <a:prstGeom prst="rect">
            <a:avLst/>
          </a:prstGeom>
        </p:spPr>
      </p:pic>
    </p:spTree>
    <p:extLst>
      <p:ext uri="{BB962C8B-B14F-4D97-AF65-F5344CB8AC3E}">
        <p14:creationId xmlns:p14="http://schemas.microsoft.com/office/powerpoint/2010/main" val="2945285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55A47-D40F-E3FF-8480-B3CE8E5EA55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E5DADB-01CA-76E3-8B53-B441C2B04A65}"/>
              </a:ext>
            </a:extLst>
          </p:cNvPr>
          <p:cNvSpPr>
            <a:spLocks noGrp="1"/>
          </p:cNvSpPr>
          <p:nvPr>
            <p:ph idx="1"/>
          </p:nvPr>
        </p:nvSpPr>
        <p:spPr>
          <a:xfrm>
            <a:off x="200416" y="1002082"/>
            <a:ext cx="11586576" cy="5461348"/>
          </a:xfrm>
        </p:spPr>
        <p:txBody>
          <a:bodyPr>
            <a:normAutofit fontScale="77500" lnSpcReduction="20000"/>
          </a:bodyPr>
          <a:lstStyle/>
          <a:p>
            <a:pPr marL="0" indent="0">
              <a:buNone/>
            </a:pPr>
            <a:endParaRPr lang="en-US" sz="3400" dirty="0"/>
          </a:p>
          <a:p>
            <a:pPr marL="0" indent="0">
              <a:buNone/>
            </a:pPr>
            <a:r>
              <a:rPr lang="en-US" sz="3400" dirty="0"/>
              <a:t>Measurement is essentially the act, or the result, of a quantitative comparison between a given quantity and a quantity of the same kind chosen as a unit. The result of measurement is expressed by a number representing the ratio of the unknown quantity to the adopted unit of measurement.</a:t>
            </a:r>
          </a:p>
          <a:p>
            <a:endParaRPr lang="en-US" sz="3400" dirty="0"/>
          </a:p>
          <a:p>
            <a:pPr marL="0" indent="0">
              <a:buNone/>
            </a:pPr>
            <a:r>
              <a:rPr lang="en-US" sz="3100" b="1" dirty="0">
                <a:solidFill>
                  <a:srgbClr val="002060"/>
                </a:solidFill>
              </a:rPr>
              <a:t>The step taken before measure:</a:t>
            </a:r>
          </a:p>
          <a:p>
            <a:pPr marL="514350" lvl="0" indent="-514350">
              <a:buFont typeface="+mj-lt"/>
              <a:buAutoNum type="arabicPeriod"/>
            </a:pPr>
            <a:r>
              <a:rPr lang="en-US" sz="3100" dirty="0">
                <a:solidFill>
                  <a:schemeClr val="accent1">
                    <a:lumMod val="75000"/>
                  </a:schemeClr>
                </a:solidFill>
              </a:rPr>
              <a:t>Procedure of measurement</a:t>
            </a:r>
            <a:r>
              <a:rPr lang="en-US" sz="3100" dirty="0"/>
              <a:t>: Identified the parameter or variable to be measured, how to record the result</a:t>
            </a:r>
          </a:p>
          <a:p>
            <a:pPr marL="514350" lvl="0" indent="-514350">
              <a:buFont typeface="+mj-lt"/>
              <a:buAutoNum type="arabicPeriod"/>
            </a:pPr>
            <a:r>
              <a:rPr lang="en-US" sz="3100" dirty="0">
                <a:solidFill>
                  <a:schemeClr val="accent1">
                    <a:lumMod val="75000"/>
                  </a:schemeClr>
                </a:solidFill>
              </a:rPr>
              <a:t>Characteristic of parameter</a:t>
            </a:r>
            <a:r>
              <a:rPr lang="en-US" sz="3100" dirty="0"/>
              <a:t>: Should know the parameter that to be measured; ac, dc, frequency or etc.</a:t>
            </a:r>
          </a:p>
          <a:p>
            <a:pPr marL="514350" lvl="0" indent="-514350">
              <a:buFont typeface="+mj-lt"/>
              <a:buAutoNum type="arabicPeriod"/>
            </a:pPr>
            <a:r>
              <a:rPr lang="en-US" sz="3100" dirty="0">
                <a:solidFill>
                  <a:schemeClr val="accent1">
                    <a:lumMod val="75000"/>
                  </a:schemeClr>
                </a:solidFill>
              </a:rPr>
              <a:t>Quality: Time and cost of equipment</a:t>
            </a:r>
            <a:r>
              <a:rPr lang="en-US" sz="3100" dirty="0"/>
              <a:t>, the instrument ability, the measurement knowledge and suitable result.</a:t>
            </a:r>
          </a:p>
          <a:p>
            <a:pPr marL="514350" lvl="0" indent="-514350">
              <a:buFont typeface="+mj-lt"/>
              <a:buAutoNum type="arabicPeriod"/>
            </a:pPr>
            <a:r>
              <a:rPr lang="en-US" sz="3100" dirty="0">
                <a:solidFill>
                  <a:schemeClr val="accent1">
                    <a:lumMod val="75000"/>
                  </a:schemeClr>
                </a:solidFill>
              </a:rPr>
              <a:t>Instrument</a:t>
            </a:r>
            <a:r>
              <a:rPr lang="en-US" sz="3100" dirty="0"/>
              <a:t>: Choose a suitable equipment; multimeter, voltmeter, oscilloscope or etc.</a:t>
            </a:r>
          </a:p>
          <a:p>
            <a:pPr marL="0" indent="0">
              <a:buNone/>
            </a:pPr>
            <a:r>
              <a:rPr lang="en-US" sz="3100" dirty="0"/>
              <a:t> </a:t>
            </a:r>
          </a:p>
          <a:p>
            <a:pPr marL="0" indent="0">
              <a:buNone/>
            </a:pPr>
            <a:endParaRPr lang="en-US" dirty="0"/>
          </a:p>
        </p:txBody>
      </p:sp>
      <p:sp>
        <p:nvSpPr>
          <p:cNvPr id="4" name="Rectangles 3">
            <a:extLst>
              <a:ext uri="{FF2B5EF4-FFF2-40B4-BE49-F238E27FC236}">
                <a16:creationId xmlns:a16="http://schemas.microsoft.com/office/drawing/2014/main" id="{DE87B329-5F93-53AC-1D34-B9C6034DE880}"/>
              </a:ext>
            </a:extLst>
          </p:cNvPr>
          <p:cNvSpPr/>
          <p:nvPr/>
        </p:nvSpPr>
        <p:spPr>
          <a:xfrm>
            <a:off x="0" y="-6066"/>
            <a:ext cx="12192000" cy="895414"/>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dirty="0">
              <a:solidFill>
                <a:srgbClr val="FF0000"/>
              </a:solidFill>
            </a:endParaRPr>
          </a:p>
        </p:txBody>
      </p:sp>
      <p:sp>
        <p:nvSpPr>
          <p:cNvPr id="5" name="Text Box 4">
            <a:extLst>
              <a:ext uri="{FF2B5EF4-FFF2-40B4-BE49-F238E27FC236}">
                <a16:creationId xmlns:a16="http://schemas.microsoft.com/office/drawing/2014/main" id="{F896E3D2-B3B4-2FB4-87B2-2526023AE49A}"/>
              </a:ext>
            </a:extLst>
          </p:cNvPr>
          <p:cNvSpPr txBox="1"/>
          <p:nvPr/>
        </p:nvSpPr>
        <p:spPr>
          <a:xfrm>
            <a:off x="66675" y="-17145"/>
            <a:ext cx="10968355" cy="800219"/>
          </a:xfrm>
          <a:prstGeom prst="rect">
            <a:avLst/>
          </a:prstGeom>
        </p:spPr>
        <p:txBody>
          <a:bodyPr wrap="square">
            <a:spAutoFit/>
          </a:bodyPr>
          <a:lstStyle/>
          <a:p>
            <a:pPr lvl="1"/>
            <a:r>
              <a:rPr lang="en-US" sz="4600" b="1" dirty="0"/>
              <a:t>1.3 Process of measurement</a:t>
            </a:r>
          </a:p>
        </p:txBody>
      </p:sp>
    </p:spTree>
    <p:extLst>
      <p:ext uri="{BB962C8B-B14F-4D97-AF65-F5344CB8AC3E}">
        <p14:creationId xmlns:p14="http://schemas.microsoft.com/office/powerpoint/2010/main" val="4172583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92492-7CD9-3502-163D-077060CBDC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C6C214-2B65-BCBC-E681-FA58770CBEF7}"/>
              </a:ext>
            </a:extLst>
          </p:cNvPr>
          <p:cNvSpPr>
            <a:spLocks noGrp="1"/>
          </p:cNvSpPr>
          <p:nvPr>
            <p:ph idx="1"/>
          </p:nvPr>
        </p:nvSpPr>
        <p:spPr>
          <a:xfrm>
            <a:off x="265134" y="447805"/>
            <a:ext cx="11672170" cy="5952995"/>
          </a:xfrm>
        </p:spPr>
        <p:txBody>
          <a:bodyPr>
            <a:normAutofit/>
          </a:bodyPr>
          <a:lstStyle/>
          <a:p>
            <a:pPr marL="0" indent="0">
              <a:buNone/>
            </a:pPr>
            <a:r>
              <a:rPr lang="en-US" b="1" dirty="0">
                <a:solidFill>
                  <a:srgbClr val="002060"/>
                </a:solidFill>
              </a:rPr>
              <a:t>During measurement:</a:t>
            </a:r>
          </a:p>
          <a:p>
            <a:pPr marL="514350" lvl="0" indent="-514350">
              <a:buFont typeface="+mj-lt"/>
              <a:buAutoNum type="arabicPeriod"/>
            </a:pPr>
            <a:r>
              <a:rPr lang="en-US" dirty="0">
                <a:solidFill>
                  <a:schemeClr val="accent1">
                    <a:lumMod val="75000"/>
                  </a:schemeClr>
                </a:solidFill>
              </a:rPr>
              <a:t>Quality</a:t>
            </a:r>
            <a:r>
              <a:rPr lang="en-US" dirty="0"/>
              <a:t>: Make sure the chosen, instrument is the best, the right position when taken result, the frequent of measurement.</a:t>
            </a:r>
            <a:endParaRPr lang="en-US" sz="3200" dirty="0"/>
          </a:p>
          <a:p>
            <a:pPr marL="514350" lvl="0" indent="-514350">
              <a:buFont typeface="+mj-lt"/>
              <a:buAutoNum type="arabicPeriod"/>
            </a:pPr>
            <a:r>
              <a:rPr lang="en-US" dirty="0">
                <a:solidFill>
                  <a:schemeClr val="accent1">
                    <a:lumMod val="75000"/>
                  </a:schemeClr>
                </a:solidFill>
              </a:rPr>
              <a:t>Safety first</a:t>
            </a:r>
            <a:r>
              <a:rPr lang="en-US" dirty="0"/>
              <a:t>: Electric shock, overload effect, limitation of instrument.</a:t>
            </a:r>
          </a:p>
          <a:p>
            <a:pPr marL="514350" lvl="0" indent="-514350">
              <a:buFont typeface="+mj-lt"/>
              <a:buAutoNum type="arabicPeriod"/>
            </a:pPr>
            <a:r>
              <a:rPr lang="en-US" dirty="0">
                <a:solidFill>
                  <a:schemeClr val="accent1">
                    <a:lumMod val="75000"/>
                  </a:schemeClr>
                </a:solidFill>
              </a:rPr>
              <a:t>Sampling</a:t>
            </a:r>
            <a:r>
              <a:rPr lang="en-US" dirty="0"/>
              <a:t>: See the changing of parameter during measurement, which value should be taken when the parameter keep changing. Take enough samples and it is accepted.</a:t>
            </a:r>
          </a:p>
          <a:p>
            <a:pPr marL="0" lvl="0" indent="0">
              <a:buNone/>
            </a:pPr>
            <a:endParaRPr lang="en-US" dirty="0"/>
          </a:p>
          <a:p>
            <a:pPr marL="0" indent="0">
              <a:buNone/>
            </a:pPr>
            <a:r>
              <a:rPr lang="en-US" b="1" dirty="0">
                <a:solidFill>
                  <a:srgbClr val="002060"/>
                </a:solidFill>
              </a:rPr>
              <a:t>The step taken after measurement:</a:t>
            </a:r>
          </a:p>
          <a:p>
            <a:pPr marL="0" indent="0">
              <a:buNone/>
            </a:pPr>
            <a:r>
              <a:rPr lang="en-US" dirty="0"/>
              <a:t>Every data recorded must be </a:t>
            </a:r>
            <a:r>
              <a:rPr lang="en-US" dirty="0" err="1"/>
              <a:t>analysed</a:t>
            </a:r>
            <a:r>
              <a:rPr lang="en-US" dirty="0"/>
              <a:t>, statically, mathematically and the result must be accurately and completed.</a:t>
            </a:r>
          </a:p>
          <a:p>
            <a:pPr marL="0" indent="0">
              <a:buNone/>
            </a:pPr>
            <a:endParaRPr lang="en-US" sz="3100" dirty="0"/>
          </a:p>
          <a:p>
            <a:pPr marL="0" indent="0">
              <a:buNone/>
            </a:pPr>
            <a:endParaRPr lang="en-US" dirty="0"/>
          </a:p>
        </p:txBody>
      </p:sp>
    </p:spTree>
    <p:extLst>
      <p:ext uri="{BB962C8B-B14F-4D97-AF65-F5344CB8AC3E}">
        <p14:creationId xmlns:p14="http://schemas.microsoft.com/office/powerpoint/2010/main" val="458029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0" y="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dirty="0"/>
          </a:p>
        </p:txBody>
      </p:sp>
      <p:sp>
        <p:nvSpPr>
          <p:cNvPr id="5" name="Text Box 4"/>
          <p:cNvSpPr txBox="1"/>
          <p:nvPr/>
        </p:nvSpPr>
        <p:spPr>
          <a:xfrm>
            <a:off x="66675" y="-17145"/>
            <a:ext cx="10968355" cy="829945"/>
          </a:xfrm>
          <a:prstGeom prst="rect">
            <a:avLst/>
          </a:prstGeom>
        </p:spPr>
        <p:txBody>
          <a:bodyPr wrap="square">
            <a:spAutoFit/>
          </a:bodyPr>
          <a:lstStyle/>
          <a:p>
            <a:r>
              <a:rPr lang="en-US" sz="4800" b="1" dirty="0">
                <a:solidFill>
                  <a:srgbClr val="000000"/>
                </a:solidFill>
                <a:latin typeface="Bahnschrift Light" panose="020B0502040204020203" charset="0"/>
                <a:ea typeface="Calibri-Bold"/>
                <a:cs typeface="Bahnschrift Light" panose="020B0502040204020203" charset="0"/>
              </a:rPr>
              <a:t>1.4 Error in measurement</a:t>
            </a: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3"/>
            </p:blipFill>
            <p:spPr>
              <a:xfrm>
                <a:off x="7670800" y="749300"/>
                <a:ext cx="196850" cy="360"/>
              </a:xfrm>
              <a:prstGeom prst="rect"/>
            </p:spPr>
          </p:pic>
        </mc:Fallback>
      </mc:AlternateContent>
      <p:sp>
        <p:nvSpPr>
          <p:cNvPr id="3" name="Text Box 2"/>
          <p:cNvSpPr txBox="1"/>
          <p:nvPr/>
        </p:nvSpPr>
        <p:spPr>
          <a:xfrm>
            <a:off x="52705" y="942975"/>
            <a:ext cx="12022455" cy="5683293"/>
          </a:xfrm>
          <a:prstGeom prst="rect">
            <a:avLst/>
          </a:prstGeom>
        </p:spPr>
        <p:txBody>
          <a:bodyPr wrap="square">
            <a:noAutofit/>
          </a:bodyPr>
          <a:lstStyle/>
          <a:p>
            <a:pPr marL="342900" indent="-342900">
              <a:buFont typeface="Arial" panose="020B0604020202020204" pitchFamily="34" charset="0"/>
              <a:buChar char="•"/>
            </a:pPr>
            <a:endParaRPr sz="3200" dirty="0">
              <a:solidFill>
                <a:srgbClr val="000000"/>
              </a:solidFill>
              <a:latin typeface="Times New Roman" panose="02020603050405020304" charset="0"/>
              <a:ea typeface="Times New Roman" panose="02020603050405020304"/>
              <a:cs typeface="Times New Roman" panose="02020603050405020304" charset="0"/>
            </a:endParaRPr>
          </a:p>
          <a:p>
            <a:endParaRPr sz="3200" dirty="0">
              <a:solidFill>
                <a:srgbClr val="000000"/>
              </a:solidFill>
              <a:latin typeface="Times New Roman" panose="02020603050405020304" charset="0"/>
              <a:ea typeface="Times New Roman" panose="02020603050405020304"/>
              <a:cs typeface="Times New Roman" panose="02020603050405020304" charset="0"/>
            </a:endParaRPr>
          </a:p>
        </p:txBody>
      </p:sp>
      <p:sp>
        <p:nvSpPr>
          <p:cNvPr id="6" name="TextBox 5">
            <a:extLst>
              <a:ext uri="{FF2B5EF4-FFF2-40B4-BE49-F238E27FC236}">
                <a16:creationId xmlns:a16="http://schemas.microsoft.com/office/drawing/2014/main" id="{404A043C-88A9-8E80-56AF-EDA30CC06898}"/>
              </a:ext>
            </a:extLst>
          </p:cNvPr>
          <p:cNvSpPr txBox="1"/>
          <p:nvPr/>
        </p:nvSpPr>
        <p:spPr>
          <a:xfrm>
            <a:off x="66674" y="899160"/>
            <a:ext cx="12008485" cy="2655107"/>
          </a:xfrm>
          <a:prstGeom prst="rect">
            <a:avLst/>
          </a:prstGeom>
          <a:noFill/>
        </p:spPr>
        <p:txBody>
          <a:bodyPr wrap="square">
            <a:spAutoFit/>
          </a:bodyPr>
          <a:lstStyle/>
          <a:p>
            <a:pPr marL="227965" marR="0">
              <a:lnSpc>
                <a:spcPct val="150000"/>
              </a:lnSpc>
              <a:buNone/>
            </a:pPr>
            <a:r>
              <a:rPr lang="en-US" sz="2400" b="1" dirty="0">
                <a:solidFill>
                  <a:schemeClr val="accent1">
                    <a:lumMod val="75000"/>
                  </a:schemeClr>
                </a:solidFill>
                <a:effectLst/>
                <a:latin typeface="Times New Roman" panose="02020603050405020304" pitchFamily="18" charset="0"/>
                <a:ea typeface="Times New Roman" panose="02020603050405020304" pitchFamily="18" charset="0"/>
              </a:rPr>
              <a:t>Error</a:t>
            </a:r>
            <a:r>
              <a:rPr lang="en-US" sz="2400" b="1" spc="3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3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defined</a:t>
            </a:r>
            <a:r>
              <a:rPr lang="en-US" sz="2400" spc="3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as</a:t>
            </a:r>
            <a:r>
              <a:rPr lang="en-US" sz="2400" spc="3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3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difference</a:t>
            </a:r>
            <a:r>
              <a:rPr lang="en-US" sz="2400" spc="3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between</a:t>
            </a:r>
            <a:r>
              <a:rPr lang="en-US" sz="2400" spc="3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3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true</a:t>
            </a:r>
            <a:r>
              <a:rPr lang="en-US" sz="2400" spc="3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value</a:t>
            </a:r>
            <a:r>
              <a:rPr lang="en-US" sz="2400" spc="3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(expected</a:t>
            </a:r>
            <a:r>
              <a:rPr lang="en-US" sz="2400" spc="3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value)</a:t>
            </a:r>
            <a:r>
              <a:rPr lang="en-US" sz="2400" spc="3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3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 measurand and the measured value indicated by the instrument.</a:t>
            </a:r>
          </a:p>
          <a:p>
            <a:pPr marL="227965" marR="0">
              <a:buNone/>
            </a:pPr>
            <a:r>
              <a:rPr lang="en-US" sz="2400" dirty="0">
                <a:effectLst/>
                <a:latin typeface="Times New Roman" panose="02020603050405020304" pitchFamily="18" charset="0"/>
                <a:ea typeface="Times New Roman" panose="02020603050405020304" pitchFamily="18" charset="0"/>
              </a:rPr>
              <a:t>Error</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may</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expressed</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either</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as</a:t>
            </a:r>
            <a:r>
              <a:rPr lang="en-US" sz="2400" spc="-5" dirty="0">
                <a:effectLst/>
                <a:latin typeface="Times New Roman" panose="02020603050405020304" pitchFamily="18" charset="0"/>
                <a:ea typeface="Times New Roman" panose="02020603050405020304" pitchFamily="18" charset="0"/>
              </a:rPr>
              <a:t> </a:t>
            </a:r>
            <a:r>
              <a:rPr lang="en-US" sz="2400" i="1" dirty="0">
                <a:effectLst/>
                <a:latin typeface="Times New Roman" panose="02020603050405020304" pitchFamily="18" charset="0"/>
                <a:ea typeface="Times New Roman" panose="02020603050405020304" pitchFamily="18" charset="0"/>
              </a:rPr>
              <a:t>absolute</a:t>
            </a:r>
            <a:r>
              <a:rPr lang="en-US" sz="2400" i="1" spc="-5" dirty="0">
                <a:effectLst/>
                <a:latin typeface="Times New Roman" panose="02020603050405020304" pitchFamily="18" charset="0"/>
                <a:ea typeface="Times New Roman" panose="02020603050405020304" pitchFamily="18" charset="0"/>
              </a:rPr>
              <a:t> </a:t>
            </a:r>
            <a:r>
              <a:rPr lang="en-US" sz="2400" i="1" dirty="0">
                <a:effectLst/>
                <a:latin typeface="Times New Roman" panose="02020603050405020304" pitchFamily="18" charset="0"/>
                <a:ea typeface="Times New Roman" panose="02020603050405020304" pitchFamily="18" charset="0"/>
              </a:rPr>
              <a:t>error</a:t>
            </a:r>
            <a:r>
              <a:rPr lang="en-US" sz="2400" i="1"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or</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as</a:t>
            </a:r>
            <a:r>
              <a:rPr lang="en-US" sz="2400" spc="-10" dirty="0">
                <a:effectLst/>
                <a:latin typeface="Times New Roman" panose="02020603050405020304" pitchFamily="18" charset="0"/>
                <a:ea typeface="Times New Roman" panose="02020603050405020304" pitchFamily="18" charset="0"/>
              </a:rPr>
              <a:t> </a:t>
            </a:r>
            <a:r>
              <a:rPr lang="en-US" sz="2400" i="1" dirty="0">
                <a:effectLst/>
                <a:latin typeface="Times New Roman" panose="02020603050405020304" pitchFamily="18" charset="0"/>
                <a:ea typeface="Times New Roman" panose="02020603050405020304" pitchFamily="18" charset="0"/>
              </a:rPr>
              <a:t>a</a:t>
            </a:r>
            <a:r>
              <a:rPr lang="en-US" sz="2400" i="1" spc="-10" dirty="0">
                <a:effectLst/>
                <a:latin typeface="Times New Roman" panose="02020603050405020304" pitchFamily="18" charset="0"/>
                <a:ea typeface="Times New Roman" panose="02020603050405020304" pitchFamily="18" charset="0"/>
              </a:rPr>
              <a:t> </a:t>
            </a:r>
            <a:r>
              <a:rPr lang="en-US" sz="2400" i="1" dirty="0">
                <a:effectLst/>
                <a:latin typeface="Times New Roman" panose="02020603050405020304" pitchFamily="18" charset="0"/>
                <a:ea typeface="Times New Roman" panose="02020603050405020304" pitchFamily="18" charset="0"/>
              </a:rPr>
              <a:t>percentage</a:t>
            </a:r>
            <a:r>
              <a:rPr lang="en-US" sz="2400" i="1" spc="-10" dirty="0">
                <a:effectLst/>
                <a:latin typeface="Times New Roman" panose="02020603050405020304" pitchFamily="18" charset="0"/>
                <a:ea typeface="Times New Roman" panose="02020603050405020304" pitchFamily="18" charset="0"/>
              </a:rPr>
              <a:t> </a:t>
            </a:r>
            <a:r>
              <a:rPr lang="en-US" sz="2400" i="1" dirty="0">
                <a:effectLst/>
                <a:latin typeface="Times New Roman" panose="02020603050405020304" pitchFamily="18" charset="0"/>
                <a:ea typeface="Times New Roman" panose="02020603050405020304" pitchFamily="18" charset="0"/>
              </a:rPr>
              <a:t>of</a:t>
            </a:r>
            <a:r>
              <a:rPr lang="en-US" sz="2400" i="1" spc="-10" dirty="0">
                <a:effectLst/>
                <a:latin typeface="Times New Roman" panose="02020603050405020304" pitchFamily="18" charset="0"/>
                <a:ea typeface="Times New Roman" panose="02020603050405020304" pitchFamily="18" charset="0"/>
              </a:rPr>
              <a:t> error</a:t>
            </a:r>
            <a:r>
              <a:rPr lang="en-US" sz="2400" spc="-10" dirty="0">
                <a:effectLst/>
                <a:latin typeface="Times New Roman" panose="02020603050405020304" pitchFamily="18" charset="0"/>
                <a:ea typeface="Times New Roman" panose="02020603050405020304" pitchFamily="18" charset="0"/>
              </a:rPr>
              <a:t>.</a:t>
            </a:r>
            <a:endParaRPr lang="en-US" sz="2400" dirty="0">
              <a:effectLst/>
              <a:latin typeface="Times New Roman" panose="02020603050405020304" pitchFamily="18" charset="0"/>
              <a:ea typeface="Times New Roman" panose="02020603050405020304" pitchFamily="18" charset="0"/>
            </a:endParaRPr>
          </a:p>
          <a:p>
            <a:pPr marL="228600" marR="86995">
              <a:lnSpc>
                <a:spcPct val="150000"/>
              </a:lnSpc>
              <a:buNone/>
            </a:pPr>
            <a:r>
              <a:rPr lang="en-US" sz="2400" b="1" dirty="0">
                <a:solidFill>
                  <a:schemeClr val="accent1">
                    <a:lumMod val="75000"/>
                  </a:schemeClr>
                </a:solidFill>
                <a:effectLst/>
                <a:latin typeface="Times New Roman" panose="02020603050405020304" pitchFamily="18" charset="0"/>
                <a:ea typeface="Times New Roman" panose="02020603050405020304" pitchFamily="18" charset="0"/>
              </a:rPr>
              <a:t>Absolute errors </a:t>
            </a:r>
            <a:r>
              <a:rPr lang="en-US" sz="2400" dirty="0">
                <a:effectLst/>
                <a:latin typeface="Times New Roman" panose="02020603050405020304" pitchFamily="18" charset="0"/>
                <a:ea typeface="Times New Roman" panose="02020603050405020304" pitchFamily="18" charset="0"/>
              </a:rPr>
              <a:t>are defined as the difference between the expected value of the variable and the measured value of variable.</a:t>
            </a:r>
          </a:p>
        </p:txBody>
      </p:sp>
      <p:pic>
        <p:nvPicPr>
          <p:cNvPr id="8" name="Picture 7">
            <a:extLst>
              <a:ext uri="{FF2B5EF4-FFF2-40B4-BE49-F238E27FC236}">
                <a16:creationId xmlns:a16="http://schemas.microsoft.com/office/drawing/2014/main" id="{8AF91BE0-A0DA-78F5-5E56-C01D871F799E}"/>
              </a:ext>
            </a:extLst>
          </p:cNvPr>
          <p:cNvPicPr>
            <a:picLocks noChangeAspect="1"/>
          </p:cNvPicPr>
          <p:nvPr/>
        </p:nvPicPr>
        <p:blipFill>
          <a:blip r:embed="rId4"/>
          <a:stretch>
            <a:fillRect/>
          </a:stretch>
        </p:blipFill>
        <p:spPr>
          <a:xfrm>
            <a:off x="3814791" y="3403091"/>
            <a:ext cx="3472122" cy="32231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03E7F2D-BC95-81CA-C302-15B5C894C496}"/>
              </a:ext>
            </a:extLst>
          </p:cNvPr>
          <p:cNvPicPr>
            <a:picLocks noGrp="1" noChangeAspect="1"/>
          </p:cNvPicPr>
          <p:nvPr>
            <p:ph idx="1"/>
          </p:nvPr>
        </p:nvPicPr>
        <p:blipFill>
          <a:blip r:embed="rId2"/>
          <a:stretch>
            <a:fillRect/>
          </a:stretch>
        </p:blipFill>
        <p:spPr>
          <a:xfrm>
            <a:off x="3536989" y="103682"/>
            <a:ext cx="4417038" cy="1914327"/>
          </a:xfrm>
          <a:prstGeom prst="rect">
            <a:avLst/>
          </a:prstGeom>
        </p:spPr>
      </p:pic>
      <p:sp>
        <p:nvSpPr>
          <p:cNvPr id="7" name="TextBox 6">
            <a:extLst>
              <a:ext uri="{FF2B5EF4-FFF2-40B4-BE49-F238E27FC236}">
                <a16:creationId xmlns:a16="http://schemas.microsoft.com/office/drawing/2014/main" id="{266D5FE3-4ABB-7122-6AD8-02D8A9B5EB78}"/>
              </a:ext>
            </a:extLst>
          </p:cNvPr>
          <p:cNvSpPr txBox="1"/>
          <p:nvPr/>
        </p:nvSpPr>
        <p:spPr>
          <a:xfrm>
            <a:off x="212943" y="2230003"/>
            <a:ext cx="11749413" cy="4524315"/>
          </a:xfrm>
          <a:prstGeom prst="rect">
            <a:avLst/>
          </a:prstGeom>
          <a:noFill/>
        </p:spPr>
        <p:txBody>
          <a:bodyPr wrap="square">
            <a:spAutoFit/>
          </a:bodyPr>
          <a:lstStyle/>
          <a:p>
            <a:r>
              <a:rPr lang="en-US" sz="2400" b="1" dirty="0"/>
              <a:t>Example 1: </a:t>
            </a:r>
          </a:p>
          <a:p>
            <a:r>
              <a:rPr lang="en-US" sz="2400" dirty="0"/>
              <a:t>The expected value of the voltage across a resistor is 90 V. However, the measurement gives a value of 89 V.</a:t>
            </a:r>
          </a:p>
          <a:p>
            <a:r>
              <a:rPr lang="en-US" sz="2400" dirty="0"/>
              <a:t> Calculate:</a:t>
            </a:r>
          </a:p>
          <a:p>
            <a:r>
              <a:rPr lang="en-US" sz="2400" dirty="0"/>
              <a:t>      a) Absolute error </a:t>
            </a:r>
          </a:p>
          <a:p>
            <a:r>
              <a:rPr lang="en-US" sz="2400" dirty="0"/>
              <a:t>      b) Percentage error </a:t>
            </a:r>
          </a:p>
          <a:p>
            <a:r>
              <a:rPr lang="en-US" sz="2400" dirty="0"/>
              <a:t>      c) Relative accuracy </a:t>
            </a:r>
          </a:p>
          <a:p>
            <a:r>
              <a:rPr lang="en-US" sz="2400" dirty="0"/>
              <a:t>      d) Percentage of accuracy </a:t>
            </a:r>
          </a:p>
          <a:p>
            <a:endParaRPr lang="en-US" sz="2400" dirty="0"/>
          </a:p>
          <a:p>
            <a:r>
              <a:rPr lang="en-US" sz="2400" b="1" dirty="0"/>
              <a:t>Solution:</a:t>
            </a:r>
          </a:p>
          <a:p>
            <a:r>
              <a:rPr lang="en-US" sz="2400" dirty="0"/>
              <a:t> Expected value of voltage across a resistor, Yn = 90 V </a:t>
            </a:r>
          </a:p>
          <a:p>
            <a:r>
              <a:rPr lang="en-US" sz="2400" dirty="0"/>
              <a:t> Measured value of voltage across a resistor, </a:t>
            </a:r>
            <a:r>
              <a:rPr lang="en-US" sz="2400" dirty="0" err="1"/>
              <a:t>Xn</a:t>
            </a:r>
            <a:r>
              <a:rPr lang="en-US" sz="2400" dirty="0"/>
              <a:t> = 89 V </a:t>
            </a:r>
          </a:p>
        </p:txBody>
      </p:sp>
    </p:spTree>
    <p:extLst>
      <p:ext uri="{BB962C8B-B14F-4D97-AF65-F5344CB8AC3E}">
        <p14:creationId xmlns:p14="http://schemas.microsoft.com/office/powerpoint/2010/main" val="3396788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2BA1C4-B228-894E-778E-055A21161292}"/>
              </a:ext>
            </a:extLst>
          </p:cNvPr>
          <p:cNvSpPr>
            <a:spLocks noGrp="1"/>
          </p:cNvSpPr>
          <p:nvPr>
            <p:ph idx="1"/>
          </p:nvPr>
        </p:nvSpPr>
        <p:spPr>
          <a:xfrm>
            <a:off x="375781" y="363254"/>
            <a:ext cx="11311003" cy="6225435"/>
          </a:xfrm>
        </p:spPr>
        <p:txBody>
          <a:bodyPr>
            <a:normAutofit/>
          </a:bodyPr>
          <a:lstStyle/>
          <a:p>
            <a:pPr marL="457200" lvl="1" indent="0">
              <a:buNone/>
            </a:pPr>
            <a:endParaRPr lang="en-US" dirty="0"/>
          </a:p>
          <a:p>
            <a:pPr marL="457200" lvl="1" indent="0">
              <a:buNone/>
            </a:pPr>
            <a:r>
              <a:rPr lang="en-US" dirty="0"/>
              <a:t> a) Absolute error ,e    = Yn – </a:t>
            </a:r>
            <a:r>
              <a:rPr lang="en-US" dirty="0" err="1"/>
              <a:t>Xn</a:t>
            </a:r>
            <a:endParaRPr lang="en-US" dirty="0"/>
          </a:p>
          <a:p>
            <a:pPr marL="457200" lvl="1" indent="0">
              <a:buNone/>
            </a:pPr>
            <a:r>
              <a:rPr lang="en-US" dirty="0"/>
              <a:t>                                         =90 – 89</a:t>
            </a:r>
          </a:p>
          <a:p>
            <a:pPr marL="457200" lvl="1" indent="0">
              <a:buNone/>
            </a:pPr>
            <a:r>
              <a:rPr lang="en-US" dirty="0"/>
              <a:t>                                         =1 V</a:t>
            </a:r>
          </a:p>
          <a:p>
            <a:pPr marL="457200" lvl="1" indent="0">
              <a:buNone/>
            </a:pPr>
            <a:endParaRPr lang="en-US" sz="1000" dirty="0"/>
          </a:p>
          <a:p>
            <a:pPr marL="457200" lvl="1" indent="0">
              <a:buNone/>
            </a:pPr>
            <a:endParaRPr lang="en-US" dirty="0"/>
          </a:p>
          <a:p>
            <a:pPr marL="457200" lvl="1" indent="0">
              <a:buNone/>
            </a:pPr>
            <a:endParaRPr lang="en-US" dirty="0"/>
          </a:p>
        </p:txBody>
      </p:sp>
      <p:pic>
        <p:nvPicPr>
          <p:cNvPr id="17" name="Picture 16">
            <a:extLst>
              <a:ext uri="{FF2B5EF4-FFF2-40B4-BE49-F238E27FC236}">
                <a16:creationId xmlns:a16="http://schemas.microsoft.com/office/drawing/2014/main" id="{CAEE8E36-82AF-A9E8-44D1-2BEBBE0FC75A}"/>
              </a:ext>
            </a:extLst>
          </p:cNvPr>
          <p:cNvPicPr>
            <a:picLocks noChangeAspect="1"/>
          </p:cNvPicPr>
          <p:nvPr/>
        </p:nvPicPr>
        <p:blipFill>
          <a:blip r:embed="rId2"/>
          <a:stretch>
            <a:fillRect/>
          </a:stretch>
        </p:blipFill>
        <p:spPr>
          <a:xfrm>
            <a:off x="594823" y="3817561"/>
            <a:ext cx="5420773" cy="2032789"/>
          </a:xfrm>
          <a:prstGeom prst="rect">
            <a:avLst/>
          </a:prstGeom>
        </p:spPr>
      </p:pic>
      <p:pic>
        <p:nvPicPr>
          <p:cNvPr id="20" name="Picture 19">
            <a:extLst>
              <a:ext uri="{FF2B5EF4-FFF2-40B4-BE49-F238E27FC236}">
                <a16:creationId xmlns:a16="http://schemas.microsoft.com/office/drawing/2014/main" id="{37CD5AB7-2845-A792-E9D3-B0B38BB2DAAA}"/>
              </a:ext>
            </a:extLst>
          </p:cNvPr>
          <p:cNvPicPr>
            <a:picLocks noChangeAspect="1"/>
          </p:cNvPicPr>
          <p:nvPr/>
        </p:nvPicPr>
        <p:blipFill>
          <a:blip r:embed="rId3"/>
          <a:stretch>
            <a:fillRect/>
          </a:stretch>
        </p:blipFill>
        <p:spPr>
          <a:xfrm>
            <a:off x="5728049" y="578215"/>
            <a:ext cx="5526915" cy="2501007"/>
          </a:xfrm>
          <a:prstGeom prst="rect">
            <a:avLst/>
          </a:prstGeom>
        </p:spPr>
      </p:pic>
      <p:pic>
        <p:nvPicPr>
          <p:cNvPr id="22" name="Picture 21">
            <a:extLst>
              <a:ext uri="{FF2B5EF4-FFF2-40B4-BE49-F238E27FC236}">
                <a16:creationId xmlns:a16="http://schemas.microsoft.com/office/drawing/2014/main" id="{C686B705-95EB-03E1-6DC6-50F661D3C296}"/>
              </a:ext>
            </a:extLst>
          </p:cNvPr>
          <p:cNvPicPr>
            <a:picLocks noChangeAspect="1"/>
          </p:cNvPicPr>
          <p:nvPr/>
        </p:nvPicPr>
        <p:blipFill>
          <a:blip r:embed="rId4"/>
          <a:stretch>
            <a:fillRect/>
          </a:stretch>
        </p:blipFill>
        <p:spPr>
          <a:xfrm>
            <a:off x="5728049" y="3748411"/>
            <a:ext cx="5605173" cy="2101940"/>
          </a:xfrm>
          <a:prstGeom prst="rect">
            <a:avLst/>
          </a:prstGeom>
        </p:spPr>
      </p:pic>
    </p:spTree>
    <p:extLst>
      <p:ext uri="{BB962C8B-B14F-4D97-AF65-F5344CB8AC3E}">
        <p14:creationId xmlns:p14="http://schemas.microsoft.com/office/powerpoint/2010/main" val="3800474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p:cNvSpPr txBox="1"/>
          <p:nvPr/>
        </p:nvSpPr>
        <p:spPr>
          <a:xfrm>
            <a:off x="66675" y="-17145"/>
            <a:ext cx="10968355" cy="829945"/>
          </a:xfrm>
          <a:prstGeom prst="rect">
            <a:avLst/>
          </a:prstGeom>
        </p:spPr>
        <p:txBody>
          <a:bodyPr wrap="square">
            <a:spAutoFit/>
          </a:bodyPr>
          <a:lstStyle/>
          <a:p>
            <a:r>
              <a:rPr lang="en-US" sz="4800" b="1" dirty="0">
                <a:solidFill>
                  <a:srgbClr val="000000"/>
                </a:solidFill>
                <a:latin typeface="Bahnschrift Light" panose="020B0502040204020203" charset="0"/>
                <a:ea typeface="Calibri-Bold"/>
                <a:cs typeface="Bahnschrift Light" panose="020B0502040204020203" charset="0"/>
              </a:rPr>
              <a:t>1..5 Types of error </a:t>
            </a: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3"/>
            </p:blipFill>
            <p:spPr>
              <a:xfrm>
                <a:off x="7670800" y="749300"/>
                <a:ext cx="196850" cy="360"/>
              </a:xfrm>
              <a:prstGeom prst="rect"/>
            </p:spPr>
          </p:pic>
        </mc:Fallback>
      </mc:AlternateContent>
      <p:sp>
        <p:nvSpPr>
          <p:cNvPr id="3" name="Text Box 2"/>
          <p:cNvSpPr txBox="1"/>
          <p:nvPr/>
        </p:nvSpPr>
        <p:spPr>
          <a:xfrm>
            <a:off x="375781" y="1152395"/>
            <a:ext cx="11423737" cy="5160723"/>
          </a:xfrm>
          <a:prstGeom prst="rect">
            <a:avLst/>
          </a:prstGeom>
        </p:spPr>
        <p:txBody>
          <a:bodyPr wrap="square">
            <a:noAutofit/>
          </a:bodyPr>
          <a:lstStyle/>
          <a:p>
            <a:r>
              <a:rPr lang="en-US" sz="2400" dirty="0"/>
              <a:t>Errors are generally categories under the following </a:t>
            </a:r>
            <a:r>
              <a:rPr lang="en-US" sz="2400" dirty="0">
                <a:solidFill>
                  <a:schemeClr val="accent1">
                    <a:lumMod val="75000"/>
                  </a:schemeClr>
                </a:solidFill>
              </a:rPr>
              <a:t>three major</a:t>
            </a:r>
            <a:r>
              <a:rPr lang="en-US" sz="2400" dirty="0"/>
              <a:t> heating:</a:t>
            </a:r>
          </a:p>
          <a:p>
            <a:endParaRPr lang="en-US" sz="1100" dirty="0"/>
          </a:p>
          <a:p>
            <a:pPr marL="457200" lvl="0" indent="-457200">
              <a:buAutoNum type="arabicPeriod"/>
            </a:pPr>
            <a:r>
              <a:rPr lang="en-US" sz="2400" b="1" dirty="0">
                <a:solidFill>
                  <a:schemeClr val="accent1">
                    <a:lumMod val="50000"/>
                  </a:schemeClr>
                </a:solidFill>
              </a:rPr>
              <a:t>Gross Errors </a:t>
            </a:r>
            <a:r>
              <a:rPr lang="en-US" sz="2400" dirty="0"/>
              <a:t>- Is generally the fault of the person using instruments and are due to such things as incorrect reading of instruments, incorrect recording of experimental data or incorrect use of instrument.</a:t>
            </a:r>
          </a:p>
          <a:p>
            <a:pPr lvl="0"/>
            <a:endParaRPr lang="en-US" sz="2400" dirty="0"/>
          </a:p>
          <a:p>
            <a:pPr lvl="0"/>
            <a:r>
              <a:rPr lang="en-US" sz="2400" b="1" dirty="0">
                <a:solidFill>
                  <a:schemeClr val="accent1">
                    <a:lumMod val="50000"/>
                  </a:schemeClr>
                </a:solidFill>
              </a:rPr>
              <a:t>2. Systematic Errors </a:t>
            </a:r>
            <a:r>
              <a:rPr lang="en-US" sz="2400" dirty="0"/>
              <a:t>– are due to problems with instruments, environment effects or observational errors.</a:t>
            </a:r>
          </a:p>
          <a:p>
            <a:pPr marL="800100" lvl="1" indent="-342900">
              <a:buFont typeface="Arial" panose="020B0604020202020204" pitchFamily="34" charset="0"/>
              <a:buChar char="•"/>
            </a:pPr>
            <a:r>
              <a:rPr lang="en-US" sz="2400" i="1" dirty="0">
                <a:solidFill>
                  <a:schemeClr val="accent1">
                    <a:lumMod val="75000"/>
                  </a:schemeClr>
                </a:solidFill>
              </a:rPr>
              <a:t>Instrument errors </a:t>
            </a:r>
            <a:r>
              <a:rPr lang="en-US" sz="2400" dirty="0"/>
              <a:t>– It is due to friction in the bearings of the meter movement, incorrect spring tension, improper calibration, or faulty instruments.</a:t>
            </a:r>
          </a:p>
          <a:p>
            <a:pPr marL="800100" lvl="1" indent="-342900">
              <a:buFont typeface="Arial" panose="020B0604020202020204" pitchFamily="34" charset="0"/>
              <a:buChar char="•"/>
            </a:pPr>
            <a:r>
              <a:rPr lang="en-US" sz="2400" i="1" dirty="0">
                <a:solidFill>
                  <a:schemeClr val="accent1">
                    <a:lumMod val="75000"/>
                  </a:schemeClr>
                </a:solidFill>
              </a:rPr>
              <a:t>Environmental errors </a:t>
            </a:r>
            <a:r>
              <a:rPr lang="en-US" sz="2400" dirty="0"/>
              <a:t>– Environmental conditions in which instruments are used may cause errors. Subjecting instruments to harsh environments such high temperature, pressure, humidity, strong electrostatic or electromagnetic fields, may have detrimental effects, thereby causing error.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FFBB8A-8873-D4CC-E47D-1514BA46566B}"/>
              </a:ext>
            </a:extLst>
          </p:cNvPr>
          <p:cNvSpPr>
            <a:spLocks noGrp="1"/>
          </p:cNvSpPr>
          <p:nvPr>
            <p:ph idx="1"/>
          </p:nvPr>
        </p:nvSpPr>
        <p:spPr>
          <a:xfrm>
            <a:off x="513567" y="876822"/>
            <a:ext cx="10840233" cy="5300141"/>
          </a:xfrm>
        </p:spPr>
        <p:txBody>
          <a:bodyPr/>
          <a:lstStyle/>
          <a:p>
            <a:pPr lvl="1"/>
            <a:r>
              <a:rPr lang="en-US" i="1" dirty="0">
                <a:solidFill>
                  <a:schemeClr val="accent1">
                    <a:lumMod val="75000"/>
                  </a:schemeClr>
                </a:solidFill>
              </a:rPr>
              <a:t>Observational errors </a:t>
            </a:r>
            <a:r>
              <a:rPr lang="en-US" dirty="0"/>
              <a:t>- Those errors that introduced by observer. Two most common observational errors are probably the parallax error introduced in reading a meter scale and error of estimation when obtaining a reading from a scale meter.</a:t>
            </a:r>
          </a:p>
          <a:p>
            <a:pPr marL="0" indent="0">
              <a:buNone/>
            </a:pPr>
            <a:endParaRPr lang="en-US" b="1" dirty="0">
              <a:solidFill>
                <a:schemeClr val="accent1">
                  <a:lumMod val="75000"/>
                </a:schemeClr>
              </a:solidFill>
            </a:endParaRPr>
          </a:p>
          <a:p>
            <a:pPr marL="0" indent="0">
              <a:buNone/>
            </a:pPr>
            <a:r>
              <a:rPr lang="en-US" b="1" dirty="0">
                <a:solidFill>
                  <a:schemeClr val="accent1">
                    <a:lumMod val="75000"/>
                  </a:schemeClr>
                </a:solidFill>
              </a:rPr>
              <a:t>3. Random Errors </a:t>
            </a:r>
            <a:r>
              <a:rPr lang="en-US" dirty="0"/>
              <a:t>– are generally the accumulation of a large number of small effects and may be of real concern only in measurements requiring a high degree of accuracy. Such errors can be analyzed statistically.</a:t>
            </a:r>
          </a:p>
          <a:p>
            <a:endParaRPr lang="en-US" dirty="0"/>
          </a:p>
        </p:txBody>
      </p:sp>
    </p:spTree>
    <p:extLst>
      <p:ext uri="{BB962C8B-B14F-4D97-AF65-F5344CB8AC3E}">
        <p14:creationId xmlns:p14="http://schemas.microsoft.com/office/powerpoint/2010/main" val="1423300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0" y="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dirty="0"/>
          </a:p>
        </p:txBody>
      </p:sp>
      <p:sp>
        <p:nvSpPr>
          <p:cNvPr id="5" name="Text Box 4"/>
          <p:cNvSpPr txBox="1"/>
          <p:nvPr/>
        </p:nvSpPr>
        <p:spPr>
          <a:xfrm>
            <a:off x="66675" y="-17144"/>
            <a:ext cx="12202160" cy="1538883"/>
          </a:xfrm>
          <a:prstGeom prst="rect">
            <a:avLst/>
          </a:prstGeom>
        </p:spPr>
        <p:txBody>
          <a:bodyPr wrap="square">
            <a:spAutoFit/>
          </a:bodyPr>
          <a:lstStyle/>
          <a:p>
            <a:r>
              <a:rPr lang="en-US" altLang="en-US" sz="4600" b="1" dirty="0">
                <a:solidFill>
                  <a:srgbClr val="000000"/>
                </a:solidFill>
                <a:latin typeface="Bahnschrift Light" panose="020B0502040204020203" charset="0"/>
                <a:ea typeface="Calibri-Bold"/>
                <a:cs typeface="Bahnschrift Light" panose="020B0502040204020203" charset="0"/>
              </a:rPr>
              <a:t>1.6 </a:t>
            </a:r>
            <a:r>
              <a:rPr lang="en-US" sz="4600" b="1" dirty="0"/>
              <a:t>Statistical analysis of error in measurement</a:t>
            </a:r>
          </a:p>
          <a:p>
            <a:endParaRPr lang="en-US" alt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3"/>
            </p:blipFill>
            <p:spPr>
              <a:xfrm>
                <a:off x="7670800" y="749300"/>
                <a:ext cx="196850" cy="360"/>
              </a:xfrm>
              <a:prstGeom prst="rect"/>
            </p:spPr>
          </p:pic>
        </mc:Fallback>
      </mc:AlternateContent>
      <p:sp>
        <p:nvSpPr>
          <p:cNvPr id="8" name="TextBox 7">
            <a:extLst>
              <a:ext uri="{FF2B5EF4-FFF2-40B4-BE49-F238E27FC236}">
                <a16:creationId xmlns:a16="http://schemas.microsoft.com/office/drawing/2014/main" id="{654A61B3-CEF9-7D4A-CC50-4E7FB5E414F4}"/>
              </a:ext>
            </a:extLst>
          </p:cNvPr>
          <p:cNvSpPr txBox="1"/>
          <p:nvPr/>
        </p:nvSpPr>
        <p:spPr>
          <a:xfrm>
            <a:off x="250520" y="1027135"/>
            <a:ext cx="11523945" cy="3502497"/>
          </a:xfrm>
          <a:prstGeom prst="rect">
            <a:avLst/>
          </a:prstGeom>
          <a:noFill/>
        </p:spPr>
        <p:txBody>
          <a:bodyPr wrap="square">
            <a:spAutoFit/>
          </a:bodyPr>
          <a:lstStyle/>
          <a:p>
            <a:pPr marL="228600" marR="0">
              <a:spcBef>
                <a:spcPts val="680"/>
              </a:spcBef>
              <a:buNone/>
            </a:pPr>
            <a:r>
              <a:rPr lang="en-US" sz="2400" dirty="0">
                <a:effectLst/>
                <a:latin typeface="Times New Roman" panose="02020603050405020304" pitchFamily="18" charset="0"/>
                <a:ea typeface="Times New Roman" panose="02020603050405020304" pitchFamily="18" charset="0"/>
              </a:rPr>
              <a:t>How to analyze an </a:t>
            </a:r>
            <a:r>
              <a:rPr lang="en-US" sz="2400" spc="-10" dirty="0">
                <a:effectLst/>
                <a:latin typeface="Times New Roman" panose="02020603050405020304" pitchFamily="18" charset="0"/>
                <a:ea typeface="Times New Roman" panose="02020603050405020304" pitchFamily="18" charset="0"/>
              </a:rPr>
              <a:t>error?</a:t>
            </a:r>
            <a:endParaRPr lang="en-US" sz="2400" dirty="0">
              <a:effectLst/>
              <a:latin typeface="Times New Roman" panose="02020603050405020304" pitchFamily="18" charset="0"/>
              <a:ea typeface="Times New Roman" panose="02020603050405020304" pitchFamily="18" charset="0"/>
            </a:endParaRPr>
          </a:p>
          <a:p>
            <a:pPr marL="228600" marR="0">
              <a:spcBef>
                <a:spcPts val="690"/>
              </a:spcBef>
              <a:buNone/>
            </a:pPr>
            <a:r>
              <a:rPr lang="en-US" sz="2400" dirty="0">
                <a:effectLst/>
                <a:latin typeface="Times New Roman" panose="02020603050405020304" pitchFamily="18" charset="0"/>
                <a:ea typeface="Times New Roman" panose="02020603050405020304" pitchFamily="18" charset="0"/>
              </a:rPr>
              <a:t>- use statistic </a:t>
            </a:r>
            <a:r>
              <a:rPr lang="en-US" sz="2400" spc="-10" dirty="0">
                <a:effectLst/>
                <a:latin typeface="Times New Roman" panose="02020603050405020304" pitchFamily="18" charset="0"/>
                <a:ea typeface="Times New Roman" panose="02020603050405020304" pitchFamily="18" charset="0"/>
              </a:rPr>
              <a:t>method</a:t>
            </a:r>
            <a:endParaRPr lang="en-US" sz="2400" dirty="0">
              <a:effectLst/>
              <a:latin typeface="Times New Roman" panose="02020603050405020304" pitchFamily="18" charset="0"/>
              <a:ea typeface="Times New Roman" panose="02020603050405020304" pitchFamily="18" charset="0"/>
            </a:endParaRPr>
          </a:p>
          <a:p>
            <a:pPr marL="228600" marR="297180" indent="-635">
              <a:lnSpc>
                <a:spcPct val="150000"/>
              </a:lnSpc>
              <a:spcBef>
                <a:spcPts val="5"/>
              </a:spcBef>
              <a:buNone/>
            </a:pPr>
            <a:r>
              <a:rPr lang="en-US" sz="2400" dirty="0">
                <a:effectLst/>
                <a:latin typeface="Times New Roman" panose="02020603050405020304" pitchFamily="18" charset="0"/>
                <a:ea typeface="Times New Roman" panose="02020603050405020304" pitchFamily="18" charset="0"/>
              </a:rPr>
              <a:t>When we measure any physical quantity, our measurements are effected by a multitude</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 factors.</a:t>
            </a:r>
          </a:p>
          <a:p>
            <a:pPr marL="228600" marR="86995">
              <a:lnSpc>
                <a:spcPct val="150000"/>
              </a:lnSpc>
              <a:buNone/>
            </a:pPr>
            <a:r>
              <a:rPr lang="en-US" sz="2400" b="1" dirty="0">
                <a:solidFill>
                  <a:schemeClr val="accent1">
                    <a:lumMod val="75000"/>
                  </a:schemeClr>
                </a:solidFill>
                <a:effectLst/>
                <a:latin typeface="Times New Roman" panose="02020603050405020304" pitchFamily="18" charset="0"/>
                <a:ea typeface="Times New Roman" panose="02020603050405020304" pitchFamily="18" charset="0"/>
              </a:rPr>
              <a:t>Arithmetic mean </a:t>
            </a:r>
            <a:r>
              <a:rPr lang="en-US" sz="2400" dirty="0">
                <a:effectLst/>
                <a:latin typeface="Times New Roman" panose="02020603050405020304" pitchFamily="18" charset="0"/>
                <a:ea typeface="Times New Roman" panose="02020603050405020304" pitchFamily="18" charset="0"/>
              </a:rPr>
              <a:t>– the sum of a set of numbers divided by the total number of pieces of </a:t>
            </a:r>
            <a:r>
              <a:rPr lang="en-US" sz="2400" spc="-10" dirty="0">
                <a:effectLst/>
                <a:latin typeface="Times New Roman" panose="02020603050405020304" pitchFamily="18" charset="0"/>
                <a:ea typeface="Times New Roman" panose="02020603050405020304" pitchFamily="18" charset="0"/>
              </a:rPr>
              <a:t>data.</a:t>
            </a:r>
          </a:p>
          <a:p>
            <a:pPr marL="228600" marR="86995">
              <a:lnSpc>
                <a:spcPct val="150000"/>
              </a:lnSpc>
              <a:buNone/>
            </a:pPr>
            <a:endParaRPr lang="en-US" sz="1800" dirty="0">
              <a:effectLst/>
              <a:latin typeface="Times New Roman" panose="02020603050405020304" pitchFamily="18" charset="0"/>
              <a:ea typeface="Times New Roman" panose="02020603050405020304" pitchFamily="18" charset="0"/>
            </a:endParaRPr>
          </a:p>
        </p:txBody>
      </p:sp>
      <p:pic>
        <p:nvPicPr>
          <p:cNvPr id="10" name="Picture 9">
            <a:extLst>
              <a:ext uri="{FF2B5EF4-FFF2-40B4-BE49-F238E27FC236}">
                <a16:creationId xmlns:a16="http://schemas.microsoft.com/office/drawing/2014/main" id="{9D5794D0-02C8-13CA-34E8-647417CA2CFC}"/>
              </a:ext>
            </a:extLst>
          </p:cNvPr>
          <p:cNvPicPr>
            <a:picLocks noChangeAspect="1"/>
          </p:cNvPicPr>
          <p:nvPr/>
        </p:nvPicPr>
        <p:blipFill>
          <a:blip r:embed="rId4"/>
          <a:stretch>
            <a:fillRect/>
          </a:stretch>
        </p:blipFill>
        <p:spPr>
          <a:xfrm>
            <a:off x="3209780" y="3680634"/>
            <a:ext cx="5145580" cy="293310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7B1D54-188F-1AFD-644A-2044FEEFDBF0}"/>
              </a:ext>
            </a:extLst>
          </p:cNvPr>
          <p:cNvSpPr>
            <a:spLocks noGrp="1"/>
          </p:cNvSpPr>
          <p:nvPr>
            <p:ph idx="1"/>
          </p:nvPr>
        </p:nvSpPr>
        <p:spPr>
          <a:xfrm>
            <a:off x="392483" y="475990"/>
            <a:ext cx="11407036" cy="6025018"/>
          </a:xfrm>
        </p:spPr>
        <p:txBody>
          <a:bodyPr/>
          <a:lstStyle/>
          <a:p>
            <a:pPr marL="0" indent="0">
              <a:buNone/>
            </a:pPr>
            <a:r>
              <a:rPr lang="en-US" b="1" dirty="0">
                <a:solidFill>
                  <a:schemeClr val="accent1">
                    <a:lumMod val="75000"/>
                  </a:schemeClr>
                </a:solidFill>
              </a:rPr>
              <a:t>Deviation </a:t>
            </a:r>
            <a:r>
              <a:rPr lang="en-US" dirty="0"/>
              <a:t>– the difference each piece of test data and the arithmetic mean.</a:t>
            </a:r>
          </a:p>
          <a:p>
            <a:pPr marL="0" indent="0">
              <a:buNone/>
            </a:pPr>
            <a:endParaRPr lang="en-US" dirty="0"/>
          </a:p>
        </p:txBody>
      </p:sp>
      <p:pic>
        <p:nvPicPr>
          <p:cNvPr id="5" name="Picture 4">
            <a:extLst>
              <a:ext uri="{FF2B5EF4-FFF2-40B4-BE49-F238E27FC236}">
                <a16:creationId xmlns:a16="http://schemas.microsoft.com/office/drawing/2014/main" id="{8F73330A-48FA-F85A-9FB1-E5A36B06AF4A}"/>
              </a:ext>
            </a:extLst>
          </p:cNvPr>
          <p:cNvPicPr>
            <a:picLocks noChangeAspect="1"/>
          </p:cNvPicPr>
          <p:nvPr/>
        </p:nvPicPr>
        <p:blipFill>
          <a:blip r:embed="rId2"/>
          <a:stretch>
            <a:fillRect/>
          </a:stretch>
        </p:blipFill>
        <p:spPr>
          <a:xfrm>
            <a:off x="2943616" y="1143773"/>
            <a:ext cx="3908121" cy="1266520"/>
          </a:xfrm>
          <a:prstGeom prst="rect">
            <a:avLst/>
          </a:prstGeom>
        </p:spPr>
      </p:pic>
      <p:sp>
        <p:nvSpPr>
          <p:cNvPr id="7" name="TextBox 6">
            <a:extLst>
              <a:ext uri="{FF2B5EF4-FFF2-40B4-BE49-F238E27FC236}">
                <a16:creationId xmlns:a16="http://schemas.microsoft.com/office/drawing/2014/main" id="{D2817C49-1D44-2854-F215-5AF7E1D096D3}"/>
              </a:ext>
            </a:extLst>
          </p:cNvPr>
          <p:cNvSpPr txBox="1"/>
          <p:nvPr/>
        </p:nvSpPr>
        <p:spPr>
          <a:xfrm>
            <a:off x="125260" y="2317315"/>
            <a:ext cx="11824569" cy="1853852"/>
          </a:xfrm>
          <a:prstGeom prst="rect">
            <a:avLst/>
          </a:prstGeom>
          <a:noFill/>
        </p:spPr>
        <p:txBody>
          <a:bodyPr wrap="square">
            <a:spAutoFit/>
          </a:bodyPr>
          <a:lstStyle/>
          <a:p>
            <a:pPr marL="227965" marR="226695" algn="just">
              <a:lnSpc>
                <a:spcPct val="150000"/>
              </a:lnSpc>
              <a:spcBef>
                <a:spcPts val="5"/>
              </a:spcBef>
              <a:buNone/>
            </a:pPr>
            <a:r>
              <a:rPr lang="en-US" sz="2000" dirty="0">
                <a:effectLst/>
                <a:latin typeface="Times New Roman" panose="02020603050405020304" pitchFamily="18" charset="0"/>
                <a:ea typeface="Times New Roman" panose="02020603050405020304" pitchFamily="18" charset="0"/>
              </a:rPr>
              <a:t>Note: The algebraic sum of the deviations of a set numbers from their arithmetic mean is </a:t>
            </a:r>
            <a:r>
              <a:rPr lang="en-US" sz="2000" spc="-10" dirty="0">
                <a:effectLst/>
                <a:latin typeface="Times New Roman" panose="02020603050405020304" pitchFamily="18" charset="0"/>
                <a:ea typeface="Times New Roman" panose="02020603050405020304" pitchFamily="18" charset="0"/>
              </a:rPr>
              <a:t>zero.</a:t>
            </a:r>
            <a:endParaRPr lang="en-US" sz="2000" dirty="0">
              <a:effectLst/>
              <a:latin typeface="Times New Roman" panose="02020603050405020304" pitchFamily="18" charset="0"/>
              <a:ea typeface="Times New Roman" panose="02020603050405020304" pitchFamily="18" charset="0"/>
            </a:endParaRPr>
          </a:p>
          <a:p>
            <a:pPr marL="228600" marR="224790" algn="just">
              <a:spcBef>
                <a:spcPts val="1380"/>
              </a:spcBef>
              <a:buNone/>
            </a:pPr>
            <a:r>
              <a:rPr lang="en-US" sz="2400" dirty="0">
                <a:effectLst/>
                <a:latin typeface="Times New Roman" panose="02020603050405020304" pitchFamily="18" charset="0"/>
                <a:ea typeface="Times New Roman" panose="02020603050405020304" pitchFamily="18" charset="0"/>
              </a:rPr>
              <a:t>The </a:t>
            </a:r>
            <a:r>
              <a:rPr lang="en-US" sz="2400" b="1" dirty="0">
                <a:solidFill>
                  <a:schemeClr val="accent1">
                    <a:lumMod val="75000"/>
                  </a:schemeClr>
                </a:solidFill>
                <a:effectLst/>
                <a:latin typeface="Times New Roman" panose="02020603050405020304" pitchFamily="18" charset="0"/>
                <a:ea typeface="Times New Roman" panose="02020603050405020304" pitchFamily="18" charset="0"/>
              </a:rPr>
              <a:t>average deviation </a:t>
            </a:r>
            <a:r>
              <a:rPr lang="en-US" sz="2400" dirty="0">
                <a:effectLst/>
                <a:latin typeface="Times New Roman" panose="02020603050405020304" pitchFamily="18" charset="0"/>
                <a:ea typeface="Times New Roman" panose="02020603050405020304" pitchFamily="18" charset="0"/>
              </a:rPr>
              <a:t>is an indication of the precision of the instrument used in measurement or the sum of the absolute values of the deviation divided by the number of </a:t>
            </a:r>
            <a:r>
              <a:rPr lang="en-US" sz="2400" spc="-10" dirty="0">
                <a:effectLst/>
                <a:latin typeface="Times New Roman" panose="02020603050405020304" pitchFamily="18" charset="0"/>
                <a:ea typeface="Times New Roman" panose="02020603050405020304" pitchFamily="18" charset="0"/>
              </a:rPr>
              <a:t>readings.</a:t>
            </a:r>
            <a:endParaRPr lang="en-US" sz="2400" dirty="0">
              <a:effectLst/>
              <a:latin typeface="Times New Roman" panose="02020603050405020304" pitchFamily="18" charset="0"/>
              <a:ea typeface="Times New Roman" panose="02020603050405020304" pitchFamily="18" charset="0"/>
            </a:endParaRPr>
          </a:p>
        </p:txBody>
      </p:sp>
      <p:pic>
        <p:nvPicPr>
          <p:cNvPr id="9" name="Picture 8">
            <a:extLst>
              <a:ext uri="{FF2B5EF4-FFF2-40B4-BE49-F238E27FC236}">
                <a16:creationId xmlns:a16="http://schemas.microsoft.com/office/drawing/2014/main" id="{3D00F4AC-783B-13EB-78B2-5BB342C14C69}"/>
              </a:ext>
            </a:extLst>
          </p:cNvPr>
          <p:cNvPicPr>
            <a:picLocks noChangeAspect="1"/>
          </p:cNvPicPr>
          <p:nvPr/>
        </p:nvPicPr>
        <p:blipFill>
          <a:blip r:embed="rId3"/>
          <a:stretch>
            <a:fillRect/>
          </a:stretch>
        </p:blipFill>
        <p:spPr>
          <a:xfrm>
            <a:off x="2840196" y="4114770"/>
            <a:ext cx="6256436" cy="2267240"/>
          </a:xfrm>
          <a:prstGeom prst="rect">
            <a:avLst/>
          </a:prstGeom>
        </p:spPr>
      </p:pic>
    </p:spTree>
    <p:extLst>
      <p:ext uri="{BB962C8B-B14F-4D97-AF65-F5344CB8AC3E}">
        <p14:creationId xmlns:p14="http://schemas.microsoft.com/office/powerpoint/2010/main" val="1808911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2D86D-1AFE-B509-2514-9B5BB9F202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9FE49D-F406-C8F6-398B-C9E35ABDF78A}"/>
              </a:ext>
            </a:extLst>
          </p:cNvPr>
          <p:cNvSpPr>
            <a:spLocks noGrp="1"/>
          </p:cNvSpPr>
          <p:nvPr>
            <p:ph idx="1"/>
          </p:nvPr>
        </p:nvSpPr>
        <p:spPr>
          <a:xfrm>
            <a:off x="551145" y="576197"/>
            <a:ext cx="10784910" cy="5924809"/>
          </a:xfrm>
        </p:spPr>
        <p:txBody>
          <a:bodyPr/>
          <a:lstStyle/>
          <a:p>
            <a:pPr marL="0" indent="0">
              <a:buNone/>
            </a:pPr>
            <a:r>
              <a:rPr lang="en-US" dirty="0"/>
              <a:t>The </a:t>
            </a:r>
            <a:r>
              <a:rPr lang="en-US" b="1" dirty="0">
                <a:solidFill>
                  <a:schemeClr val="accent1">
                    <a:lumMod val="75000"/>
                  </a:schemeClr>
                </a:solidFill>
              </a:rPr>
              <a:t>standard deviation </a:t>
            </a:r>
            <a:r>
              <a:rPr lang="en-US" dirty="0"/>
              <a:t>is the square root of the sum of all the individual deviations squared, divided by the number of readings.</a:t>
            </a:r>
          </a:p>
          <a:p>
            <a:pPr marL="0" indent="0">
              <a:buNone/>
            </a:pPr>
            <a:endParaRPr lang="en-US" dirty="0"/>
          </a:p>
        </p:txBody>
      </p:sp>
      <p:pic>
        <p:nvPicPr>
          <p:cNvPr id="15" name="Picture 14">
            <a:extLst>
              <a:ext uri="{FF2B5EF4-FFF2-40B4-BE49-F238E27FC236}">
                <a16:creationId xmlns:a16="http://schemas.microsoft.com/office/drawing/2014/main" id="{E035572E-DDA5-B5A9-A7B2-36A8BD9CE8A0}"/>
              </a:ext>
            </a:extLst>
          </p:cNvPr>
          <p:cNvPicPr>
            <a:picLocks noChangeAspect="1"/>
          </p:cNvPicPr>
          <p:nvPr/>
        </p:nvPicPr>
        <p:blipFill>
          <a:blip r:embed="rId2"/>
          <a:stretch>
            <a:fillRect/>
          </a:stretch>
        </p:blipFill>
        <p:spPr>
          <a:xfrm>
            <a:off x="2210524" y="1741117"/>
            <a:ext cx="5950506" cy="1333735"/>
          </a:xfrm>
          <a:prstGeom prst="rect">
            <a:avLst/>
          </a:prstGeom>
        </p:spPr>
      </p:pic>
      <p:sp>
        <p:nvSpPr>
          <p:cNvPr id="19" name="TextBox 18">
            <a:extLst>
              <a:ext uri="{FF2B5EF4-FFF2-40B4-BE49-F238E27FC236}">
                <a16:creationId xmlns:a16="http://schemas.microsoft.com/office/drawing/2014/main" id="{1926C218-D3D9-72A8-7A71-9DC6CEDB23AD}"/>
              </a:ext>
            </a:extLst>
          </p:cNvPr>
          <p:cNvSpPr txBox="1"/>
          <p:nvPr/>
        </p:nvSpPr>
        <p:spPr>
          <a:xfrm>
            <a:off x="313151" y="3341410"/>
            <a:ext cx="10109025" cy="461665"/>
          </a:xfrm>
          <a:prstGeom prst="rect">
            <a:avLst/>
          </a:prstGeom>
          <a:noFill/>
        </p:spPr>
        <p:txBody>
          <a:bodyPr wrap="square">
            <a:spAutoFit/>
          </a:bodyPr>
          <a:lstStyle/>
          <a:p>
            <a:pPr marL="228600" marR="0">
              <a:buNone/>
            </a:pPr>
            <a:r>
              <a:rPr lang="en-US" sz="2400" dirty="0">
                <a:effectLst/>
                <a:latin typeface="Times New Roman" panose="02020603050405020304" pitchFamily="18" charset="0"/>
                <a:ea typeface="Times New Roman" panose="02020603050405020304" pitchFamily="18" charset="0"/>
              </a:rPr>
              <a:t>***</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For</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small</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readings</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(n&lt;30),</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denominator</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t>
            </a:r>
            <a:r>
              <a:rPr lang="en-US" sz="2400" spc="-5" dirty="0">
                <a:effectLst/>
                <a:latin typeface="Times New Roman" panose="02020603050405020304" pitchFamily="18" charset="0"/>
                <a:ea typeface="Times New Roman" panose="02020603050405020304" pitchFamily="18" charset="0"/>
              </a:rPr>
              <a:t> </a:t>
            </a:r>
            <a:r>
              <a:rPr lang="en-US" sz="2400" spc="-50" dirty="0">
                <a:effectLst/>
                <a:latin typeface="Times New Roman" panose="02020603050405020304" pitchFamily="18" charset="0"/>
                <a:ea typeface="Times New Roman" panose="02020603050405020304" pitchFamily="18" charset="0"/>
              </a:rPr>
              <a:t>1</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38143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43672-9779-6FAC-5476-17B84DF622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C25FFB-564C-BC59-FE07-6AE5C01167BC}"/>
              </a:ext>
            </a:extLst>
          </p:cNvPr>
          <p:cNvSpPr>
            <a:spLocks noGrp="1"/>
          </p:cNvSpPr>
          <p:nvPr>
            <p:ph idx="1"/>
          </p:nvPr>
        </p:nvSpPr>
        <p:spPr>
          <a:xfrm>
            <a:off x="551145" y="576197"/>
            <a:ext cx="10784910" cy="5924809"/>
          </a:xfrm>
        </p:spPr>
        <p:txBody>
          <a:bodyPr/>
          <a:lstStyle/>
          <a:p>
            <a:pPr marL="0" indent="0">
              <a:buNone/>
            </a:pPr>
            <a:r>
              <a:rPr lang="en-US" sz="2400" b="1" dirty="0"/>
              <a:t>Example:</a:t>
            </a:r>
          </a:p>
          <a:p>
            <a:pPr marL="0" indent="0">
              <a:buNone/>
            </a:pPr>
            <a:r>
              <a:rPr lang="en-US" sz="2000" dirty="0"/>
              <a:t>For the following given data, calculate</a:t>
            </a:r>
          </a:p>
          <a:p>
            <a:pPr marL="971550" lvl="1" indent="-514350">
              <a:buFont typeface="+mj-lt"/>
              <a:buAutoNum type="alphaLcParenR"/>
            </a:pPr>
            <a:r>
              <a:rPr lang="en-US" sz="2000" dirty="0"/>
              <a:t>Arithmetic mean</a:t>
            </a:r>
          </a:p>
          <a:p>
            <a:pPr marL="971550" lvl="1" indent="-514350">
              <a:buFont typeface="+mj-lt"/>
              <a:buAutoNum type="alphaLcParenR"/>
            </a:pPr>
            <a:r>
              <a:rPr lang="en-US" sz="2000" dirty="0"/>
              <a:t>Deviation of each value</a:t>
            </a:r>
          </a:p>
          <a:p>
            <a:pPr marL="971550" lvl="1" indent="-514350">
              <a:buFont typeface="+mj-lt"/>
              <a:buAutoNum type="alphaLcParenR"/>
            </a:pPr>
            <a:r>
              <a:rPr lang="en-US" sz="2000" dirty="0"/>
              <a:t>Algebraic sum of the deviations</a:t>
            </a:r>
          </a:p>
          <a:p>
            <a:pPr marL="971550" lvl="1" indent="-514350">
              <a:buFont typeface="+mj-lt"/>
              <a:buAutoNum type="alphaLcParenR"/>
            </a:pPr>
            <a:r>
              <a:rPr lang="en-US" sz="2000" dirty="0"/>
              <a:t>Calculate the average deviation (</a:t>
            </a:r>
            <a:r>
              <a:rPr lang="en-US" sz="2000" b="1" dirty="0"/>
              <a:t>Ans: 0.232</a:t>
            </a:r>
            <a:r>
              <a:rPr lang="en-US" sz="2000" dirty="0"/>
              <a:t>)</a:t>
            </a:r>
          </a:p>
          <a:p>
            <a:pPr marL="914400" lvl="1" indent="-457200">
              <a:buAutoNum type="alphaLcParenR" startAt="5"/>
            </a:pPr>
            <a:r>
              <a:rPr lang="en-US" sz="2000" dirty="0"/>
              <a:t>Calculate the standard deviation (</a:t>
            </a:r>
            <a:r>
              <a:rPr lang="en-US" sz="2000" b="1" dirty="0"/>
              <a:t>Ans: 0.27)</a:t>
            </a:r>
          </a:p>
          <a:p>
            <a:pPr marL="0" indent="0">
              <a:buNone/>
            </a:pPr>
            <a:r>
              <a:rPr lang="en-US" sz="2400" b="1" dirty="0"/>
              <a:t>Solution:</a:t>
            </a:r>
          </a:p>
          <a:p>
            <a:pPr marL="0" indent="0">
              <a:buNone/>
            </a:pPr>
            <a:endParaRPr lang="en-US" sz="2400" b="1" dirty="0"/>
          </a:p>
        </p:txBody>
      </p:sp>
      <p:pic>
        <p:nvPicPr>
          <p:cNvPr id="22" name="Picture 21">
            <a:extLst>
              <a:ext uri="{FF2B5EF4-FFF2-40B4-BE49-F238E27FC236}">
                <a16:creationId xmlns:a16="http://schemas.microsoft.com/office/drawing/2014/main" id="{A092E59A-6BFB-4ECD-9368-0BC891AB0EE3}"/>
              </a:ext>
            </a:extLst>
          </p:cNvPr>
          <p:cNvPicPr>
            <a:picLocks noChangeAspect="1"/>
          </p:cNvPicPr>
          <p:nvPr/>
        </p:nvPicPr>
        <p:blipFill>
          <a:blip r:embed="rId2"/>
          <a:stretch>
            <a:fillRect/>
          </a:stretch>
        </p:blipFill>
        <p:spPr>
          <a:xfrm>
            <a:off x="755104" y="3901856"/>
            <a:ext cx="7227400" cy="1772434"/>
          </a:xfrm>
          <a:prstGeom prst="rect">
            <a:avLst/>
          </a:prstGeom>
        </p:spPr>
      </p:pic>
    </p:spTree>
    <p:extLst>
      <p:ext uri="{BB962C8B-B14F-4D97-AF65-F5344CB8AC3E}">
        <p14:creationId xmlns:p14="http://schemas.microsoft.com/office/powerpoint/2010/main" val="3677117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8E86C4-E70D-C898-179D-09370B1A0ACA}"/>
              </a:ext>
            </a:extLst>
          </p:cNvPr>
          <p:cNvSpPr>
            <a:spLocks noGrp="1"/>
          </p:cNvSpPr>
          <p:nvPr>
            <p:ph idx="1"/>
          </p:nvPr>
        </p:nvSpPr>
        <p:spPr>
          <a:xfrm>
            <a:off x="625257" y="585548"/>
            <a:ext cx="11011422" cy="5740096"/>
          </a:xfrm>
        </p:spPr>
        <p:txBody>
          <a:bodyPr/>
          <a:lstStyle/>
          <a:p>
            <a:pPr marL="0" indent="0">
              <a:buNone/>
            </a:pPr>
            <a:r>
              <a:rPr lang="en-US" dirty="0"/>
              <a:t>b) The deviations from each value are given by </a:t>
            </a:r>
          </a:p>
        </p:txBody>
      </p:sp>
      <p:pic>
        <p:nvPicPr>
          <p:cNvPr id="5" name="Picture 4">
            <a:extLst>
              <a:ext uri="{FF2B5EF4-FFF2-40B4-BE49-F238E27FC236}">
                <a16:creationId xmlns:a16="http://schemas.microsoft.com/office/drawing/2014/main" id="{F8F57483-5E66-BF81-9B63-6D69FA49FC72}"/>
              </a:ext>
            </a:extLst>
          </p:cNvPr>
          <p:cNvPicPr>
            <a:picLocks noChangeAspect="1"/>
          </p:cNvPicPr>
          <p:nvPr/>
        </p:nvPicPr>
        <p:blipFill>
          <a:blip r:embed="rId2"/>
          <a:stretch>
            <a:fillRect/>
          </a:stretch>
        </p:blipFill>
        <p:spPr>
          <a:xfrm>
            <a:off x="4446741" y="1081554"/>
            <a:ext cx="2981193" cy="5190898"/>
          </a:xfrm>
          <a:prstGeom prst="rect">
            <a:avLst/>
          </a:prstGeom>
        </p:spPr>
      </p:pic>
    </p:spTree>
    <p:extLst>
      <p:ext uri="{BB962C8B-B14F-4D97-AF65-F5344CB8AC3E}">
        <p14:creationId xmlns:p14="http://schemas.microsoft.com/office/powerpoint/2010/main" val="1756342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6CB88-B7A7-3C25-C3DC-763A0FF5364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EAB7603-DC93-D5CF-9908-9D32CBCEDAA2}"/>
              </a:ext>
            </a:extLst>
          </p:cNvPr>
          <p:cNvPicPr>
            <a:picLocks noGrp="1" noChangeAspect="1"/>
          </p:cNvPicPr>
          <p:nvPr>
            <p:ph idx="1"/>
          </p:nvPr>
        </p:nvPicPr>
        <p:blipFill>
          <a:blip r:embed="rId2"/>
          <a:stretch>
            <a:fillRect/>
          </a:stretch>
        </p:blipFill>
        <p:spPr>
          <a:xfrm>
            <a:off x="435377" y="563672"/>
            <a:ext cx="6839823" cy="1453019"/>
          </a:xfrm>
          <a:prstGeom prst="rect">
            <a:avLst/>
          </a:prstGeom>
        </p:spPr>
      </p:pic>
      <p:sp>
        <p:nvSpPr>
          <p:cNvPr id="7" name="TextBox 6">
            <a:extLst>
              <a:ext uri="{FF2B5EF4-FFF2-40B4-BE49-F238E27FC236}">
                <a16:creationId xmlns:a16="http://schemas.microsoft.com/office/drawing/2014/main" id="{42308CBE-49CC-CC6A-9033-D83827421312}"/>
              </a:ext>
            </a:extLst>
          </p:cNvPr>
          <p:cNvSpPr txBox="1"/>
          <p:nvPr/>
        </p:nvSpPr>
        <p:spPr>
          <a:xfrm>
            <a:off x="526093" y="2505205"/>
            <a:ext cx="7374698" cy="461665"/>
          </a:xfrm>
          <a:prstGeom prst="rect">
            <a:avLst/>
          </a:prstGeom>
          <a:noFill/>
        </p:spPr>
        <p:txBody>
          <a:bodyPr wrap="square">
            <a:spAutoFit/>
          </a:bodyPr>
          <a:lstStyle/>
          <a:p>
            <a:r>
              <a:rPr lang="en-US" sz="2400" dirty="0"/>
              <a:t>c) Average deviation, D =</a:t>
            </a:r>
          </a:p>
        </p:txBody>
      </p:sp>
      <p:sp>
        <p:nvSpPr>
          <p:cNvPr id="9" name="TextBox 8">
            <a:extLst>
              <a:ext uri="{FF2B5EF4-FFF2-40B4-BE49-F238E27FC236}">
                <a16:creationId xmlns:a16="http://schemas.microsoft.com/office/drawing/2014/main" id="{72636EEB-FC64-0648-950C-196D0DB101FB}"/>
              </a:ext>
            </a:extLst>
          </p:cNvPr>
          <p:cNvSpPr txBox="1"/>
          <p:nvPr/>
        </p:nvSpPr>
        <p:spPr>
          <a:xfrm>
            <a:off x="526093" y="3837895"/>
            <a:ext cx="6093912" cy="461665"/>
          </a:xfrm>
          <a:prstGeom prst="rect">
            <a:avLst/>
          </a:prstGeom>
          <a:noFill/>
        </p:spPr>
        <p:txBody>
          <a:bodyPr wrap="square">
            <a:spAutoFit/>
          </a:bodyPr>
          <a:lstStyle/>
          <a:p>
            <a:r>
              <a:rPr lang="en-US" sz="2400" dirty="0"/>
              <a:t>d) Standard deviation, </a:t>
            </a:r>
            <a:r>
              <a:rPr lang="el-GR" sz="2400" dirty="0"/>
              <a:t>σ =</a:t>
            </a:r>
            <a:endParaRPr lang="en-US" sz="2400" dirty="0"/>
          </a:p>
        </p:txBody>
      </p:sp>
    </p:spTree>
    <p:extLst>
      <p:ext uri="{BB962C8B-B14F-4D97-AF65-F5344CB8AC3E}">
        <p14:creationId xmlns:p14="http://schemas.microsoft.com/office/powerpoint/2010/main" val="3634031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76835" y="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p:cNvSpPr txBox="1"/>
          <p:nvPr/>
        </p:nvSpPr>
        <p:spPr>
          <a:xfrm>
            <a:off x="66675" y="-17145"/>
            <a:ext cx="10968355" cy="829945"/>
          </a:xfrm>
          <a:prstGeom prst="rect">
            <a:avLst/>
          </a:prstGeom>
        </p:spPr>
        <p:txBody>
          <a:bodyPr wrap="square">
            <a:spAutoFit/>
          </a:bodyPr>
          <a:lstStyle/>
          <a:p>
            <a:r>
              <a:rPr lang="en-US" altLang="en-US" sz="4800" b="1" dirty="0">
                <a:solidFill>
                  <a:srgbClr val="000000"/>
                </a:solidFill>
                <a:latin typeface="Bahnschrift Light" panose="020B0502040204020203" charset="0"/>
                <a:ea typeface="Calibri-Bold"/>
                <a:cs typeface="Bahnschrift Light" panose="020B0502040204020203" charset="0"/>
              </a:rPr>
              <a:t>1.7 Limiting error</a:t>
            </a: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3"/>
            </p:blipFill>
            <p:spPr>
              <a:xfrm>
                <a:off x="7670800" y="749300"/>
                <a:ext cx="196850" cy="360"/>
              </a:xfrm>
              <a:prstGeom prst="rect"/>
            </p:spPr>
          </p:pic>
        </mc:Fallback>
      </mc:AlternateContent>
      <p:sp>
        <p:nvSpPr>
          <p:cNvPr id="3" name="TextBox 2">
            <a:extLst>
              <a:ext uri="{FF2B5EF4-FFF2-40B4-BE49-F238E27FC236}">
                <a16:creationId xmlns:a16="http://schemas.microsoft.com/office/drawing/2014/main" id="{59A0D7D2-04D9-B542-8337-04134A9436D2}"/>
              </a:ext>
            </a:extLst>
          </p:cNvPr>
          <p:cNvSpPr txBox="1"/>
          <p:nvPr/>
        </p:nvSpPr>
        <p:spPr>
          <a:xfrm>
            <a:off x="187891" y="2096249"/>
            <a:ext cx="11285950" cy="2487861"/>
          </a:xfrm>
          <a:prstGeom prst="rect">
            <a:avLst/>
          </a:prstGeom>
          <a:noFill/>
        </p:spPr>
        <p:txBody>
          <a:bodyPr wrap="square">
            <a:spAutoFit/>
          </a:bodyPr>
          <a:lstStyle/>
          <a:p>
            <a:pPr marL="227965" marR="227330" algn="just">
              <a:spcBef>
                <a:spcPts val="1370"/>
              </a:spcBef>
              <a:buNone/>
            </a:pPr>
            <a:r>
              <a:rPr lang="en-US" sz="2400" dirty="0">
                <a:effectLst/>
                <a:latin typeface="Times New Roman" panose="02020603050405020304" pitchFamily="18" charset="0"/>
                <a:ea typeface="Times New Roman" panose="02020603050405020304" pitchFamily="18" charset="0"/>
              </a:rPr>
              <a:t>Most manufacturers of measuring instrument state that an instrument is accurate within a certain percentage of a full-scale reading.</a:t>
            </a:r>
          </a:p>
          <a:p>
            <a:pPr marL="227965" marR="227330" algn="just">
              <a:spcBef>
                <a:spcPts val="1370"/>
              </a:spcBef>
              <a:buNone/>
            </a:pPr>
            <a:endParaRPr lang="en-US" sz="2400" dirty="0">
              <a:effectLst/>
              <a:latin typeface="Times New Roman" panose="02020603050405020304" pitchFamily="18" charset="0"/>
              <a:ea typeface="Times New Roman" panose="02020603050405020304" pitchFamily="18" charset="0"/>
            </a:endParaRPr>
          </a:p>
          <a:p>
            <a:pPr marL="0" marR="0">
              <a:buNone/>
            </a:pPr>
            <a:r>
              <a:rPr lang="en-US" sz="2400" dirty="0">
                <a:effectLst/>
                <a:latin typeface="Times New Roman" panose="02020603050405020304" pitchFamily="18" charset="0"/>
                <a:ea typeface="Times New Roman" panose="02020603050405020304" pitchFamily="18" charset="0"/>
              </a:rPr>
              <a:t> </a:t>
            </a:r>
          </a:p>
          <a:p>
            <a:pPr marL="227965" marR="225425" algn="just">
              <a:buNone/>
            </a:pPr>
            <a:r>
              <a:rPr lang="en-US" sz="2400" dirty="0">
                <a:effectLst/>
                <a:latin typeface="Times New Roman" panose="02020603050405020304" pitchFamily="18" charset="0"/>
                <a:ea typeface="Times New Roman" panose="02020603050405020304" pitchFamily="18" charset="0"/>
              </a:rPr>
              <a:t>For example, the manufacturer of a certain voltmeter may specify the instrument to be accurate within </a:t>
            </a:r>
            <a:r>
              <a:rPr lang="en-US" sz="2400" dirty="0">
                <a:effectLst/>
                <a:latin typeface="Symbol" panose="05050102010706020507" pitchFamily="18" charset="2"/>
                <a:ea typeface="Times New Roman" panose="02020603050405020304" pitchFamily="18" charset="0"/>
              </a:rPr>
              <a:t>±</a:t>
            </a:r>
            <a:r>
              <a:rPr lang="en-US" sz="2400" dirty="0">
                <a:effectLst/>
                <a:latin typeface="Times New Roman" panose="02020603050405020304" pitchFamily="18" charset="0"/>
                <a:ea typeface="Times New Roman" panose="02020603050405020304" pitchFamily="18" charset="0"/>
              </a:rPr>
              <a:t> 2% with full-scale deflection.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F3126-708C-172C-E843-29E8660E236E}"/>
            </a:ext>
          </a:extLst>
        </p:cNvPr>
        <p:cNvGrpSpPr/>
        <p:nvPr/>
      </p:nvGrpSpPr>
      <p:grpSpPr>
        <a:xfrm>
          <a:off x="0" y="0"/>
          <a:ext cx="0" cy="0"/>
          <a:chOff x="0" y="0"/>
          <a:chExt cx="0" cy="0"/>
        </a:xfrm>
      </p:grpSpPr>
      <p:sp>
        <p:nvSpPr>
          <p:cNvPr id="4" name="Rectangles 3">
            <a:extLst>
              <a:ext uri="{FF2B5EF4-FFF2-40B4-BE49-F238E27FC236}">
                <a16:creationId xmlns:a16="http://schemas.microsoft.com/office/drawing/2014/main" id="{8F1954F0-D82A-3F2A-B21D-193758CDDD83}"/>
              </a:ext>
            </a:extLst>
          </p:cNvPr>
          <p:cNvSpPr/>
          <p:nvPr/>
        </p:nvSpPr>
        <p:spPr>
          <a:xfrm>
            <a:off x="-76835" y="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a:extLst>
              <a:ext uri="{FF2B5EF4-FFF2-40B4-BE49-F238E27FC236}">
                <a16:creationId xmlns:a16="http://schemas.microsoft.com/office/drawing/2014/main" id="{FCC50D26-8548-E1ED-4733-E165027E25BB}"/>
              </a:ext>
            </a:extLst>
          </p:cNvPr>
          <p:cNvSpPr txBox="1"/>
          <p:nvPr/>
        </p:nvSpPr>
        <p:spPr>
          <a:xfrm>
            <a:off x="66675" y="-17145"/>
            <a:ext cx="10968355" cy="829945"/>
          </a:xfrm>
          <a:prstGeom prst="rect">
            <a:avLst/>
          </a:prstGeom>
        </p:spPr>
        <p:txBody>
          <a:bodyPr wrap="square">
            <a:spAutoFit/>
          </a:bodyPr>
          <a:lstStyle/>
          <a:p>
            <a:r>
              <a:rPr lang="en-US" altLang="en-US" sz="4800" b="1" dirty="0">
                <a:solidFill>
                  <a:srgbClr val="000000"/>
                </a:solidFill>
                <a:latin typeface="Bahnschrift Light" panose="020B0502040204020203" charset="0"/>
                <a:ea typeface="Calibri-Bold"/>
                <a:cs typeface="Bahnschrift Light" panose="020B0502040204020203" charset="0"/>
              </a:rPr>
              <a:t>1.8 Measurement error combinations</a:t>
            </a:r>
          </a:p>
        </p:txBody>
      </p:sp>
      <mc:AlternateContent xmlns:mc="http://schemas.openxmlformats.org/markup-compatibility/2006">
        <mc:Choice xmlns:p14="http://schemas.microsoft.com/office/powerpoint/2010/main" Requires="p14">
          <p:contentPart p14:bwMode="auto" r:id="rId2">
            <p14:nvContentPartPr>
              <p14:cNvPr id="25" name="Ink 24">
                <a:extLst>
                  <a:ext uri="{FF2B5EF4-FFF2-40B4-BE49-F238E27FC236}">
                    <a16:creationId xmlns:a16="http://schemas.microsoft.com/office/drawing/2014/main" id="{1E7B54B5-9196-DA2F-2B02-36828FE95324}"/>
                  </a:ext>
                </a:extLst>
              </p14:cNvPr>
              <p14:cNvContentPartPr/>
              <p14:nvPr/>
            </p14:nvContentPartPr>
            <p14:xfrm>
              <a:off x="7670800" y="749300"/>
              <a:ext cx="196850" cy="360"/>
            </p14:xfrm>
          </p:contentPart>
        </mc:Choice>
        <mc:Fallback>
          <p:pic>
            <p:nvPicPr>
              <p:cNvPr id="25" name="Ink 24">
                <a:extLst>
                  <a:ext uri="{FF2B5EF4-FFF2-40B4-BE49-F238E27FC236}">
                    <a16:creationId xmlns:a16="http://schemas.microsoft.com/office/drawing/2014/main" id="{1E7B54B5-9196-DA2F-2B02-36828FE95324}"/>
                  </a:ext>
                </a:extLst>
              </p:cNvPr>
              <p:cNvPicPr/>
              <p:nvPr/>
            </p:nvPicPr>
            <p:blipFill>
              <a:blip r:embed="rId3"/>
              <a:stretch>
                <a:fillRect/>
              </a:stretch>
            </p:blipFill>
            <p:spPr>
              <a:xfrm>
                <a:off x="7652635" y="731660"/>
                <a:ext cx="232439" cy="34920"/>
              </a:xfrm>
              <a:prstGeom prst="rect">
                <a:avLst/>
              </a:prstGeom>
            </p:spPr>
          </p:pic>
        </mc:Fallback>
      </mc:AlternateContent>
      <p:sp>
        <p:nvSpPr>
          <p:cNvPr id="3" name="TextBox 2">
            <a:extLst>
              <a:ext uri="{FF2B5EF4-FFF2-40B4-BE49-F238E27FC236}">
                <a16:creationId xmlns:a16="http://schemas.microsoft.com/office/drawing/2014/main" id="{524ACDF7-EA1D-5E7F-8A21-BD23B688BD2B}"/>
              </a:ext>
            </a:extLst>
          </p:cNvPr>
          <p:cNvSpPr txBox="1"/>
          <p:nvPr/>
        </p:nvSpPr>
        <p:spPr>
          <a:xfrm>
            <a:off x="212943" y="1144271"/>
            <a:ext cx="11285950" cy="1754326"/>
          </a:xfrm>
          <a:prstGeom prst="rect">
            <a:avLst/>
          </a:prstGeom>
          <a:noFill/>
        </p:spPr>
        <p:txBody>
          <a:bodyPr wrap="square">
            <a:spAutoFit/>
          </a:bodyPr>
          <a:lstStyle/>
          <a:p>
            <a:r>
              <a:rPr lang="en-US" sz="2400" dirty="0"/>
              <a:t>When a quantity is calculated from measurements made on two ore more instruments, it must be assumed that errors due to instrument inaccuracy combine in worst possible way. The resulting error is then larger than the error in any one instrument.</a:t>
            </a:r>
          </a:p>
          <a:p>
            <a:endParaRPr lang="en-US" sz="1200" dirty="0"/>
          </a:p>
          <a:p>
            <a:r>
              <a:rPr lang="en-US" sz="2400" dirty="0">
                <a:solidFill>
                  <a:schemeClr val="accent1">
                    <a:lumMod val="75000"/>
                  </a:schemeClr>
                </a:solidFill>
              </a:rPr>
              <a:t>Sum of quantities:</a:t>
            </a:r>
          </a:p>
        </p:txBody>
      </p:sp>
      <p:pic>
        <p:nvPicPr>
          <p:cNvPr id="6" name="Picture 5">
            <a:extLst>
              <a:ext uri="{FF2B5EF4-FFF2-40B4-BE49-F238E27FC236}">
                <a16:creationId xmlns:a16="http://schemas.microsoft.com/office/drawing/2014/main" id="{77F9FA06-2198-C834-EA07-61DAEB3E0B0C}"/>
              </a:ext>
            </a:extLst>
          </p:cNvPr>
          <p:cNvPicPr>
            <a:picLocks noChangeAspect="1"/>
          </p:cNvPicPr>
          <p:nvPr/>
        </p:nvPicPr>
        <p:blipFill>
          <a:blip r:embed="rId4"/>
          <a:stretch>
            <a:fillRect/>
          </a:stretch>
        </p:blipFill>
        <p:spPr>
          <a:xfrm>
            <a:off x="1941535" y="2898597"/>
            <a:ext cx="2986909" cy="1037824"/>
          </a:xfrm>
          <a:prstGeom prst="rect">
            <a:avLst/>
          </a:prstGeom>
        </p:spPr>
      </p:pic>
      <p:sp>
        <p:nvSpPr>
          <p:cNvPr id="8" name="TextBox 7">
            <a:extLst>
              <a:ext uri="{FF2B5EF4-FFF2-40B4-BE49-F238E27FC236}">
                <a16:creationId xmlns:a16="http://schemas.microsoft.com/office/drawing/2014/main" id="{1A7F5278-70C6-5810-D1EB-7B817BD4EC94}"/>
              </a:ext>
            </a:extLst>
          </p:cNvPr>
          <p:cNvSpPr txBox="1"/>
          <p:nvPr/>
        </p:nvSpPr>
        <p:spPr>
          <a:xfrm>
            <a:off x="194154" y="3963074"/>
            <a:ext cx="6200382" cy="461665"/>
          </a:xfrm>
          <a:prstGeom prst="rect">
            <a:avLst/>
          </a:prstGeom>
          <a:noFill/>
        </p:spPr>
        <p:txBody>
          <a:bodyPr wrap="square">
            <a:spAutoFit/>
          </a:bodyPr>
          <a:lstStyle/>
          <a:p>
            <a:r>
              <a:rPr lang="en-US" sz="2400" dirty="0">
                <a:solidFill>
                  <a:schemeClr val="accent1">
                    <a:lumMod val="75000"/>
                  </a:schemeClr>
                </a:solidFill>
              </a:rPr>
              <a:t>Difference of quantities</a:t>
            </a:r>
            <a:r>
              <a:rPr lang="en-US" dirty="0">
                <a:solidFill>
                  <a:schemeClr val="accent1">
                    <a:lumMod val="75000"/>
                  </a:schemeClr>
                </a:solidFill>
              </a:rPr>
              <a:t>: </a:t>
            </a:r>
          </a:p>
        </p:txBody>
      </p:sp>
      <p:pic>
        <p:nvPicPr>
          <p:cNvPr id="10" name="Picture 9">
            <a:extLst>
              <a:ext uri="{FF2B5EF4-FFF2-40B4-BE49-F238E27FC236}">
                <a16:creationId xmlns:a16="http://schemas.microsoft.com/office/drawing/2014/main" id="{DB6E00DE-1AC1-5F42-2395-E43CDEE13ED2}"/>
              </a:ext>
            </a:extLst>
          </p:cNvPr>
          <p:cNvPicPr>
            <a:picLocks noChangeAspect="1"/>
          </p:cNvPicPr>
          <p:nvPr/>
        </p:nvPicPr>
        <p:blipFill>
          <a:blip r:embed="rId5"/>
          <a:stretch>
            <a:fillRect/>
          </a:stretch>
        </p:blipFill>
        <p:spPr>
          <a:xfrm>
            <a:off x="2020854" y="4394342"/>
            <a:ext cx="2907590" cy="960659"/>
          </a:xfrm>
          <a:prstGeom prst="rect">
            <a:avLst/>
          </a:prstGeom>
        </p:spPr>
      </p:pic>
      <p:sp>
        <p:nvSpPr>
          <p:cNvPr id="12" name="TextBox 11">
            <a:extLst>
              <a:ext uri="{FF2B5EF4-FFF2-40B4-BE49-F238E27FC236}">
                <a16:creationId xmlns:a16="http://schemas.microsoft.com/office/drawing/2014/main" id="{55A45B27-4F70-405F-3C4E-F31E65B30F6A}"/>
              </a:ext>
            </a:extLst>
          </p:cNvPr>
          <p:cNvSpPr txBox="1"/>
          <p:nvPr/>
        </p:nvSpPr>
        <p:spPr>
          <a:xfrm>
            <a:off x="212943" y="5374723"/>
            <a:ext cx="6200382" cy="461665"/>
          </a:xfrm>
          <a:prstGeom prst="rect">
            <a:avLst/>
          </a:prstGeom>
          <a:noFill/>
        </p:spPr>
        <p:txBody>
          <a:bodyPr wrap="square">
            <a:spAutoFit/>
          </a:bodyPr>
          <a:lstStyle/>
          <a:p>
            <a:r>
              <a:rPr lang="en-US" sz="2400" dirty="0">
                <a:solidFill>
                  <a:schemeClr val="accent1">
                    <a:lumMod val="75000"/>
                  </a:schemeClr>
                </a:solidFill>
              </a:rPr>
              <a:t>Product of quantities: </a:t>
            </a:r>
          </a:p>
        </p:txBody>
      </p:sp>
      <p:pic>
        <p:nvPicPr>
          <p:cNvPr id="14" name="Picture 13">
            <a:extLst>
              <a:ext uri="{FF2B5EF4-FFF2-40B4-BE49-F238E27FC236}">
                <a16:creationId xmlns:a16="http://schemas.microsoft.com/office/drawing/2014/main" id="{37128D9E-F2D4-1E0D-CA86-4759530D252C}"/>
              </a:ext>
            </a:extLst>
          </p:cNvPr>
          <p:cNvPicPr>
            <a:picLocks noChangeAspect="1"/>
          </p:cNvPicPr>
          <p:nvPr/>
        </p:nvPicPr>
        <p:blipFill>
          <a:blip r:embed="rId6"/>
          <a:stretch>
            <a:fillRect/>
          </a:stretch>
        </p:blipFill>
        <p:spPr>
          <a:xfrm>
            <a:off x="1420014" y="5888567"/>
            <a:ext cx="6525713" cy="901475"/>
          </a:xfrm>
          <a:prstGeom prst="rect">
            <a:avLst/>
          </a:prstGeom>
        </p:spPr>
      </p:pic>
      <p:pic>
        <p:nvPicPr>
          <p:cNvPr id="16" name="Picture 15">
            <a:extLst>
              <a:ext uri="{FF2B5EF4-FFF2-40B4-BE49-F238E27FC236}">
                <a16:creationId xmlns:a16="http://schemas.microsoft.com/office/drawing/2014/main" id="{BEC23CB1-3FE8-005D-838D-6E4F3AC95267}"/>
              </a:ext>
            </a:extLst>
          </p:cNvPr>
          <p:cNvPicPr>
            <a:picLocks noChangeAspect="1"/>
          </p:cNvPicPr>
          <p:nvPr/>
        </p:nvPicPr>
        <p:blipFill>
          <a:blip r:embed="rId7"/>
          <a:stretch>
            <a:fillRect/>
          </a:stretch>
        </p:blipFill>
        <p:spPr>
          <a:xfrm>
            <a:off x="1866726" y="6177916"/>
            <a:ext cx="5632290" cy="461664"/>
          </a:xfrm>
          <a:prstGeom prst="rect">
            <a:avLst/>
          </a:prstGeom>
        </p:spPr>
      </p:pic>
    </p:spTree>
    <p:extLst>
      <p:ext uri="{BB962C8B-B14F-4D97-AF65-F5344CB8AC3E}">
        <p14:creationId xmlns:p14="http://schemas.microsoft.com/office/powerpoint/2010/main" val="1479447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44DBB3-C5A6-560B-60BD-A5FB336304BE}"/>
              </a:ext>
            </a:extLst>
          </p:cNvPr>
          <p:cNvSpPr>
            <a:spLocks noGrp="1"/>
          </p:cNvSpPr>
          <p:nvPr>
            <p:ph idx="1"/>
          </p:nvPr>
        </p:nvSpPr>
        <p:spPr>
          <a:xfrm>
            <a:off x="437765" y="532292"/>
            <a:ext cx="10727499" cy="5625818"/>
          </a:xfrm>
        </p:spPr>
        <p:txBody>
          <a:bodyPr/>
          <a:lstStyle/>
          <a:p>
            <a:pPr marL="0" indent="0">
              <a:buNone/>
            </a:pPr>
            <a:r>
              <a:rPr lang="en-US" sz="2400" dirty="0">
                <a:solidFill>
                  <a:schemeClr val="accent1">
                    <a:lumMod val="75000"/>
                  </a:schemeClr>
                </a:solidFill>
              </a:rPr>
              <a:t>Quotient of quantities:</a:t>
            </a:r>
          </a:p>
          <a:p>
            <a:pPr marL="0" indent="0">
              <a:buNone/>
            </a:pPr>
            <a:endParaRPr lang="en-US" dirty="0"/>
          </a:p>
          <a:p>
            <a:pPr marL="0" indent="0">
              <a:buNone/>
            </a:pPr>
            <a:endParaRPr lang="en-US" dirty="0"/>
          </a:p>
          <a:p>
            <a:pPr marL="0" indent="0">
              <a:buNone/>
            </a:pPr>
            <a:r>
              <a:rPr lang="en-US" sz="2400" dirty="0">
                <a:solidFill>
                  <a:schemeClr val="accent1">
                    <a:lumMod val="75000"/>
                  </a:schemeClr>
                </a:solidFill>
              </a:rPr>
              <a:t>Quantity raised to a power:</a:t>
            </a:r>
          </a:p>
          <a:p>
            <a:pPr marL="0" indent="0">
              <a:buNone/>
            </a:pPr>
            <a:endParaRPr lang="en-US" dirty="0">
              <a:solidFill>
                <a:schemeClr val="accent1">
                  <a:lumMod val="75000"/>
                </a:schemeClr>
              </a:solidFill>
            </a:endParaRPr>
          </a:p>
        </p:txBody>
      </p:sp>
      <p:pic>
        <p:nvPicPr>
          <p:cNvPr id="7" name="Picture 6">
            <a:extLst>
              <a:ext uri="{FF2B5EF4-FFF2-40B4-BE49-F238E27FC236}">
                <a16:creationId xmlns:a16="http://schemas.microsoft.com/office/drawing/2014/main" id="{D0CAE436-C95E-7DB9-5371-6DEAD1BDE25A}"/>
              </a:ext>
            </a:extLst>
          </p:cNvPr>
          <p:cNvPicPr>
            <a:picLocks noChangeAspect="1"/>
          </p:cNvPicPr>
          <p:nvPr/>
        </p:nvPicPr>
        <p:blipFill>
          <a:blip r:embed="rId2"/>
          <a:stretch>
            <a:fillRect/>
          </a:stretch>
        </p:blipFill>
        <p:spPr>
          <a:xfrm>
            <a:off x="2532610" y="963233"/>
            <a:ext cx="5607287" cy="1079403"/>
          </a:xfrm>
          <a:prstGeom prst="rect">
            <a:avLst/>
          </a:prstGeom>
        </p:spPr>
      </p:pic>
      <p:pic>
        <p:nvPicPr>
          <p:cNvPr id="13" name="Picture 12">
            <a:extLst>
              <a:ext uri="{FF2B5EF4-FFF2-40B4-BE49-F238E27FC236}">
                <a16:creationId xmlns:a16="http://schemas.microsoft.com/office/drawing/2014/main" id="{AD6D1486-4678-AD0E-59C6-677967692243}"/>
              </a:ext>
            </a:extLst>
          </p:cNvPr>
          <p:cNvPicPr>
            <a:picLocks noChangeAspect="1"/>
          </p:cNvPicPr>
          <p:nvPr/>
        </p:nvPicPr>
        <p:blipFill>
          <a:blip r:embed="rId3"/>
          <a:stretch>
            <a:fillRect/>
          </a:stretch>
        </p:blipFill>
        <p:spPr>
          <a:xfrm>
            <a:off x="2367418" y="2473577"/>
            <a:ext cx="6112703" cy="1086342"/>
          </a:xfrm>
          <a:prstGeom prst="rect">
            <a:avLst/>
          </a:prstGeom>
        </p:spPr>
      </p:pic>
    </p:spTree>
    <p:extLst>
      <p:ext uri="{BB962C8B-B14F-4D97-AF65-F5344CB8AC3E}">
        <p14:creationId xmlns:p14="http://schemas.microsoft.com/office/powerpoint/2010/main" val="4169658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8A004-4B68-2902-5D7D-40457EB7C31A}"/>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971ED52C-FEE4-1C8F-9734-67FA6DDFFCD2}"/>
              </a:ext>
            </a:extLst>
          </p:cNvPr>
          <p:cNvPicPr>
            <a:picLocks noGrp="1" noChangeAspect="1"/>
          </p:cNvPicPr>
          <p:nvPr>
            <p:ph idx="1"/>
          </p:nvPr>
        </p:nvPicPr>
        <p:blipFill>
          <a:blip r:embed="rId2"/>
          <a:stretch>
            <a:fillRect/>
          </a:stretch>
        </p:blipFill>
        <p:spPr>
          <a:xfrm>
            <a:off x="4017465" y="2029217"/>
            <a:ext cx="2790812" cy="2771019"/>
          </a:xfrm>
          <a:prstGeom prst="rect">
            <a:avLst/>
          </a:prstGeom>
        </p:spPr>
      </p:pic>
      <p:sp>
        <p:nvSpPr>
          <p:cNvPr id="9" name="TextBox 8">
            <a:extLst>
              <a:ext uri="{FF2B5EF4-FFF2-40B4-BE49-F238E27FC236}">
                <a16:creationId xmlns:a16="http://schemas.microsoft.com/office/drawing/2014/main" id="{868FFA86-2E3B-0BB3-B37C-4BFB69B24385}"/>
              </a:ext>
            </a:extLst>
          </p:cNvPr>
          <p:cNvSpPr txBox="1"/>
          <p:nvPr/>
        </p:nvSpPr>
        <p:spPr>
          <a:xfrm>
            <a:off x="2836101" y="4800236"/>
            <a:ext cx="6093912" cy="369332"/>
          </a:xfrm>
          <a:prstGeom prst="rect">
            <a:avLst/>
          </a:prstGeom>
          <a:noFill/>
        </p:spPr>
        <p:txBody>
          <a:bodyPr wrap="square">
            <a:spAutoFit/>
          </a:bodyPr>
          <a:lstStyle/>
          <a:p>
            <a:r>
              <a:rPr lang="en-US" dirty="0"/>
              <a:t>Figure 1.2: Error in sum of quantities equals sum of errors </a:t>
            </a:r>
          </a:p>
        </p:txBody>
      </p:sp>
      <p:pic>
        <p:nvPicPr>
          <p:cNvPr id="11" name="Picture 10">
            <a:extLst>
              <a:ext uri="{FF2B5EF4-FFF2-40B4-BE49-F238E27FC236}">
                <a16:creationId xmlns:a16="http://schemas.microsoft.com/office/drawing/2014/main" id="{D58E8C36-FB6C-06C2-565C-670000B82AFC}"/>
              </a:ext>
            </a:extLst>
          </p:cNvPr>
          <p:cNvPicPr>
            <a:picLocks noChangeAspect="1"/>
          </p:cNvPicPr>
          <p:nvPr/>
        </p:nvPicPr>
        <p:blipFill>
          <a:blip r:embed="rId3"/>
          <a:stretch>
            <a:fillRect/>
          </a:stretch>
        </p:blipFill>
        <p:spPr>
          <a:xfrm>
            <a:off x="3729071" y="5424517"/>
            <a:ext cx="3618120" cy="858053"/>
          </a:xfrm>
          <a:prstGeom prst="rect">
            <a:avLst/>
          </a:prstGeom>
        </p:spPr>
      </p:pic>
      <p:sp>
        <p:nvSpPr>
          <p:cNvPr id="12" name="TextBox 11">
            <a:extLst>
              <a:ext uri="{FF2B5EF4-FFF2-40B4-BE49-F238E27FC236}">
                <a16:creationId xmlns:a16="http://schemas.microsoft.com/office/drawing/2014/main" id="{18972B43-9D7F-0412-1305-F851D0719F7B}"/>
              </a:ext>
            </a:extLst>
          </p:cNvPr>
          <p:cNvSpPr txBox="1"/>
          <p:nvPr/>
        </p:nvSpPr>
        <p:spPr>
          <a:xfrm>
            <a:off x="338202" y="175364"/>
            <a:ext cx="11348581" cy="1598904"/>
          </a:xfrm>
          <a:prstGeom prst="rect">
            <a:avLst/>
          </a:prstGeom>
          <a:noFill/>
        </p:spPr>
        <p:txBody>
          <a:bodyPr wrap="square">
            <a:spAutoFit/>
          </a:bodyPr>
          <a:lstStyle/>
          <a:p>
            <a:pPr marL="227965" marR="0">
              <a:lnSpc>
                <a:spcPts val="1375"/>
              </a:lnSpc>
              <a:buNone/>
            </a:pPr>
            <a:endParaRPr lang="en-US" sz="2400" b="1" kern="0" dirty="0">
              <a:effectLst/>
              <a:latin typeface="Times New Roman" panose="02020603050405020304" pitchFamily="18" charset="0"/>
              <a:ea typeface="Times New Roman" panose="02020603050405020304" pitchFamily="18" charset="0"/>
            </a:endParaRPr>
          </a:p>
          <a:p>
            <a:pPr marL="227965" marR="0">
              <a:lnSpc>
                <a:spcPts val="1375"/>
              </a:lnSpc>
              <a:buNone/>
            </a:pPr>
            <a:endParaRPr lang="en-US" sz="2400" b="1" kern="0" dirty="0">
              <a:latin typeface="Times New Roman" panose="02020603050405020304" pitchFamily="18" charset="0"/>
              <a:ea typeface="Times New Roman" panose="02020603050405020304" pitchFamily="18" charset="0"/>
            </a:endParaRPr>
          </a:p>
          <a:p>
            <a:pPr marL="227965" marR="0">
              <a:lnSpc>
                <a:spcPts val="1375"/>
              </a:lnSpc>
              <a:buNone/>
            </a:pPr>
            <a:endParaRPr lang="en-US" sz="2400" b="1" kern="0" dirty="0">
              <a:effectLst/>
              <a:latin typeface="Times New Roman" panose="02020603050405020304" pitchFamily="18" charset="0"/>
              <a:ea typeface="Times New Roman" panose="02020603050405020304" pitchFamily="18" charset="0"/>
            </a:endParaRPr>
          </a:p>
          <a:p>
            <a:pPr marL="227965" marR="0">
              <a:lnSpc>
                <a:spcPts val="1375"/>
              </a:lnSpc>
              <a:buNone/>
            </a:pPr>
            <a:r>
              <a:rPr lang="en-US" sz="2400" b="1" kern="0" dirty="0">
                <a:effectLst/>
                <a:latin typeface="Times New Roman" panose="02020603050405020304" pitchFamily="18" charset="0"/>
                <a:ea typeface="Times New Roman" panose="02020603050405020304" pitchFamily="18" charset="0"/>
              </a:rPr>
              <a:t>Sum of </a:t>
            </a:r>
            <a:r>
              <a:rPr lang="en-US" sz="2400" b="1" kern="0" spc="-10" dirty="0">
                <a:effectLst/>
                <a:latin typeface="Times New Roman" panose="02020603050405020304" pitchFamily="18" charset="0"/>
                <a:ea typeface="Times New Roman" panose="02020603050405020304" pitchFamily="18" charset="0"/>
              </a:rPr>
              <a:t>Quantities</a:t>
            </a:r>
            <a:endParaRPr lang="en-US" sz="2400" b="1" kern="0" dirty="0">
              <a:effectLst/>
              <a:latin typeface="Times New Roman" panose="02020603050405020304" pitchFamily="18" charset="0"/>
              <a:ea typeface="Times New Roman" panose="02020603050405020304" pitchFamily="18" charset="0"/>
            </a:endParaRPr>
          </a:p>
          <a:p>
            <a:pPr marL="227965" marR="480060">
              <a:buNone/>
            </a:pPr>
            <a:r>
              <a:rPr lang="en-US" sz="2400" dirty="0">
                <a:effectLst/>
                <a:latin typeface="Times New Roman" panose="02020603050405020304" pitchFamily="18" charset="0"/>
                <a:ea typeface="Times New Roman" panose="02020603050405020304" pitchFamily="18" charset="0"/>
              </a:rPr>
              <a:t>Where</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quantity</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determined</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as</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sum</a:t>
            </a:r>
            <a:r>
              <a:rPr lang="en-US" sz="2400" spc="-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two</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measurements,</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total</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error</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 sum of the absolute errors in each measurement. As illustrated in Figure 1.2:</a:t>
            </a:r>
          </a:p>
        </p:txBody>
      </p:sp>
    </p:spTree>
    <p:extLst>
      <p:ext uri="{BB962C8B-B14F-4D97-AF65-F5344CB8AC3E}">
        <p14:creationId xmlns:p14="http://schemas.microsoft.com/office/powerpoint/2010/main" val="2280183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0EDC4-EF09-7EB5-FD2A-C684FF18A3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7BAFA86-F668-5C4D-8997-CCD82009CF8E}"/>
              </a:ext>
            </a:extLst>
          </p:cNvPr>
          <p:cNvSpPr txBox="1"/>
          <p:nvPr/>
        </p:nvSpPr>
        <p:spPr>
          <a:xfrm>
            <a:off x="504173" y="491739"/>
            <a:ext cx="6093912" cy="461665"/>
          </a:xfrm>
          <a:prstGeom prst="rect">
            <a:avLst/>
          </a:prstGeom>
          <a:noFill/>
        </p:spPr>
        <p:txBody>
          <a:bodyPr wrap="square">
            <a:spAutoFit/>
          </a:bodyPr>
          <a:lstStyle/>
          <a:p>
            <a:pPr marL="227965" marR="0">
              <a:buNone/>
            </a:pPr>
            <a:r>
              <a:rPr lang="en-US" sz="2400" b="1" kern="0" dirty="0">
                <a:effectLst/>
                <a:latin typeface="Times New Roman" panose="02020603050405020304" pitchFamily="18" charset="0"/>
                <a:ea typeface="Times New Roman" panose="02020603050405020304" pitchFamily="18" charset="0"/>
              </a:rPr>
              <a:t>Difference</a:t>
            </a:r>
            <a:r>
              <a:rPr lang="en-US" sz="2400" b="1" kern="0" spc="-10" dirty="0">
                <a:effectLst/>
                <a:latin typeface="Times New Roman" panose="02020603050405020304" pitchFamily="18" charset="0"/>
                <a:ea typeface="Times New Roman" panose="02020603050405020304" pitchFamily="18" charset="0"/>
              </a:rPr>
              <a:t> </a:t>
            </a:r>
            <a:r>
              <a:rPr lang="en-US" sz="2400" b="1" kern="0" dirty="0">
                <a:effectLst/>
                <a:latin typeface="Times New Roman" panose="02020603050405020304" pitchFamily="18" charset="0"/>
                <a:ea typeface="Times New Roman" panose="02020603050405020304" pitchFamily="18" charset="0"/>
              </a:rPr>
              <a:t>of</a:t>
            </a:r>
            <a:r>
              <a:rPr lang="en-US" sz="2400" b="1" kern="0" spc="-5" dirty="0">
                <a:effectLst/>
                <a:latin typeface="Times New Roman" panose="02020603050405020304" pitchFamily="18" charset="0"/>
                <a:ea typeface="Times New Roman" panose="02020603050405020304" pitchFamily="18" charset="0"/>
              </a:rPr>
              <a:t> </a:t>
            </a:r>
            <a:r>
              <a:rPr lang="en-US" sz="2400" b="1" kern="0" spc="-10" dirty="0">
                <a:effectLst/>
                <a:latin typeface="Times New Roman" panose="02020603050405020304" pitchFamily="18" charset="0"/>
                <a:ea typeface="Times New Roman" panose="02020603050405020304" pitchFamily="18" charset="0"/>
              </a:rPr>
              <a:t>Quantities</a:t>
            </a:r>
            <a:endParaRPr lang="en-US" sz="2400" b="1" kern="0" dirty="0">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F27759D8-CF0E-A675-FCB6-BA01EA21BAC0}"/>
              </a:ext>
            </a:extLst>
          </p:cNvPr>
          <p:cNvSpPr txBox="1"/>
          <p:nvPr/>
        </p:nvSpPr>
        <p:spPr>
          <a:xfrm>
            <a:off x="504173" y="953404"/>
            <a:ext cx="11295345" cy="830997"/>
          </a:xfrm>
          <a:prstGeom prst="rect">
            <a:avLst/>
          </a:prstGeom>
          <a:noFill/>
        </p:spPr>
        <p:txBody>
          <a:bodyPr wrap="square">
            <a:spAutoFit/>
          </a:bodyPr>
          <a:lstStyle/>
          <a:p>
            <a:pPr marL="227965" marR="0">
              <a:spcBef>
                <a:spcPts val="380"/>
              </a:spcBef>
              <a:buNone/>
            </a:pPr>
            <a:r>
              <a:rPr lang="en-US" sz="2400" dirty="0">
                <a:effectLst/>
                <a:latin typeface="Times New Roman" panose="02020603050405020304" pitchFamily="18" charset="0"/>
                <a:ea typeface="Times New Roman" panose="02020603050405020304" pitchFamily="18" charset="0"/>
              </a:rPr>
              <a:t>Figure</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1.3</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illustrated</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situation</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which</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potential</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difference</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determined</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as</a:t>
            </a:r>
            <a:r>
              <a:rPr lang="en-US" sz="2400" spc="20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 difference between two measured voltages. Here again, the errors are additive;</a:t>
            </a:r>
          </a:p>
        </p:txBody>
      </p:sp>
      <p:pic>
        <p:nvPicPr>
          <p:cNvPr id="13" name="Picture 12">
            <a:extLst>
              <a:ext uri="{FF2B5EF4-FFF2-40B4-BE49-F238E27FC236}">
                <a16:creationId xmlns:a16="http://schemas.microsoft.com/office/drawing/2014/main" id="{3176957C-0BF8-9380-7C68-2CB6B5DE4407}"/>
              </a:ext>
            </a:extLst>
          </p:cNvPr>
          <p:cNvPicPr>
            <a:picLocks noChangeAspect="1"/>
          </p:cNvPicPr>
          <p:nvPr/>
        </p:nvPicPr>
        <p:blipFill>
          <a:blip r:embed="rId2"/>
          <a:stretch>
            <a:fillRect/>
          </a:stretch>
        </p:blipFill>
        <p:spPr>
          <a:xfrm>
            <a:off x="3407080" y="1784401"/>
            <a:ext cx="5050776" cy="2948900"/>
          </a:xfrm>
          <a:prstGeom prst="rect">
            <a:avLst/>
          </a:prstGeom>
        </p:spPr>
      </p:pic>
      <p:sp>
        <p:nvSpPr>
          <p:cNvPr id="15" name="TextBox 14">
            <a:extLst>
              <a:ext uri="{FF2B5EF4-FFF2-40B4-BE49-F238E27FC236}">
                <a16:creationId xmlns:a16="http://schemas.microsoft.com/office/drawing/2014/main" id="{96D3B137-1C72-5010-2A88-6E64D65B916A}"/>
              </a:ext>
            </a:extLst>
          </p:cNvPr>
          <p:cNvSpPr txBox="1"/>
          <p:nvPr/>
        </p:nvSpPr>
        <p:spPr>
          <a:xfrm>
            <a:off x="3049044" y="4742696"/>
            <a:ext cx="6093912" cy="369332"/>
          </a:xfrm>
          <a:prstGeom prst="rect">
            <a:avLst/>
          </a:prstGeom>
          <a:noFill/>
        </p:spPr>
        <p:txBody>
          <a:bodyPr wrap="square">
            <a:spAutoFit/>
          </a:bodyPr>
          <a:lstStyle/>
          <a:p>
            <a:r>
              <a:rPr lang="en-US" dirty="0"/>
              <a:t>Figure 1.3: Error in difference of quantities equals sum of errors</a:t>
            </a:r>
          </a:p>
        </p:txBody>
      </p:sp>
      <p:pic>
        <p:nvPicPr>
          <p:cNvPr id="17" name="Picture 16">
            <a:extLst>
              <a:ext uri="{FF2B5EF4-FFF2-40B4-BE49-F238E27FC236}">
                <a16:creationId xmlns:a16="http://schemas.microsoft.com/office/drawing/2014/main" id="{AA4DBB6E-171E-7627-4A37-593EF018B6CD}"/>
              </a:ext>
            </a:extLst>
          </p:cNvPr>
          <p:cNvPicPr>
            <a:picLocks noChangeAspect="1"/>
          </p:cNvPicPr>
          <p:nvPr/>
        </p:nvPicPr>
        <p:blipFill>
          <a:blip r:embed="rId3"/>
          <a:stretch>
            <a:fillRect/>
          </a:stretch>
        </p:blipFill>
        <p:spPr>
          <a:xfrm>
            <a:off x="4685299" y="5169797"/>
            <a:ext cx="4287488" cy="905326"/>
          </a:xfrm>
          <a:prstGeom prst="rect">
            <a:avLst/>
          </a:prstGeom>
        </p:spPr>
      </p:pic>
    </p:spTree>
    <p:extLst>
      <p:ext uri="{BB962C8B-B14F-4D97-AF65-F5344CB8AC3E}">
        <p14:creationId xmlns:p14="http://schemas.microsoft.com/office/powerpoint/2010/main" val="3907762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282D3-C9E6-FE5E-9637-C419DF4E5ED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73E4271-185B-9295-68ED-155FEB136F50}"/>
              </a:ext>
            </a:extLst>
          </p:cNvPr>
          <p:cNvSpPr txBox="1"/>
          <p:nvPr/>
        </p:nvSpPr>
        <p:spPr>
          <a:xfrm>
            <a:off x="504173" y="491739"/>
            <a:ext cx="6093912" cy="461665"/>
          </a:xfrm>
          <a:prstGeom prst="rect">
            <a:avLst/>
          </a:prstGeom>
          <a:noFill/>
        </p:spPr>
        <p:txBody>
          <a:bodyPr wrap="square">
            <a:spAutoFit/>
          </a:bodyPr>
          <a:lstStyle/>
          <a:p>
            <a:r>
              <a:rPr lang="en-US" sz="2400" b="1" dirty="0"/>
              <a:t>   Product of Quantities  </a:t>
            </a:r>
          </a:p>
        </p:txBody>
      </p:sp>
      <p:sp>
        <p:nvSpPr>
          <p:cNvPr id="8" name="TextBox 7">
            <a:extLst>
              <a:ext uri="{FF2B5EF4-FFF2-40B4-BE49-F238E27FC236}">
                <a16:creationId xmlns:a16="http://schemas.microsoft.com/office/drawing/2014/main" id="{982AF21A-5BBA-11E3-BAE5-9483AA8810E4}"/>
              </a:ext>
            </a:extLst>
          </p:cNvPr>
          <p:cNvSpPr txBox="1"/>
          <p:nvPr/>
        </p:nvSpPr>
        <p:spPr>
          <a:xfrm>
            <a:off x="504173" y="953404"/>
            <a:ext cx="11295345" cy="830997"/>
          </a:xfrm>
          <a:prstGeom prst="rect">
            <a:avLst/>
          </a:prstGeom>
          <a:noFill/>
        </p:spPr>
        <p:txBody>
          <a:bodyPr wrap="square">
            <a:spAutoFit/>
          </a:bodyPr>
          <a:lstStyle/>
          <a:p>
            <a:pPr marL="227965" marR="0">
              <a:spcBef>
                <a:spcPts val="380"/>
              </a:spcBef>
              <a:buNone/>
            </a:pPr>
            <a:r>
              <a:rPr lang="en-US" sz="2400" dirty="0"/>
              <a:t>When a calculated quantity is product of two or more quantities, the percentage error is the sum of the percentage errors in each quantity</a:t>
            </a:r>
            <a:endParaRPr lang="en-US" sz="2400"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FC1DFDA7-8BB4-0700-CD6A-0818841FC42E}"/>
              </a:ext>
            </a:extLst>
          </p:cNvPr>
          <p:cNvPicPr>
            <a:picLocks noChangeAspect="1"/>
          </p:cNvPicPr>
          <p:nvPr/>
        </p:nvPicPr>
        <p:blipFill>
          <a:blip r:embed="rId2"/>
          <a:stretch>
            <a:fillRect/>
          </a:stretch>
        </p:blipFill>
        <p:spPr>
          <a:xfrm>
            <a:off x="3707705" y="1784402"/>
            <a:ext cx="3419606" cy="2626982"/>
          </a:xfrm>
          <a:prstGeom prst="rect">
            <a:avLst/>
          </a:prstGeom>
        </p:spPr>
      </p:pic>
      <p:sp>
        <p:nvSpPr>
          <p:cNvPr id="6" name="TextBox 5">
            <a:extLst>
              <a:ext uri="{FF2B5EF4-FFF2-40B4-BE49-F238E27FC236}">
                <a16:creationId xmlns:a16="http://schemas.microsoft.com/office/drawing/2014/main" id="{CC1A1871-D663-C1DD-642C-18684FE563BA}"/>
              </a:ext>
            </a:extLst>
          </p:cNvPr>
          <p:cNvSpPr txBox="1"/>
          <p:nvPr/>
        </p:nvSpPr>
        <p:spPr>
          <a:xfrm>
            <a:off x="1363771" y="4363502"/>
            <a:ext cx="8694629" cy="369332"/>
          </a:xfrm>
          <a:prstGeom prst="rect">
            <a:avLst/>
          </a:prstGeom>
          <a:noFill/>
        </p:spPr>
        <p:txBody>
          <a:bodyPr wrap="square">
            <a:spAutoFit/>
          </a:bodyPr>
          <a:lstStyle/>
          <a:p>
            <a:r>
              <a:rPr lang="en-US" dirty="0"/>
              <a:t>Figure 1.4: Percentage error in product or quotient of quantities equals sum of percentage </a:t>
            </a:r>
          </a:p>
        </p:txBody>
      </p:sp>
      <p:pic>
        <p:nvPicPr>
          <p:cNvPr id="9" name="Picture 8">
            <a:extLst>
              <a:ext uri="{FF2B5EF4-FFF2-40B4-BE49-F238E27FC236}">
                <a16:creationId xmlns:a16="http://schemas.microsoft.com/office/drawing/2014/main" id="{2D417F1F-B7C1-C491-8813-11FA635428F6}"/>
              </a:ext>
            </a:extLst>
          </p:cNvPr>
          <p:cNvPicPr>
            <a:picLocks noChangeAspect="1"/>
          </p:cNvPicPr>
          <p:nvPr/>
        </p:nvPicPr>
        <p:blipFill>
          <a:blip r:embed="rId3"/>
          <a:stretch>
            <a:fillRect/>
          </a:stretch>
        </p:blipFill>
        <p:spPr>
          <a:xfrm>
            <a:off x="2485451" y="4948592"/>
            <a:ext cx="6782954" cy="1176635"/>
          </a:xfrm>
          <a:prstGeom prst="rect">
            <a:avLst/>
          </a:prstGeom>
        </p:spPr>
      </p:pic>
    </p:spTree>
    <p:extLst>
      <p:ext uri="{BB962C8B-B14F-4D97-AF65-F5344CB8AC3E}">
        <p14:creationId xmlns:p14="http://schemas.microsoft.com/office/powerpoint/2010/main" val="1798763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29C45-0726-ED6E-4C4D-213DD57E361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598156-A6F8-5538-97CE-4346F37B11BF}"/>
              </a:ext>
            </a:extLst>
          </p:cNvPr>
          <p:cNvSpPr txBox="1"/>
          <p:nvPr/>
        </p:nvSpPr>
        <p:spPr>
          <a:xfrm>
            <a:off x="504173" y="491739"/>
            <a:ext cx="6093912" cy="461665"/>
          </a:xfrm>
          <a:prstGeom prst="rect">
            <a:avLst/>
          </a:prstGeom>
          <a:noFill/>
        </p:spPr>
        <p:txBody>
          <a:bodyPr wrap="square">
            <a:spAutoFit/>
          </a:bodyPr>
          <a:lstStyle/>
          <a:p>
            <a:r>
              <a:rPr lang="en-US" sz="2400" b="1" dirty="0"/>
              <a:t>  </a:t>
            </a:r>
            <a:r>
              <a:rPr lang="en-US" sz="2400" dirty="0"/>
              <a:t> </a:t>
            </a:r>
            <a:r>
              <a:rPr lang="en-US" sz="2400" b="1" dirty="0"/>
              <a:t>Quotient</a:t>
            </a:r>
            <a:r>
              <a:rPr lang="en-US" sz="2400" dirty="0"/>
              <a:t> </a:t>
            </a:r>
            <a:r>
              <a:rPr lang="en-US" sz="2400" b="1" dirty="0"/>
              <a:t>of Quantities  </a:t>
            </a:r>
          </a:p>
        </p:txBody>
      </p:sp>
      <p:sp>
        <p:nvSpPr>
          <p:cNvPr id="8" name="TextBox 7">
            <a:extLst>
              <a:ext uri="{FF2B5EF4-FFF2-40B4-BE49-F238E27FC236}">
                <a16:creationId xmlns:a16="http://schemas.microsoft.com/office/drawing/2014/main" id="{759D0C6E-2A72-3C95-F27C-204F45A3CA95}"/>
              </a:ext>
            </a:extLst>
          </p:cNvPr>
          <p:cNvSpPr txBox="1"/>
          <p:nvPr/>
        </p:nvSpPr>
        <p:spPr>
          <a:xfrm>
            <a:off x="504173" y="953404"/>
            <a:ext cx="11295345" cy="830997"/>
          </a:xfrm>
          <a:prstGeom prst="rect">
            <a:avLst/>
          </a:prstGeom>
          <a:noFill/>
        </p:spPr>
        <p:txBody>
          <a:bodyPr wrap="square">
            <a:spAutoFit/>
          </a:bodyPr>
          <a:lstStyle/>
          <a:p>
            <a:pPr marL="227965" marR="0">
              <a:spcBef>
                <a:spcPts val="380"/>
              </a:spcBef>
              <a:buNone/>
            </a:pPr>
            <a:r>
              <a:rPr lang="en-US" sz="2400" dirty="0"/>
              <a:t>Here again it can be that the percentage error is the sum of the percentage errors in each quantity</a:t>
            </a:r>
            <a:endParaRPr lang="en-US" sz="24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B104318D-EAA0-929E-FFB1-28A3C2FCB60D}"/>
              </a:ext>
            </a:extLst>
          </p:cNvPr>
          <p:cNvPicPr>
            <a:picLocks noChangeAspect="1"/>
          </p:cNvPicPr>
          <p:nvPr/>
        </p:nvPicPr>
        <p:blipFill>
          <a:blip r:embed="rId2"/>
          <a:stretch>
            <a:fillRect/>
          </a:stretch>
        </p:blipFill>
        <p:spPr>
          <a:xfrm>
            <a:off x="2892029" y="1784401"/>
            <a:ext cx="6251971" cy="1052629"/>
          </a:xfrm>
          <a:prstGeom prst="rect">
            <a:avLst/>
          </a:prstGeom>
        </p:spPr>
      </p:pic>
      <p:sp>
        <p:nvSpPr>
          <p:cNvPr id="10" name="TextBox 9">
            <a:extLst>
              <a:ext uri="{FF2B5EF4-FFF2-40B4-BE49-F238E27FC236}">
                <a16:creationId xmlns:a16="http://schemas.microsoft.com/office/drawing/2014/main" id="{89DCE047-6805-76E2-630E-AFBA54C483A5}"/>
              </a:ext>
            </a:extLst>
          </p:cNvPr>
          <p:cNvSpPr txBox="1"/>
          <p:nvPr/>
        </p:nvSpPr>
        <p:spPr>
          <a:xfrm>
            <a:off x="767219" y="3198167"/>
            <a:ext cx="6093912" cy="461665"/>
          </a:xfrm>
          <a:prstGeom prst="rect">
            <a:avLst/>
          </a:prstGeom>
          <a:noFill/>
        </p:spPr>
        <p:txBody>
          <a:bodyPr wrap="square">
            <a:spAutoFit/>
          </a:bodyPr>
          <a:lstStyle/>
          <a:p>
            <a:r>
              <a:rPr lang="en-US" sz="2400" b="1" dirty="0"/>
              <a:t>Quantity Raised to a Power </a:t>
            </a:r>
          </a:p>
        </p:txBody>
      </p:sp>
      <p:sp>
        <p:nvSpPr>
          <p:cNvPr id="14" name="TextBox 13">
            <a:extLst>
              <a:ext uri="{FF2B5EF4-FFF2-40B4-BE49-F238E27FC236}">
                <a16:creationId xmlns:a16="http://schemas.microsoft.com/office/drawing/2014/main" id="{1174A3A9-0823-D17F-5010-1387642DF33C}"/>
              </a:ext>
            </a:extLst>
          </p:cNvPr>
          <p:cNvSpPr txBox="1"/>
          <p:nvPr/>
        </p:nvSpPr>
        <p:spPr>
          <a:xfrm>
            <a:off x="641958" y="3789131"/>
            <a:ext cx="11157559" cy="830997"/>
          </a:xfrm>
          <a:prstGeom prst="rect">
            <a:avLst/>
          </a:prstGeom>
          <a:noFill/>
        </p:spPr>
        <p:txBody>
          <a:bodyPr wrap="square">
            <a:spAutoFit/>
          </a:bodyPr>
          <a:lstStyle/>
          <a:p>
            <a:pPr marL="227965" marR="0">
              <a:spcBef>
                <a:spcPts val="1370"/>
              </a:spcBef>
              <a:buNone/>
            </a:pPr>
            <a:r>
              <a:rPr lang="en-US" sz="2400" dirty="0">
                <a:effectLst/>
                <a:latin typeface="Times New Roman" panose="02020603050405020304" pitchFamily="18" charset="0"/>
                <a:ea typeface="Times New Roman" panose="02020603050405020304" pitchFamily="18" charset="0"/>
              </a:rPr>
              <a:t>When</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quantity</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raised</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power</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percentage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error</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a:t>
            </a:r>
            <a:r>
              <a:rPr lang="en-US" sz="2400" baseline="30000" dirty="0">
                <a:effectLst/>
                <a:latin typeface="Times New Roman" panose="02020603050405020304" pitchFamily="18" charset="0"/>
                <a:ea typeface="Times New Roman" panose="02020603050405020304" pitchFamily="18" charset="0"/>
              </a:rPr>
              <a:t>B</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can</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shown</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1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 Percentage error in A</a:t>
            </a:r>
            <a:r>
              <a:rPr lang="en-US" sz="2400" baseline="30000" dirty="0">
                <a:effectLst/>
                <a:latin typeface="Times New Roman" panose="02020603050405020304" pitchFamily="18" charset="0"/>
                <a:ea typeface="Times New Roman" panose="02020603050405020304" pitchFamily="18" charset="0"/>
              </a:rPr>
              <a:t>B</a:t>
            </a:r>
            <a:r>
              <a:rPr lang="en-US" sz="2400" dirty="0">
                <a:effectLst/>
                <a:latin typeface="Times New Roman" panose="02020603050405020304" pitchFamily="18" charset="0"/>
                <a:ea typeface="Times New Roman" panose="02020603050405020304" pitchFamily="18" charset="0"/>
              </a:rPr>
              <a:t> = B (% error in A)</a:t>
            </a:r>
          </a:p>
        </p:txBody>
      </p:sp>
    </p:spTree>
    <p:extLst>
      <p:ext uri="{BB962C8B-B14F-4D97-AF65-F5344CB8AC3E}">
        <p14:creationId xmlns:p14="http://schemas.microsoft.com/office/powerpoint/2010/main" val="609865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30E5A-0224-4B16-D3DB-35C87AD84AA6}"/>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AEDECC92-A98D-4ECC-0A75-9ED4FA208843}"/>
              </a:ext>
            </a:extLst>
          </p:cNvPr>
          <p:cNvSpPr txBox="1"/>
          <p:nvPr/>
        </p:nvSpPr>
        <p:spPr>
          <a:xfrm>
            <a:off x="354904" y="856615"/>
            <a:ext cx="11486367" cy="1379865"/>
          </a:xfrm>
          <a:prstGeom prst="rect">
            <a:avLst/>
          </a:prstGeom>
          <a:noFill/>
        </p:spPr>
        <p:txBody>
          <a:bodyPr wrap="square">
            <a:spAutoFit/>
          </a:bodyPr>
          <a:lstStyle/>
          <a:p>
            <a:pPr marL="228600" marR="0">
              <a:buNone/>
            </a:pPr>
            <a:r>
              <a:rPr lang="en-US" sz="2400" b="1" kern="0" spc="-10" dirty="0">
                <a:effectLst/>
                <a:latin typeface="Times New Roman" panose="02020603050405020304" pitchFamily="18" charset="0"/>
                <a:ea typeface="Times New Roman" panose="02020603050405020304" pitchFamily="18" charset="0"/>
              </a:rPr>
              <a:t>Example:</a:t>
            </a:r>
            <a:endParaRPr lang="en-US" sz="2400" b="1" kern="0" dirty="0">
              <a:effectLst/>
              <a:latin typeface="Times New Roman" panose="02020603050405020304" pitchFamily="18" charset="0"/>
              <a:ea typeface="Times New Roman" panose="02020603050405020304" pitchFamily="18" charset="0"/>
            </a:endParaRPr>
          </a:p>
          <a:p>
            <a:pPr marL="228600" marR="0">
              <a:spcBef>
                <a:spcPts val="1375"/>
              </a:spcBef>
              <a:buNone/>
            </a:pPr>
            <a:r>
              <a:rPr lang="en-US" sz="2400" dirty="0">
                <a:effectLst/>
                <a:latin typeface="Times New Roman" panose="02020603050405020304" pitchFamily="18" charset="0"/>
                <a:ea typeface="Times New Roman" panose="02020603050405020304" pitchFamily="18" charset="0"/>
              </a:rPr>
              <a:t>A</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600V</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voltmeter</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specified</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be</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accurate</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within</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Symbol" panose="05050102010706020507" pitchFamily="18" charset="2"/>
                <a:ea typeface="Times New Roman" panose="02020603050405020304" pitchFamily="18" charset="0"/>
              </a:rPr>
              <a:t>±</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2%</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at</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full</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scale.</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Calculate</a:t>
            </a:r>
            <a:r>
              <a:rPr lang="en-US" sz="2400" spc="17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 limiting error when the instrument is used to measure a voltage of 250V.</a:t>
            </a:r>
          </a:p>
        </p:txBody>
      </p:sp>
      <p:sp>
        <p:nvSpPr>
          <p:cNvPr id="16" name="TextBox 15">
            <a:extLst>
              <a:ext uri="{FF2B5EF4-FFF2-40B4-BE49-F238E27FC236}">
                <a16:creationId xmlns:a16="http://schemas.microsoft.com/office/drawing/2014/main" id="{927D394E-7F7F-50A1-5993-28F8B7BC286C}"/>
              </a:ext>
            </a:extLst>
          </p:cNvPr>
          <p:cNvSpPr txBox="1"/>
          <p:nvPr/>
        </p:nvSpPr>
        <p:spPr>
          <a:xfrm>
            <a:off x="350729" y="2135469"/>
            <a:ext cx="6093912" cy="461665"/>
          </a:xfrm>
          <a:prstGeom prst="rect">
            <a:avLst/>
          </a:prstGeom>
          <a:noFill/>
        </p:spPr>
        <p:txBody>
          <a:bodyPr wrap="square">
            <a:spAutoFit/>
          </a:bodyPr>
          <a:lstStyle/>
          <a:p>
            <a:pPr marL="228600" marR="0">
              <a:spcBef>
                <a:spcPts val="1380"/>
              </a:spcBef>
              <a:buNone/>
            </a:pPr>
            <a:r>
              <a:rPr lang="en-US" sz="2400" b="1" kern="0" spc="-10" dirty="0">
                <a:effectLst/>
                <a:latin typeface="Times New Roman" panose="02020603050405020304" pitchFamily="18" charset="0"/>
                <a:ea typeface="Times New Roman" panose="02020603050405020304" pitchFamily="18" charset="0"/>
              </a:rPr>
              <a:t>Solution : </a:t>
            </a:r>
            <a:endParaRPr lang="en-US" sz="2400" b="1" kern="0" dirty="0">
              <a:effectLst/>
              <a:latin typeface="Times New Roman" panose="02020603050405020304" pitchFamily="18" charset="0"/>
              <a:ea typeface="Times New Roman" panose="02020603050405020304" pitchFamily="18" charset="0"/>
            </a:endParaRPr>
          </a:p>
        </p:txBody>
      </p:sp>
      <p:sp>
        <p:nvSpPr>
          <p:cNvPr id="18" name="TextBox 17">
            <a:extLst>
              <a:ext uri="{FF2B5EF4-FFF2-40B4-BE49-F238E27FC236}">
                <a16:creationId xmlns:a16="http://schemas.microsoft.com/office/drawing/2014/main" id="{A9A77443-AAB4-6FC9-A2C0-8D9F56378527}"/>
              </a:ext>
            </a:extLst>
          </p:cNvPr>
          <p:cNvSpPr txBox="1"/>
          <p:nvPr/>
        </p:nvSpPr>
        <p:spPr>
          <a:xfrm>
            <a:off x="351773" y="2597134"/>
            <a:ext cx="8790139" cy="461665"/>
          </a:xfrm>
          <a:prstGeom prst="rect">
            <a:avLst/>
          </a:prstGeom>
          <a:noFill/>
        </p:spPr>
        <p:txBody>
          <a:bodyPr wrap="square">
            <a:spAutoFit/>
          </a:bodyPr>
          <a:lstStyle/>
          <a:p>
            <a:pPr marL="228600" marR="0">
              <a:spcBef>
                <a:spcPts val="1365"/>
              </a:spcBef>
              <a:buNone/>
            </a:pPr>
            <a:r>
              <a:rPr lang="en-US" sz="2400" dirty="0">
                <a:effectLst/>
                <a:latin typeface="Times New Roman" panose="02020603050405020304" pitchFamily="18" charset="0"/>
                <a:ea typeface="Times New Roman" panose="02020603050405020304" pitchFamily="18" charset="0"/>
              </a:rPr>
              <a:t>The</a:t>
            </a:r>
            <a:r>
              <a:rPr lang="en-US" sz="2400" spc="-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magnitude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of</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limiting</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error</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is</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0.02</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X</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600</a:t>
            </a:r>
            <a:r>
              <a:rPr lang="en-US" sz="2400" spc="-1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12</a:t>
            </a:r>
            <a:r>
              <a:rPr lang="en-US" sz="2400" spc="-5" dirty="0">
                <a:effectLst/>
                <a:latin typeface="Times New Roman" panose="02020603050405020304" pitchFamily="18" charset="0"/>
                <a:ea typeface="Times New Roman" panose="02020603050405020304" pitchFamily="18" charset="0"/>
              </a:rPr>
              <a:t> </a:t>
            </a:r>
            <a:r>
              <a:rPr lang="en-US" sz="2400" spc="-50" dirty="0">
                <a:effectLst/>
                <a:latin typeface="Times New Roman" panose="02020603050405020304" pitchFamily="18" charset="0"/>
                <a:ea typeface="Times New Roman" panose="02020603050405020304" pitchFamily="18" charset="0"/>
              </a:rPr>
              <a:t>V</a:t>
            </a:r>
            <a:endParaRPr lang="en-US" sz="2400" dirty="0">
              <a:effectLst/>
              <a:latin typeface="Times New Roman" panose="02020603050405020304" pitchFamily="18" charset="0"/>
              <a:ea typeface="Times New Roman" panose="02020603050405020304" pitchFamily="18" charset="0"/>
            </a:endParaRPr>
          </a:p>
        </p:txBody>
      </p:sp>
      <p:pic>
        <p:nvPicPr>
          <p:cNvPr id="24" name="Picture 23">
            <a:extLst>
              <a:ext uri="{FF2B5EF4-FFF2-40B4-BE49-F238E27FC236}">
                <a16:creationId xmlns:a16="http://schemas.microsoft.com/office/drawing/2014/main" id="{438D6D55-0DF5-8A33-C7A1-9932A2000923}"/>
              </a:ext>
            </a:extLst>
          </p:cNvPr>
          <p:cNvPicPr>
            <a:picLocks noChangeAspect="1"/>
          </p:cNvPicPr>
          <p:nvPr/>
        </p:nvPicPr>
        <p:blipFill>
          <a:blip r:embed="rId2"/>
          <a:stretch>
            <a:fillRect/>
          </a:stretch>
        </p:blipFill>
        <p:spPr>
          <a:xfrm>
            <a:off x="450937" y="3138469"/>
            <a:ext cx="6408482" cy="780164"/>
          </a:xfrm>
          <a:prstGeom prst="rect">
            <a:avLst/>
          </a:prstGeom>
        </p:spPr>
      </p:pic>
      <p:sp>
        <p:nvSpPr>
          <p:cNvPr id="26" name="TextBox 25">
            <a:extLst>
              <a:ext uri="{FF2B5EF4-FFF2-40B4-BE49-F238E27FC236}">
                <a16:creationId xmlns:a16="http://schemas.microsoft.com/office/drawing/2014/main" id="{6D8DA15D-2A0F-CE9E-E2CD-77E257B9F830}"/>
              </a:ext>
            </a:extLst>
          </p:cNvPr>
          <p:cNvSpPr txBox="1"/>
          <p:nvPr/>
        </p:nvSpPr>
        <p:spPr>
          <a:xfrm>
            <a:off x="450937" y="4114942"/>
            <a:ext cx="11173216" cy="2487861"/>
          </a:xfrm>
          <a:prstGeom prst="rect">
            <a:avLst/>
          </a:prstGeom>
          <a:noFill/>
        </p:spPr>
        <p:txBody>
          <a:bodyPr wrap="square">
            <a:spAutoFit/>
          </a:bodyPr>
          <a:lstStyle/>
          <a:p>
            <a:pPr marL="227965" marR="0">
              <a:buNone/>
            </a:pPr>
            <a:r>
              <a:rPr lang="en-US" sz="2400" b="1" kern="0" spc="-10" dirty="0">
                <a:effectLst/>
                <a:latin typeface="Times New Roman" panose="02020603050405020304" pitchFamily="18" charset="0"/>
                <a:ea typeface="Times New Roman" panose="02020603050405020304" pitchFamily="18" charset="0"/>
              </a:rPr>
              <a:t>Example:</a:t>
            </a:r>
            <a:endParaRPr lang="en-US" sz="2400" b="1" kern="0" dirty="0">
              <a:effectLst/>
              <a:latin typeface="Times New Roman" panose="02020603050405020304" pitchFamily="18" charset="0"/>
              <a:ea typeface="Times New Roman" panose="02020603050405020304" pitchFamily="18" charset="0"/>
            </a:endParaRPr>
          </a:p>
          <a:p>
            <a:pPr marL="227965" marR="225425" algn="just">
              <a:spcBef>
                <a:spcPts val="1365"/>
              </a:spcBef>
              <a:buNone/>
            </a:pPr>
            <a:r>
              <a:rPr lang="en-US" sz="2400" dirty="0">
                <a:effectLst/>
                <a:latin typeface="Times New Roman" panose="02020603050405020304" pitchFamily="18" charset="0"/>
                <a:ea typeface="Times New Roman" panose="02020603050405020304" pitchFamily="18" charset="0"/>
              </a:rPr>
              <a:t>A voltmeter reading 70V on its 100V range and an ammeter reading 80mA on its 150mA range are used to determine the power dissipated in a resistor. Both these instruments are guaranteed to be accurate within </a:t>
            </a:r>
            <a:r>
              <a:rPr lang="en-US" sz="2400" dirty="0">
                <a:effectLst/>
                <a:latin typeface="Symbol" panose="05050102010706020507" pitchFamily="18" charset="2"/>
                <a:ea typeface="Times New Roman" panose="02020603050405020304" pitchFamily="18" charset="0"/>
              </a:rPr>
              <a:t>±</a:t>
            </a:r>
            <a:r>
              <a:rPr lang="en-US" sz="2400" dirty="0">
                <a:effectLst/>
                <a:latin typeface="Times New Roman" panose="02020603050405020304" pitchFamily="18" charset="0"/>
                <a:ea typeface="Times New Roman" panose="02020603050405020304" pitchFamily="18" charset="0"/>
              </a:rPr>
              <a:t> 1.5% at full-scale deflection. Determine the limiting error of the power. (</a:t>
            </a:r>
            <a:r>
              <a:rPr lang="en-US" sz="2400" b="1" dirty="0">
                <a:effectLst/>
                <a:latin typeface="Times New Roman" panose="02020603050405020304" pitchFamily="18" charset="0"/>
                <a:ea typeface="Times New Roman" panose="02020603050405020304" pitchFamily="18" charset="0"/>
              </a:rPr>
              <a:t>Ans: 4.956%</a:t>
            </a:r>
            <a:r>
              <a:rPr lang="en-US" sz="2400" dirty="0">
                <a:effectLst/>
                <a:latin typeface="Times New Roman" panose="02020603050405020304" pitchFamily="18" charset="0"/>
                <a:ea typeface="Times New Roman" panose="02020603050405020304" pitchFamily="18" charset="0"/>
              </a:rPr>
              <a:t>)</a:t>
            </a:r>
          </a:p>
          <a:p>
            <a:pPr marL="0" marR="0">
              <a:spcBef>
                <a:spcPts val="15"/>
              </a:spcBef>
              <a:buNone/>
            </a:pPr>
            <a:r>
              <a:rPr lang="en-US" sz="2400" dirty="0">
                <a:effectLst/>
                <a:latin typeface="Times New Roman" panose="02020603050405020304" pitchFamily="18" charset="0"/>
                <a:ea typeface="Times New Roman" panose="02020603050405020304" pitchFamily="18" charset="0"/>
              </a:rPr>
              <a:t> </a:t>
            </a:r>
            <a:r>
              <a:rPr lang="en-US" sz="2400" b="1" spc="-10" dirty="0">
                <a:effectLst/>
                <a:latin typeface="Times New Roman" panose="02020603050405020304" pitchFamily="18" charset="0"/>
                <a:ea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endParaRPr>
          </a:p>
        </p:txBody>
      </p:sp>
      <p:sp>
        <p:nvSpPr>
          <p:cNvPr id="28" name="Rectangles 8">
            <a:extLst>
              <a:ext uri="{FF2B5EF4-FFF2-40B4-BE49-F238E27FC236}">
                <a16:creationId xmlns:a16="http://schemas.microsoft.com/office/drawing/2014/main" id="{A702094F-2398-E4FC-3E62-8DB9143B72E0}"/>
              </a:ext>
            </a:extLst>
          </p:cNvPr>
          <p:cNvSpPr/>
          <p:nvPr/>
        </p:nvSpPr>
        <p:spPr>
          <a:xfrm>
            <a:off x="-119863" y="0"/>
            <a:ext cx="12431726"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r>
              <a:rPr lang="en-US" sz="4800" dirty="0">
                <a:solidFill>
                  <a:schemeClr val="tx2">
                    <a:lumMod val="50000"/>
                  </a:schemeClr>
                </a:solidFill>
              </a:rPr>
              <a:t>Problems</a:t>
            </a:r>
          </a:p>
        </p:txBody>
      </p:sp>
    </p:spTree>
    <p:extLst>
      <p:ext uri="{BB962C8B-B14F-4D97-AF65-F5344CB8AC3E}">
        <p14:creationId xmlns:p14="http://schemas.microsoft.com/office/powerpoint/2010/main" val="2598008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s 3"/>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p:cNvSpPr txBox="1"/>
          <p:nvPr/>
        </p:nvSpPr>
        <p:spPr>
          <a:xfrm>
            <a:off x="66675" y="-17145"/>
            <a:ext cx="10968355" cy="829945"/>
          </a:xfrm>
          <a:prstGeom prst="rect">
            <a:avLst/>
          </a:prstGeom>
        </p:spPr>
        <p:txBody>
          <a:bodyPr wrap="square">
            <a:spAutoFit/>
          </a:bodyPr>
          <a:lstStyle/>
          <a:p>
            <a:r>
              <a:rPr lang="en-US" altLang="en-US" sz="4800" b="1" dirty="0">
                <a:solidFill>
                  <a:srgbClr val="000000"/>
                </a:solidFill>
                <a:latin typeface="Bahnschrift Light" panose="020B0502040204020203" charset="0"/>
                <a:ea typeface="Calibri-Bold"/>
                <a:cs typeface="Bahnschrift Light" panose="020B0502040204020203" charset="0"/>
              </a:rPr>
              <a:t>Problems</a:t>
            </a:r>
          </a:p>
        </p:txBody>
      </p:sp>
      <mc:AlternateContent xmlns:mc="http://schemas.openxmlformats.org/markup-compatibility/2006" xmlns:p14="http://schemas.microsoft.com/office/powerpoint/2010/main">
        <mc:Choice Requires="p14">
          <p:contentPart p14:bwMode="auto" r:id="rId2">
            <p14:nvContentPartPr>
              <p14:cNvPr id="25" name="Ink 24"/>
              <p14:cNvContentPartPr/>
              <p14:nvPr/>
            </p14:nvContentPartPr>
            <p14:xfrm>
              <a:off x="7670800" y="749300"/>
              <a:ext cx="196850" cy="360"/>
            </p14:xfrm>
          </p:contentPart>
        </mc:Choice>
        <mc:Fallback xmlns="">
          <p:pic>
            <p:nvPicPr>
              <p:cNvPr id="25" name="Ink 24"/>
            </p:nvPicPr>
            <p:blipFill>
              <a:blip r:embed="rId3"/>
            </p:blipFill>
            <p:spPr>
              <a:xfrm>
                <a:off x="7670800" y="749300"/>
                <a:ext cx="196850" cy="360"/>
              </a:xfrm>
              <a:prstGeom prst="rect"/>
            </p:spPr>
          </p:pic>
        </mc:Fallback>
      </mc:AlternateContent>
      <p:sp>
        <p:nvSpPr>
          <p:cNvPr id="7" name="TextBox 6">
            <a:extLst>
              <a:ext uri="{FF2B5EF4-FFF2-40B4-BE49-F238E27FC236}">
                <a16:creationId xmlns:a16="http://schemas.microsoft.com/office/drawing/2014/main" id="{B5D9D2AF-BCB2-D4D5-4CA4-72033CC5F05E}"/>
              </a:ext>
            </a:extLst>
          </p:cNvPr>
          <p:cNvSpPr txBox="1"/>
          <p:nvPr/>
        </p:nvSpPr>
        <p:spPr>
          <a:xfrm>
            <a:off x="237995" y="1114816"/>
            <a:ext cx="11498893" cy="2677656"/>
          </a:xfrm>
          <a:prstGeom prst="rect">
            <a:avLst/>
          </a:prstGeom>
          <a:noFill/>
        </p:spPr>
        <p:txBody>
          <a:bodyPr wrap="square">
            <a:spAutoFit/>
          </a:bodyPr>
          <a:lstStyle/>
          <a:p>
            <a:pPr lvl="1"/>
            <a:r>
              <a:rPr lang="en-US" sz="2400" dirty="0">
                <a:solidFill>
                  <a:schemeClr val="accent1">
                    <a:lumMod val="75000"/>
                  </a:schemeClr>
                </a:solidFill>
              </a:rPr>
              <a:t>Example </a:t>
            </a:r>
            <a:r>
              <a:rPr lang="en-US" sz="2400" dirty="0"/>
              <a:t>The expected value of the voltage across a resistor is 50 V. However, the measurement gives a value of 49 V.</a:t>
            </a:r>
          </a:p>
          <a:p>
            <a:pPr lvl="1"/>
            <a:r>
              <a:rPr lang="en-US" sz="2400" dirty="0"/>
              <a:t> Find: </a:t>
            </a:r>
          </a:p>
          <a:p>
            <a:pPr marL="914400" lvl="1" indent="-457200">
              <a:buAutoNum type="alphaLcParenR"/>
            </a:pPr>
            <a:r>
              <a:rPr lang="en-US" sz="2400" dirty="0"/>
              <a:t>Absolute error b) % error c) Relative accuracy d) % accuracy</a:t>
            </a:r>
          </a:p>
          <a:p>
            <a:pPr marL="914400" lvl="1" indent="-457200">
              <a:buAutoNum type="alphaLcParenR"/>
            </a:pPr>
            <a:endParaRPr lang="en-US" sz="2400" dirty="0"/>
          </a:p>
          <a:p>
            <a:pPr lvl="1"/>
            <a:r>
              <a:rPr lang="en-US" sz="2400" dirty="0">
                <a:solidFill>
                  <a:schemeClr val="accent1">
                    <a:lumMod val="75000"/>
                  </a:schemeClr>
                </a:solidFill>
              </a:rPr>
              <a:t>Solution:</a:t>
            </a:r>
          </a:p>
          <a:p>
            <a:pPr lvl="1"/>
            <a:endParaRPr lang="en-US" sz="2400" dirty="0"/>
          </a:p>
        </p:txBody>
      </p:sp>
      <p:pic>
        <p:nvPicPr>
          <p:cNvPr id="13" name="Picture 12">
            <a:extLst>
              <a:ext uri="{FF2B5EF4-FFF2-40B4-BE49-F238E27FC236}">
                <a16:creationId xmlns:a16="http://schemas.microsoft.com/office/drawing/2014/main" id="{C97D953F-AC9C-E19F-E1DE-997FEDDB6911}"/>
              </a:ext>
            </a:extLst>
          </p:cNvPr>
          <p:cNvPicPr>
            <a:picLocks noChangeAspect="1"/>
          </p:cNvPicPr>
          <p:nvPr/>
        </p:nvPicPr>
        <p:blipFill>
          <a:blip r:embed="rId4"/>
          <a:stretch>
            <a:fillRect/>
          </a:stretch>
        </p:blipFill>
        <p:spPr>
          <a:xfrm>
            <a:off x="1223762" y="3429000"/>
            <a:ext cx="9005041" cy="244570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E45F-330E-4A7F-ACA4-A318F4624BD2}"/>
            </a:ext>
          </a:extLst>
        </p:cNvPr>
        <p:cNvGrpSpPr/>
        <p:nvPr/>
      </p:nvGrpSpPr>
      <p:grpSpPr>
        <a:xfrm>
          <a:off x="0" y="0"/>
          <a:ext cx="0" cy="0"/>
          <a:chOff x="0" y="0"/>
          <a:chExt cx="0" cy="0"/>
        </a:xfrm>
      </p:grpSpPr>
      <p:sp>
        <p:nvSpPr>
          <p:cNvPr id="4" name="Rectangles 3">
            <a:extLst>
              <a:ext uri="{FF2B5EF4-FFF2-40B4-BE49-F238E27FC236}">
                <a16:creationId xmlns:a16="http://schemas.microsoft.com/office/drawing/2014/main" id="{948794A0-CDC5-DE34-D808-9910D233F9AA}"/>
              </a:ext>
            </a:extLst>
          </p:cNvPr>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a:extLst>
              <a:ext uri="{FF2B5EF4-FFF2-40B4-BE49-F238E27FC236}">
                <a16:creationId xmlns:a16="http://schemas.microsoft.com/office/drawing/2014/main" id="{8613D7CB-F9D6-5091-D09D-B7C6BFD2BEBA}"/>
              </a:ext>
            </a:extLst>
          </p:cNvPr>
          <p:cNvSpPr txBox="1"/>
          <p:nvPr/>
        </p:nvSpPr>
        <p:spPr>
          <a:xfrm>
            <a:off x="66675" y="-17145"/>
            <a:ext cx="10968355" cy="829945"/>
          </a:xfrm>
          <a:prstGeom prst="rect">
            <a:avLst/>
          </a:prstGeom>
        </p:spPr>
        <p:txBody>
          <a:bodyPr wrap="square">
            <a:spAutoFit/>
          </a:bodyPr>
          <a:lstStyle/>
          <a:p>
            <a:r>
              <a:rPr lang="en-US" altLang="en-US" sz="4800" b="1" dirty="0">
                <a:solidFill>
                  <a:srgbClr val="000000"/>
                </a:solidFill>
                <a:latin typeface="Bahnschrift Light" panose="020B0502040204020203" charset="0"/>
                <a:ea typeface="Calibri-Bold"/>
                <a:cs typeface="Bahnschrift Light" panose="020B0502040204020203" charset="0"/>
              </a:rPr>
              <a:t>Problems</a:t>
            </a:r>
          </a:p>
        </p:txBody>
      </p:sp>
      <mc:AlternateContent xmlns:mc="http://schemas.openxmlformats.org/markup-compatibility/2006">
        <mc:Choice xmlns:p14="http://schemas.microsoft.com/office/powerpoint/2010/main" Requires="p14">
          <p:contentPart p14:bwMode="auto" r:id="rId2">
            <p14:nvContentPartPr>
              <p14:cNvPr id="25" name="Ink 24">
                <a:extLst>
                  <a:ext uri="{FF2B5EF4-FFF2-40B4-BE49-F238E27FC236}">
                    <a16:creationId xmlns:a16="http://schemas.microsoft.com/office/drawing/2014/main" id="{BC11A845-2D24-E63B-DCE3-C66D6394AB7F}"/>
                  </a:ext>
                </a:extLst>
              </p14:cNvPr>
              <p14:cNvContentPartPr/>
              <p14:nvPr/>
            </p14:nvContentPartPr>
            <p14:xfrm>
              <a:off x="7670800" y="749300"/>
              <a:ext cx="196850" cy="360"/>
            </p14:xfrm>
          </p:contentPart>
        </mc:Choice>
        <mc:Fallback>
          <p:pic>
            <p:nvPicPr>
              <p:cNvPr id="25" name="Ink 24">
                <a:extLst>
                  <a:ext uri="{FF2B5EF4-FFF2-40B4-BE49-F238E27FC236}">
                    <a16:creationId xmlns:a16="http://schemas.microsoft.com/office/drawing/2014/main" id="{BC11A845-2D24-E63B-DCE3-C66D6394AB7F}"/>
                  </a:ext>
                </a:extLst>
              </p:cNvPr>
              <p:cNvPicPr/>
              <p:nvPr/>
            </p:nvPicPr>
            <p:blipFill>
              <a:blip r:embed="rId3"/>
              <a:stretch>
                <a:fillRect/>
              </a:stretch>
            </p:blipFill>
            <p:spPr>
              <a:xfrm>
                <a:off x="7652635" y="731660"/>
                <a:ext cx="232439" cy="34920"/>
              </a:xfrm>
              <a:prstGeom prst="rect">
                <a:avLst/>
              </a:prstGeom>
            </p:spPr>
          </p:pic>
        </mc:Fallback>
      </mc:AlternateContent>
      <p:sp>
        <p:nvSpPr>
          <p:cNvPr id="7" name="TextBox 6">
            <a:extLst>
              <a:ext uri="{FF2B5EF4-FFF2-40B4-BE49-F238E27FC236}">
                <a16:creationId xmlns:a16="http://schemas.microsoft.com/office/drawing/2014/main" id="{CB3DFC36-A596-551D-D4DA-7B6D3E381B68}"/>
              </a:ext>
            </a:extLst>
          </p:cNvPr>
          <p:cNvSpPr txBox="1"/>
          <p:nvPr/>
        </p:nvSpPr>
        <p:spPr>
          <a:xfrm>
            <a:off x="237995" y="1114816"/>
            <a:ext cx="11498893" cy="2677656"/>
          </a:xfrm>
          <a:prstGeom prst="rect">
            <a:avLst/>
          </a:prstGeom>
          <a:noFill/>
        </p:spPr>
        <p:txBody>
          <a:bodyPr wrap="square">
            <a:spAutoFit/>
          </a:bodyPr>
          <a:lstStyle/>
          <a:p>
            <a:pPr lvl="1"/>
            <a:r>
              <a:rPr lang="en-US" sz="2400" dirty="0">
                <a:solidFill>
                  <a:schemeClr val="accent1">
                    <a:lumMod val="75000"/>
                  </a:schemeClr>
                </a:solidFill>
              </a:rPr>
              <a:t>Example </a:t>
            </a:r>
            <a:r>
              <a:rPr lang="en-US" sz="2400" dirty="0"/>
              <a:t>The expected value of the current through a resistor is 20 mA. However, the measurement yields a current value of 18 mA. </a:t>
            </a:r>
          </a:p>
          <a:p>
            <a:pPr lvl="1"/>
            <a:r>
              <a:rPr lang="en-US" sz="2400" dirty="0"/>
              <a:t>Calculate: </a:t>
            </a:r>
          </a:p>
          <a:p>
            <a:pPr marL="914400" lvl="1" indent="-457200">
              <a:buAutoNum type="alphaLcParenR"/>
            </a:pPr>
            <a:r>
              <a:rPr lang="en-US" sz="2400" dirty="0"/>
              <a:t>Absolute error b) % error c) Relative accuracy d) % accuracy</a:t>
            </a:r>
          </a:p>
          <a:p>
            <a:pPr marL="914400" lvl="1" indent="-457200">
              <a:buAutoNum type="alphaLcParenR"/>
            </a:pPr>
            <a:endParaRPr lang="en-US" sz="2400" dirty="0"/>
          </a:p>
          <a:p>
            <a:pPr lvl="1"/>
            <a:r>
              <a:rPr lang="en-US" sz="2400" dirty="0">
                <a:solidFill>
                  <a:schemeClr val="accent1">
                    <a:lumMod val="75000"/>
                  </a:schemeClr>
                </a:solidFill>
              </a:rPr>
              <a:t>Solution:</a:t>
            </a:r>
          </a:p>
          <a:p>
            <a:pPr lvl="1"/>
            <a:endParaRPr lang="en-US" sz="2400" dirty="0"/>
          </a:p>
        </p:txBody>
      </p:sp>
      <p:pic>
        <p:nvPicPr>
          <p:cNvPr id="3" name="Picture 2">
            <a:extLst>
              <a:ext uri="{FF2B5EF4-FFF2-40B4-BE49-F238E27FC236}">
                <a16:creationId xmlns:a16="http://schemas.microsoft.com/office/drawing/2014/main" id="{411D6906-669A-6823-4BA3-343152EFA371}"/>
              </a:ext>
            </a:extLst>
          </p:cNvPr>
          <p:cNvPicPr>
            <a:picLocks noChangeAspect="1"/>
          </p:cNvPicPr>
          <p:nvPr/>
        </p:nvPicPr>
        <p:blipFill>
          <a:blip r:embed="rId4"/>
          <a:stretch>
            <a:fillRect/>
          </a:stretch>
        </p:blipFill>
        <p:spPr>
          <a:xfrm>
            <a:off x="2079320" y="3155013"/>
            <a:ext cx="5591480" cy="3368044"/>
          </a:xfrm>
          <a:prstGeom prst="rect">
            <a:avLst/>
          </a:prstGeom>
        </p:spPr>
      </p:pic>
    </p:spTree>
    <p:extLst>
      <p:ext uri="{BB962C8B-B14F-4D97-AF65-F5344CB8AC3E}">
        <p14:creationId xmlns:p14="http://schemas.microsoft.com/office/powerpoint/2010/main" val="40077931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6E70E-B1EF-2207-2632-970974F0252C}"/>
            </a:ext>
          </a:extLst>
        </p:cNvPr>
        <p:cNvGrpSpPr/>
        <p:nvPr/>
      </p:nvGrpSpPr>
      <p:grpSpPr>
        <a:xfrm>
          <a:off x="0" y="0"/>
          <a:ext cx="0" cy="0"/>
          <a:chOff x="0" y="0"/>
          <a:chExt cx="0" cy="0"/>
        </a:xfrm>
      </p:grpSpPr>
      <p:sp>
        <p:nvSpPr>
          <p:cNvPr id="4" name="Rectangles 3">
            <a:extLst>
              <a:ext uri="{FF2B5EF4-FFF2-40B4-BE49-F238E27FC236}">
                <a16:creationId xmlns:a16="http://schemas.microsoft.com/office/drawing/2014/main" id="{FA11176C-FEDC-6CF1-AA2D-17860245A57C}"/>
              </a:ext>
            </a:extLst>
          </p:cNvPr>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a:extLst>
              <a:ext uri="{FF2B5EF4-FFF2-40B4-BE49-F238E27FC236}">
                <a16:creationId xmlns:a16="http://schemas.microsoft.com/office/drawing/2014/main" id="{81A6A175-3F4A-94C4-A33D-8793953FCEBB}"/>
              </a:ext>
            </a:extLst>
          </p:cNvPr>
          <p:cNvSpPr txBox="1"/>
          <p:nvPr/>
        </p:nvSpPr>
        <p:spPr>
          <a:xfrm>
            <a:off x="66675" y="-17145"/>
            <a:ext cx="10968355" cy="829945"/>
          </a:xfrm>
          <a:prstGeom prst="rect">
            <a:avLst/>
          </a:prstGeom>
        </p:spPr>
        <p:txBody>
          <a:bodyPr wrap="square">
            <a:spAutoFit/>
          </a:bodyPr>
          <a:lstStyle/>
          <a:p>
            <a:r>
              <a:rPr lang="en-US" altLang="en-US" sz="4800" b="1" dirty="0">
                <a:solidFill>
                  <a:srgbClr val="000000"/>
                </a:solidFill>
                <a:latin typeface="Bahnschrift Light" panose="020B0502040204020203" charset="0"/>
                <a:ea typeface="Calibri-Bold"/>
                <a:cs typeface="Bahnschrift Light" panose="020B0502040204020203" charset="0"/>
              </a:rPr>
              <a:t>Problems</a:t>
            </a:r>
          </a:p>
        </p:txBody>
      </p:sp>
      <mc:AlternateContent xmlns:mc="http://schemas.openxmlformats.org/markup-compatibility/2006">
        <mc:Choice xmlns:p14="http://schemas.microsoft.com/office/powerpoint/2010/main" Requires="p14">
          <p:contentPart p14:bwMode="auto" r:id="rId2">
            <p14:nvContentPartPr>
              <p14:cNvPr id="25" name="Ink 24">
                <a:extLst>
                  <a:ext uri="{FF2B5EF4-FFF2-40B4-BE49-F238E27FC236}">
                    <a16:creationId xmlns:a16="http://schemas.microsoft.com/office/drawing/2014/main" id="{B2D881EC-545C-4BE0-D446-7454C32FDE7A}"/>
                  </a:ext>
                </a:extLst>
              </p14:cNvPr>
              <p14:cNvContentPartPr/>
              <p14:nvPr/>
            </p14:nvContentPartPr>
            <p14:xfrm>
              <a:off x="7670800" y="749300"/>
              <a:ext cx="196850" cy="360"/>
            </p14:xfrm>
          </p:contentPart>
        </mc:Choice>
        <mc:Fallback>
          <p:pic>
            <p:nvPicPr>
              <p:cNvPr id="25" name="Ink 24">
                <a:extLst>
                  <a:ext uri="{FF2B5EF4-FFF2-40B4-BE49-F238E27FC236}">
                    <a16:creationId xmlns:a16="http://schemas.microsoft.com/office/drawing/2014/main" id="{B2D881EC-545C-4BE0-D446-7454C32FDE7A}"/>
                  </a:ext>
                </a:extLst>
              </p:cNvPr>
              <p:cNvPicPr/>
              <p:nvPr/>
            </p:nvPicPr>
            <p:blipFill>
              <a:blip r:embed="rId3"/>
              <a:stretch>
                <a:fillRect/>
              </a:stretch>
            </p:blipFill>
            <p:spPr>
              <a:xfrm>
                <a:off x="7652635" y="731660"/>
                <a:ext cx="232439" cy="34920"/>
              </a:xfrm>
              <a:prstGeom prst="rect">
                <a:avLst/>
              </a:prstGeom>
            </p:spPr>
          </p:pic>
        </mc:Fallback>
      </mc:AlternateContent>
      <p:sp>
        <p:nvSpPr>
          <p:cNvPr id="7" name="TextBox 6">
            <a:extLst>
              <a:ext uri="{FF2B5EF4-FFF2-40B4-BE49-F238E27FC236}">
                <a16:creationId xmlns:a16="http://schemas.microsoft.com/office/drawing/2014/main" id="{5A3D0AC9-6D69-580E-92FF-DF4C2C211F1A}"/>
              </a:ext>
            </a:extLst>
          </p:cNvPr>
          <p:cNvSpPr txBox="1"/>
          <p:nvPr/>
        </p:nvSpPr>
        <p:spPr>
          <a:xfrm>
            <a:off x="237995" y="1114816"/>
            <a:ext cx="11498893" cy="1938992"/>
          </a:xfrm>
          <a:prstGeom prst="rect">
            <a:avLst/>
          </a:prstGeom>
          <a:noFill/>
        </p:spPr>
        <p:txBody>
          <a:bodyPr wrap="square">
            <a:spAutoFit/>
          </a:bodyPr>
          <a:lstStyle/>
          <a:p>
            <a:pPr lvl="1"/>
            <a:r>
              <a:rPr lang="en-US" sz="2400" dirty="0">
                <a:solidFill>
                  <a:schemeClr val="accent1">
                    <a:lumMod val="75000"/>
                  </a:schemeClr>
                </a:solidFill>
              </a:rPr>
              <a:t>Example </a:t>
            </a:r>
            <a:r>
              <a:rPr lang="en-US" sz="2400" dirty="0"/>
              <a:t>The accuracy of five digital voltmeters are checked by using each of them to measure a standard 1.0000V from a calibration instrument. The voltmeter readings are as follows: V1 = 1.001 V, V2 = 1.002, V3 = 0.999, V4 = 0.998, and V5 = 1.000. Calculate the average measured voltage, the average deviation, and the standard deviation.</a:t>
            </a:r>
          </a:p>
          <a:p>
            <a:pPr lvl="1"/>
            <a:r>
              <a:rPr lang="en-US" sz="2400" dirty="0">
                <a:solidFill>
                  <a:schemeClr val="accent1">
                    <a:lumMod val="75000"/>
                  </a:schemeClr>
                </a:solidFill>
              </a:rPr>
              <a:t>Solution:</a:t>
            </a:r>
          </a:p>
        </p:txBody>
      </p:sp>
      <p:pic>
        <p:nvPicPr>
          <p:cNvPr id="6" name="Picture 5">
            <a:extLst>
              <a:ext uri="{FF2B5EF4-FFF2-40B4-BE49-F238E27FC236}">
                <a16:creationId xmlns:a16="http://schemas.microsoft.com/office/drawing/2014/main" id="{365371A4-E545-E780-AD81-C09491125220}"/>
              </a:ext>
            </a:extLst>
          </p:cNvPr>
          <p:cNvPicPr>
            <a:picLocks noChangeAspect="1"/>
          </p:cNvPicPr>
          <p:nvPr/>
        </p:nvPicPr>
        <p:blipFill>
          <a:blip r:embed="rId4"/>
          <a:stretch>
            <a:fillRect/>
          </a:stretch>
        </p:blipFill>
        <p:spPr>
          <a:xfrm>
            <a:off x="2201109" y="2690554"/>
            <a:ext cx="8295701" cy="3909800"/>
          </a:xfrm>
          <a:prstGeom prst="rect">
            <a:avLst/>
          </a:prstGeom>
        </p:spPr>
      </p:pic>
    </p:spTree>
    <p:extLst>
      <p:ext uri="{BB962C8B-B14F-4D97-AF65-F5344CB8AC3E}">
        <p14:creationId xmlns:p14="http://schemas.microsoft.com/office/powerpoint/2010/main" val="2916233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296F4-1087-454D-9A12-8ECDDF493148}"/>
            </a:ext>
          </a:extLst>
        </p:cNvPr>
        <p:cNvGrpSpPr/>
        <p:nvPr/>
      </p:nvGrpSpPr>
      <p:grpSpPr>
        <a:xfrm>
          <a:off x="0" y="0"/>
          <a:ext cx="0" cy="0"/>
          <a:chOff x="0" y="0"/>
          <a:chExt cx="0" cy="0"/>
        </a:xfrm>
      </p:grpSpPr>
      <p:sp>
        <p:nvSpPr>
          <p:cNvPr id="4" name="Rectangles 3">
            <a:extLst>
              <a:ext uri="{FF2B5EF4-FFF2-40B4-BE49-F238E27FC236}">
                <a16:creationId xmlns:a16="http://schemas.microsoft.com/office/drawing/2014/main" id="{E1B44E55-F492-3DA4-F120-24522B3592E9}"/>
              </a:ext>
            </a:extLst>
          </p:cNvPr>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a:extLst>
              <a:ext uri="{FF2B5EF4-FFF2-40B4-BE49-F238E27FC236}">
                <a16:creationId xmlns:a16="http://schemas.microsoft.com/office/drawing/2014/main" id="{451F546A-C831-150B-520F-33B517F3B1C4}"/>
              </a:ext>
            </a:extLst>
          </p:cNvPr>
          <p:cNvSpPr txBox="1"/>
          <p:nvPr/>
        </p:nvSpPr>
        <p:spPr>
          <a:xfrm>
            <a:off x="66675" y="-17145"/>
            <a:ext cx="10968355" cy="830997"/>
          </a:xfrm>
          <a:prstGeom prst="rect">
            <a:avLst/>
          </a:prstGeom>
        </p:spPr>
        <p:txBody>
          <a:bodyPr wrap="square">
            <a:spAutoFit/>
          </a:bodyPr>
          <a:lstStyle/>
          <a:p>
            <a:r>
              <a:rPr lang="en-US" sz="4800" dirty="0"/>
              <a:t>Measurement Error Combinations</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mc:Choice xmlns:p14="http://schemas.microsoft.com/office/powerpoint/2010/main" Requires="p14">
          <p:contentPart p14:bwMode="auto" r:id="rId2">
            <p14:nvContentPartPr>
              <p14:cNvPr id="25" name="Ink 24">
                <a:extLst>
                  <a:ext uri="{FF2B5EF4-FFF2-40B4-BE49-F238E27FC236}">
                    <a16:creationId xmlns:a16="http://schemas.microsoft.com/office/drawing/2014/main" id="{653034FA-9114-7CB1-D9A9-57D846F850C2}"/>
                  </a:ext>
                </a:extLst>
              </p14:cNvPr>
              <p14:cNvContentPartPr/>
              <p14:nvPr/>
            </p14:nvContentPartPr>
            <p14:xfrm>
              <a:off x="7670800" y="749300"/>
              <a:ext cx="196850" cy="360"/>
            </p14:xfrm>
          </p:contentPart>
        </mc:Choice>
        <mc:Fallback>
          <p:pic>
            <p:nvPicPr>
              <p:cNvPr id="25" name="Ink 24">
                <a:extLst>
                  <a:ext uri="{FF2B5EF4-FFF2-40B4-BE49-F238E27FC236}">
                    <a16:creationId xmlns:a16="http://schemas.microsoft.com/office/drawing/2014/main" id="{653034FA-9114-7CB1-D9A9-57D846F850C2}"/>
                  </a:ext>
                </a:extLst>
              </p:cNvPr>
              <p:cNvPicPr/>
              <p:nvPr/>
            </p:nvPicPr>
            <p:blipFill>
              <a:blip r:embed="rId3"/>
              <a:stretch>
                <a:fillRect/>
              </a:stretch>
            </p:blipFill>
            <p:spPr>
              <a:xfrm>
                <a:off x="7652635" y="731660"/>
                <a:ext cx="232439" cy="34920"/>
              </a:xfrm>
              <a:prstGeom prst="rect">
                <a:avLst/>
              </a:prstGeom>
            </p:spPr>
          </p:pic>
        </mc:Fallback>
      </mc:AlternateContent>
      <p:sp>
        <p:nvSpPr>
          <p:cNvPr id="3" name="TextBox 2">
            <a:extLst>
              <a:ext uri="{FF2B5EF4-FFF2-40B4-BE49-F238E27FC236}">
                <a16:creationId xmlns:a16="http://schemas.microsoft.com/office/drawing/2014/main" id="{CB10527D-C77C-BD3D-6463-4C0F58DEA62F}"/>
              </a:ext>
            </a:extLst>
          </p:cNvPr>
          <p:cNvSpPr txBox="1"/>
          <p:nvPr/>
        </p:nvSpPr>
        <p:spPr>
          <a:xfrm>
            <a:off x="563671" y="1141058"/>
            <a:ext cx="8661747" cy="461665"/>
          </a:xfrm>
          <a:prstGeom prst="rect">
            <a:avLst/>
          </a:prstGeom>
          <a:noFill/>
        </p:spPr>
        <p:txBody>
          <a:bodyPr wrap="square">
            <a:spAutoFit/>
          </a:bodyPr>
          <a:lstStyle/>
          <a:p>
            <a:r>
              <a:rPr lang="en-US" sz="2400" b="1" dirty="0">
                <a:solidFill>
                  <a:schemeClr val="accent1">
                    <a:lumMod val="75000"/>
                  </a:schemeClr>
                </a:solidFill>
              </a:rPr>
              <a:t>Sum of Quantities</a:t>
            </a:r>
          </a:p>
        </p:txBody>
      </p:sp>
      <p:sp>
        <p:nvSpPr>
          <p:cNvPr id="9" name="TextBox 8">
            <a:extLst>
              <a:ext uri="{FF2B5EF4-FFF2-40B4-BE49-F238E27FC236}">
                <a16:creationId xmlns:a16="http://schemas.microsoft.com/office/drawing/2014/main" id="{35A86022-09ED-BE5A-D4C4-2BF4AA093319}"/>
              </a:ext>
            </a:extLst>
          </p:cNvPr>
          <p:cNvSpPr txBox="1"/>
          <p:nvPr/>
        </p:nvSpPr>
        <p:spPr>
          <a:xfrm>
            <a:off x="563671" y="1602723"/>
            <a:ext cx="11223321" cy="830997"/>
          </a:xfrm>
          <a:prstGeom prst="rect">
            <a:avLst/>
          </a:prstGeom>
          <a:noFill/>
        </p:spPr>
        <p:txBody>
          <a:bodyPr wrap="square">
            <a:spAutoFit/>
          </a:bodyPr>
          <a:lstStyle/>
          <a:p>
            <a:r>
              <a:rPr lang="en-US" sz="2400" dirty="0"/>
              <a:t>When a quantity is determined as the sum of two measurements, the total error is the sum of the </a:t>
            </a:r>
            <a:r>
              <a:rPr lang="en-US" sz="2400" dirty="0">
                <a:solidFill>
                  <a:srgbClr val="C00000"/>
                </a:solidFill>
              </a:rPr>
              <a:t>absolute errors </a:t>
            </a:r>
            <a:r>
              <a:rPr lang="en-US" sz="2400" dirty="0"/>
              <a:t>in each measurement.</a:t>
            </a:r>
          </a:p>
        </p:txBody>
      </p:sp>
      <p:pic>
        <p:nvPicPr>
          <p:cNvPr id="11" name="Picture 10">
            <a:extLst>
              <a:ext uri="{FF2B5EF4-FFF2-40B4-BE49-F238E27FC236}">
                <a16:creationId xmlns:a16="http://schemas.microsoft.com/office/drawing/2014/main" id="{EC5A8554-D9E5-BE02-BA22-CB7E08342918}"/>
              </a:ext>
            </a:extLst>
          </p:cNvPr>
          <p:cNvPicPr>
            <a:picLocks noChangeAspect="1"/>
          </p:cNvPicPr>
          <p:nvPr/>
        </p:nvPicPr>
        <p:blipFill>
          <a:blip r:embed="rId4"/>
          <a:stretch>
            <a:fillRect/>
          </a:stretch>
        </p:blipFill>
        <p:spPr>
          <a:xfrm>
            <a:off x="2400598" y="2532685"/>
            <a:ext cx="5753846" cy="2436015"/>
          </a:xfrm>
          <a:prstGeom prst="rect">
            <a:avLst/>
          </a:prstGeom>
        </p:spPr>
      </p:pic>
      <p:sp>
        <p:nvSpPr>
          <p:cNvPr id="13" name="TextBox 12">
            <a:extLst>
              <a:ext uri="{FF2B5EF4-FFF2-40B4-BE49-F238E27FC236}">
                <a16:creationId xmlns:a16="http://schemas.microsoft.com/office/drawing/2014/main" id="{37D6BDB6-E389-0A71-AC5A-4133ED482BB4}"/>
              </a:ext>
            </a:extLst>
          </p:cNvPr>
          <p:cNvSpPr txBox="1"/>
          <p:nvPr/>
        </p:nvSpPr>
        <p:spPr>
          <a:xfrm>
            <a:off x="388307" y="5185370"/>
            <a:ext cx="6200382" cy="461665"/>
          </a:xfrm>
          <a:prstGeom prst="rect">
            <a:avLst/>
          </a:prstGeom>
          <a:noFill/>
        </p:spPr>
        <p:txBody>
          <a:bodyPr wrap="square">
            <a:spAutoFit/>
          </a:bodyPr>
          <a:lstStyle/>
          <a:p>
            <a:r>
              <a:rPr lang="en-US" sz="2400" b="1" dirty="0">
                <a:solidFill>
                  <a:schemeClr val="accent1">
                    <a:lumMod val="75000"/>
                  </a:schemeClr>
                </a:solidFill>
              </a:rPr>
              <a:t> Difference of Quantities</a:t>
            </a:r>
          </a:p>
        </p:txBody>
      </p:sp>
      <p:sp>
        <p:nvSpPr>
          <p:cNvPr id="15" name="TextBox 14">
            <a:extLst>
              <a:ext uri="{FF2B5EF4-FFF2-40B4-BE49-F238E27FC236}">
                <a16:creationId xmlns:a16="http://schemas.microsoft.com/office/drawing/2014/main" id="{9A926C05-5B94-11EC-16F4-B516A2075CA3}"/>
              </a:ext>
            </a:extLst>
          </p:cNvPr>
          <p:cNvSpPr txBox="1"/>
          <p:nvPr/>
        </p:nvSpPr>
        <p:spPr>
          <a:xfrm>
            <a:off x="388307" y="5647035"/>
            <a:ext cx="10741067" cy="461665"/>
          </a:xfrm>
          <a:prstGeom prst="rect">
            <a:avLst/>
          </a:prstGeom>
          <a:noFill/>
        </p:spPr>
        <p:txBody>
          <a:bodyPr wrap="square">
            <a:spAutoFit/>
          </a:bodyPr>
          <a:lstStyle/>
          <a:p>
            <a:r>
              <a:rPr lang="en-US" sz="2400" dirty="0"/>
              <a:t>The error of the difference of two measurements are again </a:t>
            </a:r>
            <a:r>
              <a:rPr lang="en-US" sz="2400" dirty="0">
                <a:solidFill>
                  <a:srgbClr val="C00000"/>
                </a:solidFill>
              </a:rPr>
              <a:t>additive</a:t>
            </a:r>
          </a:p>
        </p:txBody>
      </p:sp>
    </p:spTree>
    <p:extLst>
      <p:ext uri="{BB962C8B-B14F-4D97-AF65-F5344CB8AC3E}">
        <p14:creationId xmlns:p14="http://schemas.microsoft.com/office/powerpoint/2010/main" val="3402887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2BC05-EF1E-8227-DB62-BFDC67A5FA6F}"/>
            </a:ext>
          </a:extLst>
        </p:cNvPr>
        <p:cNvGrpSpPr/>
        <p:nvPr/>
      </p:nvGrpSpPr>
      <p:grpSpPr>
        <a:xfrm>
          <a:off x="0" y="0"/>
          <a:ext cx="0" cy="0"/>
          <a:chOff x="0" y="0"/>
          <a:chExt cx="0" cy="0"/>
        </a:xfrm>
      </p:grpSpPr>
      <p:sp>
        <p:nvSpPr>
          <p:cNvPr id="4" name="Rectangles 3">
            <a:extLst>
              <a:ext uri="{FF2B5EF4-FFF2-40B4-BE49-F238E27FC236}">
                <a16:creationId xmlns:a16="http://schemas.microsoft.com/office/drawing/2014/main" id="{02627FCE-0903-B3BC-4DA2-65B464B6ACE8}"/>
              </a:ext>
            </a:extLst>
          </p:cNvPr>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a:extLst>
              <a:ext uri="{FF2B5EF4-FFF2-40B4-BE49-F238E27FC236}">
                <a16:creationId xmlns:a16="http://schemas.microsoft.com/office/drawing/2014/main" id="{C1B649EF-F2AC-6B1F-1799-B6CE0C11F379}"/>
              </a:ext>
            </a:extLst>
          </p:cNvPr>
          <p:cNvSpPr txBox="1"/>
          <p:nvPr/>
        </p:nvSpPr>
        <p:spPr>
          <a:xfrm>
            <a:off x="66675" y="-17145"/>
            <a:ext cx="10968355" cy="830997"/>
          </a:xfrm>
          <a:prstGeom prst="rect">
            <a:avLst/>
          </a:prstGeom>
        </p:spPr>
        <p:txBody>
          <a:bodyPr wrap="square">
            <a:spAutoFit/>
          </a:bodyPr>
          <a:lstStyle/>
          <a:p>
            <a:r>
              <a:rPr lang="en-US" sz="4800" dirty="0"/>
              <a:t>Measurement Error Combinations</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mc:Choice xmlns:p14="http://schemas.microsoft.com/office/powerpoint/2010/main" Requires="p14">
          <p:contentPart p14:bwMode="auto" r:id="rId2">
            <p14:nvContentPartPr>
              <p14:cNvPr id="25" name="Ink 24">
                <a:extLst>
                  <a:ext uri="{FF2B5EF4-FFF2-40B4-BE49-F238E27FC236}">
                    <a16:creationId xmlns:a16="http://schemas.microsoft.com/office/drawing/2014/main" id="{D0E84A1C-692C-E307-4F49-49EFF16C1156}"/>
                  </a:ext>
                </a:extLst>
              </p14:cNvPr>
              <p14:cNvContentPartPr/>
              <p14:nvPr/>
            </p14:nvContentPartPr>
            <p14:xfrm>
              <a:off x="7670800" y="749300"/>
              <a:ext cx="196850" cy="360"/>
            </p14:xfrm>
          </p:contentPart>
        </mc:Choice>
        <mc:Fallback>
          <p:pic>
            <p:nvPicPr>
              <p:cNvPr id="25" name="Ink 24">
                <a:extLst>
                  <a:ext uri="{FF2B5EF4-FFF2-40B4-BE49-F238E27FC236}">
                    <a16:creationId xmlns:a16="http://schemas.microsoft.com/office/drawing/2014/main" id="{D0E84A1C-692C-E307-4F49-49EFF16C1156}"/>
                  </a:ext>
                </a:extLst>
              </p:cNvPr>
              <p:cNvPicPr/>
              <p:nvPr/>
            </p:nvPicPr>
            <p:blipFill>
              <a:blip r:embed="rId3"/>
              <a:stretch>
                <a:fillRect/>
              </a:stretch>
            </p:blipFill>
            <p:spPr>
              <a:xfrm>
                <a:off x="7652635" y="731660"/>
                <a:ext cx="232439" cy="34920"/>
              </a:xfrm>
              <a:prstGeom prst="rect">
                <a:avLst/>
              </a:prstGeom>
            </p:spPr>
          </p:pic>
        </mc:Fallback>
      </mc:AlternateContent>
      <p:pic>
        <p:nvPicPr>
          <p:cNvPr id="6" name="Picture 5">
            <a:extLst>
              <a:ext uri="{FF2B5EF4-FFF2-40B4-BE49-F238E27FC236}">
                <a16:creationId xmlns:a16="http://schemas.microsoft.com/office/drawing/2014/main" id="{FCE32EE2-1C06-A11C-72F0-5F160923CB15}"/>
              </a:ext>
            </a:extLst>
          </p:cNvPr>
          <p:cNvPicPr>
            <a:picLocks noChangeAspect="1"/>
          </p:cNvPicPr>
          <p:nvPr/>
        </p:nvPicPr>
        <p:blipFill>
          <a:blip r:embed="rId4"/>
          <a:stretch>
            <a:fillRect/>
          </a:stretch>
        </p:blipFill>
        <p:spPr>
          <a:xfrm>
            <a:off x="1691014" y="1008396"/>
            <a:ext cx="7127309" cy="3224563"/>
          </a:xfrm>
          <a:prstGeom prst="rect">
            <a:avLst/>
          </a:prstGeom>
        </p:spPr>
      </p:pic>
      <p:sp>
        <p:nvSpPr>
          <p:cNvPr id="8" name="TextBox 7">
            <a:extLst>
              <a:ext uri="{FF2B5EF4-FFF2-40B4-BE49-F238E27FC236}">
                <a16:creationId xmlns:a16="http://schemas.microsoft.com/office/drawing/2014/main" id="{72D71572-8FFA-96E2-0AB4-3D377B2C1FB5}"/>
              </a:ext>
            </a:extLst>
          </p:cNvPr>
          <p:cNvSpPr txBox="1"/>
          <p:nvPr/>
        </p:nvSpPr>
        <p:spPr>
          <a:xfrm>
            <a:off x="407097" y="4982319"/>
            <a:ext cx="6200382" cy="461665"/>
          </a:xfrm>
          <a:prstGeom prst="rect">
            <a:avLst/>
          </a:prstGeom>
          <a:noFill/>
        </p:spPr>
        <p:txBody>
          <a:bodyPr wrap="square">
            <a:spAutoFit/>
          </a:bodyPr>
          <a:lstStyle/>
          <a:p>
            <a:r>
              <a:rPr lang="en-US" sz="2400" b="1" dirty="0">
                <a:solidFill>
                  <a:schemeClr val="accent1">
                    <a:lumMod val="75000"/>
                  </a:schemeClr>
                </a:solidFill>
              </a:rPr>
              <a:t>Product of Quantities</a:t>
            </a:r>
          </a:p>
        </p:txBody>
      </p:sp>
      <p:sp>
        <p:nvSpPr>
          <p:cNvPr id="12" name="TextBox 11">
            <a:extLst>
              <a:ext uri="{FF2B5EF4-FFF2-40B4-BE49-F238E27FC236}">
                <a16:creationId xmlns:a16="http://schemas.microsoft.com/office/drawing/2014/main" id="{C8F42CC2-E728-5E65-5B2A-0EC3455732E5}"/>
              </a:ext>
            </a:extLst>
          </p:cNvPr>
          <p:cNvSpPr txBox="1"/>
          <p:nvPr/>
        </p:nvSpPr>
        <p:spPr>
          <a:xfrm>
            <a:off x="799579" y="5509435"/>
            <a:ext cx="10611632" cy="830997"/>
          </a:xfrm>
          <a:prstGeom prst="rect">
            <a:avLst/>
          </a:prstGeom>
          <a:noFill/>
        </p:spPr>
        <p:txBody>
          <a:bodyPr wrap="square">
            <a:spAutoFit/>
          </a:bodyPr>
          <a:lstStyle/>
          <a:p>
            <a:r>
              <a:rPr lang="en-US" sz="2400" dirty="0"/>
              <a:t> When a calculated quantity is the product of two or more quantities, the percentage error is the sum of the percentage errors in each quantity</a:t>
            </a:r>
          </a:p>
        </p:txBody>
      </p:sp>
    </p:spTree>
    <p:extLst>
      <p:ext uri="{BB962C8B-B14F-4D97-AF65-F5344CB8AC3E}">
        <p14:creationId xmlns:p14="http://schemas.microsoft.com/office/powerpoint/2010/main" val="349815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BF9E-941D-0BB0-453E-01389F0BFA97}"/>
            </a:ext>
          </a:extLst>
        </p:cNvPr>
        <p:cNvGrpSpPr/>
        <p:nvPr/>
      </p:nvGrpSpPr>
      <p:grpSpPr>
        <a:xfrm>
          <a:off x="0" y="0"/>
          <a:ext cx="0" cy="0"/>
          <a:chOff x="0" y="0"/>
          <a:chExt cx="0" cy="0"/>
        </a:xfrm>
      </p:grpSpPr>
      <p:sp>
        <p:nvSpPr>
          <p:cNvPr id="4" name="Rectangles 3">
            <a:extLst>
              <a:ext uri="{FF2B5EF4-FFF2-40B4-BE49-F238E27FC236}">
                <a16:creationId xmlns:a16="http://schemas.microsoft.com/office/drawing/2014/main" id="{A64D2DB1-DA3F-9277-10BE-CD7EDCADF995}"/>
              </a:ext>
            </a:extLst>
          </p:cNvPr>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a:extLst>
              <a:ext uri="{FF2B5EF4-FFF2-40B4-BE49-F238E27FC236}">
                <a16:creationId xmlns:a16="http://schemas.microsoft.com/office/drawing/2014/main" id="{F5DDE403-00F9-532A-4BC5-4D96217A44F3}"/>
              </a:ext>
            </a:extLst>
          </p:cNvPr>
          <p:cNvSpPr txBox="1"/>
          <p:nvPr/>
        </p:nvSpPr>
        <p:spPr>
          <a:xfrm>
            <a:off x="66675" y="-17145"/>
            <a:ext cx="10968355" cy="830997"/>
          </a:xfrm>
          <a:prstGeom prst="rect">
            <a:avLst/>
          </a:prstGeom>
        </p:spPr>
        <p:txBody>
          <a:bodyPr wrap="square">
            <a:spAutoFit/>
          </a:bodyPr>
          <a:lstStyle/>
          <a:p>
            <a:r>
              <a:rPr lang="en-US" sz="4800" dirty="0"/>
              <a:t>Measurement Error Combinations</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mc:Choice xmlns:p14="http://schemas.microsoft.com/office/powerpoint/2010/main" Requires="p14">
          <p:contentPart p14:bwMode="auto" r:id="rId2">
            <p14:nvContentPartPr>
              <p14:cNvPr id="25" name="Ink 24">
                <a:extLst>
                  <a:ext uri="{FF2B5EF4-FFF2-40B4-BE49-F238E27FC236}">
                    <a16:creationId xmlns:a16="http://schemas.microsoft.com/office/drawing/2014/main" id="{0167D1CE-A7C5-6B6D-AC4D-977B0EFB234A}"/>
                  </a:ext>
                </a:extLst>
              </p14:cNvPr>
              <p14:cNvContentPartPr/>
              <p14:nvPr/>
            </p14:nvContentPartPr>
            <p14:xfrm>
              <a:off x="7670800" y="749300"/>
              <a:ext cx="196850" cy="360"/>
            </p14:xfrm>
          </p:contentPart>
        </mc:Choice>
        <mc:Fallback>
          <p:pic>
            <p:nvPicPr>
              <p:cNvPr id="25" name="Ink 24">
                <a:extLst>
                  <a:ext uri="{FF2B5EF4-FFF2-40B4-BE49-F238E27FC236}">
                    <a16:creationId xmlns:a16="http://schemas.microsoft.com/office/drawing/2014/main" id="{0167D1CE-A7C5-6B6D-AC4D-977B0EFB234A}"/>
                  </a:ext>
                </a:extLst>
              </p:cNvPr>
              <p:cNvPicPr/>
              <p:nvPr/>
            </p:nvPicPr>
            <p:blipFill>
              <a:blip r:embed="rId3"/>
              <a:stretch>
                <a:fillRect/>
              </a:stretch>
            </p:blipFill>
            <p:spPr>
              <a:xfrm>
                <a:off x="7652635" y="731660"/>
                <a:ext cx="232439" cy="34920"/>
              </a:xfrm>
              <a:prstGeom prst="rect">
                <a:avLst/>
              </a:prstGeom>
            </p:spPr>
          </p:pic>
        </mc:Fallback>
      </mc:AlternateContent>
      <p:sp>
        <p:nvSpPr>
          <p:cNvPr id="8" name="TextBox 7">
            <a:extLst>
              <a:ext uri="{FF2B5EF4-FFF2-40B4-BE49-F238E27FC236}">
                <a16:creationId xmlns:a16="http://schemas.microsoft.com/office/drawing/2014/main" id="{F87ED89B-1A20-E165-B402-9B6A45F54B0C}"/>
              </a:ext>
            </a:extLst>
          </p:cNvPr>
          <p:cNvSpPr txBox="1"/>
          <p:nvPr/>
        </p:nvSpPr>
        <p:spPr>
          <a:xfrm>
            <a:off x="498954" y="4030650"/>
            <a:ext cx="3964487" cy="461665"/>
          </a:xfrm>
          <a:prstGeom prst="rect">
            <a:avLst/>
          </a:prstGeom>
          <a:noFill/>
        </p:spPr>
        <p:txBody>
          <a:bodyPr wrap="square">
            <a:spAutoFit/>
          </a:bodyPr>
          <a:lstStyle/>
          <a:p>
            <a:r>
              <a:rPr lang="en-US" sz="2400" dirty="0">
                <a:solidFill>
                  <a:schemeClr val="accent1">
                    <a:lumMod val="75000"/>
                  </a:schemeClr>
                </a:solidFill>
              </a:rPr>
              <a:t>Quotient of Quantities</a:t>
            </a:r>
            <a:endParaRPr lang="en-US" sz="2400" b="1" dirty="0">
              <a:solidFill>
                <a:schemeClr val="accent1">
                  <a:lumMod val="75000"/>
                </a:schemeClr>
              </a:solidFill>
            </a:endParaRPr>
          </a:p>
        </p:txBody>
      </p:sp>
      <p:pic>
        <p:nvPicPr>
          <p:cNvPr id="3" name="Picture 2">
            <a:extLst>
              <a:ext uri="{FF2B5EF4-FFF2-40B4-BE49-F238E27FC236}">
                <a16:creationId xmlns:a16="http://schemas.microsoft.com/office/drawing/2014/main" id="{6EE80574-80CA-913B-3D6F-AEC7902F2071}"/>
              </a:ext>
            </a:extLst>
          </p:cNvPr>
          <p:cNvPicPr>
            <a:picLocks noChangeAspect="1"/>
          </p:cNvPicPr>
          <p:nvPr/>
        </p:nvPicPr>
        <p:blipFill>
          <a:blip r:embed="rId4"/>
          <a:stretch>
            <a:fillRect/>
          </a:stretch>
        </p:blipFill>
        <p:spPr>
          <a:xfrm>
            <a:off x="498954" y="1107398"/>
            <a:ext cx="4292593" cy="2801608"/>
          </a:xfrm>
          <a:prstGeom prst="rect">
            <a:avLst/>
          </a:prstGeom>
        </p:spPr>
      </p:pic>
      <p:pic>
        <p:nvPicPr>
          <p:cNvPr id="9" name="Picture 8">
            <a:extLst>
              <a:ext uri="{FF2B5EF4-FFF2-40B4-BE49-F238E27FC236}">
                <a16:creationId xmlns:a16="http://schemas.microsoft.com/office/drawing/2014/main" id="{6178A8B6-FA76-88BD-D626-01897E72B1DB}"/>
              </a:ext>
            </a:extLst>
          </p:cNvPr>
          <p:cNvPicPr>
            <a:picLocks noChangeAspect="1"/>
          </p:cNvPicPr>
          <p:nvPr/>
        </p:nvPicPr>
        <p:blipFill>
          <a:blip r:embed="rId5"/>
          <a:stretch>
            <a:fillRect/>
          </a:stretch>
        </p:blipFill>
        <p:spPr>
          <a:xfrm>
            <a:off x="5456737" y="910636"/>
            <a:ext cx="4821826" cy="3038659"/>
          </a:xfrm>
          <a:prstGeom prst="rect">
            <a:avLst/>
          </a:prstGeom>
        </p:spPr>
      </p:pic>
      <p:pic>
        <p:nvPicPr>
          <p:cNvPr id="15" name="Picture 14">
            <a:extLst>
              <a:ext uri="{FF2B5EF4-FFF2-40B4-BE49-F238E27FC236}">
                <a16:creationId xmlns:a16="http://schemas.microsoft.com/office/drawing/2014/main" id="{FDA8B6CD-12C1-4ED2-60DC-5ED23960B57D}"/>
              </a:ext>
            </a:extLst>
          </p:cNvPr>
          <p:cNvPicPr>
            <a:picLocks noChangeAspect="1"/>
          </p:cNvPicPr>
          <p:nvPr/>
        </p:nvPicPr>
        <p:blipFill>
          <a:blip r:embed="rId6"/>
          <a:stretch>
            <a:fillRect/>
          </a:stretch>
        </p:blipFill>
        <p:spPr>
          <a:xfrm>
            <a:off x="2766386" y="4492315"/>
            <a:ext cx="4523762" cy="709817"/>
          </a:xfrm>
          <a:prstGeom prst="rect">
            <a:avLst/>
          </a:prstGeom>
        </p:spPr>
      </p:pic>
      <p:sp>
        <p:nvSpPr>
          <p:cNvPr id="17" name="TextBox 16">
            <a:extLst>
              <a:ext uri="{FF2B5EF4-FFF2-40B4-BE49-F238E27FC236}">
                <a16:creationId xmlns:a16="http://schemas.microsoft.com/office/drawing/2014/main" id="{9891E1F4-87DD-D5FF-BD9D-18F23ED970C6}"/>
              </a:ext>
            </a:extLst>
          </p:cNvPr>
          <p:cNvSpPr txBox="1"/>
          <p:nvPr/>
        </p:nvSpPr>
        <p:spPr>
          <a:xfrm>
            <a:off x="498954" y="5118230"/>
            <a:ext cx="6200382" cy="461665"/>
          </a:xfrm>
          <a:prstGeom prst="rect">
            <a:avLst/>
          </a:prstGeom>
          <a:noFill/>
        </p:spPr>
        <p:txBody>
          <a:bodyPr wrap="square">
            <a:spAutoFit/>
          </a:bodyPr>
          <a:lstStyle/>
          <a:p>
            <a:r>
              <a:rPr lang="en-US" sz="2400" dirty="0">
                <a:solidFill>
                  <a:schemeClr val="accent1">
                    <a:lumMod val="75000"/>
                  </a:schemeClr>
                </a:solidFill>
              </a:rPr>
              <a:t>Quantity Raised to a Power</a:t>
            </a:r>
          </a:p>
        </p:txBody>
      </p:sp>
      <p:pic>
        <p:nvPicPr>
          <p:cNvPr id="19" name="Picture 18">
            <a:extLst>
              <a:ext uri="{FF2B5EF4-FFF2-40B4-BE49-F238E27FC236}">
                <a16:creationId xmlns:a16="http://schemas.microsoft.com/office/drawing/2014/main" id="{2208D6CC-3CF7-49E4-9884-2F1B70279C7B}"/>
              </a:ext>
            </a:extLst>
          </p:cNvPr>
          <p:cNvPicPr>
            <a:picLocks noChangeAspect="1"/>
          </p:cNvPicPr>
          <p:nvPr/>
        </p:nvPicPr>
        <p:blipFill>
          <a:blip r:embed="rId7"/>
          <a:stretch>
            <a:fillRect/>
          </a:stretch>
        </p:blipFill>
        <p:spPr>
          <a:xfrm>
            <a:off x="3080290" y="5745151"/>
            <a:ext cx="3619045" cy="418733"/>
          </a:xfrm>
          <a:prstGeom prst="rect">
            <a:avLst/>
          </a:prstGeom>
        </p:spPr>
      </p:pic>
    </p:spTree>
    <p:extLst>
      <p:ext uri="{BB962C8B-B14F-4D97-AF65-F5344CB8AC3E}">
        <p14:creationId xmlns:p14="http://schemas.microsoft.com/office/powerpoint/2010/main" val="29407415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C8F6C-8A11-D1F9-875E-031935043177}"/>
            </a:ext>
          </a:extLst>
        </p:cNvPr>
        <p:cNvGrpSpPr/>
        <p:nvPr/>
      </p:nvGrpSpPr>
      <p:grpSpPr>
        <a:xfrm>
          <a:off x="0" y="0"/>
          <a:ext cx="0" cy="0"/>
          <a:chOff x="0" y="0"/>
          <a:chExt cx="0" cy="0"/>
        </a:xfrm>
      </p:grpSpPr>
      <p:sp>
        <p:nvSpPr>
          <p:cNvPr id="4" name="Rectangles 3">
            <a:extLst>
              <a:ext uri="{FF2B5EF4-FFF2-40B4-BE49-F238E27FC236}">
                <a16:creationId xmlns:a16="http://schemas.microsoft.com/office/drawing/2014/main" id="{8AD6D1C0-F2F6-E2B8-113F-EB1DD76DCF9B}"/>
              </a:ext>
            </a:extLst>
          </p:cNvPr>
          <p:cNvSpPr/>
          <p:nvPr/>
        </p:nvSpPr>
        <p:spPr>
          <a:xfrm>
            <a:off x="-20955" y="-11430"/>
            <a:ext cx="12202160" cy="856615"/>
          </a:xfrm>
          <a:prstGeom prst="rect">
            <a:avLst/>
          </a:prstGeom>
          <a:solidFill>
            <a:schemeClr val="accent2">
              <a:alpha val="86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5" name="Text Box 4">
            <a:extLst>
              <a:ext uri="{FF2B5EF4-FFF2-40B4-BE49-F238E27FC236}">
                <a16:creationId xmlns:a16="http://schemas.microsoft.com/office/drawing/2014/main" id="{DFC12185-87AF-6D20-FFF8-ECAE73EE4FAB}"/>
              </a:ext>
            </a:extLst>
          </p:cNvPr>
          <p:cNvSpPr txBox="1"/>
          <p:nvPr/>
        </p:nvSpPr>
        <p:spPr>
          <a:xfrm>
            <a:off x="66675" y="-17145"/>
            <a:ext cx="10968355" cy="830997"/>
          </a:xfrm>
          <a:prstGeom prst="rect">
            <a:avLst/>
          </a:prstGeom>
        </p:spPr>
        <p:txBody>
          <a:bodyPr wrap="square">
            <a:spAutoFit/>
          </a:bodyPr>
          <a:lstStyle/>
          <a:p>
            <a:r>
              <a:rPr lang="en-US" sz="4800" dirty="0"/>
              <a:t>Measurement Error Combinations</a:t>
            </a:r>
            <a:endParaRPr lang="en-US" altLang="en-US" sz="4800" b="1" dirty="0">
              <a:solidFill>
                <a:srgbClr val="000000"/>
              </a:solidFill>
              <a:latin typeface="Bahnschrift Light" panose="020B0502040204020203" charset="0"/>
              <a:ea typeface="Calibri-Bold"/>
              <a:cs typeface="Bahnschrift Light" panose="020B0502040204020203" charset="0"/>
            </a:endParaRPr>
          </a:p>
        </p:txBody>
      </p:sp>
      <mc:AlternateContent xmlns:mc="http://schemas.openxmlformats.org/markup-compatibility/2006">
        <mc:Choice xmlns:p14="http://schemas.microsoft.com/office/powerpoint/2010/main" Requires="p14">
          <p:contentPart p14:bwMode="auto" r:id="rId2">
            <p14:nvContentPartPr>
              <p14:cNvPr id="25" name="Ink 24">
                <a:extLst>
                  <a:ext uri="{FF2B5EF4-FFF2-40B4-BE49-F238E27FC236}">
                    <a16:creationId xmlns:a16="http://schemas.microsoft.com/office/drawing/2014/main" id="{8E0A4DAE-8D5D-277F-B385-1D445B3DFBCA}"/>
                  </a:ext>
                </a:extLst>
              </p14:cNvPr>
              <p14:cNvContentPartPr/>
              <p14:nvPr/>
            </p14:nvContentPartPr>
            <p14:xfrm>
              <a:off x="7670800" y="749300"/>
              <a:ext cx="196850" cy="360"/>
            </p14:xfrm>
          </p:contentPart>
        </mc:Choice>
        <mc:Fallback>
          <p:pic>
            <p:nvPicPr>
              <p:cNvPr id="25" name="Ink 24">
                <a:extLst>
                  <a:ext uri="{FF2B5EF4-FFF2-40B4-BE49-F238E27FC236}">
                    <a16:creationId xmlns:a16="http://schemas.microsoft.com/office/drawing/2014/main" id="{8E0A4DAE-8D5D-277F-B385-1D445B3DFBCA}"/>
                  </a:ext>
                </a:extLst>
              </p:cNvPr>
              <p:cNvPicPr/>
              <p:nvPr/>
            </p:nvPicPr>
            <p:blipFill>
              <a:blip r:embed="rId3"/>
              <a:stretch>
                <a:fillRect/>
              </a:stretch>
            </p:blipFill>
            <p:spPr>
              <a:xfrm>
                <a:off x="7652635" y="731660"/>
                <a:ext cx="232439" cy="34920"/>
              </a:xfrm>
              <a:prstGeom prst="rect">
                <a:avLst/>
              </a:prstGeom>
            </p:spPr>
          </p:pic>
        </mc:Fallback>
      </mc:AlternateContent>
      <p:sp>
        <p:nvSpPr>
          <p:cNvPr id="6" name="TextBox 5">
            <a:extLst>
              <a:ext uri="{FF2B5EF4-FFF2-40B4-BE49-F238E27FC236}">
                <a16:creationId xmlns:a16="http://schemas.microsoft.com/office/drawing/2014/main" id="{AA536A21-0DAE-67E1-F881-DA72B8C8D652}"/>
              </a:ext>
            </a:extLst>
          </p:cNvPr>
          <p:cNvSpPr txBox="1"/>
          <p:nvPr/>
        </p:nvSpPr>
        <p:spPr>
          <a:xfrm>
            <a:off x="475989" y="1114816"/>
            <a:ext cx="11336055" cy="1938992"/>
          </a:xfrm>
          <a:prstGeom prst="rect">
            <a:avLst/>
          </a:prstGeom>
          <a:noFill/>
        </p:spPr>
        <p:txBody>
          <a:bodyPr wrap="square">
            <a:spAutoFit/>
          </a:bodyPr>
          <a:lstStyle/>
          <a:p>
            <a:r>
              <a:rPr lang="en-US" sz="2400" b="1" dirty="0">
                <a:solidFill>
                  <a:schemeClr val="accent1">
                    <a:lumMod val="75000"/>
                  </a:schemeClr>
                </a:solidFill>
              </a:rPr>
              <a:t>Example</a:t>
            </a:r>
            <a:r>
              <a:rPr lang="en-US" sz="2400" dirty="0"/>
              <a:t>: An 820Ω resistance with an accuracy of ±10% carries a current of 10 mA. The current was measured by an analog ammeter on a 25mA range with an accuracy of ±2% of full scale. Calculate the power dissipated in the resistor, and determine the accuracy of the result.</a:t>
            </a:r>
          </a:p>
          <a:p>
            <a:r>
              <a:rPr lang="en-US" sz="2400" b="1" dirty="0">
                <a:solidFill>
                  <a:schemeClr val="accent1">
                    <a:lumMod val="75000"/>
                  </a:schemeClr>
                </a:solidFill>
              </a:rPr>
              <a:t>Solution:</a:t>
            </a:r>
          </a:p>
        </p:txBody>
      </p:sp>
      <p:pic>
        <p:nvPicPr>
          <p:cNvPr id="10" name="Picture 9">
            <a:extLst>
              <a:ext uri="{FF2B5EF4-FFF2-40B4-BE49-F238E27FC236}">
                <a16:creationId xmlns:a16="http://schemas.microsoft.com/office/drawing/2014/main" id="{35803984-62B3-3A01-B7BE-CFA860FA5693}"/>
              </a:ext>
            </a:extLst>
          </p:cNvPr>
          <p:cNvPicPr>
            <a:picLocks noChangeAspect="1"/>
          </p:cNvPicPr>
          <p:nvPr/>
        </p:nvPicPr>
        <p:blipFill>
          <a:blip r:embed="rId4"/>
          <a:stretch>
            <a:fillRect/>
          </a:stretch>
        </p:blipFill>
        <p:spPr>
          <a:xfrm>
            <a:off x="2265784" y="2643925"/>
            <a:ext cx="6439805" cy="3904990"/>
          </a:xfrm>
          <a:prstGeom prst="rect">
            <a:avLst/>
          </a:prstGeom>
        </p:spPr>
      </p:pic>
    </p:spTree>
    <p:extLst>
      <p:ext uri="{BB962C8B-B14F-4D97-AF65-F5344CB8AC3E}">
        <p14:creationId xmlns:p14="http://schemas.microsoft.com/office/powerpoint/2010/main" val="32635677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TotalTime>
  <Words>2449</Words>
  <Application>Microsoft Office PowerPoint</Application>
  <PresentationFormat>Widescreen</PresentationFormat>
  <Paragraphs>186</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Bahnschrift Light</vt:lpstr>
      <vt:lpstr>Calibri</vt:lpstr>
      <vt:lpstr>Calibri Light</vt:lpstr>
      <vt:lpstr>Symbol</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User</dc:creator>
  <cp:lastModifiedBy>jsiddiquetalim@outlook.com</cp:lastModifiedBy>
  <cp:revision>24</cp:revision>
  <dcterms:created xsi:type="dcterms:W3CDTF">2025-07-23T00:59:00Z</dcterms:created>
  <dcterms:modified xsi:type="dcterms:W3CDTF">2026-06-15T00:46:52Z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1033-12.1.0.25242</vt:lpwstr>
  </property>
</Properties>
</file>