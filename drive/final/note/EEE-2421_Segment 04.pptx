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60" r:id="rId3"/>
    <p:sldId id="273" r:id="rId4"/>
    <p:sldId id="300" r:id="rId5"/>
    <p:sldId id="274" r:id="rId6"/>
    <p:sldId id="275" r:id="rId7"/>
    <p:sldId id="301" r:id="rId8"/>
    <p:sldId id="276" r:id="rId9"/>
    <p:sldId id="277" r:id="rId10"/>
    <p:sldId id="278" r:id="rId11"/>
    <p:sldId id="279" r:id="rId12"/>
    <p:sldId id="281" r:id="rId13"/>
    <p:sldId id="283" r:id="rId14"/>
    <p:sldId id="294" r:id="rId15"/>
    <p:sldId id="295" r:id="rId16"/>
    <p:sldId id="302" r:id="rId17"/>
    <p:sldId id="297" r:id="rId18"/>
    <p:sldId id="298" r:id="rId19"/>
    <p:sldId id="256" r:id="rId20"/>
    <p:sldId id="272" r:id="rId21"/>
    <p:sldId id="271" r:id="rId22"/>
    <p:sldId id="27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87FD63-EAEA-4198-9A16-3903B3FC384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9BE6A7-7857-49AE-A30D-0E8E6EE8D11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5976FCB-280F-49C1-9BEC-DF8BF09C811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5976FCB-280F-49C1-9BEC-DF8BF09C811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95976FCB-280F-49C1-9BEC-DF8BF09C811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95976FCB-280F-49C1-9BEC-DF8BF09C811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95976FCB-280F-49C1-9BEC-DF8BF09C811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95976FCB-280F-49C1-9BEC-DF8BF09C811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976FCB-280F-49C1-9BEC-DF8BF09C811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5976FCB-280F-49C1-9BEC-DF8BF09C811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95976FCB-280F-49C1-9BEC-DF8BF09C811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5976FCB-280F-49C1-9BEC-DF8BF09C811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5976FCB-280F-49C1-9BEC-DF8BF09C811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5976FCB-280F-49C1-9BEC-DF8BF09C811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C03C5D-EC78-4E63-A071-372F2ED90B9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976FCB-280F-49C1-9BEC-DF8BF09C811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C03C5D-EC78-4E63-A071-372F2ED90B9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4" name="object 3"/>
          <p:cNvSpPr/>
          <p:nvPr/>
        </p:nvSpPr>
        <p:spPr>
          <a:xfrm>
            <a:off x="0" y="0"/>
            <a:ext cx="12186285" cy="2559685"/>
          </a:xfrm>
          <a:custGeom>
            <a:avLst/>
            <a:gdLst/>
            <a:ahLst/>
            <a:cxnLst/>
            <a:rect l="l" t="t" r="r" b="b"/>
            <a:pathLst>
              <a:path w="12186285" h="2228215">
                <a:moveTo>
                  <a:pt x="12185904" y="0"/>
                </a:moveTo>
                <a:lnTo>
                  <a:pt x="0" y="0"/>
                </a:lnTo>
                <a:lnTo>
                  <a:pt x="0" y="2228088"/>
                </a:lnTo>
                <a:lnTo>
                  <a:pt x="12185904" y="2228088"/>
                </a:lnTo>
                <a:lnTo>
                  <a:pt x="12185904" y="0"/>
                </a:lnTo>
                <a:close/>
              </a:path>
            </a:pathLst>
          </a:custGeom>
          <a:solidFill>
            <a:schemeClr val="accent4"/>
          </a:solidFill>
        </p:spPr>
        <p:txBody>
          <a:bodyPr wrap="square" lIns="0" tIns="0" rIns="0" bIns="0" rtlCol="0"/>
          <a:lstStyle/>
          <a:p/>
        </p:txBody>
      </p:sp>
      <p:sp>
        <p:nvSpPr>
          <p:cNvPr id="5" name="object 4"/>
          <p:cNvSpPr txBox="1"/>
          <p:nvPr/>
        </p:nvSpPr>
        <p:spPr>
          <a:xfrm>
            <a:off x="4720209" y="5911392"/>
            <a:ext cx="2647315" cy="319405"/>
          </a:xfrm>
          <a:prstGeom prst="rect">
            <a:avLst/>
          </a:prstGeom>
        </p:spPr>
        <p:txBody>
          <a:bodyPr vert="horz" wrap="square" lIns="0" tIns="12065" rIns="0" bIns="0" rtlCol="0">
            <a:spAutoFit/>
          </a:bodyPr>
          <a:lstStyle/>
          <a:p>
            <a:pPr marL="12700" algn="ctr">
              <a:lnSpc>
                <a:spcPct val="100000"/>
              </a:lnSpc>
              <a:spcBef>
                <a:spcPts val="95"/>
              </a:spcBef>
            </a:pPr>
            <a:r>
              <a:rPr lang="en-US" sz="2000" b="1">
                <a:solidFill>
                  <a:schemeClr val="accent2">
                    <a:lumMod val="50000"/>
                  </a:schemeClr>
                </a:solidFill>
                <a:latin typeface="Verdana" panose="020B0604030504040204"/>
                <a:cs typeface="Verdana" panose="020B0604030504040204"/>
              </a:rPr>
              <a:t>Spring 2026</a:t>
            </a:r>
            <a:endParaRPr lang="en-US" sz="2000" b="1" spc="-20" dirty="0">
              <a:solidFill>
                <a:schemeClr val="accent2">
                  <a:lumMod val="50000"/>
                </a:schemeClr>
              </a:solidFill>
              <a:latin typeface="Verdana" panose="020B0604030504040204"/>
              <a:cs typeface="Verdana" panose="020B0604030504040204"/>
            </a:endParaRPr>
          </a:p>
        </p:txBody>
      </p:sp>
      <p:sp>
        <p:nvSpPr>
          <p:cNvPr id="6" name="object 5"/>
          <p:cNvSpPr/>
          <p:nvPr/>
        </p:nvSpPr>
        <p:spPr>
          <a:xfrm>
            <a:off x="969010" y="182245"/>
            <a:ext cx="9527540" cy="1790065"/>
          </a:xfrm>
          <a:custGeom>
            <a:avLst/>
            <a:gdLst/>
            <a:ahLst/>
            <a:cxnLst/>
            <a:rect l="l" t="t" r="r" b="b"/>
            <a:pathLst>
              <a:path w="8906510" h="1853564">
                <a:moveTo>
                  <a:pt x="8906256" y="0"/>
                </a:moveTo>
                <a:lnTo>
                  <a:pt x="0" y="0"/>
                </a:lnTo>
                <a:lnTo>
                  <a:pt x="0" y="1853184"/>
                </a:lnTo>
                <a:lnTo>
                  <a:pt x="8906256" y="1853184"/>
                </a:lnTo>
                <a:lnTo>
                  <a:pt x="8906256" y="0"/>
                </a:lnTo>
                <a:close/>
              </a:path>
            </a:pathLst>
          </a:custGeom>
          <a:solidFill>
            <a:schemeClr val="accent1">
              <a:lumMod val="75000"/>
            </a:schemeClr>
          </a:solidFill>
        </p:spPr>
        <p:txBody>
          <a:bodyPr wrap="square" lIns="0" tIns="0" rIns="0" bIns="0" rtlCol="0"/>
          <a:lstStyle/>
          <a:p/>
        </p:txBody>
      </p:sp>
      <p:sp>
        <p:nvSpPr>
          <p:cNvPr id="7" name="object 6"/>
          <p:cNvSpPr txBox="1"/>
          <p:nvPr/>
        </p:nvSpPr>
        <p:spPr>
          <a:xfrm>
            <a:off x="1387475" y="378461"/>
            <a:ext cx="9509760" cy="2145488"/>
          </a:xfrm>
          <a:prstGeom prst="rect">
            <a:avLst/>
          </a:prstGeom>
          <a:solidFill>
            <a:schemeClr val="accent1">
              <a:lumMod val="50000"/>
            </a:schemeClr>
          </a:solidFill>
        </p:spPr>
        <p:txBody>
          <a:bodyPr vert="horz" wrap="square" lIns="0" tIns="12065" rIns="0" bIns="0" rtlCol="0">
            <a:noAutofit/>
          </a:bodyPr>
          <a:lstStyle/>
          <a:p>
            <a:pPr marL="1137285" marR="5080" indent="-1125220">
              <a:lnSpc>
                <a:spcPct val="136000"/>
              </a:lnSpc>
              <a:spcBef>
                <a:spcPts val="95"/>
              </a:spcBef>
              <a:tabLst>
                <a:tab pos="3933190" algn="l"/>
              </a:tabLst>
            </a:pPr>
            <a:r>
              <a:rPr lang="en-US" sz="2800" b="1" spc="-10" dirty="0">
                <a:solidFill>
                  <a:srgbClr val="FFFFFF"/>
                </a:solidFill>
                <a:latin typeface="Verdana" panose="020B0604030504040204"/>
                <a:cs typeface="Verdana" panose="020B0604030504040204"/>
              </a:rPr>
              <a:t>   </a:t>
            </a:r>
            <a:r>
              <a:rPr lang="en-US" sz="3600" b="1" spc="-10" dirty="0">
                <a:solidFill>
                  <a:srgbClr val="FFFFFF"/>
                </a:solidFill>
                <a:latin typeface="Verdana" panose="020B0604030504040204"/>
                <a:cs typeface="Verdana" panose="020B0604030504040204"/>
              </a:rPr>
              <a:t>EE</a:t>
            </a:r>
            <a:r>
              <a:rPr sz="3600" b="1" spc="-10" dirty="0">
                <a:solidFill>
                  <a:srgbClr val="FFFFFF"/>
                </a:solidFill>
                <a:latin typeface="Verdana" panose="020B0604030504040204"/>
                <a:cs typeface="Verdana" panose="020B0604030504040204"/>
              </a:rPr>
              <a:t>E-</a:t>
            </a:r>
            <a:r>
              <a:rPr lang="en-US" sz="3600" b="1" spc="-10" dirty="0">
                <a:solidFill>
                  <a:srgbClr val="FFFFFF"/>
                </a:solidFill>
                <a:latin typeface="Verdana" panose="020B0604030504040204"/>
                <a:cs typeface="Verdana" panose="020B0604030504040204"/>
              </a:rPr>
              <a:t>2421</a:t>
            </a:r>
            <a:r>
              <a:rPr sz="3600" b="1" dirty="0">
                <a:solidFill>
                  <a:srgbClr val="FFFFFF"/>
                </a:solidFill>
                <a:latin typeface="Verdana" panose="020B0604030504040204"/>
                <a:cs typeface="Verdana" panose="020B0604030504040204"/>
              </a:rPr>
              <a:t>:</a:t>
            </a:r>
            <a:r>
              <a:rPr sz="3600" b="1" spc="-120" dirty="0">
                <a:solidFill>
                  <a:srgbClr val="FFFFFF"/>
                </a:solidFill>
                <a:latin typeface="Verdana" panose="020B0604030504040204"/>
                <a:cs typeface="Verdana" panose="020B0604030504040204"/>
              </a:rPr>
              <a:t> </a:t>
            </a:r>
            <a:r>
              <a:rPr lang="en-US" sz="3600" b="1" dirty="0">
                <a:solidFill>
                  <a:srgbClr val="FFFFFF"/>
                </a:solidFill>
                <a:latin typeface="Verdana" panose="020B0604030504040204"/>
                <a:cs typeface="Verdana" panose="020B0604030504040204"/>
              </a:rPr>
              <a:t>Electrical Drives and   Instrumentation</a:t>
            </a:r>
            <a:r>
              <a:rPr sz="3600" b="1" spc="-75" dirty="0">
                <a:solidFill>
                  <a:srgbClr val="FFFFFF"/>
                </a:solidFill>
                <a:latin typeface="Verdana" panose="020B0604030504040204"/>
                <a:cs typeface="Verdana" panose="020B0604030504040204"/>
              </a:rPr>
              <a:t> </a:t>
            </a:r>
            <a:r>
              <a:rPr sz="3600" b="1" spc="-10" dirty="0">
                <a:solidFill>
                  <a:srgbClr val="FFFFFF"/>
                </a:solidFill>
                <a:latin typeface="Verdana" panose="020B0604030504040204"/>
                <a:cs typeface="Verdana" panose="020B0604030504040204"/>
              </a:rPr>
              <a:t> </a:t>
            </a:r>
            <a:r>
              <a:rPr lang="en-US" sz="3600" b="1" spc="-50" dirty="0">
                <a:solidFill>
                  <a:srgbClr val="FFFFFF"/>
                </a:solidFill>
                <a:latin typeface="Verdana" panose="020B0604030504040204"/>
                <a:cs typeface="Verdana" panose="020B0604030504040204"/>
              </a:rPr>
              <a:t>                                   </a:t>
            </a:r>
            <a:r>
              <a:rPr lang="en-US" sz="2800" b="1" spc="-50" dirty="0">
                <a:solidFill>
                  <a:srgbClr val="FFFFFF"/>
                </a:solidFill>
                <a:latin typeface="Verdana" panose="020B0604030504040204"/>
                <a:cs typeface="Verdana" panose="020B0604030504040204"/>
              </a:rPr>
              <a:t>                         </a:t>
            </a:r>
            <a:r>
              <a:rPr sz="2800" b="1" dirty="0">
                <a:solidFill>
                  <a:srgbClr val="FFFFFF"/>
                </a:solidFill>
                <a:latin typeface="Verdana" panose="020B0604030504040204"/>
                <a:cs typeface="Verdana" panose="020B0604030504040204"/>
              </a:rPr>
              <a:t>Credit</a:t>
            </a:r>
            <a:r>
              <a:rPr sz="2800" b="1" spc="10" dirty="0">
                <a:solidFill>
                  <a:srgbClr val="FFFFFF"/>
                </a:solidFill>
                <a:latin typeface="Verdana" panose="020B0604030504040204"/>
                <a:cs typeface="Verdana" panose="020B0604030504040204"/>
              </a:rPr>
              <a:t> </a:t>
            </a:r>
            <a:r>
              <a:rPr sz="2800" b="1" spc="-20" dirty="0">
                <a:solidFill>
                  <a:srgbClr val="FFFFFF"/>
                </a:solidFill>
                <a:latin typeface="Verdana" panose="020B0604030504040204"/>
                <a:cs typeface="Verdana" panose="020B0604030504040204"/>
              </a:rPr>
              <a:t>Hours</a:t>
            </a:r>
            <a:r>
              <a:rPr lang="en-US" sz="2800" b="1" spc="-20" dirty="0">
                <a:solidFill>
                  <a:srgbClr val="FFFFFF"/>
                </a:solidFill>
                <a:latin typeface="Verdana" panose="020B0604030504040204"/>
                <a:cs typeface="Verdana" panose="020B0604030504040204"/>
              </a:rPr>
              <a:t> </a:t>
            </a:r>
            <a:r>
              <a:rPr sz="2800" b="1" spc="-20" dirty="0">
                <a:solidFill>
                  <a:srgbClr val="FFFFFF"/>
                </a:solidFill>
                <a:latin typeface="Verdana" panose="020B0604030504040204"/>
                <a:cs typeface="Verdana" panose="020B0604030504040204"/>
              </a:rPr>
              <a:t>-</a:t>
            </a:r>
            <a:r>
              <a:rPr lang="en-US" sz="2800" b="1" spc="-20" dirty="0">
                <a:solidFill>
                  <a:srgbClr val="FFFFFF"/>
                </a:solidFill>
                <a:latin typeface="Verdana" panose="020B0604030504040204"/>
                <a:cs typeface="Verdana" panose="020B0604030504040204"/>
              </a:rPr>
              <a:t> 2</a:t>
            </a:r>
            <a:r>
              <a:rPr lang="en-US" sz="2800" b="1" spc="-50" dirty="0">
                <a:solidFill>
                  <a:srgbClr val="FFFFFF"/>
                </a:solidFill>
                <a:latin typeface="Verdana" panose="020B0604030504040204"/>
                <a:cs typeface="Verdana" panose="020B0604030504040204"/>
              </a:rPr>
              <a:t>           Segment - 4</a:t>
            </a:r>
            <a:endParaRPr lang="en-US" sz="2800" b="1" spc="-50" dirty="0">
              <a:solidFill>
                <a:srgbClr val="FFFFFF"/>
              </a:solidFill>
              <a:latin typeface="Verdana" panose="020B0604030504040204"/>
              <a:cs typeface="Verdana" panose="020B0604030504040204"/>
            </a:endParaRPr>
          </a:p>
        </p:txBody>
      </p:sp>
      <p:sp>
        <p:nvSpPr>
          <p:cNvPr id="9" name="object 9"/>
          <p:cNvSpPr/>
          <p:nvPr/>
        </p:nvSpPr>
        <p:spPr>
          <a:xfrm>
            <a:off x="0" y="6355080"/>
            <a:ext cx="12186285" cy="502920"/>
          </a:xfrm>
          <a:custGeom>
            <a:avLst/>
            <a:gdLst/>
            <a:ahLst/>
            <a:cxnLst/>
            <a:rect l="l" t="t" r="r" b="b"/>
            <a:pathLst>
              <a:path w="12186285" h="502920">
                <a:moveTo>
                  <a:pt x="12185904" y="0"/>
                </a:moveTo>
                <a:lnTo>
                  <a:pt x="0" y="0"/>
                </a:lnTo>
                <a:lnTo>
                  <a:pt x="0" y="502919"/>
                </a:lnTo>
                <a:lnTo>
                  <a:pt x="12185904" y="502919"/>
                </a:lnTo>
                <a:lnTo>
                  <a:pt x="12185904" y="0"/>
                </a:lnTo>
                <a:close/>
              </a:path>
            </a:pathLst>
          </a:custGeom>
          <a:solidFill>
            <a:srgbClr val="FFC000"/>
          </a:solidFill>
        </p:spPr>
        <p:txBody>
          <a:bodyPr wrap="square" lIns="0" tIns="0" rIns="0" bIns="0" rtlCol="0"/>
          <a:lstStyle/>
          <a:p/>
        </p:txBody>
      </p:sp>
      <p:sp>
        <p:nvSpPr>
          <p:cNvPr id="12" name="object 2"/>
          <p:cNvSpPr txBox="1"/>
          <p:nvPr/>
        </p:nvSpPr>
        <p:spPr>
          <a:xfrm>
            <a:off x="1823720" y="2397760"/>
            <a:ext cx="8690610" cy="1854200"/>
          </a:xfrm>
          <a:prstGeom prst="rect">
            <a:avLst/>
          </a:prstGeom>
        </p:spPr>
        <p:txBody>
          <a:bodyPr vert="horz" wrap="square" lIns="0" tIns="233045" rIns="0" bIns="0" rtlCol="0">
            <a:noAutofit/>
          </a:bodyPr>
          <a:lstStyle>
            <a:lvl1pPr marL="0">
              <a:defRPr sz="3200" b="1" i="0">
                <a:solidFill>
                  <a:srgbClr val="622422"/>
                </a:solidFill>
                <a:latin typeface="Verdana" panose="020B0604030504040204"/>
                <a:ea typeface="+mn-ea"/>
                <a:cs typeface="Verdana" panose="020B060403050404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540" marR="12065" lvl="0" indent="0" algn="ctr" defTabSz="914400" eaLnBrk="1" fontAlgn="auto" latinLnBrk="0" hangingPunct="1">
              <a:lnSpc>
                <a:spcPct val="100000"/>
              </a:lnSpc>
              <a:spcBef>
                <a:spcPts val="1835"/>
              </a:spcBef>
              <a:spcAft>
                <a:spcPts val="0"/>
              </a:spcAft>
              <a:buClrTx/>
              <a:buSzTx/>
              <a:buFontTx/>
              <a:buNone/>
              <a:defRPr/>
            </a:pPr>
            <a:r>
              <a:rPr kumimoji="0" lang="en-US" sz="2800" b="1" i="0" u="none" strike="noStrike" kern="0" cap="none" spc="0" normalizeH="0" baseline="0" noProof="0" dirty="0" err="1">
                <a:ln>
                  <a:noFill/>
                </a:ln>
                <a:solidFill>
                  <a:srgbClr val="622422"/>
                </a:solidFill>
                <a:effectLst/>
                <a:uLnTx/>
                <a:uFillTx/>
                <a:latin typeface="Verdana" panose="020B0604030504040204"/>
                <a:ea typeface="+mn-ea"/>
              </a:rPr>
              <a:t>Saif</a:t>
            </a:r>
            <a:r>
              <a:rPr kumimoji="0" lang="en-US" sz="2800" b="1" i="0" u="none" strike="noStrike" kern="0" cap="none" spc="-50" normalizeH="0" baseline="0" noProof="0" dirty="0">
                <a:ln>
                  <a:noFill/>
                </a:ln>
                <a:solidFill>
                  <a:srgbClr val="622422"/>
                </a:solidFill>
                <a:effectLst/>
                <a:uLnTx/>
                <a:uFillTx/>
                <a:latin typeface="Verdana" panose="020B0604030504040204"/>
                <a:ea typeface="+mn-ea"/>
              </a:rPr>
              <a:t> </a:t>
            </a:r>
            <a:r>
              <a:rPr kumimoji="0" lang="en-US" sz="2800" b="1" i="0" u="none" strike="noStrike" kern="0" cap="none" spc="-10" normalizeH="0" baseline="0" noProof="0" dirty="0" err="1">
                <a:ln>
                  <a:noFill/>
                </a:ln>
                <a:solidFill>
                  <a:srgbClr val="622422"/>
                </a:solidFill>
                <a:effectLst/>
                <a:uLnTx/>
                <a:uFillTx/>
                <a:latin typeface="Verdana" panose="020B0604030504040204"/>
                <a:ea typeface="+mn-ea"/>
              </a:rPr>
              <a:t>Sabbir</a:t>
            </a:r>
            <a:endParaRPr kumimoji="0" lang="en-US" sz="2800" b="1" i="0" u="none" strike="noStrike" kern="0" cap="none" spc="-10" normalizeH="0" baseline="0" noProof="0" dirty="0">
              <a:ln>
                <a:noFill/>
              </a:ln>
              <a:solidFill>
                <a:srgbClr val="622422"/>
              </a:solidFill>
              <a:effectLst/>
              <a:uLnTx/>
              <a:uFillTx/>
              <a:latin typeface="Verdana" panose="020B0604030504040204"/>
              <a:ea typeface="+mn-ea"/>
            </a:endParaRPr>
          </a:p>
          <a:p>
            <a:pPr marR="0" lvl="0" indent="0" algn="ctr" defTabSz="914400" fontAlgn="auto">
              <a:lnSpc>
                <a:spcPct val="100000"/>
              </a:lnSpc>
              <a:spcBef>
                <a:spcPts val="0"/>
              </a:spcBef>
              <a:spcAft>
                <a:spcPts val="0"/>
              </a:spcAft>
              <a:buClrTx/>
              <a:buSzTx/>
              <a:buFontTx/>
              <a:buNone/>
              <a:defRPr/>
            </a:pPr>
            <a:r>
              <a:rPr kumimoji="0" lang="en-US" sz="2000" b="1" i="0" u="none" strike="noStrike" kern="0" cap="none" spc="-10" normalizeH="0" baseline="0" noProof="0" dirty="0">
                <a:ln>
                  <a:noFill/>
                </a:ln>
                <a:solidFill>
                  <a:srgbClr val="622422"/>
                </a:solidFill>
                <a:effectLst/>
                <a:uLnTx/>
                <a:uFillTx/>
                <a:latin typeface="Verdana" panose="020B0604030504040204"/>
                <a:ea typeface="+mn-ea"/>
              </a:rPr>
              <a:t>Lecturer</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a:p>
            <a:pPr marL="15875" marR="0" lvl="0" indent="0" algn="ctr" defTabSz="914400" eaLnBrk="1" fontAlgn="auto" latinLnBrk="0" hangingPunct="1">
              <a:lnSpc>
                <a:spcPct val="100000"/>
              </a:lnSpc>
              <a:spcBef>
                <a:spcPts val="5"/>
              </a:spcBef>
              <a:spcAft>
                <a:spcPts val="0"/>
              </a:spcAft>
              <a:buClrTx/>
              <a:buSzTx/>
              <a:buFontTx/>
              <a:buNone/>
              <a:defRPr/>
            </a:pPr>
            <a:r>
              <a:rPr kumimoji="0" lang="en-US" sz="2000" b="1" i="0" u="none" strike="noStrike" kern="0" cap="none" spc="-20" normalizeH="0" baseline="0" noProof="0" dirty="0">
                <a:ln>
                  <a:noFill/>
                </a:ln>
                <a:solidFill>
                  <a:srgbClr val="622422"/>
                </a:solidFill>
                <a:effectLst/>
                <a:uLnTx/>
                <a:uFillTx/>
                <a:latin typeface="Verdana" panose="020B0604030504040204"/>
                <a:ea typeface="+mn-ea"/>
              </a:rPr>
              <a:t>Department</a:t>
            </a:r>
            <a:r>
              <a:rPr kumimoji="0" lang="en-US" sz="2000" b="1" i="0" u="none" strike="noStrike" kern="0" cap="none" spc="-95"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of</a:t>
            </a:r>
            <a:r>
              <a:rPr kumimoji="0" lang="en-US" sz="2000" b="1" i="0" u="none" strike="noStrike" kern="0" cap="none" spc="-9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25" normalizeH="0" baseline="0" noProof="0" dirty="0">
                <a:ln>
                  <a:noFill/>
                </a:ln>
                <a:solidFill>
                  <a:srgbClr val="622422"/>
                </a:solidFill>
                <a:effectLst/>
                <a:uLnTx/>
                <a:uFillTx/>
                <a:latin typeface="Verdana" panose="020B0604030504040204"/>
                <a:ea typeface="+mn-ea"/>
              </a:rPr>
              <a:t>CSE</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a:p>
            <a:pPr marL="2540" marR="0" lvl="0" indent="0" algn="ctr" defTabSz="914400" eaLnBrk="1" fontAlgn="auto" latinLnBrk="0" hangingPunct="1">
              <a:lnSpc>
                <a:spcPct val="100000"/>
              </a:lnSpc>
              <a:spcBef>
                <a:spcPts val="570"/>
              </a:spcBef>
              <a:spcAft>
                <a:spcPts val="0"/>
              </a:spcAft>
              <a:buClrTx/>
              <a:buSzTx/>
              <a:buFontTx/>
              <a:buNone/>
              <a:defRPr/>
            </a:pPr>
            <a:r>
              <a:rPr kumimoji="0" lang="en-US" sz="2000" b="1" i="0" u="none" strike="noStrike" kern="0" cap="none" spc="0" normalizeH="0" baseline="0" noProof="0" dirty="0">
                <a:ln>
                  <a:noFill/>
                </a:ln>
                <a:solidFill>
                  <a:srgbClr val="622422"/>
                </a:solidFill>
                <a:effectLst/>
                <a:uLnTx/>
                <a:uFillTx/>
                <a:latin typeface="Verdana" panose="020B0604030504040204"/>
                <a:ea typeface="+mn-ea"/>
              </a:rPr>
              <a:t>International</a:t>
            </a:r>
            <a:r>
              <a:rPr kumimoji="0" lang="en-US" sz="2000" b="1" i="0" u="none" strike="noStrike" kern="0" cap="none" spc="-18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Islamic</a:t>
            </a:r>
            <a:r>
              <a:rPr kumimoji="0" lang="en-US" sz="2000" b="1" i="0" u="none" strike="noStrike" kern="0" cap="none" spc="-16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University</a:t>
            </a:r>
            <a:r>
              <a:rPr kumimoji="0" lang="en-US" sz="2000" b="1" i="0" u="none" strike="noStrike" kern="0" cap="none" spc="-145"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Chittagong</a:t>
            </a:r>
            <a:r>
              <a:rPr kumimoji="0" lang="en-US" sz="2000" b="1" i="0" u="none" strike="noStrike" kern="0" cap="none" spc="-16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10" normalizeH="0" baseline="0" noProof="0" dirty="0">
                <a:ln>
                  <a:noFill/>
                </a:ln>
                <a:solidFill>
                  <a:srgbClr val="622422"/>
                </a:solidFill>
                <a:effectLst/>
                <a:uLnTx/>
                <a:uFillTx/>
                <a:latin typeface="Verdana" panose="020B0604030504040204"/>
                <a:ea typeface="+mn-ea"/>
              </a:rPr>
              <a:t>(IIUC)</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p:txBody>
      </p:sp>
      <p:pic>
        <p:nvPicPr>
          <p:cNvPr id="13" name="Picture 12"/>
          <p:cNvPicPr/>
          <p:nvPr/>
        </p:nvPicPr>
        <p:blipFill>
          <a:blip r:embed="rId1"/>
          <a:stretch>
            <a:fillRect/>
          </a:stretch>
        </p:blipFill>
        <p:spPr>
          <a:xfrm>
            <a:off x="5330825" y="4183380"/>
            <a:ext cx="1491615" cy="16744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a:spLocks noGrp="1"/>
          </p:cNvSpPr>
          <p:nvPr>
            <p:ph type="title"/>
          </p:nvPr>
        </p:nvSpPr>
        <p:spPr>
          <a:xfrm>
            <a:off x="0" y="0"/>
            <a:ext cx="12192000" cy="848360"/>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rPr>
              <a:t>AC Motor</a:t>
            </a:r>
            <a:endParaRPr lang="en-US" sz="4800" b="1" dirty="0">
              <a:solidFill>
                <a:schemeClr val="tx1"/>
              </a:solidFill>
              <a:latin typeface="Bahnschrift Light" panose="020B0502040204020203"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8785" y="1174750"/>
            <a:ext cx="10515600" cy="4351338"/>
          </a:xfrm>
        </p:spPr>
        <p:txBody>
          <a:bodyPr/>
          <a:lstStyle/>
          <a:p>
            <a:pPr marL="285750" indent="-285750">
              <a:buFont typeface="Wingdings" panose="05000000000000000000" pitchFamily="2" charset="2"/>
              <a:buChar char="q"/>
            </a:pPr>
            <a:r>
              <a:rPr lang="en-US" sz="2800" dirty="0"/>
              <a:t> </a:t>
            </a:r>
            <a:r>
              <a:rPr lang="en-US" sz="2800" dirty="0">
                <a:solidFill>
                  <a:schemeClr val="bg2">
                    <a:lumMod val="25000"/>
                  </a:schemeClr>
                </a:solidFill>
                <a:latin typeface="Times New Roman" panose="02020603050405020304" charset="0"/>
                <a:cs typeface="Times New Roman" panose="02020603050405020304" charset="0"/>
              </a:rPr>
              <a:t>An induction motor is also known as the asynchronous motor.</a:t>
            </a:r>
            <a:endParaRPr lang="en-US" sz="2800" dirty="0">
              <a:solidFill>
                <a:schemeClr val="bg2">
                  <a:lumMod val="25000"/>
                </a:schemeClr>
              </a:solidFill>
              <a:latin typeface="Times New Roman" panose="02020603050405020304" charset="0"/>
              <a:cs typeface="Times New Roman" panose="02020603050405020304" charset="0"/>
            </a:endParaRPr>
          </a:p>
          <a:p>
            <a:pPr marL="285750" indent="-285750">
              <a:buFont typeface="Wingdings" panose="05000000000000000000" pitchFamily="2" charset="2"/>
              <a:buChar char="q"/>
            </a:pPr>
            <a:endParaRPr lang="en-US" sz="2800" dirty="0">
              <a:solidFill>
                <a:schemeClr val="bg2">
                  <a:lumMod val="25000"/>
                </a:schemeClr>
              </a:solidFill>
              <a:latin typeface="Times New Roman" panose="02020603050405020304" charset="0"/>
              <a:cs typeface="Times New Roman" panose="02020603050405020304" charset="0"/>
            </a:endParaRPr>
          </a:p>
          <a:p>
            <a:pPr marL="285750" indent="-285750">
              <a:buFont typeface="Wingdings" panose="05000000000000000000" pitchFamily="2" charset="2"/>
              <a:buChar char="q"/>
            </a:pPr>
            <a:r>
              <a:rPr lang="en-US" sz="2800" dirty="0">
                <a:solidFill>
                  <a:schemeClr val="bg2">
                    <a:lumMod val="25000"/>
                  </a:schemeClr>
                </a:solidFill>
                <a:latin typeface="Times New Roman" panose="02020603050405020304" charset="0"/>
                <a:cs typeface="Times New Roman" panose="02020603050405020304" charset="0"/>
              </a:rPr>
              <a:t> It is basically an AC motor that runs lower than synchronous speed.</a:t>
            </a:r>
            <a:endParaRPr lang="en-US" sz="2800" dirty="0">
              <a:solidFill>
                <a:schemeClr val="bg2">
                  <a:lumMod val="25000"/>
                </a:schemeClr>
              </a:solidFill>
              <a:latin typeface="Times New Roman" panose="02020603050405020304" charset="0"/>
              <a:cs typeface="Times New Roman" panose="02020603050405020304" charset="0"/>
            </a:endParaRPr>
          </a:p>
          <a:p>
            <a:pPr marL="0" indent="0">
              <a:buNone/>
            </a:pPr>
            <a:r>
              <a:rPr lang="en-US" sz="2800" dirty="0">
                <a:solidFill>
                  <a:schemeClr val="bg2">
                    <a:lumMod val="25000"/>
                  </a:schemeClr>
                </a:solidFill>
                <a:latin typeface="Times New Roman" panose="02020603050405020304" charset="0"/>
                <a:cs typeface="Times New Roman" panose="02020603050405020304" charset="0"/>
              </a:rPr>
              <a:t> </a:t>
            </a:r>
            <a:endParaRPr lang="en-US" sz="2200" dirty="0">
              <a:solidFill>
                <a:schemeClr val="bg2">
                  <a:lumMod val="25000"/>
                </a:schemeClr>
              </a:solidFill>
              <a:latin typeface="Times New Roman" panose="02020603050405020304" charset="0"/>
              <a:cs typeface="Times New Roman" panose="02020603050405020304" charset="0"/>
            </a:endParaRPr>
          </a:p>
          <a:p>
            <a:pPr marL="285750" indent="-285750">
              <a:buFont typeface="Wingdings" panose="05000000000000000000" pitchFamily="2" charset="2"/>
              <a:buChar char="q"/>
            </a:pPr>
            <a:r>
              <a:rPr lang="en-US" sz="2800" dirty="0">
                <a:solidFill>
                  <a:schemeClr val="bg2">
                    <a:lumMod val="25000"/>
                  </a:schemeClr>
                </a:solidFill>
                <a:latin typeface="Times New Roman" panose="02020603050405020304" charset="0"/>
                <a:cs typeface="Times New Roman" panose="02020603050405020304" charset="0"/>
              </a:rPr>
              <a:t>They operate on the principle of electromagnetic induction. </a:t>
            </a:r>
            <a:endParaRPr lang="en-US" sz="2800" dirty="0">
              <a:solidFill>
                <a:schemeClr val="bg2">
                  <a:lumMod val="25000"/>
                </a:schemeClr>
              </a:solidFill>
              <a:latin typeface="Times New Roman" panose="02020603050405020304" charset="0"/>
              <a:cs typeface="Times New Roman" panose="02020603050405020304" charset="0"/>
            </a:endParaRPr>
          </a:p>
          <a:p>
            <a:pPr marL="285750" indent="-285750">
              <a:buFont typeface="Wingdings" panose="05000000000000000000" pitchFamily="2" charset="2"/>
              <a:buChar char="q"/>
            </a:pPr>
            <a:endParaRPr lang="en-US" sz="2800" dirty="0">
              <a:solidFill>
                <a:schemeClr val="bg2">
                  <a:lumMod val="25000"/>
                </a:schemeClr>
              </a:solidFill>
              <a:latin typeface="Times New Roman" panose="02020603050405020304" charset="0"/>
              <a:cs typeface="Times New Roman" panose="02020603050405020304" charset="0"/>
            </a:endParaRPr>
          </a:p>
          <a:p>
            <a:pPr marL="285750" indent="-285750">
              <a:buFont typeface="Wingdings" panose="05000000000000000000" pitchFamily="2" charset="2"/>
              <a:buChar char="q"/>
            </a:pPr>
            <a:r>
              <a:rPr lang="en-US" sz="2800" dirty="0">
                <a:solidFill>
                  <a:schemeClr val="bg2">
                    <a:lumMod val="25000"/>
                  </a:schemeClr>
                </a:solidFill>
                <a:latin typeface="Times New Roman" panose="02020603050405020304" charset="0"/>
                <a:cs typeface="Times New Roman" panose="02020603050405020304" charset="0"/>
              </a:rPr>
              <a:t> They can run either as induction motors or as induction generators.</a:t>
            </a:r>
            <a:endParaRPr lang="en-US" sz="2800" dirty="0">
              <a:solidFill>
                <a:schemeClr val="bg2">
                  <a:lumMod val="25000"/>
                </a:schemeClr>
              </a:solidFill>
              <a:latin typeface="Times New Roman" panose="02020603050405020304" charset="0"/>
              <a:cs typeface="Times New Roman" panose="02020603050405020304" charset="0"/>
            </a:endParaRPr>
          </a:p>
          <a:p>
            <a:pPr marL="285750" indent="-285750">
              <a:buFont typeface="Wingdings" panose="05000000000000000000" pitchFamily="2" charset="2"/>
              <a:buChar char="q"/>
            </a:pPr>
            <a:endParaRPr lang="en-US" sz="2800" dirty="0"/>
          </a:p>
          <a:p>
            <a:pPr marL="285750" indent="-285750">
              <a:buFont typeface="Wingdings" panose="05000000000000000000" pitchFamily="2" charset="2"/>
              <a:buChar char="q"/>
            </a:pPr>
            <a:endParaRPr lang="en-US" dirty="0"/>
          </a:p>
          <a:p>
            <a:endParaRPr lang="en-US" dirty="0"/>
          </a:p>
        </p:txBody>
      </p:sp>
      <p:sp>
        <p:nvSpPr>
          <p:cNvPr id="4" name="Rectangles 3"/>
          <p:cNvSpPr>
            <a:spLocks noGrp="1"/>
          </p:cNvSpPr>
          <p:nvPr>
            <p:ph type="title"/>
          </p:nvPr>
        </p:nvSpPr>
        <p:spPr>
          <a:xfrm>
            <a:off x="0" y="0"/>
            <a:ext cx="12192000" cy="848360"/>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rPr>
              <a:t>Introduction</a:t>
            </a:r>
            <a:endParaRPr lang="en-US" sz="4800" b="1" dirty="0">
              <a:solidFill>
                <a:schemeClr val="tx1"/>
              </a:solidFill>
              <a:latin typeface="Bahnschrift Light" panose="020B05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390" y="1087755"/>
            <a:ext cx="11513185" cy="4351655"/>
          </a:xfrm>
        </p:spPr>
        <p:txBody>
          <a:bodyPr>
            <a:normAutofit fontScale="92500" lnSpcReduction="20000"/>
          </a:bodyPr>
          <a:lstStyle/>
          <a:p>
            <a:pPr marL="514350" indent="-514350">
              <a:buFont typeface="Wingdings" panose="05000000000000000000" pitchFamily="2" charset="2"/>
              <a:buChar char="q"/>
            </a:pPr>
            <a:endParaRPr lang="en-US" sz="2800" dirty="0"/>
          </a:p>
          <a:p>
            <a:pPr marL="514350" indent="-514350">
              <a:buFont typeface="Wingdings" panose="05000000000000000000" pitchFamily="2" charset="2"/>
              <a:buChar char="q"/>
            </a:pPr>
            <a:r>
              <a:rPr lang="en-US" sz="2800" dirty="0">
                <a:solidFill>
                  <a:schemeClr val="tx1">
                    <a:lumMod val="75000"/>
                    <a:lumOff val="25000"/>
                  </a:schemeClr>
                </a:solidFill>
                <a:latin typeface="Times New Roman" panose="02020603050405020304" charset="0"/>
                <a:cs typeface="Times New Roman" panose="02020603050405020304" charset="0"/>
              </a:rPr>
              <a:t>Synchronous speed is the speed at which the magnetic field produced by the stator of an induction machine rotates.</a:t>
            </a:r>
            <a:endParaRPr lang="en-US" sz="2800" dirty="0">
              <a:solidFill>
                <a:schemeClr val="tx1">
                  <a:lumMod val="75000"/>
                  <a:lumOff val="25000"/>
                </a:schemeClr>
              </a:solidFill>
              <a:latin typeface="Times New Roman" panose="02020603050405020304" charset="0"/>
              <a:cs typeface="Times New Roman" panose="02020603050405020304" charset="0"/>
            </a:endParaRPr>
          </a:p>
          <a:p>
            <a:pPr marL="514350" indent="-514350">
              <a:buFont typeface="Wingdings" panose="05000000000000000000" pitchFamily="2" charset="2"/>
              <a:buChar char="q"/>
            </a:pPr>
            <a:endParaRPr lang="en-US" sz="2800" dirty="0">
              <a:solidFill>
                <a:schemeClr val="tx1">
                  <a:lumMod val="75000"/>
                  <a:lumOff val="25000"/>
                </a:schemeClr>
              </a:solidFill>
              <a:latin typeface="Times New Roman" panose="02020603050405020304" charset="0"/>
              <a:cs typeface="Times New Roman" panose="02020603050405020304" charset="0"/>
            </a:endParaRPr>
          </a:p>
          <a:p>
            <a:pPr marL="514350" indent="-514350">
              <a:buFont typeface="Wingdings" panose="05000000000000000000" pitchFamily="2" charset="2"/>
              <a:buChar char="q"/>
            </a:pPr>
            <a:r>
              <a:rPr lang="en-US" sz="2800" dirty="0">
                <a:solidFill>
                  <a:schemeClr val="tx1">
                    <a:lumMod val="75000"/>
                    <a:lumOff val="25000"/>
                  </a:schemeClr>
                </a:solidFill>
                <a:latin typeface="Times New Roman" panose="02020603050405020304" charset="0"/>
                <a:cs typeface="Times New Roman" panose="02020603050405020304" charset="0"/>
              </a:rPr>
              <a:t>It is directly proportional to the frequency of the given AC power supply.</a:t>
            </a:r>
            <a:endParaRPr lang="en-US" sz="2800" dirty="0">
              <a:solidFill>
                <a:schemeClr val="tx1">
                  <a:lumMod val="75000"/>
                  <a:lumOff val="25000"/>
                </a:schemeClr>
              </a:solidFill>
              <a:latin typeface="Times New Roman" panose="02020603050405020304" charset="0"/>
              <a:cs typeface="Times New Roman" panose="02020603050405020304" charset="0"/>
            </a:endParaRPr>
          </a:p>
          <a:p>
            <a:pPr marL="514350" indent="-514350">
              <a:buFont typeface="Wingdings" panose="05000000000000000000" pitchFamily="2" charset="2"/>
              <a:buChar char="q"/>
            </a:pPr>
            <a:endParaRPr lang="en-US" sz="2800" dirty="0">
              <a:solidFill>
                <a:schemeClr val="tx1">
                  <a:lumMod val="75000"/>
                  <a:lumOff val="25000"/>
                </a:schemeClr>
              </a:solidFill>
              <a:latin typeface="Times New Roman" panose="02020603050405020304" charset="0"/>
              <a:cs typeface="Times New Roman" panose="02020603050405020304" charset="0"/>
            </a:endParaRPr>
          </a:p>
          <a:p>
            <a:pPr marL="514350" indent="-514350">
              <a:buFont typeface="Wingdings" panose="05000000000000000000" pitchFamily="2" charset="2"/>
              <a:buChar char="q"/>
            </a:pPr>
            <a:r>
              <a:rPr lang="en-US" sz="2800" dirty="0">
                <a:solidFill>
                  <a:schemeClr val="tx1">
                    <a:lumMod val="75000"/>
                    <a:lumOff val="25000"/>
                  </a:schemeClr>
                </a:solidFill>
                <a:latin typeface="Times New Roman" panose="02020603050405020304" charset="0"/>
                <a:cs typeface="Times New Roman" panose="02020603050405020304" charset="0"/>
              </a:rPr>
              <a:t>Traditionally used for constant-speed service, but can be used in variable-speed applications using variable-frequency drives (VFD).</a:t>
            </a:r>
            <a:endParaRPr lang="en-US" sz="2800" dirty="0">
              <a:solidFill>
                <a:schemeClr val="tx1">
                  <a:lumMod val="75000"/>
                  <a:lumOff val="25000"/>
                </a:schemeClr>
              </a:solidFill>
              <a:latin typeface="Times New Roman" panose="02020603050405020304" charset="0"/>
              <a:cs typeface="Times New Roman" panose="02020603050405020304" charset="0"/>
            </a:endParaRPr>
          </a:p>
          <a:p>
            <a:pPr marL="514350" indent="-514350">
              <a:buFont typeface="Wingdings" panose="05000000000000000000" pitchFamily="2" charset="2"/>
              <a:buChar char="q"/>
            </a:pPr>
            <a:endParaRPr lang="en-US" sz="2800" dirty="0">
              <a:solidFill>
                <a:schemeClr val="tx1">
                  <a:lumMod val="75000"/>
                  <a:lumOff val="25000"/>
                </a:schemeClr>
              </a:solidFill>
              <a:latin typeface="Times New Roman" panose="02020603050405020304" charset="0"/>
              <a:cs typeface="Times New Roman" panose="02020603050405020304" charset="0"/>
            </a:endParaRPr>
          </a:p>
          <a:p>
            <a:pPr marL="514350" indent="-514350">
              <a:buFont typeface="Wingdings" panose="05000000000000000000" pitchFamily="2" charset="2"/>
              <a:buChar char="q"/>
            </a:pPr>
            <a:r>
              <a:rPr lang="en-US" sz="2800" dirty="0">
                <a:solidFill>
                  <a:schemeClr val="tx1">
                    <a:lumMod val="75000"/>
                    <a:lumOff val="25000"/>
                  </a:schemeClr>
                </a:solidFill>
                <a:latin typeface="Times New Roman" panose="02020603050405020304" charset="0"/>
                <a:cs typeface="Times New Roman" panose="02020603050405020304" charset="0"/>
              </a:rPr>
              <a:t>Induction motors are simple, rugged, low-priced, easy to maintain and most suited for industrial requirements.</a:t>
            </a:r>
            <a:endParaRPr lang="en-US" sz="2800" dirty="0">
              <a:solidFill>
                <a:schemeClr val="tx1">
                  <a:lumMod val="75000"/>
                  <a:lumOff val="25000"/>
                </a:schemeClr>
              </a:solidFill>
              <a:latin typeface="Times New Roman" panose="02020603050405020304" charset="0"/>
              <a:cs typeface="Times New Roman" panose="02020603050405020304" charset="0"/>
            </a:endParaRPr>
          </a:p>
          <a:p>
            <a:pPr marL="514350" indent="-514350">
              <a:buFont typeface="Wingdings" panose="05000000000000000000" pitchFamily="2" charset="2"/>
              <a:buChar char="q"/>
            </a:pPr>
            <a:endParaRPr lang="en-US" sz="2800" dirty="0">
              <a:solidFill>
                <a:schemeClr val="tx1">
                  <a:lumMod val="75000"/>
                  <a:lumOff val="25000"/>
                </a:schemeClr>
              </a:solidFill>
              <a:latin typeface="Times New Roman" panose="02020603050405020304" charset="0"/>
              <a:cs typeface="Times New Roman" panose="02020603050405020304" charset="0"/>
            </a:endParaRPr>
          </a:p>
          <a:p>
            <a:endParaRPr lang="en-US" dirty="0"/>
          </a:p>
        </p:txBody>
      </p:sp>
      <p:sp>
        <p:nvSpPr>
          <p:cNvPr id="5" name="Rectangles 3"/>
          <p:cNvSpPr>
            <a:spLocks noGrp="1"/>
          </p:cNvSpPr>
          <p:nvPr>
            <p:ph type="title"/>
          </p:nvPr>
        </p:nvSpPr>
        <p:spPr>
          <a:xfrm>
            <a:off x="0" y="0"/>
            <a:ext cx="12192000" cy="848360"/>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rPr>
              <a:t>Introduction</a:t>
            </a:r>
            <a:endParaRPr lang="en-US" sz="4800" b="1" dirty="0">
              <a:solidFill>
                <a:schemeClr val="tx1"/>
              </a:solidFill>
              <a:latin typeface="Bahnschrift Light" panose="020B0502040204020203"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75960" y="1494790"/>
            <a:ext cx="6212205" cy="4140200"/>
          </a:xfrm>
        </p:spPr>
        <p:txBody>
          <a:bodyPr>
            <a:normAutofit fontScale="72500" lnSpcReduction="20000"/>
          </a:bodyPr>
          <a:lstStyle/>
          <a:p>
            <a:pPr marL="285750" indent="-285750" algn="just">
              <a:buFont typeface="Wingdings" panose="05000000000000000000" pitchFamily="2" charset="2"/>
              <a:buChar char="Ø"/>
            </a:pPr>
            <a:r>
              <a:rPr lang="en-US" dirty="0"/>
              <a:t>  </a:t>
            </a:r>
            <a:r>
              <a:rPr lang="en-US" sz="3200" dirty="0"/>
              <a:t>Stator</a:t>
            </a:r>
            <a:endParaRPr lang="en-US" sz="3200" dirty="0"/>
          </a:p>
          <a:p>
            <a:pPr marL="342900" indent="-342900" algn="just">
              <a:buFont typeface="+mj-lt"/>
              <a:buAutoNum type="arabicPeriod"/>
            </a:pPr>
            <a:r>
              <a:rPr lang="en-US" sz="2800" dirty="0"/>
              <a:t>It consists of a steel frame which encloses a hollow, cylindrical core made up of thin laminations of silicon steel.</a:t>
            </a:r>
            <a:endParaRPr lang="en-US" sz="2800" dirty="0"/>
          </a:p>
          <a:p>
            <a:pPr marL="342900" indent="-342900" algn="just">
              <a:buAutoNum type="arabicPeriod" startAt="2"/>
            </a:pPr>
            <a:r>
              <a:rPr lang="en-US" sz="2800" dirty="0"/>
              <a:t>A number of evenly spaced slots are provided on the inner periphery of the laminations.</a:t>
            </a:r>
            <a:endParaRPr lang="en-US" sz="2800" dirty="0"/>
          </a:p>
          <a:p>
            <a:pPr marL="342900" indent="-342900" algn="just">
              <a:buAutoNum type="arabicPeriod" startAt="2"/>
            </a:pPr>
            <a:endParaRPr lang="en-US" sz="2800" dirty="0"/>
          </a:p>
          <a:p>
            <a:pPr marL="285750" indent="-285750" algn="just">
              <a:buFont typeface="Wingdings" panose="05000000000000000000" pitchFamily="2" charset="2"/>
              <a:buChar char="Ø"/>
            </a:pPr>
            <a:r>
              <a:rPr lang="en-US" sz="3200" dirty="0"/>
              <a:t>Rotor</a:t>
            </a:r>
            <a:endParaRPr lang="en-US" sz="3200" dirty="0"/>
          </a:p>
          <a:p>
            <a:pPr marL="342900" indent="-342900">
              <a:buFont typeface="+mj-lt"/>
              <a:buAutoNum type="arabicPeriod"/>
            </a:pPr>
            <a:r>
              <a:rPr lang="en-US" sz="2800" dirty="0"/>
              <a:t>The rotor, mounted on a shaft, is a hollow laminated core having slots on its outer periphery. </a:t>
            </a:r>
            <a:endParaRPr lang="en-US" sz="2800" dirty="0"/>
          </a:p>
          <a:p>
            <a:pPr marL="342900" indent="-342900">
              <a:buFont typeface="+mj-lt"/>
              <a:buAutoNum type="arabicPeriod"/>
            </a:pPr>
            <a:r>
              <a:rPr lang="en-US" sz="2800" dirty="0"/>
              <a:t>The winding placed in these slots (called rotor winding) may be one of the following two types:</a:t>
            </a:r>
            <a:endParaRPr lang="en-US" sz="2800" dirty="0"/>
          </a:p>
          <a:p>
            <a:pPr marL="0" indent="0">
              <a:buNone/>
            </a:pPr>
            <a:r>
              <a:rPr lang="en-US" sz="2800" dirty="0"/>
              <a:t>      (</a:t>
            </a:r>
            <a:r>
              <a:rPr lang="en-US" sz="2800" dirty="0" err="1"/>
              <a:t>i</a:t>
            </a:r>
            <a:r>
              <a:rPr lang="en-US" sz="2800" dirty="0"/>
              <a:t>) Squirrel cage type (ii) Wound type</a:t>
            </a:r>
            <a:endParaRPr lang="en-US" sz="2800" dirty="0"/>
          </a:p>
          <a:p>
            <a:endParaRPr lang="en-US" dirty="0"/>
          </a:p>
        </p:txBody>
      </p:sp>
      <p:sp>
        <p:nvSpPr>
          <p:cNvPr id="4" name="Rectangles 3"/>
          <p:cNvSpPr>
            <a:spLocks noGrp="1"/>
          </p:cNvSpPr>
          <p:nvPr>
            <p:ph type="title"/>
          </p:nvPr>
        </p:nvSpPr>
        <p:spPr>
          <a:xfrm>
            <a:off x="0" y="0"/>
            <a:ext cx="12192000" cy="85788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r>
              <a:rPr lang="en-US" sz="4800" dirty="0">
                <a:solidFill>
                  <a:schemeClr val="tx1"/>
                </a:solidFill>
                <a:latin typeface="Bahnschrift Light" panose="020B0502040204020203" charset="0"/>
              </a:rPr>
              <a:t>		  </a:t>
            </a:r>
            <a:br>
              <a:rPr lang="en-US" sz="4800" dirty="0">
                <a:solidFill>
                  <a:schemeClr val="tx1"/>
                </a:solidFill>
                <a:latin typeface="Bahnschrift Light" panose="020B0502040204020203" charset="0"/>
              </a:rPr>
            </a:br>
            <a:endParaRPr lang="en-US" sz="4800" dirty="0">
              <a:solidFill>
                <a:schemeClr val="tx1"/>
              </a:solidFill>
              <a:latin typeface="Bahnschrift Light" panose="020B0502040204020203" charset="0"/>
            </a:endParaRPr>
          </a:p>
        </p:txBody>
      </p:sp>
      <p:sp>
        <p:nvSpPr>
          <p:cNvPr id="2" name="Text Box 1"/>
          <p:cNvSpPr txBox="1"/>
          <p:nvPr/>
        </p:nvSpPr>
        <p:spPr>
          <a:xfrm>
            <a:off x="172720" y="69850"/>
            <a:ext cx="9605645" cy="829945"/>
          </a:xfrm>
          <a:prstGeom prst="rect">
            <a:avLst/>
          </a:prstGeom>
          <a:noFill/>
        </p:spPr>
        <p:txBody>
          <a:bodyPr wrap="square" rtlCol="0" anchor="t">
            <a:spAutoFit/>
          </a:bodyPr>
          <a:p>
            <a:r>
              <a:rPr lang="en-US" sz="4800" b="1" dirty="0">
                <a:latin typeface="Bahnschrift Light" panose="020B0502040204020203" charset="0"/>
                <a:sym typeface="+mn-ea"/>
              </a:rPr>
              <a:t>3-phase Induction Motor</a:t>
            </a:r>
            <a:endParaRPr lang="en-US" sz="4800" b="1" dirty="0">
              <a:latin typeface="Bahnschrift Light" panose="020B0502040204020203" charset="0"/>
              <a:sym typeface="+mn-ea"/>
            </a:endParaRPr>
          </a:p>
        </p:txBody>
      </p:sp>
      <p:pic>
        <p:nvPicPr>
          <p:cNvPr id="5" name="Picture 4" descr="Gemini_Generated_Image_yn56b8yn56b8yn56"/>
          <p:cNvPicPr>
            <a:picLocks noChangeAspect="1"/>
          </p:cNvPicPr>
          <p:nvPr/>
        </p:nvPicPr>
        <p:blipFill>
          <a:blip r:embed="rId1"/>
          <a:stretch>
            <a:fillRect/>
          </a:stretch>
        </p:blipFill>
        <p:spPr>
          <a:xfrm>
            <a:off x="140970" y="1048385"/>
            <a:ext cx="5575300" cy="55276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emini_Generated_Image_acj9i4acj9i4acj9"/>
          <p:cNvPicPr>
            <a:picLocks noChangeAspect="1"/>
          </p:cNvPicPr>
          <p:nvPr/>
        </p:nvPicPr>
        <p:blipFill>
          <a:blip r:embed="rId1"/>
          <a:stretch>
            <a:fillRect/>
          </a:stretch>
        </p:blipFill>
        <p:spPr>
          <a:xfrm>
            <a:off x="1905" y="78105"/>
            <a:ext cx="12192000" cy="6649720"/>
          </a:xfrm>
          <a:prstGeom prst="rect">
            <a:avLst/>
          </a:prstGeom>
        </p:spPr>
      </p:pic>
      <p:sp>
        <p:nvSpPr>
          <p:cNvPr id="4" name="Rectangles 3"/>
          <p:cNvSpPr>
            <a:spLocks noGrp="1"/>
          </p:cNvSpPr>
          <p:nvPr>
            <p:ph type="title"/>
          </p:nvPr>
        </p:nvSpPr>
        <p:spPr>
          <a:xfrm>
            <a:off x="0" y="0"/>
            <a:ext cx="12192000" cy="85788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r>
              <a:rPr lang="en-US" sz="4800" dirty="0">
                <a:solidFill>
                  <a:schemeClr val="tx1"/>
                </a:solidFill>
                <a:latin typeface="Bahnschrift Light" panose="020B0502040204020203" charset="0"/>
              </a:rPr>
              <a:t>		  </a:t>
            </a:r>
            <a:br>
              <a:rPr lang="en-US" sz="4800" dirty="0">
                <a:solidFill>
                  <a:schemeClr val="tx1"/>
                </a:solidFill>
                <a:latin typeface="Bahnschrift Light" panose="020B0502040204020203" charset="0"/>
              </a:rPr>
            </a:br>
            <a:endParaRPr lang="en-US" sz="4800" dirty="0">
              <a:solidFill>
                <a:schemeClr val="tx1"/>
              </a:solidFill>
              <a:latin typeface="Bahnschrift Light" panose="020B0502040204020203" charset="0"/>
            </a:endParaRPr>
          </a:p>
        </p:txBody>
      </p:sp>
      <p:sp>
        <p:nvSpPr>
          <p:cNvPr id="8" name="Rectangles 3"/>
          <p:cNvSpPr>
            <a:spLocks noGrp="1"/>
          </p:cNvSpPr>
          <p:nvPr/>
        </p:nvSpPr>
        <p:spPr>
          <a:xfrm>
            <a:off x="0" y="0"/>
            <a:ext cx="12192000" cy="85788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lt1"/>
                </a:solidFill>
                <a:latin typeface="+mj-lt"/>
                <a:ea typeface="+mj-ea"/>
                <a:cs typeface="+mj-cs"/>
              </a:defRPr>
            </a:lvl1pPr>
          </a:lstStyle>
          <a:p>
            <a:r>
              <a:rPr lang="en-US" sz="4800" dirty="0">
                <a:solidFill>
                  <a:schemeClr val="tx1"/>
                </a:solidFill>
                <a:latin typeface="Bahnschrift Light" panose="020B0502040204020203" charset="0"/>
              </a:rPr>
              <a:t>		  </a:t>
            </a:r>
            <a:br>
              <a:rPr lang="en-US" sz="4800" dirty="0">
                <a:solidFill>
                  <a:schemeClr val="tx1"/>
                </a:solidFill>
                <a:latin typeface="Bahnschrift Light" panose="020B0502040204020203" charset="0"/>
              </a:rPr>
            </a:br>
            <a:endParaRPr lang="en-US" sz="4800" dirty="0">
              <a:solidFill>
                <a:schemeClr val="tx1"/>
              </a:solidFill>
              <a:latin typeface="Bahnschrift Light" panose="020B0502040204020203" charset="0"/>
            </a:endParaRPr>
          </a:p>
        </p:txBody>
      </p:sp>
      <p:sp>
        <p:nvSpPr>
          <p:cNvPr id="9" name="Rectangles 3"/>
          <p:cNvSpPr>
            <a:spLocks noGrp="1"/>
          </p:cNvSpPr>
          <p:nvPr/>
        </p:nvSpPr>
        <p:spPr>
          <a:xfrm>
            <a:off x="34290" y="-11430"/>
            <a:ext cx="12192000" cy="85788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lt1"/>
                </a:solidFill>
                <a:latin typeface="+mj-lt"/>
                <a:ea typeface="+mj-ea"/>
                <a:cs typeface="+mj-cs"/>
              </a:defRPr>
            </a:lvl1pPr>
          </a:lstStyle>
          <a:p>
            <a:r>
              <a:rPr lang="en-US" sz="4800" dirty="0">
                <a:solidFill>
                  <a:schemeClr val="tx1"/>
                </a:solidFill>
                <a:latin typeface="Bahnschrift Light" panose="020B0502040204020203" charset="0"/>
              </a:rPr>
              <a:t>		  </a:t>
            </a:r>
            <a:br>
              <a:rPr lang="en-US" sz="4800" dirty="0">
                <a:solidFill>
                  <a:schemeClr val="tx1"/>
                </a:solidFill>
                <a:latin typeface="Bahnschrift Light" panose="020B0502040204020203" charset="0"/>
              </a:rPr>
            </a:br>
            <a:endParaRPr lang="en-US" sz="4800" dirty="0">
              <a:solidFill>
                <a:schemeClr val="tx1"/>
              </a:solidFill>
              <a:latin typeface="Bahnschrift Light" panose="020B0502040204020203" charset="0"/>
            </a:endParaRPr>
          </a:p>
        </p:txBody>
      </p:sp>
      <p:sp>
        <p:nvSpPr>
          <p:cNvPr id="2" name="Text Box 1"/>
          <p:cNvSpPr txBox="1"/>
          <p:nvPr/>
        </p:nvSpPr>
        <p:spPr>
          <a:xfrm>
            <a:off x="45085" y="23495"/>
            <a:ext cx="9605645" cy="829945"/>
          </a:xfrm>
          <a:prstGeom prst="rect">
            <a:avLst/>
          </a:prstGeom>
          <a:noFill/>
        </p:spPr>
        <p:txBody>
          <a:bodyPr wrap="square" rtlCol="0" anchor="t">
            <a:spAutoFit/>
          </a:bodyPr>
          <a:p>
            <a:r>
              <a:rPr lang="en-US" sz="4800" b="1" dirty="0">
                <a:latin typeface="Bahnschrift Light" panose="020B0502040204020203" charset="0"/>
                <a:sym typeface="+mn-ea"/>
              </a:rPr>
              <a:t>3-phase Induction Motor</a:t>
            </a:r>
            <a:endParaRPr lang="en-US" sz="4800" b="1" dirty="0">
              <a:latin typeface="Bahnschrift Light" panose="020B0502040204020203"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985" y="1825625"/>
            <a:ext cx="11865610" cy="4351655"/>
          </a:xfrm>
        </p:spPr>
        <p:txBody>
          <a:bodyPr>
            <a:normAutofit fontScale="92500" lnSpcReduction="10000"/>
          </a:bodyPr>
          <a:lstStyle/>
          <a:p>
            <a:endParaRPr lang="en-US" dirty="0"/>
          </a:p>
          <a:p>
            <a:endParaRPr lang="en-US" dirty="0"/>
          </a:p>
          <a:p>
            <a:endParaRPr lang="en-US" dirty="0"/>
          </a:p>
          <a:p>
            <a:endParaRPr lang="en-US" dirty="0"/>
          </a:p>
          <a:p>
            <a:endParaRPr lang="en-US" dirty="0"/>
          </a:p>
          <a:p>
            <a:pPr marL="342900" indent="-342900">
              <a:buFont typeface="Wingdings" panose="05000000000000000000" pitchFamily="2" charset="2"/>
              <a:buChar char="§"/>
            </a:pPr>
            <a:r>
              <a:rPr lang="en-US" sz="2800" dirty="0">
                <a:latin typeface="Times New Roman" panose="02020603050405020304" charset="0"/>
                <a:cs typeface="Times New Roman" panose="02020603050405020304" charset="0"/>
              </a:rPr>
              <a:t>It consists of a laminated cylindrical core having parallel slots on its outer periphery.</a:t>
            </a:r>
            <a:endParaRPr lang="en-US" sz="2800" dirty="0">
              <a:latin typeface="Times New Roman" panose="02020603050405020304" charset="0"/>
              <a:cs typeface="Times New Roman" panose="02020603050405020304" charset="0"/>
            </a:endParaRPr>
          </a:p>
          <a:p>
            <a:pPr marL="342900" indent="-342900">
              <a:buFont typeface="Wingdings" panose="05000000000000000000" pitchFamily="2" charset="2"/>
              <a:buChar char="§"/>
            </a:pPr>
            <a:r>
              <a:rPr lang="en-US" sz="2800" dirty="0">
                <a:latin typeface="Times New Roman" panose="02020603050405020304" charset="0"/>
                <a:cs typeface="Times New Roman" panose="02020603050405020304" charset="0"/>
              </a:rPr>
              <a:t>Each slot connects an Al or Cu bar and these bars are short-circuited by a metal ring on the other end. </a:t>
            </a:r>
            <a:endParaRPr lang="en-US" sz="2800" dirty="0">
              <a:latin typeface="Times New Roman" panose="02020603050405020304" charset="0"/>
              <a:cs typeface="Times New Roman" panose="02020603050405020304" charset="0"/>
            </a:endParaRPr>
          </a:p>
          <a:p>
            <a:pPr marL="342900" indent="-342900">
              <a:buFont typeface="Wingdings" panose="05000000000000000000" pitchFamily="2" charset="2"/>
              <a:buChar char="§"/>
            </a:pPr>
            <a:r>
              <a:rPr lang="en-US" sz="2800" dirty="0">
                <a:latin typeface="Times New Roman" panose="02020603050405020304" charset="0"/>
                <a:cs typeface="Times New Roman" panose="02020603050405020304" charset="0"/>
              </a:rPr>
              <a:t>This entire construction forms a squirrel cage, hence the name.</a:t>
            </a:r>
            <a:endParaRPr lang="en-US" sz="2800" dirty="0">
              <a:latin typeface="Times New Roman" panose="02020603050405020304" charset="0"/>
              <a:cs typeface="Times New Roman" panose="02020603050405020304" charset="0"/>
            </a:endParaRPr>
          </a:p>
          <a:p>
            <a:pPr marL="342900" indent="-342900">
              <a:buFont typeface="Wingdings" panose="05000000000000000000" pitchFamily="2" charset="2"/>
              <a:buChar char="§"/>
            </a:pPr>
            <a:r>
              <a:rPr lang="en-US" sz="2800" dirty="0">
                <a:latin typeface="Times New Roman" panose="02020603050405020304" charset="0"/>
                <a:cs typeface="Times New Roman" panose="02020603050405020304" charset="0"/>
              </a:rPr>
              <a:t>As the rotor bars are permanently short-circuited, it has low starting torque. </a:t>
            </a:r>
            <a:endParaRPr lang="en-US" sz="2800" dirty="0">
              <a:latin typeface="Times New Roman" panose="02020603050405020304" charset="0"/>
              <a:cs typeface="Times New Roman" panose="02020603050405020304" charset="0"/>
            </a:endParaRPr>
          </a:p>
          <a:p>
            <a:pPr marL="0" indent="0">
              <a:buNone/>
            </a:pPr>
            <a:endParaRPr lang="en-US" dirty="0"/>
          </a:p>
        </p:txBody>
      </p:sp>
      <p:sp>
        <p:nvSpPr>
          <p:cNvPr id="4" name="Rectangles 3"/>
          <p:cNvSpPr>
            <a:spLocks noGrp="1"/>
          </p:cNvSpPr>
          <p:nvPr>
            <p:ph type="title"/>
          </p:nvPr>
        </p:nvSpPr>
        <p:spPr>
          <a:xfrm>
            <a:off x="0" y="0"/>
            <a:ext cx="12192000" cy="89852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rPr>
              <a:t>Squirrel Cage Rotor</a:t>
            </a:r>
            <a:endParaRPr lang="en-US" sz="4800" b="1" dirty="0">
              <a:solidFill>
                <a:schemeClr val="tx1"/>
              </a:solidFill>
              <a:latin typeface="Bahnschrift Light" panose="020B0502040204020203" charset="0"/>
            </a:endParaRPr>
          </a:p>
        </p:txBody>
      </p:sp>
      <p:pic>
        <p:nvPicPr>
          <p:cNvPr id="2" name="Picture 1" descr="Gemini_Generated_Image_m2rzddm2rzddm2rz"/>
          <p:cNvPicPr>
            <a:picLocks noChangeAspect="1"/>
          </p:cNvPicPr>
          <p:nvPr/>
        </p:nvPicPr>
        <p:blipFill>
          <a:blip r:embed="rId1"/>
          <a:stretch>
            <a:fillRect/>
          </a:stretch>
        </p:blipFill>
        <p:spPr>
          <a:xfrm>
            <a:off x="2482850" y="1063625"/>
            <a:ext cx="6293485" cy="28225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endParaRPr lang="en-US" dirty="0"/>
          </a:p>
          <a:p>
            <a:endParaRPr lang="en-US" dirty="0"/>
          </a:p>
          <a:p>
            <a:endParaRPr lang="en-US" dirty="0"/>
          </a:p>
          <a:p>
            <a:endParaRPr lang="en-US" dirty="0"/>
          </a:p>
          <a:p>
            <a:endParaRPr lang="en-US" dirty="0"/>
          </a:p>
          <a:p>
            <a:pPr marL="342900" indent="-342900" algn="just" fontAlgn="base">
              <a:buFont typeface="Wingdings" panose="05000000000000000000" pitchFamily="2" charset="2"/>
              <a:buChar char="§"/>
            </a:pPr>
            <a:endParaRPr lang="en-US" sz="2800" dirty="0"/>
          </a:p>
          <a:p>
            <a:pPr marL="342900" indent="-342900" algn="just" fontAlgn="base">
              <a:buFont typeface="Wingdings" panose="05000000000000000000" pitchFamily="2" charset="2"/>
              <a:buChar char="§"/>
            </a:pPr>
            <a:r>
              <a:rPr lang="en-US" sz="2800" dirty="0"/>
              <a:t>It consists of a cylindrical laminated core and carries 3 phase winding.</a:t>
            </a:r>
            <a:endParaRPr lang="en-US" sz="2800" dirty="0"/>
          </a:p>
          <a:p>
            <a:pPr marL="342900" indent="-342900" algn="just" fontAlgn="base">
              <a:buFont typeface="Wingdings" panose="05000000000000000000" pitchFamily="2" charset="2"/>
              <a:buChar char="§"/>
            </a:pPr>
            <a:r>
              <a:rPr lang="en-US" sz="2800" dirty="0"/>
              <a:t>Open ends of the rotor winding are joined to 3 insulated slip rings mounted on rotor </a:t>
            </a:r>
            <a:endParaRPr lang="en-US" sz="2800" dirty="0"/>
          </a:p>
          <a:p>
            <a:pPr algn="just" fontAlgn="base"/>
            <a:r>
              <a:rPr lang="en-US" sz="2800" dirty="0"/>
              <a:t>     shaft with carbon brush resting on each. Brushes are connected to 3 phase rheostat.</a:t>
            </a:r>
            <a:endParaRPr lang="en-US" sz="2800" dirty="0"/>
          </a:p>
          <a:p>
            <a:pPr marL="342900" indent="-342900" algn="just" fontAlgn="base">
              <a:buFont typeface="Wingdings" panose="05000000000000000000" pitchFamily="2" charset="2"/>
              <a:buChar char="§"/>
            </a:pPr>
            <a:r>
              <a:rPr lang="en-US" sz="2800" dirty="0"/>
              <a:t>At starting, the external resistances are included in the rotor circuit to give a </a:t>
            </a:r>
            <a:endParaRPr lang="en-US" sz="2800" dirty="0"/>
          </a:p>
          <a:p>
            <a:pPr algn="just" fontAlgn="base"/>
            <a:r>
              <a:rPr lang="en-US" sz="2800" dirty="0"/>
              <a:t>     large rotating torque.</a:t>
            </a:r>
            <a:endParaRPr lang="en-US" sz="2800" dirty="0"/>
          </a:p>
          <a:p>
            <a:pPr marL="342900" indent="-342900" algn="just" fontAlgn="base">
              <a:buFont typeface="Wingdings" panose="05000000000000000000" pitchFamily="2" charset="2"/>
              <a:buChar char="§"/>
            </a:pPr>
            <a:r>
              <a:rPr lang="en-US" sz="2800" dirty="0"/>
              <a:t>Rheostats are gradually reduced to zero as the motor runs up to normal speed. </a:t>
            </a:r>
            <a:endParaRPr lang="en-US" sz="2800" dirty="0"/>
          </a:p>
          <a:p>
            <a:endParaRPr lang="en-US" dirty="0"/>
          </a:p>
        </p:txBody>
      </p:sp>
      <p:sp>
        <p:nvSpPr>
          <p:cNvPr id="5" name="Rectangles 3"/>
          <p:cNvSpPr>
            <a:spLocks noGrp="1"/>
          </p:cNvSpPr>
          <p:nvPr>
            <p:ph type="title"/>
          </p:nvPr>
        </p:nvSpPr>
        <p:spPr>
          <a:xfrm>
            <a:off x="0" y="0"/>
            <a:ext cx="12192000" cy="9455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rPr>
              <a:t>Wound Type Rotor </a:t>
            </a:r>
            <a:endParaRPr lang="en-US" sz="4800" b="1" dirty="0">
              <a:solidFill>
                <a:schemeClr val="tx1"/>
              </a:solidFill>
              <a:latin typeface="Bahnschrift Light" panose="020B0502040204020203" charset="0"/>
            </a:endParaRPr>
          </a:p>
        </p:txBody>
      </p:sp>
      <p:pic>
        <p:nvPicPr>
          <p:cNvPr id="6" name="Picture 5"/>
          <p:cNvPicPr>
            <a:picLocks noChangeAspect="1"/>
          </p:cNvPicPr>
          <p:nvPr/>
        </p:nvPicPr>
        <p:blipFill>
          <a:blip r:embed="rId1"/>
          <a:stretch>
            <a:fillRect/>
          </a:stretch>
        </p:blipFill>
        <p:spPr>
          <a:xfrm>
            <a:off x="1092685" y="1825625"/>
            <a:ext cx="3158473" cy="1751233"/>
          </a:xfrm>
          <a:prstGeom prst="rect">
            <a:avLst/>
          </a:prstGeom>
        </p:spPr>
      </p:pic>
      <p:pic>
        <p:nvPicPr>
          <p:cNvPr id="7" name="Picture 6"/>
          <p:cNvPicPr>
            <a:picLocks noChangeAspect="1"/>
          </p:cNvPicPr>
          <p:nvPr/>
        </p:nvPicPr>
        <p:blipFill>
          <a:blip r:embed="rId2"/>
          <a:stretch>
            <a:fillRect/>
          </a:stretch>
        </p:blipFill>
        <p:spPr>
          <a:xfrm>
            <a:off x="7331242" y="1825625"/>
            <a:ext cx="4022558" cy="20772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a:spLocks noGrp="1"/>
          </p:cNvSpPr>
          <p:nvPr>
            <p:ph type="title"/>
          </p:nvPr>
        </p:nvSpPr>
        <p:spPr>
          <a:xfrm>
            <a:off x="0" y="0"/>
            <a:ext cx="12192000" cy="97980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rPr>
              <a:t>Principle of Operation</a:t>
            </a:r>
            <a:endParaRPr lang="en-US" sz="4800" b="1" dirty="0">
              <a:solidFill>
                <a:schemeClr val="tx1"/>
              </a:solidFill>
              <a:latin typeface="Bahnschrift Light" panose="020B0502040204020203" charset="0"/>
            </a:endParaRPr>
          </a:p>
        </p:txBody>
      </p:sp>
      <p:sp>
        <p:nvSpPr>
          <p:cNvPr id="5" name="Content Placeholder 4"/>
          <p:cNvSpPr>
            <a:spLocks noGrp="1"/>
          </p:cNvSpPr>
          <p:nvPr>
            <p:ph idx="1"/>
          </p:nvPr>
        </p:nvSpPr>
        <p:spPr>
          <a:xfrm>
            <a:off x="838200" y="1825625"/>
            <a:ext cx="10515600" cy="4351338"/>
          </a:xfrm>
          <a:prstGeom prst="rect">
            <a:avLst/>
          </a:prstGeom>
        </p:spPr>
        <p:txBody>
          <a:bodyPr wrap="square">
            <a:spAutoFit/>
          </a:bodyPr>
          <a:lstStyle/>
          <a:p>
            <a:pPr marL="342900" indent="-342900" algn="just">
              <a:buFont typeface="Wingdings" panose="05000000000000000000" pitchFamily="2" charset="2"/>
              <a:buChar char="q"/>
            </a:pPr>
            <a:r>
              <a:rPr lang="en-US" sz="2400" dirty="0">
                <a:latin typeface="Times New Roman" panose="02020603050405020304" charset="0"/>
              </a:rPr>
              <a:t>When 3-phase stator winding is energized from a 3-phase supply, a rotating magnetic field is set up which rotates around the stator at synchronous speed.</a:t>
            </a:r>
            <a:endParaRPr lang="en-US" sz="2400" dirty="0"/>
          </a:p>
        </p:txBody>
      </p:sp>
      <p:pic>
        <p:nvPicPr>
          <p:cNvPr id="6" name="Picture 4" descr="What is 3 Phase Induction Motor? Diagram, Working &amp; Types -  ElectricalWorkboo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7396" y="3012032"/>
            <a:ext cx="6491128" cy="31649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655" y="1157605"/>
            <a:ext cx="11795760" cy="4351655"/>
          </a:xfrm>
        </p:spPr>
        <p:txBody>
          <a:bodyPr/>
          <a:lstStyle/>
          <a:p>
            <a:r>
              <a:rPr lang="en-US" sz="2800" dirty="0">
                <a:latin typeface="Times New Roman" panose="02020603050405020304" charset="0"/>
              </a:rPr>
              <a:t>The rotating field passes through the air gap and cuts the rotor conductors, which are still stationary. Due to the relative speed between the rotating flux and the stationary rotor, </a:t>
            </a:r>
            <a:r>
              <a:rPr lang="en-US" sz="2800" dirty="0" err="1">
                <a:latin typeface="Times New Roman" panose="02020603050405020304" charset="0"/>
              </a:rPr>
              <a:t>e.m.f.</a:t>
            </a:r>
            <a:r>
              <a:rPr lang="en-US" sz="2800" dirty="0">
                <a:latin typeface="Times New Roman" panose="02020603050405020304" charset="0"/>
              </a:rPr>
              <a:t> are induced in the rotor conductors. Since the rotor circuit is short-circuited, currents start flowing in the rotor conductors.</a:t>
            </a:r>
            <a:endParaRPr lang="en-US" sz="2800" dirty="0">
              <a:latin typeface="Times New Roman" panose="02020603050405020304" charset="0"/>
            </a:endParaRPr>
          </a:p>
          <a:p>
            <a:endParaRPr lang="en-US" sz="2800" dirty="0"/>
          </a:p>
          <a:p>
            <a:r>
              <a:rPr lang="en-US" sz="2800" dirty="0">
                <a:latin typeface="Times New Roman" panose="02020603050405020304" charset="0"/>
              </a:rPr>
              <a:t> As the current-carrying rotor conductors are placed in the magnetic field produced by the stator, mechanical force acts on the rotor conductors. The sum of the mechanical forces on all the rotor conductors produces a torque. As the rotor tries to catch the RMF speed it tends to move the rotor in the same direction as the rotating field. But rotor never reaches the speed.</a:t>
            </a:r>
            <a:endParaRPr lang="en-US" sz="2800" dirty="0">
              <a:latin typeface="Times New Roman" panose="02020603050405020304" charset="0"/>
            </a:endParaRPr>
          </a:p>
          <a:p>
            <a:endParaRPr lang="en-US" sz="2800" dirty="0"/>
          </a:p>
          <a:p>
            <a:endParaRPr lang="en-US" dirty="0"/>
          </a:p>
        </p:txBody>
      </p:sp>
      <p:sp>
        <p:nvSpPr>
          <p:cNvPr id="5" name="Rectangles 3"/>
          <p:cNvSpPr>
            <a:spLocks noGrp="1"/>
          </p:cNvSpPr>
          <p:nvPr>
            <p:ph type="title"/>
          </p:nvPr>
        </p:nvSpPr>
        <p:spPr>
          <a:xfrm>
            <a:off x="0" y="0"/>
            <a:ext cx="12192000" cy="97980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rPr>
              <a:t>Principle of Operation</a:t>
            </a:r>
            <a:endParaRPr lang="en-US" sz="4800" b="1" dirty="0">
              <a:solidFill>
                <a:schemeClr val="tx1"/>
              </a:solidFill>
              <a:latin typeface="Bahnschrift Light" panose="020B0502040204020203"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490" y="1571625"/>
            <a:ext cx="11900535" cy="2682240"/>
          </a:xfrm>
        </p:spPr>
        <p:txBody>
          <a:bodyPr>
            <a:normAutofit lnSpcReduction="10000"/>
          </a:bodyPr>
          <a:lstStyle/>
          <a:p>
            <a:pPr marL="342900" indent="-342900" algn="just">
              <a:buFont typeface="Wingdings" panose="05000000000000000000" pitchFamily="2" charset="2"/>
              <a:buChar char="§"/>
            </a:pPr>
            <a:r>
              <a:rPr lang="en-US" sz="2800" dirty="0">
                <a:latin typeface="Times New Roman" panose="02020603050405020304" charset="0"/>
              </a:rPr>
              <a:t>When a 3-phase winding is energized, a rotating magnetic field is produced. This field is such that its poles do not remain in fixed positions on the stator but go on shifting their positions around the stator. The speed at which it rotates, is called the Synchronous speed (Ns).</a:t>
            </a:r>
            <a:endParaRPr lang="en-US" dirty="0"/>
          </a:p>
        </p:txBody>
      </p:sp>
      <p:sp>
        <p:nvSpPr>
          <p:cNvPr id="4" name="Rectangles 3"/>
          <p:cNvSpPr>
            <a:spLocks noGrp="1"/>
          </p:cNvSpPr>
          <p:nvPr>
            <p:ph type="title"/>
          </p:nvPr>
        </p:nvSpPr>
        <p:spPr>
          <a:xfrm>
            <a:off x="0" y="0"/>
            <a:ext cx="12192000" cy="933450"/>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ea typeface="Calibri" panose="020F0502020204030204" charset="0"/>
                <a:cs typeface="Calibri" panose="020F0502020204030204" charset="0"/>
              </a:rPr>
              <a:t>Rotating Magnetic Field</a:t>
            </a:r>
            <a:endParaRPr lang="en-US" sz="4800" b="1" dirty="0">
              <a:solidFill>
                <a:schemeClr val="tx1"/>
              </a:solidFill>
              <a:latin typeface="Bahnschrift Light" panose="020B0502040204020203" charset="0"/>
              <a:ea typeface="Calibri" panose="020F0502020204030204" charset="0"/>
              <a:cs typeface="Calibri" panose="020F0502020204030204" charset="0"/>
            </a:endParaRPr>
          </a:p>
        </p:txBody>
      </p:sp>
      <p:pic>
        <p:nvPicPr>
          <p:cNvPr id="7" name="Picture 6"/>
          <p:cNvPicPr>
            <a:picLocks noChangeAspect="1"/>
          </p:cNvPicPr>
          <p:nvPr/>
        </p:nvPicPr>
        <p:blipFill>
          <a:blip r:embed="rId1"/>
          <a:stretch>
            <a:fillRect/>
          </a:stretch>
        </p:blipFill>
        <p:spPr>
          <a:xfrm>
            <a:off x="1341154" y="3526833"/>
            <a:ext cx="3760879" cy="2256104"/>
          </a:xfrm>
          <a:prstGeom prst="rect">
            <a:avLst/>
          </a:prstGeom>
        </p:spPr>
      </p:pic>
      <p:pic>
        <p:nvPicPr>
          <p:cNvPr id="8" name="Picture 7"/>
          <p:cNvPicPr>
            <a:picLocks noChangeAspect="1"/>
          </p:cNvPicPr>
          <p:nvPr/>
        </p:nvPicPr>
        <p:blipFill>
          <a:blip r:embed="rId2"/>
          <a:stretch>
            <a:fillRect/>
          </a:stretch>
        </p:blipFill>
        <p:spPr>
          <a:xfrm>
            <a:off x="6607142" y="3407302"/>
            <a:ext cx="3609964" cy="25737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a:spLocks noGrp="1"/>
          </p:cNvSpPr>
          <p:nvPr>
            <p:ph type="title"/>
          </p:nvPr>
        </p:nvSpPr>
        <p:spPr>
          <a:xfrm>
            <a:off x="0" y="0"/>
            <a:ext cx="12192000" cy="89852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ea typeface="Calibri" panose="020F0502020204030204" charset="0"/>
                <a:cs typeface="Calibri" panose="020F0502020204030204" charset="0"/>
              </a:rPr>
              <a:t>Effects of Slip </a:t>
            </a:r>
            <a:endParaRPr lang="en-US" sz="4800" b="1" dirty="0">
              <a:solidFill>
                <a:schemeClr val="tx1"/>
              </a:solidFill>
              <a:latin typeface="Bahnschrift Light" panose="020B0502040204020203" charset="0"/>
              <a:ea typeface="Calibri" panose="020F0502020204030204" charset="0"/>
              <a:cs typeface="Calibri" panose="020F0502020204030204" charset="0"/>
            </a:endParaRPr>
          </a:p>
        </p:txBody>
      </p:sp>
      <p:sp>
        <p:nvSpPr>
          <p:cNvPr id="6" name="Content Placeholder 5"/>
          <p:cNvSpPr>
            <a:spLocks noGrp="1"/>
          </p:cNvSpPr>
          <p:nvPr>
            <p:ph idx="1"/>
          </p:nvPr>
        </p:nvSpPr>
        <p:spPr>
          <a:xfrm>
            <a:off x="283845" y="1191895"/>
            <a:ext cx="11693525" cy="1278890"/>
          </a:xfrm>
        </p:spPr>
        <p:txBody>
          <a:bodyPr>
            <a:normAutofit/>
          </a:bodyPr>
          <a:lstStyle/>
          <a:p>
            <a:r>
              <a:rPr lang="en-US" sz="2800" dirty="0">
                <a:latin typeface="Times New Roman" panose="02020603050405020304" charset="0"/>
              </a:rPr>
              <a:t>The difference between the synchronous speed N</a:t>
            </a:r>
            <a:r>
              <a:rPr lang="en-US" sz="2800" b="0" i="0" u="none" strike="noStrike" baseline="0" dirty="0">
                <a:latin typeface="Times New Roman" panose="02020603050405020304" charset="0"/>
              </a:rPr>
              <a:t>s </a:t>
            </a:r>
            <a:r>
              <a:rPr lang="en-US" sz="2800" dirty="0">
                <a:latin typeface="Times New Roman" panose="02020603050405020304" charset="0"/>
              </a:rPr>
              <a:t>of the rotating magnetic field and the actual rotor speed N is called slip. It is usually expressed as a percentage of synchronous speed.</a:t>
            </a:r>
            <a:endParaRPr lang="en-US" sz="2800" dirty="0"/>
          </a:p>
          <a:p>
            <a:endParaRPr lang="en-US" dirty="0"/>
          </a:p>
        </p:txBody>
      </p:sp>
      <p:pic>
        <p:nvPicPr>
          <p:cNvPr id="14" name="Picture 13"/>
          <p:cNvPicPr>
            <a:picLocks noChangeAspect="1"/>
          </p:cNvPicPr>
          <p:nvPr/>
        </p:nvPicPr>
        <p:blipFill>
          <a:blip r:embed="rId1"/>
          <a:stretch>
            <a:fillRect/>
          </a:stretch>
        </p:blipFill>
        <p:spPr>
          <a:xfrm>
            <a:off x="2824641" y="2470484"/>
            <a:ext cx="6361260" cy="1276507"/>
          </a:xfrm>
          <a:prstGeom prst="rect">
            <a:avLst/>
          </a:prstGeom>
        </p:spPr>
      </p:pic>
      <p:pic>
        <p:nvPicPr>
          <p:cNvPr id="15" name="Picture 14"/>
          <p:cNvPicPr>
            <a:picLocks noChangeAspect="1"/>
          </p:cNvPicPr>
          <p:nvPr/>
        </p:nvPicPr>
        <p:blipFill>
          <a:blip r:embed="rId2"/>
          <a:stretch>
            <a:fillRect/>
          </a:stretch>
        </p:blipFill>
        <p:spPr>
          <a:xfrm>
            <a:off x="1883296" y="4032756"/>
            <a:ext cx="7661757" cy="26533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42900" indent="-342900">
              <a:buFont typeface="Wingdings" panose="05000000000000000000" pitchFamily="2" charset="2"/>
              <a:buChar char="q"/>
            </a:pPr>
            <a:r>
              <a:rPr lang="en-US" sz="2800" dirty="0">
                <a:latin typeface="Times New Roman" panose="02020603050405020304" charset="0"/>
              </a:rPr>
              <a:t>A single-phase induction motor is very similar to a 3-phase squirrel cage Induction Motor. </a:t>
            </a:r>
            <a:endParaRPr lang="en-US" sz="2800" dirty="0">
              <a:latin typeface="Times New Roman" panose="02020603050405020304" charset="0"/>
            </a:endParaRPr>
          </a:p>
          <a:p>
            <a:pPr marL="342900" indent="-342900">
              <a:buFont typeface="Wingdings" panose="05000000000000000000" pitchFamily="2" charset="2"/>
              <a:buChar char="q"/>
            </a:pPr>
            <a:endParaRPr lang="en-US" sz="2800" dirty="0">
              <a:latin typeface="Times New Roman" panose="02020603050405020304" charset="0"/>
            </a:endParaRPr>
          </a:p>
          <a:p>
            <a:pPr marL="342900" indent="-342900">
              <a:buFont typeface="Wingdings" panose="05000000000000000000" pitchFamily="2" charset="2"/>
              <a:buChar char="q"/>
            </a:pPr>
            <a:r>
              <a:rPr lang="en-US" sz="2800" dirty="0">
                <a:latin typeface="Times New Roman" panose="02020603050405020304" charset="0"/>
              </a:rPr>
              <a:t>It consists of- </a:t>
            </a:r>
            <a:endParaRPr lang="en-US" sz="2800" dirty="0">
              <a:latin typeface="Times New Roman" panose="02020603050405020304" charset="0"/>
            </a:endParaRPr>
          </a:p>
          <a:p>
            <a:pPr marL="285750" indent="-285750">
              <a:buFont typeface="Wingdings" panose="05000000000000000000" pitchFamily="2" charset="2"/>
              <a:buChar char="ü"/>
            </a:pPr>
            <a:r>
              <a:rPr lang="en-US" sz="2800" dirty="0">
                <a:latin typeface="Times New Roman" panose="02020603050405020304" charset="0"/>
              </a:rPr>
              <a:t>squirrel-cage rotor identical to a 3-phase motor</a:t>
            </a:r>
            <a:endParaRPr lang="en-US" sz="2800" dirty="0">
              <a:latin typeface="Times New Roman" panose="02020603050405020304" charset="0"/>
            </a:endParaRPr>
          </a:p>
          <a:p>
            <a:pPr marL="285750" indent="-285750">
              <a:buFont typeface="Wingdings" panose="05000000000000000000" pitchFamily="2" charset="2"/>
              <a:buChar char="ü"/>
            </a:pPr>
            <a:r>
              <a:rPr lang="en-US" sz="2800" dirty="0">
                <a:latin typeface="Times New Roman" panose="02020603050405020304" charset="0"/>
              </a:rPr>
              <a:t>single-phase winding on the stator</a:t>
            </a:r>
            <a:endParaRPr lang="en-US" sz="2800" dirty="0">
              <a:latin typeface="Times New Roman" panose="02020603050405020304" charset="0"/>
            </a:endParaRPr>
          </a:p>
          <a:p>
            <a:pPr marL="285750" indent="-285750">
              <a:buFont typeface="Wingdings" panose="05000000000000000000" pitchFamily="2" charset="2"/>
              <a:buChar char="ü"/>
            </a:pPr>
            <a:endParaRPr lang="en-US" sz="2800" dirty="0">
              <a:latin typeface="Times New Roman" panose="02020603050405020304" charset="0"/>
            </a:endParaRPr>
          </a:p>
          <a:p>
            <a:pPr marL="342900" indent="-342900">
              <a:buFont typeface="Wingdings" panose="05000000000000000000" pitchFamily="2" charset="2"/>
              <a:buChar char="q"/>
            </a:pPr>
            <a:r>
              <a:rPr lang="en-US" sz="2800" dirty="0">
                <a:latin typeface="Times New Roman" panose="02020603050405020304" charset="0"/>
              </a:rPr>
              <a:t>Single-phase induction motor is not self-starting. </a:t>
            </a:r>
            <a:endParaRPr lang="en-US" sz="2800" dirty="0">
              <a:latin typeface="Times New Roman" panose="02020603050405020304" charset="0"/>
            </a:endParaRP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endParaRPr lang="en-US" dirty="0"/>
          </a:p>
          <a:p>
            <a:endParaRPr lang="en-US" dirty="0"/>
          </a:p>
        </p:txBody>
      </p:sp>
      <p:sp>
        <p:nvSpPr>
          <p:cNvPr id="4" name="Rectangles 3"/>
          <p:cNvSpPr>
            <a:spLocks noGrp="1"/>
          </p:cNvSpPr>
          <p:nvPr>
            <p:ph type="title"/>
          </p:nvPr>
        </p:nvSpPr>
        <p:spPr>
          <a:xfrm>
            <a:off x="0" y="0"/>
            <a:ext cx="12192000" cy="899160"/>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ea typeface="Calibri" panose="020F0502020204030204" charset="0"/>
                <a:cs typeface="Calibri" panose="020F0502020204030204" charset="0"/>
              </a:rPr>
              <a:t>Single-Phase Induction Motors</a:t>
            </a:r>
            <a:endParaRPr lang="en-US" sz="4800" b="1" dirty="0">
              <a:solidFill>
                <a:schemeClr val="tx1"/>
              </a:solidFill>
              <a:latin typeface="Bahnschrift Light" panose="020B0502040204020203" charset="0"/>
              <a:ea typeface="Calibri" panose="020F0502020204030204" charset="0"/>
              <a:cs typeface="Calibri" panose="020F0502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a:spLocks noGrp="1"/>
          </p:cNvSpPr>
          <p:nvPr>
            <p:ph type="title"/>
          </p:nvPr>
        </p:nvSpPr>
        <p:spPr>
          <a:xfrm>
            <a:off x="0" y="-34925"/>
            <a:ext cx="12192000" cy="8185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ea typeface="Calibri" panose="020F0502020204030204" charset="0"/>
                <a:cs typeface="Calibri" panose="020F0502020204030204" charset="0"/>
              </a:rPr>
              <a:t>Single-Phase Induction Motors</a:t>
            </a:r>
            <a:endParaRPr lang="en-US" sz="4800" b="1" dirty="0">
              <a:solidFill>
                <a:schemeClr val="tx1"/>
              </a:solidFill>
              <a:latin typeface="Bahnschrift Light" panose="020B0502040204020203" charset="0"/>
              <a:ea typeface="Calibri" panose="020F0502020204030204" charset="0"/>
              <a:cs typeface="Calibri" panose="020F0502020204030204" charset="0"/>
            </a:endParaRPr>
          </a:p>
        </p:txBody>
      </p:sp>
      <p:pic>
        <p:nvPicPr>
          <p:cNvPr id="7" name="Content Placeholder 6"/>
          <p:cNvPicPr>
            <a:picLocks noGrp="1" noChangeAspect="1"/>
          </p:cNvPicPr>
          <p:nvPr>
            <p:ph idx="1"/>
          </p:nvPr>
        </p:nvPicPr>
        <p:blipFill>
          <a:blip r:embed="rId1"/>
          <a:stretch>
            <a:fillRect/>
          </a:stretch>
        </p:blipFill>
        <p:spPr>
          <a:xfrm>
            <a:off x="9247825" y="928223"/>
            <a:ext cx="2186620" cy="1914129"/>
          </a:xfrm>
          <a:prstGeom prst="rect">
            <a:avLst/>
          </a:prstGeom>
        </p:spPr>
      </p:pic>
      <p:sp>
        <p:nvSpPr>
          <p:cNvPr id="9" name="TextBox 8"/>
          <p:cNvSpPr txBox="1"/>
          <p:nvPr/>
        </p:nvSpPr>
        <p:spPr>
          <a:xfrm>
            <a:off x="191770" y="916940"/>
            <a:ext cx="7330440" cy="1198880"/>
          </a:xfrm>
          <a:prstGeom prst="rect">
            <a:avLst/>
          </a:prstGeom>
          <a:noFill/>
        </p:spPr>
        <p:txBody>
          <a:bodyPr wrap="square">
            <a:spAutoFit/>
          </a:bodyPr>
          <a:lstStyle/>
          <a:p>
            <a:pPr marL="457200" indent="-457200">
              <a:buFont typeface="Wingdings" panose="05000000000000000000" pitchFamily="2" charset="2"/>
              <a:buChar char="q"/>
            </a:pPr>
            <a:r>
              <a:rPr lang="en-US" sz="2400" dirty="0">
                <a:latin typeface="Times New Roman" panose="02020603050405020304" charset="0"/>
                <a:cs typeface="Times New Roman" panose="02020603050405020304" charset="0"/>
              </a:rPr>
              <a:t>Single-phase induction motor is not self-starting</a:t>
            </a:r>
            <a:r>
              <a:rPr lang="en-US" sz="2400" dirty="0"/>
              <a:t>.</a:t>
            </a:r>
            <a:endParaRPr lang="en-US" sz="2400" dirty="0"/>
          </a:p>
          <a:p>
            <a:pPr indent="0">
              <a:buFont typeface="Wingdings" panose="05000000000000000000" pitchFamily="2" charset="2"/>
              <a:buNone/>
            </a:pPr>
            <a:r>
              <a:rPr lang="en-US" sz="2400" dirty="0"/>
              <a:t> </a:t>
            </a:r>
            <a:endParaRPr lang="en-US" sz="2400" dirty="0"/>
          </a:p>
          <a:p>
            <a:pPr marL="457200" indent="-457200">
              <a:buFont typeface="Wingdings" panose="05000000000000000000" pitchFamily="2" charset="2"/>
              <a:buChar char="q"/>
            </a:pPr>
            <a:r>
              <a:rPr lang="en-US" sz="2400" dirty="0">
                <a:latin typeface="Times New Roman" panose="02020603050405020304" charset="0"/>
                <a:cs typeface="Times New Roman" panose="02020603050405020304" charset="0"/>
              </a:rPr>
              <a:t>Double Field Revolving Theory.</a:t>
            </a:r>
            <a:endParaRPr lang="en-US" sz="2400" dirty="0">
              <a:latin typeface="Times New Roman" panose="02020603050405020304" charset="0"/>
              <a:cs typeface="Times New Roman" panose="02020603050405020304" charset="0"/>
            </a:endParaRPr>
          </a:p>
        </p:txBody>
      </p:sp>
      <p:sp>
        <p:nvSpPr>
          <p:cNvPr id="11" name="TextBox 10"/>
          <p:cNvSpPr txBox="1"/>
          <p:nvPr/>
        </p:nvSpPr>
        <p:spPr>
          <a:xfrm>
            <a:off x="128270" y="3043555"/>
            <a:ext cx="11917045" cy="3415030"/>
          </a:xfrm>
          <a:prstGeom prst="rect">
            <a:avLst/>
          </a:prstGeom>
          <a:noFill/>
        </p:spPr>
        <p:txBody>
          <a:bodyPr wrap="square">
            <a:spAutoFit/>
          </a:bodyPr>
          <a:lstStyle/>
          <a:p>
            <a:pPr marL="285750" indent="-285750" algn="just">
              <a:buFont typeface="Wingdings" panose="05000000000000000000" pitchFamily="2" charset="2"/>
              <a:buChar char="ü"/>
            </a:pPr>
            <a:r>
              <a:rPr lang="en-US" sz="2400" dirty="0">
                <a:latin typeface="Times New Roman" panose="02020603050405020304" charset="0"/>
              </a:rPr>
              <a:t>When the rotor is stationary and the stator winding is connected to a single-phase supply, a magnetic field is produced that pulsates in a sinusoidal manner.</a:t>
            </a:r>
            <a:endParaRPr lang="en-US" sz="2400" dirty="0">
              <a:latin typeface="Times New Roman" panose="02020603050405020304" charset="0"/>
            </a:endParaRPr>
          </a:p>
          <a:p>
            <a:pPr marL="285750" indent="-285750" algn="just">
              <a:buFont typeface="Wingdings" panose="05000000000000000000" pitchFamily="2" charset="2"/>
              <a:buChar char="ü"/>
            </a:pPr>
            <a:r>
              <a:rPr lang="en-US" sz="2400" dirty="0">
                <a:latin typeface="Times New Roman" panose="02020603050405020304" charset="0"/>
              </a:rPr>
              <a:t>The alternating flux produced by the stator winding can be presented as the sum of two rotating fluxes, each equal to one-half of the maximum value of alternating flux and each rotating at synchronous speed in opposite directions. </a:t>
            </a:r>
            <a:endParaRPr lang="en-US" sz="2400" dirty="0">
              <a:latin typeface="Times New Roman" panose="02020603050405020304" charset="0"/>
            </a:endParaRPr>
          </a:p>
          <a:p>
            <a:pPr marL="285750" indent="-285750" algn="just">
              <a:buFont typeface="Wingdings" panose="05000000000000000000" pitchFamily="2" charset="2"/>
              <a:buChar char="ü"/>
            </a:pPr>
            <a:r>
              <a:rPr lang="en-US" sz="2400" dirty="0">
                <a:latin typeface="Times New Roman" panose="02020603050405020304" charset="0"/>
              </a:rPr>
              <a:t>If one flux rotate in anti clockwise direction and other flux rotates in clockwise direction. The fluxes will result in a production of one torque in the anti clockwise direction and other in the clockwise direction. </a:t>
            </a:r>
            <a:endParaRPr lang="en-US" sz="2400" dirty="0">
              <a:latin typeface="Times New Roman" panose="02020603050405020304" charset="0"/>
            </a:endParaRPr>
          </a:p>
          <a:p>
            <a:pPr marL="285750" indent="-285750" algn="just">
              <a:buFont typeface="Wingdings" panose="05000000000000000000" pitchFamily="2" charset="2"/>
              <a:buChar char="ü"/>
            </a:pPr>
            <a:r>
              <a:rPr lang="en-US" sz="2400" dirty="0">
                <a:latin typeface="Times New Roman" panose="02020603050405020304" charset="0"/>
              </a:rPr>
              <a:t>These two torques are equal and opposite and the net torque developed is zero. </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a:spLocks noGrp="1"/>
          </p:cNvSpPr>
          <p:nvPr>
            <p:ph type="title"/>
          </p:nvPr>
        </p:nvSpPr>
        <p:spPr>
          <a:xfrm>
            <a:off x="0" y="-34925"/>
            <a:ext cx="12192000" cy="8185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ea typeface="Calibri" panose="020F0502020204030204" charset="0"/>
                <a:cs typeface="Calibri" panose="020F0502020204030204" charset="0"/>
              </a:rPr>
              <a:t>Single-Phase Induction Motors</a:t>
            </a:r>
            <a:endParaRPr lang="en-US" sz="4800" b="1" dirty="0">
              <a:solidFill>
                <a:schemeClr val="tx1"/>
              </a:solidFill>
              <a:latin typeface="Bahnschrift Light" panose="020B0502040204020203" charset="0"/>
              <a:ea typeface="Calibri" panose="020F0502020204030204" charset="0"/>
              <a:cs typeface="Calibri" panose="020F0502020204030204" charset="0"/>
            </a:endParaRPr>
          </a:p>
        </p:txBody>
      </p:sp>
      <p:sp>
        <p:nvSpPr>
          <p:cNvPr id="3" name="Text Box 2"/>
          <p:cNvSpPr txBox="1"/>
          <p:nvPr/>
        </p:nvSpPr>
        <p:spPr>
          <a:xfrm>
            <a:off x="134620" y="831850"/>
            <a:ext cx="11851005" cy="3169285"/>
          </a:xfrm>
          <a:prstGeom prst="rect">
            <a:avLst/>
          </a:prstGeom>
        </p:spPr>
        <p:txBody>
          <a:bodyPr wrap="square">
            <a:spAutoFit/>
          </a:bodyPr>
          <a:p>
            <a:pPr marL="342900" indent="-342900" algn="just">
              <a:buFont typeface="Arial" panose="020B0604020202020204" pitchFamily="34" charset="0"/>
              <a:buChar char="•"/>
            </a:pPr>
            <a:r>
              <a:rPr sz="2000">
                <a:solidFill>
                  <a:srgbClr val="000000"/>
                </a:solidFill>
                <a:latin typeface="Helvetica"/>
                <a:ea typeface="Helvetica"/>
              </a:rPr>
              <a:t>The starting mechanism of the single-phase induction motor is mainly an additional stator winding (start/ auxiliary winding) as shown in Figure. The start winding can have a series capacitor and/or a centrifugal switch. When the supply voltage is applied, current in the main winding lags the supply voltage due to the main winding impedance. At the same time, current in the start winding leads/lags the supply voltage depending on the starting mechanism impedance. Interaction between magnetic fields generated by the main winding and the starting mechanism generates a resultant magnetic field rotating in one direction. The motor starts rotating in the direction of the resultant magnetic field. </a:t>
            </a:r>
            <a:endParaRPr sz="2000">
              <a:solidFill>
                <a:srgbClr val="000000"/>
              </a:solidFill>
              <a:latin typeface="Helvetica"/>
              <a:ea typeface="Helvetica"/>
            </a:endParaRPr>
          </a:p>
          <a:p>
            <a:pPr marL="342900" indent="-342900" algn="just">
              <a:buFont typeface="Arial" panose="020B0604020202020204" pitchFamily="34" charset="0"/>
              <a:buChar char="•"/>
            </a:pPr>
            <a:r>
              <a:rPr sz="2000">
                <a:solidFill>
                  <a:srgbClr val="000000"/>
                </a:solidFill>
                <a:latin typeface="Helvetica"/>
                <a:ea typeface="Helvetica"/>
              </a:rPr>
              <a:t>Once the motor reaches about 75% of its rated speed, a centrifugal switch disconnects the start winding. From this point on, the single-phase motor can maintain sufficient torque to operate on its own.</a:t>
            </a:r>
            <a:endParaRPr sz="2000">
              <a:solidFill>
                <a:srgbClr val="000000"/>
              </a:solidFill>
              <a:latin typeface="Helvetica"/>
              <a:ea typeface="Helvetica"/>
            </a:endParaRPr>
          </a:p>
        </p:txBody>
      </p:sp>
      <p:pic>
        <p:nvPicPr>
          <p:cNvPr id="5" name="Picture 4"/>
          <p:cNvPicPr>
            <a:picLocks noChangeAspect="1"/>
          </p:cNvPicPr>
          <p:nvPr/>
        </p:nvPicPr>
        <p:blipFill>
          <a:blip r:embed="rId1"/>
          <a:stretch>
            <a:fillRect/>
          </a:stretch>
        </p:blipFill>
        <p:spPr>
          <a:xfrm>
            <a:off x="1552575" y="3761740"/>
            <a:ext cx="8295640" cy="27882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p:cNvPicPr>
            <a:picLocks noGrp="1" noChangeAspect="1"/>
          </p:cNvPicPr>
          <p:nvPr>
            <p:ph idx="1"/>
          </p:nvPr>
        </p:nvPicPr>
        <p:blipFill>
          <a:blip r:embed="rId1"/>
          <a:stretch>
            <a:fillRect/>
          </a:stretch>
        </p:blipFill>
        <p:spPr>
          <a:xfrm>
            <a:off x="1287780" y="872490"/>
            <a:ext cx="8148320" cy="1807210"/>
          </a:xfrm>
        </p:spPr>
      </p:pic>
      <p:sp>
        <p:nvSpPr>
          <p:cNvPr id="7" name="Rectangles 3"/>
          <p:cNvSpPr>
            <a:spLocks noGrp="1"/>
          </p:cNvSpPr>
          <p:nvPr>
            <p:ph type="title"/>
          </p:nvPr>
        </p:nvSpPr>
        <p:spPr>
          <a:xfrm>
            <a:off x="0" y="0"/>
            <a:ext cx="12192000" cy="76136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ea typeface="Calibri" panose="020F0502020204030204" charset="0"/>
                <a:cs typeface="Calibri" panose="020F0502020204030204" charset="0"/>
              </a:rPr>
              <a:t>Numerical Problems</a:t>
            </a:r>
            <a:endParaRPr lang="en-US" sz="4800" b="1" dirty="0">
              <a:solidFill>
                <a:schemeClr val="tx1"/>
              </a:solidFill>
              <a:latin typeface="Bahnschrift Light" panose="020B0502040204020203" charset="0"/>
              <a:ea typeface="Calibri" panose="020F0502020204030204" charset="0"/>
              <a:cs typeface="Calibri" panose="020F0502020204030204" charset="0"/>
            </a:endParaRPr>
          </a:p>
        </p:txBody>
      </p:sp>
      <p:pic>
        <p:nvPicPr>
          <p:cNvPr id="11" name="Picture 10"/>
          <p:cNvPicPr>
            <a:picLocks noChangeAspect="1"/>
          </p:cNvPicPr>
          <p:nvPr/>
        </p:nvPicPr>
        <p:blipFill>
          <a:blip r:embed="rId2"/>
          <a:stretch>
            <a:fillRect/>
          </a:stretch>
        </p:blipFill>
        <p:spPr>
          <a:xfrm>
            <a:off x="1278255" y="3081655"/>
            <a:ext cx="8314055" cy="3581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1"/>
          <a:stretch>
            <a:fillRect/>
          </a:stretch>
        </p:blipFill>
        <p:spPr>
          <a:xfrm>
            <a:off x="861695" y="1107440"/>
            <a:ext cx="9236710" cy="5385435"/>
          </a:xfrm>
        </p:spPr>
      </p:pic>
      <p:sp>
        <p:nvSpPr>
          <p:cNvPr id="7" name="Rectangles 3"/>
          <p:cNvSpPr>
            <a:spLocks noGrp="1"/>
          </p:cNvSpPr>
          <p:nvPr>
            <p:ph type="title"/>
          </p:nvPr>
        </p:nvSpPr>
        <p:spPr>
          <a:xfrm>
            <a:off x="0" y="0"/>
            <a:ext cx="12192000" cy="76136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ormAutofit/>
          </a:bodyPr>
          <a:lstStyle/>
          <a:p>
            <a:pPr algn="l"/>
            <a:r>
              <a:rPr lang="en-US" sz="4800" b="1" dirty="0">
                <a:solidFill>
                  <a:schemeClr val="tx1"/>
                </a:solidFill>
                <a:latin typeface="Bahnschrift Light" panose="020B0502040204020203" charset="0"/>
                <a:ea typeface="Calibri" panose="020F0502020204030204" charset="0"/>
                <a:cs typeface="Calibri" panose="020F0502020204030204" charset="0"/>
              </a:rPr>
              <a:t>Numerical Problems</a:t>
            </a:r>
            <a:endParaRPr lang="en-US" sz="4800" b="1" dirty="0">
              <a:solidFill>
                <a:schemeClr val="tx1"/>
              </a:solidFill>
              <a:latin typeface="Bahnschrift Light" panose="020B0502040204020203" charset="0"/>
              <a:ea typeface="Calibri" panose="020F0502020204030204" charset="0"/>
              <a:cs typeface="Calibri" panose="020F0502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s 3"/>
          <p:cNvSpPr/>
          <p:nvPr/>
        </p:nvSpPr>
        <p:spPr>
          <a:xfrm>
            <a:off x="0" y="5715"/>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FF0000"/>
              </a:solidFill>
            </a:endParaRPr>
          </a:p>
        </p:txBody>
      </p:sp>
      <p:sp>
        <p:nvSpPr>
          <p:cNvPr id="6" name="Text Box 4"/>
          <p:cNvSpPr txBox="1"/>
          <p:nvPr/>
        </p:nvSpPr>
        <p:spPr>
          <a:xfrm>
            <a:off x="87630" y="0"/>
            <a:ext cx="10968355" cy="82994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800" b="1" dirty="0">
                <a:solidFill>
                  <a:srgbClr val="000000"/>
                </a:solidFill>
                <a:latin typeface="Bahnschrift Light" panose="020B0502040204020203" charset="0"/>
                <a:ea typeface="Calibri-Bold"/>
                <a:cs typeface="Bahnschrift Light" panose="020B0502040204020203" charset="0"/>
              </a:rPr>
              <a:t>Variable Frequency Drive (VFD)</a:t>
            </a:r>
            <a:endParaRPr lang="en-US" sz="4800" b="1" dirty="0">
              <a:solidFill>
                <a:srgbClr val="000000"/>
              </a:solidFill>
              <a:latin typeface="Bahnschrift Light" panose="020B0502040204020203" charset="0"/>
              <a:ea typeface="Calibri-Bold"/>
              <a:cs typeface="Bahnschrift Light" panose="020B0502040204020203" charset="0"/>
            </a:endParaRPr>
          </a:p>
        </p:txBody>
      </p:sp>
      <p:sp>
        <p:nvSpPr>
          <p:cNvPr id="3" name="Text Box 2"/>
          <p:cNvSpPr txBox="1"/>
          <p:nvPr/>
        </p:nvSpPr>
        <p:spPr>
          <a:xfrm>
            <a:off x="109220" y="892175"/>
            <a:ext cx="11972925" cy="2306955"/>
          </a:xfrm>
          <a:prstGeom prst="rect">
            <a:avLst/>
          </a:prstGeom>
        </p:spPr>
        <p:txBody>
          <a:bodyPr wrap="square">
            <a:spAutoFit/>
          </a:bodyPr>
          <a:lstStyle/>
          <a:p>
            <a:pPr algn="just"/>
            <a:r>
              <a:rPr sz="2400" dirty="0">
                <a:solidFill>
                  <a:srgbClr val="000000"/>
                </a:solidFill>
                <a:latin typeface="Times New Roman" panose="02020603050405020304" charset="0"/>
                <a:ea typeface="Helvetica"/>
                <a:cs typeface="Times New Roman" panose="02020603050405020304" charset="0"/>
              </a:rPr>
              <a:t>The VFD is a system made up of power electronics devices (IGBT, MOSFET, etc.), a high</a:t>
            </a:r>
            <a:r>
              <a:rPr lang="en-US" sz="2400" dirty="0">
                <a:solidFill>
                  <a:srgbClr val="000000"/>
                </a:solidFill>
                <a:latin typeface="Times New Roman" panose="02020603050405020304" charset="0"/>
                <a:ea typeface="Helvetica"/>
                <a:cs typeface="Times New Roman" panose="02020603050405020304" charset="0"/>
              </a:rPr>
              <a:t> </a:t>
            </a:r>
            <a:r>
              <a:rPr sz="2400" dirty="0">
                <a:solidFill>
                  <a:srgbClr val="000000"/>
                </a:solidFill>
                <a:latin typeface="Times New Roman" panose="02020603050405020304" charset="0"/>
                <a:ea typeface="Helvetica"/>
                <a:cs typeface="Times New Roman" panose="02020603050405020304" charset="0"/>
              </a:rPr>
              <a:t>speed central controlling unit (a</a:t>
            </a:r>
            <a:r>
              <a:rPr lang="en-US" sz="2400" dirty="0">
                <a:solidFill>
                  <a:srgbClr val="000000"/>
                </a:solidFill>
                <a:latin typeface="Times New Roman" panose="02020603050405020304" charset="0"/>
                <a:ea typeface="Helvetica"/>
                <a:cs typeface="Times New Roman" panose="02020603050405020304" charset="0"/>
              </a:rPr>
              <a:t> </a:t>
            </a:r>
            <a:r>
              <a:rPr sz="2400" dirty="0">
                <a:solidFill>
                  <a:srgbClr val="000000"/>
                </a:solidFill>
                <a:latin typeface="Times New Roman" panose="02020603050405020304" charset="0"/>
                <a:ea typeface="Helvetica"/>
                <a:cs typeface="Times New Roman" panose="02020603050405020304" charset="0"/>
              </a:rPr>
              <a:t>microcontroller, like the PIC18 or the PIC16) and optional sensing devices, depending upon the application requirement.</a:t>
            </a:r>
            <a:endParaRPr sz="2400" dirty="0">
              <a:solidFill>
                <a:srgbClr val="000000"/>
              </a:solidFill>
              <a:latin typeface="Times New Roman" panose="02020603050405020304" charset="0"/>
              <a:ea typeface="Helvetica"/>
              <a:cs typeface="Times New Roman" panose="02020603050405020304" charset="0"/>
            </a:endParaRPr>
          </a:p>
          <a:p>
            <a:pPr algn="just"/>
            <a:endParaRPr sz="2400" dirty="0">
              <a:solidFill>
                <a:srgbClr val="000000"/>
              </a:solidFill>
              <a:latin typeface="Times New Roman" panose="02020603050405020304" charset="0"/>
              <a:ea typeface="Helvetica"/>
              <a:cs typeface="Times New Roman" panose="02020603050405020304" charset="0"/>
            </a:endParaRPr>
          </a:p>
          <a:p>
            <a:pPr algn="just"/>
            <a:r>
              <a:rPr lang="en-US" altLang="en-US" sz="2400" dirty="0">
                <a:solidFill>
                  <a:srgbClr val="000000"/>
                </a:solidFill>
                <a:latin typeface="Times New Roman" panose="02020603050405020304" charset="0"/>
                <a:ea typeface="Helvetica"/>
                <a:cs typeface="Times New Roman" panose="02020603050405020304" charset="0"/>
              </a:rPr>
              <a:t>The basic function of the VFD is to act as a variable frequency generator in order to vary speed of the motor as per the user setting. </a:t>
            </a:r>
            <a:endParaRPr lang="en-US" altLang="en-US" sz="2400" dirty="0">
              <a:solidFill>
                <a:srgbClr val="000000"/>
              </a:solidFill>
              <a:latin typeface="Times New Roman" panose="02020603050405020304" charset="0"/>
              <a:ea typeface="Helvetica"/>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s 3"/>
          <p:cNvSpPr/>
          <p:nvPr/>
        </p:nvSpPr>
        <p:spPr>
          <a:xfrm>
            <a:off x="0" y="5715"/>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FF0000"/>
              </a:solidFill>
            </a:endParaRPr>
          </a:p>
        </p:txBody>
      </p:sp>
      <p:sp>
        <p:nvSpPr>
          <p:cNvPr id="6" name="Text Box 4"/>
          <p:cNvSpPr txBox="1"/>
          <p:nvPr/>
        </p:nvSpPr>
        <p:spPr>
          <a:xfrm>
            <a:off x="87630" y="0"/>
            <a:ext cx="10968355" cy="82994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800" b="1" dirty="0">
                <a:solidFill>
                  <a:srgbClr val="000000"/>
                </a:solidFill>
                <a:latin typeface="Bahnschrift Light" panose="020B0502040204020203" charset="0"/>
                <a:ea typeface="Calibri-Bold"/>
                <a:cs typeface="Bahnschrift Light" panose="020B0502040204020203" charset="0"/>
              </a:rPr>
              <a:t>Why is VFD important?</a:t>
            </a:r>
            <a:endParaRPr lang="en-US" sz="4800" b="1" dirty="0">
              <a:solidFill>
                <a:srgbClr val="000000"/>
              </a:solidFill>
              <a:latin typeface="Bahnschrift Light" panose="020B0502040204020203" charset="0"/>
              <a:ea typeface="Calibri-Bold"/>
              <a:cs typeface="Bahnschrift Light" panose="020B0502040204020203" charset="0"/>
            </a:endParaRPr>
          </a:p>
        </p:txBody>
      </p:sp>
      <p:sp>
        <p:nvSpPr>
          <p:cNvPr id="2" name="Text Box 1"/>
          <p:cNvSpPr txBox="1"/>
          <p:nvPr/>
        </p:nvSpPr>
        <p:spPr>
          <a:xfrm>
            <a:off x="66040" y="941070"/>
            <a:ext cx="12037695" cy="4892675"/>
          </a:xfrm>
          <a:prstGeom prst="rect">
            <a:avLst/>
          </a:prstGeom>
        </p:spPr>
        <p:txBody>
          <a:bodyPr wrap="square">
            <a:spAutoFit/>
          </a:bodyPr>
          <a:lstStyle/>
          <a:p>
            <a:pPr algn="just">
              <a:spcBef>
                <a:spcPct val="0"/>
              </a:spcBef>
            </a:pPr>
            <a:r>
              <a:rPr sz="2400" b="1">
                <a:latin typeface="Times New Roman" panose="02020603050405020304" charset="0"/>
                <a:ea typeface="Google Sans Text"/>
                <a:cs typeface="Times New Roman" panose="02020603050405020304" charset="0"/>
              </a:rPr>
              <a:t>Avoids Over-design:</a:t>
            </a:r>
            <a:r>
              <a:rPr sz="2400">
                <a:latin typeface="Times New Roman" panose="02020603050405020304" charset="0"/>
                <a:ea typeface="Google Sans Text"/>
                <a:cs typeface="Times New Roman" panose="02020603050405020304" charset="0"/>
              </a:rPr>
              <a:t> Without a drive, motors are often oversized to handle peak loads, wasting energy during normal operation.</a:t>
            </a:r>
            <a:endParaRPr sz="2400">
              <a:latin typeface="Times New Roman" panose="02020603050405020304" charset="0"/>
              <a:ea typeface="Google Sans Text"/>
              <a:cs typeface="Times New Roman" panose="02020603050405020304" charset="0"/>
            </a:endParaRPr>
          </a:p>
          <a:p>
            <a:pPr algn="just">
              <a:spcBef>
                <a:spcPct val="0"/>
              </a:spcBef>
            </a:pPr>
            <a:r>
              <a:rPr sz="2400" b="1">
                <a:latin typeface="Times New Roman" panose="02020603050405020304" charset="0"/>
                <a:ea typeface="Google Sans Text"/>
                <a:cs typeface="Times New Roman" panose="02020603050405020304" charset="0"/>
              </a:rPr>
              <a:t>Variable Speed Control:</a:t>
            </a:r>
            <a:r>
              <a:rPr sz="2400">
                <a:latin typeface="Times New Roman" panose="02020603050405020304" charset="0"/>
                <a:ea typeface="Google Sans Text"/>
                <a:cs typeface="Times New Roman" panose="02020603050405020304" charset="0"/>
              </a:rPr>
              <a:t> For loads like fans and pumps, power consumption is proportional to the cube of the speed. A drive allows you to reduce speed slightly, which can cut power usage by up to </a:t>
            </a:r>
            <a:r>
              <a:rPr sz="2400" b="1">
                <a:latin typeface="Times New Roman" panose="02020603050405020304" charset="0"/>
                <a:ea typeface="Google Sans Text"/>
                <a:cs typeface="Times New Roman" panose="02020603050405020304" charset="0"/>
              </a:rPr>
              <a:t>50%</a:t>
            </a:r>
            <a:r>
              <a:rPr sz="2400">
                <a:latin typeface="Times New Roman" panose="02020603050405020304" charset="0"/>
                <a:ea typeface="Google Sans Text"/>
                <a:cs typeface="Times New Roman" panose="02020603050405020304" charset="0"/>
              </a:rPr>
              <a:t>.</a:t>
            </a:r>
            <a:endParaRPr sz="2400">
              <a:latin typeface="Times New Roman" panose="02020603050405020304" charset="0"/>
              <a:ea typeface="Google Sans Text"/>
              <a:cs typeface="Times New Roman" panose="02020603050405020304" charset="0"/>
            </a:endParaRPr>
          </a:p>
          <a:p>
            <a:pPr algn="just">
              <a:spcBef>
                <a:spcPct val="0"/>
              </a:spcBef>
            </a:pPr>
            <a:r>
              <a:rPr sz="2400" b="1">
                <a:latin typeface="Times New Roman" panose="02020603050405020304" charset="0"/>
                <a:ea typeface="Google Sans Text"/>
                <a:cs typeface="Times New Roman" panose="02020603050405020304" charset="0"/>
              </a:rPr>
              <a:t>Eliminates Throttling:</a:t>
            </a:r>
            <a:r>
              <a:rPr sz="2400">
                <a:latin typeface="Times New Roman" panose="02020603050405020304" charset="0"/>
                <a:ea typeface="Google Sans Text"/>
                <a:cs typeface="Times New Roman" panose="02020603050405020304" charset="0"/>
              </a:rPr>
              <a:t> Instead of using mechanical valves (which waste energy via friction/heat) to limit flow, the drive simply slows down the motor.</a:t>
            </a:r>
            <a:endParaRPr sz="2400">
              <a:latin typeface="Times New Roman" panose="02020603050405020304" charset="0"/>
              <a:ea typeface="Google Sans Text"/>
              <a:cs typeface="Times New Roman" panose="02020603050405020304" charset="0"/>
            </a:endParaRPr>
          </a:p>
          <a:p>
            <a:pPr algn="just">
              <a:spcBef>
                <a:spcPct val="0"/>
              </a:spcBef>
            </a:pPr>
            <a:r>
              <a:rPr lang="en-US" altLang="en-US" sz="2400" b="1">
                <a:latin typeface="Times New Roman" panose="02020603050405020304" charset="0"/>
                <a:ea typeface="Google Sans Text"/>
                <a:cs typeface="Times New Roman" panose="02020603050405020304" charset="0"/>
              </a:rPr>
              <a:t>Soft Starting:</a:t>
            </a:r>
            <a:r>
              <a:rPr lang="en-US" altLang="en-US" sz="2400">
                <a:latin typeface="Times New Roman" panose="02020603050405020304" charset="0"/>
                <a:ea typeface="Google Sans Text"/>
                <a:cs typeface="Times New Roman" panose="02020603050405020304" charset="0"/>
              </a:rPr>
              <a:t> Induction motors draw massive "inrush" currents at startup (causing voltage dips and heat stress). Drives provide a controlled ramp-up, protecting the motor insulation and the local grid.</a:t>
            </a:r>
            <a:endParaRPr lang="en-US" altLang="en-US" sz="2400">
              <a:latin typeface="Times New Roman" panose="02020603050405020304" charset="0"/>
              <a:ea typeface="Google Sans Text"/>
              <a:cs typeface="Times New Roman" panose="02020603050405020304" charset="0"/>
            </a:endParaRPr>
          </a:p>
          <a:p>
            <a:pPr algn="just">
              <a:spcBef>
                <a:spcPct val="0"/>
              </a:spcBef>
            </a:pPr>
            <a:r>
              <a:rPr lang="en-US" altLang="en-US" sz="2400" b="1">
                <a:latin typeface="Times New Roman" panose="02020603050405020304" charset="0"/>
                <a:ea typeface="Google Sans Text"/>
                <a:cs typeface="Times New Roman" panose="02020603050405020304" charset="0"/>
              </a:rPr>
              <a:t>Power Factor Correction:</a:t>
            </a:r>
            <a:r>
              <a:rPr lang="en-US" altLang="en-US" sz="2400">
                <a:latin typeface="Times New Roman" panose="02020603050405020304" charset="0"/>
                <a:ea typeface="Google Sans Text"/>
                <a:cs typeface="Times New Roman" panose="02020603050405020304" charset="0"/>
              </a:rPr>
              <a:t> At light loads, induction motors have a very poor PF (around 0.1). Modern drives help maintain a better PF, preventing utility companies from imposing financial penalties on industrial users.</a:t>
            </a:r>
            <a:endParaRPr lang="en-US" altLang="en-US" sz="2400">
              <a:latin typeface="Times New Roman" panose="02020603050405020304" charset="0"/>
              <a:ea typeface="Google Sans Text"/>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emini_Generated_Image_a3clura3clura3cl"/>
          <p:cNvPicPr>
            <a:picLocks noChangeAspect="1"/>
          </p:cNvPicPr>
          <p:nvPr/>
        </p:nvPicPr>
        <p:blipFill>
          <a:blip r:embed="rId1"/>
          <a:stretch>
            <a:fillRect/>
          </a:stretch>
        </p:blipFill>
        <p:spPr>
          <a:xfrm>
            <a:off x="622300" y="693420"/>
            <a:ext cx="10865485" cy="6155690"/>
          </a:xfrm>
          <a:prstGeom prst="rect">
            <a:avLst/>
          </a:prstGeom>
        </p:spPr>
      </p:pic>
      <p:sp>
        <p:nvSpPr>
          <p:cNvPr id="5" name="Rectangles 3"/>
          <p:cNvSpPr/>
          <p:nvPr/>
        </p:nvSpPr>
        <p:spPr>
          <a:xfrm>
            <a:off x="0" y="5715"/>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FF0000"/>
              </a:solidFill>
            </a:endParaRPr>
          </a:p>
        </p:txBody>
      </p:sp>
      <p:sp>
        <p:nvSpPr>
          <p:cNvPr id="6" name="Text Box 4"/>
          <p:cNvSpPr txBox="1"/>
          <p:nvPr/>
        </p:nvSpPr>
        <p:spPr>
          <a:xfrm>
            <a:off x="87630" y="0"/>
            <a:ext cx="10968355" cy="82994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800" b="1" dirty="0">
                <a:solidFill>
                  <a:srgbClr val="000000"/>
                </a:solidFill>
                <a:latin typeface="Bahnschrift Light" panose="020B0502040204020203" charset="0"/>
                <a:ea typeface="Calibri-Bold"/>
                <a:cs typeface="Bahnschrift Light" panose="020B0502040204020203" charset="0"/>
              </a:rPr>
              <a:t>Variable Frequency Drive (VFD)</a:t>
            </a:r>
            <a:endParaRPr lang="en-US" sz="4800" b="1" dirty="0">
              <a:solidFill>
                <a:srgbClr val="000000"/>
              </a:solidFill>
              <a:latin typeface="Bahnschrift Light" panose="020B0502040204020203" charset="0"/>
              <a:ea typeface="Calibri-Bold"/>
              <a:cs typeface="Bahnschrift Light" panose="020B0502040204020203"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s 3"/>
          <p:cNvSpPr/>
          <p:nvPr/>
        </p:nvSpPr>
        <p:spPr>
          <a:xfrm>
            <a:off x="0" y="14859"/>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FF0000"/>
              </a:solidFill>
            </a:endParaRPr>
          </a:p>
        </p:txBody>
      </p:sp>
      <p:sp>
        <p:nvSpPr>
          <p:cNvPr id="6" name="Text Box 4"/>
          <p:cNvSpPr txBox="1"/>
          <p:nvPr/>
        </p:nvSpPr>
        <p:spPr>
          <a:xfrm>
            <a:off x="87630" y="0"/>
            <a:ext cx="10968355" cy="82994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800" b="1" dirty="0">
                <a:solidFill>
                  <a:srgbClr val="000000"/>
                </a:solidFill>
                <a:latin typeface="Bahnschrift Light" panose="020B0502040204020203" charset="0"/>
                <a:ea typeface="Calibri-Bold"/>
                <a:cs typeface="Bahnschrift Light" panose="020B0502040204020203" charset="0"/>
              </a:rPr>
              <a:t>Variable Frequency Drive (VFD)</a:t>
            </a:r>
            <a:endParaRPr lang="en-US" sz="4800" b="1" dirty="0">
              <a:solidFill>
                <a:srgbClr val="000000"/>
              </a:solidFill>
              <a:latin typeface="Bahnschrift Light" panose="020B0502040204020203" charset="0"/>
              <a:ea typeface="Calibri-Bold"/>
              <a:cs typeface="Bahnschrift Light" panose="020B0502040204020203" charset="0"/>
            </a:endParaRPr>
          </a:p>
        </p:txBody>
      </p:sp>
      <p:sp>
        <p:nvSpPr>
          <p:cNvPr id="3" name="Text Box 2"/>
          <p:cNvSpPr txBox="1"/>
          <p:nvPr/>
        </p:nvSpPr>
        <p:spPr>
          <a:xfrm>
            <a:off x="53340" y="895350"/>
            <a:ext cx="11874500" cy="6185535"/>
          </a:xfrm>
          <a:prstGeom prst="rect">
            <a:avLst/>
          </a:prstGeom>
        </p:spPr>
        <p:txBody>
          <a:bodyPr wrap="square">
            <a:spAutoFit/>
          </a:bodyPr>
          <a:lstStyle/>
          <a:p>
            <a:pPr indent="0" algn="just" fontAlgn="auto">
              <a:spcBef>
                <a:spcPct val="0"/>
              </a:spcBef>
              <a:spcAft>
                <a:spcPts val="0"/>
              </a:spcAft>
            </a:pPr>
            <a:r>
              <a:rPr sz="2200" b="1" dirty="0">
                <a:latin typeface="Times New Roman" panose="02020603050405020304" charset="0"/>
                <a:ea typeface="Google Sans"/>
                <a:cs typeface="Times New Roman" panose="02020603050405020304" charset="0"/>
              </a:rPr>
              <a:t>Rectification</a:t>
            </a:r>
            <a:endParaRPr sz="2200" b="1" dirty="0">
              <a:latin typeface="Times New Roman" panose="02020603050405020304" charset="0"/>
              <a:ea typeface="Google Sans"/>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AC Main Supply:</a:t>
            </a:r>
            <a:r>
              <a:rPr sz="1600" dirty="0">
                <a:latin typeface="Times New Roman" panose="02020603050405020304" charset="0"/>
                <a:ea typeface="Google Sans Text"/>
                <a:cs typeface="Times New Roman" panose="02020603050405020304" charset="0"/>
              </a:rPr>
              <a:t> Provides the primary electrical power (120/240 VAC).</a:t>
            </a:r>
            <a:endParaRPr sz="1600" dirty="0">
              <a:latin typeface="Times New Roman" panose="02020603050405020304" charset="0"/>
              <a:ea typeface="Google Sans Text"/>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Rectifier:</a:t>
            </a:r>
            <a:r>
              <a:rPr sz="1600" dirty="0">
                <a:latin typeface="Times New Roman" panose="02020603050405020304" charset="0"/>
                <a:ea typeface="Google Sans Text"/>
                <a:cs typeface="Times New Roman" panose="02020603050405020304" charset="0"/>
              </a:rPr>
              <a:t> </a:t>
            </a:r>
            <a:r>
              <a:rPr lang="en-US" sz="1600" dirty="0">
                <a:latin typeface="Times New Roman" panose="02020603050405020304" charset="0"/>
                <a:ea typeface="Google Sans Text"/>
                <a:cs typeface="Times New Roman" panose="02020603050405020304" charset="0"/>
              </a:rPr>
              <a:t>Uses a </a:t>
            </a:r>
            <a:r>
              <a:rPr sz="1600" dirty="0" err="1">
                <a:latin typeface="Times New Roman" panose="02020603050405020304" charset="0"/>
                <a:ea typeface="Google Sans Text"/>
                <a:cs typeface="Times New Roman" panose="02020603050405020304" charset="0"/>
                <a:sym typeface="+mn-ea"/>
              </a:rPr>
              <a:t>a</a:t>
            </a:r>
            <a:r>
              <a:rPr sz="1600" dirty="0">
                <a:latin typeface="Times New Roman" panose="02020603050405020304" charset="0"/>
                <a:ea typeface="Google Sans Text"/>
                <a:cs typeface="Times New Roman" panose="02020603050405020304" charset="0"/>
                <a:sym typeface="+mn-ea"/>
              </a:rPr>
              <a:t> bridge rectifier configuration using four diodes</a:t>
            </a:r>
            <a:r>
              <a:rPr lang="en-US" sz="1600" dirty="0">
                <a:latin typeface="Times New Roman" panose="02020603050405020304" charset="0"/>
                <a:ea typeface="Google Sans Text"/>
                <a:cs typeface="Times New Roman" panose="02020603050405020304" charset="0"/>
                <a:sym typeface="+mn-ea"/>
              </a:rPr>
              <a:t> to c</a:t>
            </a:r>
            <a:r>
              <a:rPr sz="1600" dirty="0">
                <a:latin typeface="Times New Roman" panose="02020603050405020304" charset="0"/>
                <a:ea typeface="Google Sans Text"/>
                <a:cs typeface="Times New Roman" panose="02020603050405020304" charset="0"/>
              </a:rPr>
              <a:t>onvert the incoming AC into DC. </a:t>
            </a:r>
            <a:endParaRPr sz="1600" dirty="0">
              <a:latin typeface="Times New Roman" panose="02020603050405020304" charset="0"/>
              <a:ea typeface="Google Sans Text"/>
              <a:cs typeface="Times New Roman" panose="02020603050405020304" charset="0"/>
            </a:endParaRPr>
          </a:p>
          <a:p>
            <a:pPr indent="0" algn="just">
              <a:spcBef>
                <a:spcPct val="0"/>
              </a:spcBef>
              <a:buFont typeface="Arial" panose="020B0604020202020204"/>
              <a:buNone/>
            </a:pPr>
            <a:r>
              <a:rPr sz="2200" b="1" dirty="0">
                <a:latin typeface="Times New Roman" panose="02020603050405020304" charset="0"/>
                <a:ea typeface="Google Sans"/>
                <a:cs typeface="Times New Roman" panose="02020603050405020304" charset="0"/>
              </a:rPr>
              <a:t>The Filter Section</a:t>
            </a:r>
            <a:endParaRPr sz="2200" b="1" dirty="0">
              <a:latin typeface="Times New Roman" panose="02020603050405020304" charset="0"/>
              <a:ea typeface="Google Sans"/>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Inductor </a:t>
            </a:r>
            <a:r>
              <a:rPr lang="en-US" sz="1600" b="1" dirty="0">
                <a:latin typeface="Times New Roman" panose="02020603050405020304" charset="0"/>
                <a:ea typeface="Google Sans Text"/>
                <a:cs typeface="Times New Roman" panose="02020603050405020304" charset="0"/>
              </a:rPr>
              <a:t>a</a:t>
            </a:r>
            <a:r>
              <a:rPr sz="1600" dirty="0">
                <a:latin typeface="Times New Roman" panose="02020603050405020304" charset="0"/>
                <a:ea typeface="Google Sans Text"/>
                <a:cs typeface="Times New Roman" panose="02020603050405020304" charset="0"/>
              </a:rPr>
              <a:t>cts to smooth out current ripples and filter out high-frequency noise.</a:t>
            </a:r>
            <a:endParaRPr sz="1600" dirty="0">
              <a:latin typeface="Times New Roman" panose="02020603050405020304" charset="0"/>
              <a:ea typeface="Google Sans Text"/>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PFC (Power Factor Correction):</a:t>
            </a:r>
            <a:r>
              <a:rPr sz="1600" dirty="0">
                <a:latin typeface="Times New Roman" panose="02020603050405020304" charset="0"/>
                <a:ea typeface="Google Sans Text"/>
                <a:cs typeface="Times New Roman" panose="02020603050405020304" charset="0"/>
              </a:rPr>
              <a:t> Improves the efficiency of the power supply by ensuring </a:t>
            </a:r>
            <a:r>
              <a:rPr lang="en-US" sz="1600" dirty="0">
                <a:latin typeface="Times New Roman" panose="02020603050405020304" charset="0"/>
                <a:ea typeface="Google Sans Text"/>
                <a:cs typeface="Times New Roman" panose="02020603050405020304" charset="0"/>
              </a:rPr>
              <a:t>unity power factor.</a:t>
            </a:r>
            <a:endParaRPr lang="en-US" sz="1600" dirty="0">
              <a:latin typeface="Times New Roman" panose="02020603050405020304" charset="0"/>
              <a:ea typeface="Google Sans Text"/>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Capacitor ($470\mu F / 450V$):</a:t>
            </a:r>
            <a:r>
              <a:rPr sz="1600" dirty="0">
                <a:latin typeface="Times New Roman" panose="02020603050405020304" charset="0"/>
                <a:ea typeface="Google Sans Text"/>
                <a:cs typeface="Times New Roman" panose="02020603050405020304" charset="0"/>
              </a:rPr>
              <a:t> further smooths the DC voltage to provide a stable DC </a:t>
            </a:r>
            <a:r>
              <a:rPr lang="en-US" sz="1600" dirty="0">
                <a:latin typeface="Times New Roman" panose="02020603050405020304" charset="0"/>
                <a:ea typeface="Google Sans Text"/>
                <a:cs typeface="Times New Roman" panose="02020603050405020304" charset="0"/>
              </a:rPr>
              <a:t>supply</a:t>
            </a:r>
            <a:r>
              <a:rPr sz="1600" dirty="0">
                <a:latin typeface="Times New Roman" panose="02020603050405020304" charset="0"/>
                <a:ea typeface="Google Sans Text"/>
                <a:cs typeface="Times New Roman" panose="02020603050405020304" charset="0"/>
              </a:rPr>
              <a:t> for the inverter.</a:t>
            </a:r>
            <a:endParaRPr sz="1600" dirty="0">
              <a:latin typeface="Times New Roman" panose="02020603050405020304" charset="0"/>
              <a:ea typeface="Google Sans Text"/>
              <a:cs typeface="Times New Roman" panose="02020603050405020304" charset="0"/>
            </a:endParaRPr>
          </a:p>
          <a:p>
            <a:pPr indent="0" algn="just" fontAlgn="auto">
              <a:spcBef>
                <a:spcPct val="0"/>
              </a:spcBef>
              <a:spcAft>
                <a:spcPts val="0"/>
              </a:spcAft>
            </a:pPr>
            <a:r>
              <a:rPr sz="2200" b="1" dirty="0">
                <a:latin typeface="Times New Roman" panose="02020603050405020304" charset="0"/>
                <a:ea typeface="Google Sans"/>
                <a:cs typeface="Times New Roman" panose="02020603050405020304" charset="0"/>
              </a:rPr>
              <a:t>Control &amp; Processing</a:t>
            </a:r>
            <a:endParaRPr sz="2200" b="1" dirty="0">
              <a:latin typeface="Times New Roman" panose="02020603050405020304" charset="0"/>
              <a:ea typeface="Google Sans"/>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PIC32MZ EF Microcontroller :</a:t>
            </a:r>
            <a:r>
              <a:rPr sz="1600" dirty="0">
                <a:latin typeface="Times New Roman" panose="02020603050405020304" charset="0"/>
                <a:ea typeface="Google Sans Text"/>
                <a:cs typeface="Times New Roman" panose="02020603050405020304" charset="0"/>
              </a:rPr>
              <a:t> The "brain" of the system. It processes feedback, executes control algorithms, and generates the </a:t>
            </a:r>
            <a:r>
              <a:rPr sz="1600" b="1" dirty="0">
                <a:latin typeface="Times New Roman" panose="02020603050405020304" charset="0"/>
                <a:ea typeface="Google Sans Text"/>
                <a:cs typeface="Times New Roman" panose="02020603050405020304" charset="0"/>
              </a:rPr>
              <a:t>6 PWM (Pulse Width Modulation) </a:t>
            </a:r>
            <a:r>
              <a:rPr sz="1600" dirty="0">
                <a:latin typeface="Times New Roman" panose="02020603050405020304" charset="0"/>
                <a:ea typeface="Google Sans Text"/>
                <a:cs typeface="Times New Roman" panose="02020603050405020304" charset="0"/>
              </a:rPr>
              <a:t>Outputs needed to drive the motor.</a:t>
            </a:r>
            <a:endParaRPr sz="1600" dirty="0">
              <a:latin typeface="Times New Roman" panose="02020603050405020304" charset="0"/>
              <a:ea typeface="Google Sans Text"/>
              <a:cs typeface="Times New Roman" panose="02020603050405020304" charset="0"/>
            </a:endParaRPr>
          </a:p>
          <a:p>
            <a:pPr algn="just">
              <a:spcBef>
                <a:spcPct val="0"/>
              </a:spcBef>
              <a:buFont typeface="Arial" panose="020B0604020202020204"/>
              <a:buChar char="•"/>
            </a:pPr>
            <a:endParaRPr sz="1600" dirty="0">
              <a:latin typeface="Times New Roman" panose="02020603050405020304" charset="0"/>
              <a:ea typeface="Google Sans Text"/>
              <a:cs typeface="Times New Roman" panose="02020603050405020304" charset="0"/>
            </a:endParaRPr>
          </a:p>
          <a:p>
            <a:pPr indent="0" algn="just">
              <a:spcBef>
                <a:spcPct val="0"/>
              </a:spcBef>
              <a:buFont typeface="Arial" panose="020B0604020202020204"/>
              <a:buNone/>
            </a:pPr>
            <a:r>
              <a:rPr sz="2200" b="1" dirty="0">
                <a:latin typeface="Times New Roman" panose="02020603050405020304" charset="0"/>
                <a:ea typeface="Google Sans"/>
                <a:cs typeface="Times New Roman" panose="02020603050405020304" charset="0"/>
              </a:rPr>
              <a:t>Motor Drive &amp; Feedback</a:t>
            </a:r>
            <a:endParaRPr sz="2200" b="1" dirty="0">
              <a:latin typeface="Times New Roman" panose="02020603050405020304" charset="0"/>
              <a:ea typeface="Google Sans"/>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Isolator and Driver:</a:t>
            </a:r>
            <a:r>
              <a:rPr sz="1600" dirty="0">
                <a:latin typeface="Times New Roman" panose="02020603050405020304" charset="0"/>
                <a:ea typeface="Google Sans Text"/>
                <a:cs typeface="Times New Roman" panose="02020603050405020304" charset="0"/>
              </a:rPr>
              <a:t> Amplifies the low-power PWM signals from the MCU to high-power levels capable of switching the Inverter’s transistors. It provides electrical isolation between the logic and power stages.</a:t>
            </a:r>
            <a:endParaRPr sz="1600" dirty="0">
              <a:latin typeface="Times New Roman" panose="02020603050405020304" charset="0"/>
              <a:ea typeface="Google Sans Text"/>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Inverter:</a:t>
            </a:r>
            <a:r>
              <a:rPr sz="1600" dirty="0">
                <a:latin typeface="Times New Roman" panose="02020603050405020304" charset="0"/>
                <a:ea typeface="Google Sans Text"/>
                <a:cs typeface="Times New Roman" panose="02020603050405020304" charset="0"/>
              </a:rPr>
              <a:t> Uses six IGBTs or MOSFETs to switch the DC bus voltage into a 3-phase AC output. By varying the timing, it controls the speed and torque of the motor.</a:t>
            </a:r>
            <a:endParaRPr sz="1600" dirty="0">
              <a:latin typeface="Times New Roman" panose="02020603050405020304" charset="0"/>
              <a:ea typeface="Google Sans Text"/>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rPr>
              <a:t>Feedback Device (Quadrature Encoder):</a:t>
            </a:r>
            <a:r>
              <a:rPr sz="1600" dirty="0">
                <a:latin typeface="Times New Roman" panose="02020603050405020304" charset="0"/>
                <a:ea typeface="Google Sans Text"/>
                <a:cs typeface="Times New Roman" panose="02020603050405020304" charset="0"/>
              </a:rPr>
              <a:t> Attached to the motor shaft. It sends real-time position and speed data back to the microcontroller to enable "Closed-Loop" control.</a:t>
            </a:r>
            <a:endParaRPr sz="1600" dirty="0">
              <a:latin typeface="Times New Roman" panose="02020603050405020304" charset="0"/>
              <a:ea typeface="Google Sans Text"/>
              <a:cs typeface="Times New Roman" panose="02020603050405020304" charset="0"/>
            </a:endParaRPr>
          </a:p>
          <a:p>
            <a:pPr indent="0" algn="just" fontAlgn="auto">
              <a:spcBef>
                <a:spcPct val="0"/>
              </a:spcBef>
              <a:spcAft>
                <a:spcPts val="0"/>
              </a:spcAft>
            </a:pPr>
            <a:r>
              <a:rPr sz="2000" b="1" dirty="0">
                <a:latin typeface="Times New Roman" panose="02020603050405020304" charset="0"/>
                <a:ea typeface="Google Sans"/>
                <a:cs typeface="Times New Roman" panose="02020603050405020304" charset="0"/>
                <a:sym typeface="+mn-ea"/>
              </a:rPr>
              <a:t>Logic Power &amp; Sensing</a:t>
            </a:r>
            <a:endParaRPr sz="2000" b="1" dirty="0">
              <a:latin typeface="Times New Roman" panose="02020603050405020304" charset="0"/>
              <a:ea typeface="Google Sans"/>
              <a:cs typeface="Times New Roman" panose="02020603050405020304" charset="0"/>
            </a:endParaRPr>
          </a:p>
          <a:p>
            <a:pPr algn="just">
              <a:spcBef>
                <a:spcPct val="0"/>
              </a:spcBef>
              <a:buFont typeface="Arial" panose="020B0604020202020204"/>
              <a:buChar char="•"/>
            </a:pPr>
            <a:r>
              <a:rPr sz="1600" b="1" dirty="0">
                <a:latin typeface="Times New Roman" panose="02020603050405020304" charset="0"/>
                <a:ea typeface="Google Sans Text"/>
                <a:cs typeface="Times New Roman" panose="02020603050405020304" charset="0"/>
                <a:sym typeface="+mn-ea"/>
              </a:rPr>
              <a:t>SMPS (Switched-Mode Power Supply)</a:t>
            </a:r>
            <a:r>
              <a:rPr lang="en-US" sz="1600" b="1" dirty="0">
                <a:latin typeface="Times New Roman" panose="02020603050405020304" charset="0"/>
                <a:ea typeface="Google Sans Text"/>
                <a:cs typeface="Times New Roman" panose="02020603050405020304" charset="0"/>
                <a:sym typeface="+mn-ea"/>
              </a:rPr>
              <a:t> s</a:t>
            </a:r>
            <a:r>
              <a:rPr sz="1600" dirty="0">
                <a:latin typeface="Times New Roman" panose="02020603050405020304" charset="0"/>
                <a:ea typeface="Google Sans Text"/>
                <a:cs typeface="Times New Roman" panose="02020603050405020304" charset="0"/>
                <a:sym typeface="+mn-ea"/>
              </a:rPr>
              <a:t>teps down the high DC bus voltage to low-voltage DC (e.g., 3.3V or 5V) to power the microcontroller </a:t>
            </a:r>
            <a:r>
              <a:rPr lang="en-US" sz="1600" dirty="0">
                <a:latin typeface="Times New Roman" panose="02020603050405020304" charset="0"/>
                <a:ea typeface="Google Sans Text"/>
                <a:cs typeface="Times New Roman" panose="02020603050405020304" charset="0"/>
                <a:sym typeface="+mn-ea"/>
              </a:rPr>
              <a:t>and </a:t>
            </a:r>
            <a:r>
              <a:rPr sz="1600" b="1" dirty="0">
                <a:latin typeface="Times New Roman" panose="02020603050405020304" charset="0"/>
                <a:ea typeface="Google Sans Text"/>
                <a:cs typeface="Times New Roman" panose="02020603050405020304" charset="0"/>
                <a:sym typeface="+mn-ea"/>
              </a:rPr>
              <a:t>Signal Isolator (</a:t>
            </a:r>
            <a:r>
              <a:rPr sz="1600" b="1" dirty="0" err="1">
                <a:latin typeface="Times New Roman" panose="02020603050405020304" charset="0"/>
                <a:ea typeface="Google Sans Text"/>
                <a:cs typeface="Times New Roman" panose="02020603050405020304" charset="0"/>
                <a:sym typeface="+mn-ea"/>
              </a:rPr>
              <a:t>Opto</a:t>
            </a:r>
            <a:r>
              <a:rPr sz="1600" b="1" dirty="0">
                <a:latin typeface="Times New Roman" panose="02020603050405020304" charset="0"/>
                <a:ea typeface="Google Sans Text"/>
                <a:cs typeface="Times New Roman" panose="02020603050405020304" charset="0"/>
                <a:sym typeface="+mn-ea"/>
              </a:rPr>
              <a:t>)</a:t>
            </a:r>
            <a:r>
              <a:rPr lang="en-US" sz="1600" b="1" dirty="0">
                <a:latin typeface="Times New Roman" panose="02020603050405020304" charset="0"/>
                <a:ea typeface="Google Sans Text"/>
                <a:cs typeface="Times New Roman" panose="02020603050405020304" charset="0"/>
                <a:sym typeface="+mn-ea"/>
              </a:rPr>
              <a:t>, </a:t>
            </a:r>
            <a:r>
              <a:rPr sz="1600" b="1" dirty="0">
                <a:latin typeface="Times New Roman" panose="02020603050405020304" charset="0"/>
                <a:ea typeface="Google Sans Text"/>
                <a:cs typeface="Times New Roman" panose="02020603050405020304" charset="0"/>
                <a:sym typeface="+mn-ea"/>
              </a:rPr>
              <a:t>Attenuator and Isolator</a:t>
            </a:r>
            <a:r>
              <a:rPr sz="1600" dirty="0">
                <a:latin typeface="Times New Roman" panose="02020603050405020304" charset="0"/>
                <a:ea typeface="Google Sans Text"/>
                <a:cs typeface="Times New Roman" panose="02020603050405020304" charset="0"/>
                <a:sym typeface="+mn-ea"/>
              </a:rPr>
              <a:t> </a:t>
            </a:r>
            <a:r>
              <a:rPr lang="en-US" sz="1600" dirty="0">
                <a:latin typeface="Times New Roman" panose="02020603050405020304" charset="0"/>
                <a:ea typeface="Google Sans Text"/>
                <a:cs typeface="Times New Roman" panose="02020603050405020304" charset="0"/>
                <a:sym typeface="+mn-ea"/>
              </a:rPr>
              <a:t>maintains a safety mechanism</a:t>
            </a:r>
            <a:r>
              <a:rPr sz="1600" dirty="0">
                <a:latin typeface="Times New Roman" panose="02020603050405020304" charset="0"/>
                <a:ea typeface="Google Sans Text"/>
                <a:cs typeface="Times New Roman" panose="02020603050405020304" charset="0"/>
                <a:sym typeface="+mn-ea"/>
              </a:rPr>
              <a:t> so th</a:t>
            </a:r>
            <a:r>
              <a:rPr lang="en-US" sz="1600" dirty="0">
                <a:latin typeface="Times New Roman" panose="02020603050405020304" charset="0"/>
                <a:ea typeface="Google Sans Text"/>
                <a:cs typeface="Times New Roman" panose="02020603050405020304" charset="0"/>
                <a:sym typeface="+mn-ea"/>
              </a:rPr>
              <a:t>at the</a:t>
            </a:r>
            <a:r>
              <a:rPr sz="1600" dirty="0">
                <a:latin typeface="Times New Roman" panose="02020603050405020304" charset="0"/>
                <a:ea typeface="Google Sans Text"/>
                <a:cs typeface="Times New Roman" panose="02020603050405020304" charset="0"/>
                <a:sym typeface="+mn-ea"/>
              </a:rPr>
              <a:t> microcontroller can monitor the voltage without being damaged.</a:t>
            </a:r>
            <a:endParaRPr sz="1600" dirty="0">
              <a:latin typeface="Times New Roman" panose="02020603050405020304" charset="0"/>
              <a:ea typeface="Google Sans Text"/>
              <a:cs typeface="Times New Roman" panose="02020603050405020304" charset="0"/>
            </a:endParaRPr>
          </a:p>
          <a:p>
            <a:pPr algn="just">
              <a:spcBef>
                <a:spcPct val="0"/>
              </a:spcBef>
              <a:buFont typeface="Arial" panose="020B0604020202020204"/>
              <a:buChar char="•"/>
            </a:pPr>
            <a:endParaRPr sz="1600" dirty="0">
              <a:latin typeface="Times New Roman" panose="02020603050405020304" charset="0"/>
              <a:ea typeface="Google Sans Text"/>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8669</Words>
  <Application>WPS Presentation</Application>
  <PresentationFormat>Widescreen</PresentationFormat>
  <Paragraphs>175</Paragraphs>
  <Slides>21</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21</vt:i4>
      </vt:variant>
    </vt:vector>
  </HeadingPairs>
  <TitlesOfParts>
    <vt:vector size="40" baseType="lpstr">
      <vt:lpstr>Arial</vt:lpstr>
      <vt:lpstr>SimSun</vt:lpstr>
      <vt:lpstr>Wingdings</vt:lpstr>
      <vt:lpstr>Verdana</vt:lpstr>
      <vt:lpstr>Bahnschrift Light</vt:lpstr>
      <vt:lpstr>Times New Roman</vt:lpstr>
      <vt:lpstr>Calibri</vt:lpstr>
      <vt:lpstr>Microsoft YaHei</vt:lpstr>
      <vt:lpstr>Arial Unicode MS</vt:lpstr>
      <vt:lpstr>Calibri Light</vt:lpstr>
      <vt:lpstr>Aptos</vt:lpstr>
      <vt:lpstr>Segoe UI</vt:lpstr>
      <vt:lpstr>Calibri-Bold</vt:lpstr>
      <vt:lpstr>Segoe Print</vt:lpstr>
      <vt:lpstr>Helvetica</vt:lpstr>
      <vt:lpstr>Google Sans Text</vt:lpstr>
      <vt:lpstr>Google Sans</vt:lpstr>
      <vt:lpstr>Arial</vt:lpstr>
      <vt:lpstr>Office Theme</vt:lpstr>
      <vt:lpstr>PowerPoint 演示文稿</vt:lpstr>
      <vt:lpstr>AC Motor</vt:lpstr>
      <vt:lpstr>Introduction</vt:lpstr>
      <vt:lpstr>Introduction</vt:lpstr>
      <vt:lpstr>		   </vt:lpstr>
      <vt:lpstr>		   </vt:lpstr>
      <vt:lpstr>Squirrel Cage Rotor</vt:lpstr>
      <vt:lpstr>Wound Type Rotor </vt:lpstr>
      <vt:lpstr>Principle of Operation</vt:lpstr>
      <vt:lpstr>Principle of Operation</vt:lpstr>
      <vt:lpstr>Rotating Magnetic Field</vt:lpstr>
      <vt:lpstr>Effects of Slip </vt:lpstr>
      <vt:lpstr>Single-Phase Induction Motors</vt:lpstr>
      <vt:lpstr>Single-Phase Induction Motors</vt:lpstr>
      <vt:lpstr>Single-Phase Induction Motors</vt:lpstr>
      <vt:lpstr>MATH</vt:lpstr>
      <vt:lpstr>Numerical Problems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Saif Sabbir</cp:lastModifiedBy>
  <cp:revision>21</cp:revision>
  <dcterms:created xsi:type="dcterms:W3CDTF">2026-04-03T20:56:00Z</dcterms:created>
  <dcterms:modified xsi:type="dcterms:W3CDTF">2026-05-15T11:52:07Z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99C5C4A7C26A4E2A9F3B472906777800_12</vt:lpwstr>
  </property>
</Properties>
</file>