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3" roundtripDataSignature="AMtx7mjFbcpuhwAGDtkQI9exG2e9yzti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D4A23B-CD6A-49CD-8778-6270563C9EDB}">
  <a:tblStyle styleId="{E1D4A23B-CD6A-49CD-8778-6270563C9ED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5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5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6" name="Google Shape;26;p6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7" name="Google Shape;27;p6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8" name="Google Shape;38;p62"/>
          <p:cNvSpPr txBox="1"/>
          <p:nvPr>
            <p:ph idx="2" type="body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9" name="Google Shape;39;p62"/>
          <p:cNvSpPr txBox="1"/>
          <p:nvPr>
            <p:ph idx="3" type="body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6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6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4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2" name="Google Shape;52;p6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6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9" name="Google Shape;59;p6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5" name="Google Shape;65;p6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6" name="Google Shape;66;p6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81" name="Google Shape;81;p6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82" name="Google Shape;82;p6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83" name="Google Shape;83;p6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84" name="Google Shape;84;p6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90" name="Google Shape;90;p7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91" name="Google Shape;91;p7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97" name="Google Shape;97;p7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3.png"/><Relationship Id="rId4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9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5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6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3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2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371600" y="2130425"/>
            <a:ext cx="6324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Processor: Datapath and Control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524000" y="1066800"/>
            <a:ext cx="6400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Chapter - 5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subset of the core MIPS instruction set: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memory-reference instruction – lw, sw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arithmetic-logical instruction – add, sub, and, or, slt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branch instructions - branch equal (beq), jump (j)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overview of the implementation</a:t>
            </a:r>
            <a:endParaRPr/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every instruction, the first two steps are identical: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 the PC to the memory that contains the code and fetch the instruction from that memory.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one or two registers, using fields of the instruction to select the registers to read.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overview of the implementation (Cont.)</a:t>
            </a:r>
            <a:endParaRPr/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 across different instruction classes there are some similarities: Example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instruction classes use the ALU after reading the registers.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Memory-reference – address calculation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Arithmetic-logic – operation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– comparison.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After using the ALU, the actions differ.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overview of the implementation (Cont.)</a:t>
            </a:r>
            <a:endParaRPr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228600" y="5257800"/>
            <a:ext cx="8610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Fig. – 5.1 An abstract view of the implementation.</a:t>
            </a:r>
            <a:endParaRPr/>
          </a:p>
        </p:txBody>
      </p:sp>
      <p:graphicFrame>
        <p:nvGraphicFramePr>
          <p:cNvPr id="130" name="Google Shape;130;p5"/>
          <p:cNvGraphicFramePr/>
          <p:nvPr/>
        </p:nvGraphicFramePr>
        <p:xfrm>
          <a:off x="0" y="1704975"/>
          <a:ext cx="9144000" cy="3248025"/>
        </p:xfrm>
        <a:graphic>
          <a:graphicData uri="http://schemas.openxmlformats.org/presentationml/2006/ole">
            <mc:AlternateContent>
              <mc:Choice Requires="v">
                <p:oleObj r:id="rId4" imgH="3248025" imgW="9144000" progId="Paint.Picture" spid="_x0000_s1">
                  <p:embed/>
                </p:oleObj>
              </mc:Choice>
              <mc:Fallback>
                <p:oleObj r:id="rId5" imgH="3248025" imgW="9144000" progId="Paint.Picture">
                  <p:embed/>
                  <p:pic>
                    <p:nvPicPr>
                      <p:cNvPr id="130" name="Google Shape;130;p5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0" y="1704975"/>
                        <a:ext cx="9144000" cy="324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word about Logic Convention and Clocking</a:t>
            </a:r>
            <a:endParaRPr/>
          </a:p>
        </p:txBody>
      </p:sp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0" y="1600200"/>
            <a:ext cx="91440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" lvl="0" marL="3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functional unites in the MIPS implementation consist of two different types of logic elements.</a:t>
            </a:r>
            <a:endParaRPr/>
          </a:p>
          <a:p>
            <a:pPr indent="-561974" lvl="1" marL="1081087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- ALU</a:t>
            </a:r>
            <a:endParaRPr/>
          </a:p>
          <a:p>
            <a:pPr indent="-561974" lvl="1" marL="1081087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Element / Sequential – Instruction and Data Memory, Registers</a:t>
            </a:r>
            <a:endParaRPr/>
          </a:p>
          <a:p>
            <a:pPr indent="-561974" lvl="1" marL="1081087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61974" lvl="1" marL="1081087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element has at least two inputs and one output.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Clocking Methodology</a:t>
            </a:r>
            <a:endParaRPr/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clocking methodology defines when signal can be read and when they can be written.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assume </a:t>
            </a:r>
            <a:r>
              <a:rPr b="0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edge-triggered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clocking.</a:t>
            </a:r>
            <a:b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means that a register (or flip-flop) captures or updates its stored value only at a specific moment — when the clock signal changes from 0 to 1 (rising edge) or from 1 to 0 (falling edge).</a:t>
            </a:r>
            <a:endParaRPr sz="29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Clocking Methodology (Cont.)</a:t>
            </a:r>
            <a:endParaRPr/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457200" y="1600200"/>
            <a:ext cx="81534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logic, which operate in a single clock cycle.</a:t>
            </a:r>
            <a:endParaRPr/>
          </a:p>
        </p:txBody>
      </p:sp>
      <p:pic>
        <p:nvPicPr>
          <p:cNvPr descr="2" id="149" name="Google Shape;149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814637"/>
            <a:ext cx="8686800" cy="33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Clocking Methodology (Cont.)</a:t>
            </a:r>
            <a:endParaRPr/>
          </a:p>
        </p:txBody>
      </p:sp>
      <p:sp>
        <p:nvSpPr>
          <p:cNvPr id="155" name="Google Shape;155;p9"/>
          <p:cNvSpPr txBox="1"/>
          <p:nvPr>
            <p:ph idx="1" type="body"/>
          </p:nvPr>
        </p:nvSpPr>
        <p:spPr>
          <a:xfrm>
            <a:off x="457200" y="1295400"/>
            <a:ext cx="83820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edge triggered methodology allows us to read the contents of a register, send the value through some combinational logic, and write the register in the same clock cycle.</a:t>
            </a:r>
            <a:endParaRPr/>
          </a:p>
        </p:txBody>
      </p:sp>
      <p:graphicFrame>
        <p:nvGraphicFramePr>
          <p:cNvPr id="156" name="Google Shape;156;p9"/>
          <p:cNvGraphicFramePr/>
          <p:nvPr/>
        </p:nvGraphicFramePr>
        <p:xfrm>
          <a:off x="0" y="3781425"/>
          <a:ext cx="9144000" cy="3076575"/>
        </p:xfrm>
        <a:graphic>
          <a:graphicData uri="http://schemas.openxmlformats.org/presentationml/2006/ole">
            <mc:AlternateContent>
              <mc:Choice Requires="v">
                <p:oleObj r:id="rId4" imgH="3076575" imgW="9144000" progId="Paint.Picture" spid="_x0000_s1">
                  <p:embed/>
                </p:oleObj>
              </mc:Choice>
              <mc:Fallback>
                <p:oleObj r:id="rId5" imgH="3076575" imgW="9144000" progId="Paint.Picture">
                  <p:embed/>
                  <p:pic>
                    <p:nvPicPr>
                      <p:cNvPr id="156" name="Google Shape;156;p9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0" y="3781425"/>
                        <a:ext cx="9144000" cy="307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MIPS Subset Implementation</a:t>
            </a:r>
            <a:endParaRPr/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228600" y="4648200"/>
            <a:ext cx="89154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 single long clock cycle for every instruction.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Begins execution on one clock edge and completes execution on the next clock edge.</a:t>
            </a:r>
            <a:endParaRPr/>
          </a:p>
        </p:txBody>
      </p:sp>
      <p:graphicFrame>
        <p:nvGraphicFramePr>
          <p:cNvPr id="163" name="Google Shape;163;p10"/>
          <p:cNvGraphicFramePr/>
          <p:nvPr/>
        </p:nvGraphicFramePr>
        <p:xfrm>
          <a:off x="0" y="1295400"/>
          <a:ext cx="9144000" cy="3248025"/>
        </p:xfrm>
        <a:graphic>
          <a:graphicData uri="http://schemas.openxmlformats.org/presentationml/2006/ole">
            <mc:AlternateContent>
              <mc:Choice Requires="v">
                <p:oleObj r:id="rId4" imgH="3248025" imgW="9144000" progId="Paint.Picture" spid="_x0000_s1">
                  <p:embed/>
                </p:oleObj>
              </mc:Choice>
              <mc:Fallback>
                <p:oleObj r:id="rId5" imgH="3248025" imgW="9144000" progId="Paint.Picture">
                  <p:embed/>
                  <p:pic>
                    <p:nvPicPr>
                      <p:cNvPr id="163" name="Google Shape;163;p10"/>
                      <p:cNvPicPr preferRelativeResize="0"/>
                      <p:nvPr>
                        <p:ph idx="1" type="body"/>
                      </p:nvPr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0" y="1295400"/>
                        <a:ext cx="9144000" cy="324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457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 elements: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4" id="170" name="Google Shape;170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362200"/>
            <a:ext cx="8686800" cy="359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176" name="Google Shape;176;p12"/>
          <p:cNvSpPr txBox="1"/>
          <p:nvPr>
            <p:ph idx="1" type="body"/>
          </p:nvPr>
        </p:nvSpPr>
        <p:spPr>
          <a:xfrm>
            <a:off x="304800" y="1600200"/>
            <a:ext cx="24384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fetching instructions: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5" id="177" name="Google Shape;177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239837"/>
            <a:ext cx="6324600" cy="551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graphicFrame>
        <p:nvGraphicFramePr>
          <p:cNvPr id="183" name="Google Shape;183;p13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{E1D4A23B-CD6A-49CD-8778-6270563C9EDB}</a:tableStyleId>
              </a:tblPr>
              <a:tblGrid>
                <a:gridCol w="1176325"/>
                <a:gridCol w="1174750"/>
                <a:gridCol w="1176325"/>
                <a:gridCol w="1174750"/>
                <a:gridCol w="1176325"/>
                <a:gridCol w="1174750"/>
                <a:gridCol w="1176325"/>
              </a:tblGrid>
              <a:tr h="904875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904875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 Size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450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R-format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shamt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I-format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address/immediate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04875"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J-format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 address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R-format: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$t1, $t2, $t3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file: is a collection of registers in which any resister can be read or written by specifying the number of the register in the file.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762000" y="1600200"/>
            <a:ext cx="77724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elements needed for R-type instruction.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6" id="196" name="Google Shape;196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0"/>
            <a:ext cx="8686800" cy="4437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202" name="Google Shape;202;p16"/>
          <p:cNvSpPr txBox="1"/>
          <p:nvPr>
            <p:ph idx="1" type="body"/>
          </p:nvPr>
        </p:nvSpPr>
        <p:spPr>
          <a:xfrm>
            <a:off x="762000" y="1600200"/>
            <a:ext cx="77724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 for R-type instruction.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7" id="203" name="Google Shape;203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209800"/>
            <a:ext cx="8686800" cy="447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graphicFrame>
        <p:nvGraphicFramePr>
          <p:cNvPr id="209" name="Google Shape;209;p17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{E1D4A23B-CD6A-49CD-8778-6270563C9EDB}</a:tableStyleId>
              </a:tblPr>
              <a:tblGrid>
                <a:gridCol w="1176325"/>
                <a:gridCol w="1174750"/>
                <a:gridCol w="1176325"/>
                <a:gridCol w="1174750"/>
                <a:gridCol w="1176325"/>
                <a:gridCol w="1174750"/>
                <a:gridCol w="1176325"/>
              </a:tblGrid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 Size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R-format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shamt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I-format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address/immediate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J-format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 address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215" name="Google Shape;215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I-format: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lw $t1, offset_value ($t2)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 $t1, offset_value ($t2)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a memory address by adding the base register ($t2) to the 16 bit signed offset field.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221" name="Google Shape;221;p19"/>
          <p:cNvSpPr txBox="1"/>
          <p:nvPr>
            <p:ph idx="1" type="body"/>
          </p:nvPr>
        </p:nvSpPr>
        <p:spPr>
          <a:xfrm>
            <a:off x="762000" y="1600200"/>
            <a:ext cx="80010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elements needed for lw &amp; sw instructions.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8" id="222" name="Google Shape;222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209800"/>
            <a:ext cx="8458200" cy="4532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228" name="Google Shape;228;p20"/>
          <p:cNvSpPr txBox="1"/>
          <p:nvPr>
            <p:ph idx="1" type="body"/>
          </p:nvPr>
        </p:nvSpPr>
        <p:spPr>
          <a:xfrm>
            <a:off x="762000" y="1600200"/>
            <a:ext cx="77724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 for lw or sw instructions.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9" id="229" name="Google Shape;22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33600"/>
            <a:ext cx="9144000" cy="4478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sp>
        <p:nvSpPr>
          <p:cNvPr id="235" name="Google Shape;235;p21"/>
          <p:cNvSpPr txBox="1"/>
          <p:nvPr>
            <p:ph idx="1" type="body"/>
          </p:nvPr>
        </p:nvSpPr>
        <p:spPr>
          <a:xfrm>
            <a:off x="304800" y="1600200"/>
            <a:ext cx="2514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Datapath for beq instruction.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0" id="236" name="Google Shape;236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295400"/>
            <a:ext cx="6400800" cy="54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a Datapath</a:t>
            </a:r>
            <a:endParaRPr/>
          </a:p>
        </p:txBody>
      </p:sp>
      <p:graphicFrame>
        <p:nvGraphicFramePr>
          <p:cNvPr id="242" name="Google Shape;242;p22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{E1D4A23B-CD6A-49CD-8778-6270563C9EDB}</a:tableStyleId>
              </a:tblPr>
              <a:tblGrid>
                <a:gridCol w="1176325"/>
                <a:gridCol w="1174750"/>
                <a:gridCol w="1176325"/>
                <a:gridCol w="1174750"/>
                <a:gridCol w="1176325"/>
                <a:gridCol w="1174750"/>
                <a:gridCol w="1176325"/>
              </a:tblGrid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 Size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R-format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shamt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I-format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address/immediate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90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J-format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 address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simple Implementation Scheme</a:t>
            </a:r>
            <a:endParaRPr/>
          </a:p>
        </p:txBody>
      </p:sp>
      <p:sp>
        <p:nvSpPr>
          <p:cNvPr id="248" name="Google Shape;248;p2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implementation covers: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lw, sw, beq, add, sub, and, or, and slt.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Later enhanced for j.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Creating a Single Datapath</a:t>
            </a:r>
            <a:endParaRPr/>
          </a:p>
        </p:txBody>
      </p:sp>
      <p:pic>
        <p:nvPicPr>
          <p:cNvPr descr="11" id="254" name="Google Shape;254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30387"/>
            <a:ext cx="9144000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Creating a Single Datapath</a:t>
            </a:r>
            <a:endParaRPr/>
          </a:p>
        </p:txBody>
      </p:sp>
      <p:pic>
        <p:nvPicPr>
          <p:cNvPr descr="12" id="260" name="Google Shape;260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" y="1270000"/>
            <a:ext cx="9144000" cy="51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Creating a Single Datapath</a:t>
            </a:r>
            <a:endParaRPr/>
          </a:p>
        </p:txBody>
      </p:sp>
      <p:pic>
        <p:nvPicPr>
          <p:cNvPr descr="14" id="266" name="Google Shape;266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3000"/>
            <a:ext cx="9144000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2438400" y="6477000"/>
            <a:ext cx="5867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for load and store word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Designing the Main Control Unit</a:t>
            </a:r>
            <a:endParaRPr/>
          </a:p>
        </p:txBody>
      </p:sp>
      <p:graphicFrame>
        <p:nvGraphicFramePr>
          <p:cNvPr id="273" name="Google Shape;273;p27"/>
          <p:cNvGraphicFramePr/>
          <p:nvPr/>
        </p:nvGraphicFramePr>
        <p:xfrm>
          <a:off x="2286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{E1D4A23B-CD6A-49CD-8778-6270563C9EDB}</a:tableStyleId>
              </a:tblPr>
              <a:tblGrid>
                <a:gridCol w="1241425"/>
                <a:gridCol w="1239825"/>
                <a:gridCol w="1241425"/>
                <a:gridCol w="1241425"/>
                <a:gridCol w="1241425"/>
                <a:gridCol w="1239825"/>
                <a:gridCol w="1241425"/>
              </a:tblGrid>
              <a:tr h="615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75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 Size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bits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R-format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 (0)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shamt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I-format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(35/43/4)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address/immediate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274" name="Google Shape;274;p27"/>
          <p:cNvSpPr txBox="1"/>
          <p:nvPr/>
        </p:nvSpPr>
        <p:spPr>
          <a:xfrm>
            <a:off x="609600" y="4953000"/>
            <a:ext cx="624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I-format : lw, sw, beq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Designing the Main Control Unit</a:t>
            </a:r>
            <a:endParaRPr/>
          </a:p>
        </p:txBody>
      </p:sp>
      <p:sp>
        <p:nvSpPr>
          <p:cNvPr id="280" name="Google Shape;280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Major observations: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 field always contained in bits 31-26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registers to be read are always specified at positions 25-21 and 20-16.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register for lw and sw is always in position 25-21.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16-bit offset for beq, lw and sw  is always in position 15-0.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Destination register is in one of two places. 20-16 for lw and 15-11 for R-type.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/>
          <p:nvPr>
            <p:ph type="title"/>
          </p:nvPr>
        </p:nvSpPr>
        <p:spPr>
          <a:xfrm>
            <a:off x="457200" y="-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Designing the Main Control Unit</a:t>
            </a:r>
            <a:endParaRPr/>
          </a:p>
        </p:txBody>
      </p:sp>
      <p:pic>
        <p:nvPicPr>
          <p:cNvPr descr="17" id="286" name="Google Shape;286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8200"/>
            <a:ext cx="9144000" cy="51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9"/>
          <p:cNvSpPr txBox="1"/>
          <p:nvPr>
            <p:ph idx="1" type="body"/>
          </p:nvPr>
        </p:nvSpPr>
        <p:spPr>
          <a:xfrm>
            <a:off x="2743200" y="5943600"/>
            <a:ext cx="510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7-single bit control lines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2-bit ALUOp control signal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Designing the Main Control Unit</a:t>
            </a:r>
            <a:endParaRPr/>
          </a:p>
        </p:txBody>
      </p:sp>
      <p:sp>
        <p:nvSpPr>
          <p:cNvPr id="293" name="Google Shape;293;p30"/>
          <p:cNvSpPr txBox="1"/>
          <p:nvPr>
            <p:ph idx="1" type="body"/>
          </p:nvPr>
        </p:nvSpPr>
        <p:spPr>
          <a:xfrm>
            <a:off x="457200" y="1600200"/>
            <a:ext cx="784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7-single bit control lines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2-bit ALUOp control signal</a:t>
            </a:r>
            <a:endParaRPr/>
          </a:p>
        </p:txBody>
      </p:sp>
      <p:pic>
        <p:nvPicPr>
          <p:cNvPr descr="18" id="294" name="Google Shape;294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67000"/>
            <a:ext cx="9144000" cy="38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9" id="299" name="Google Shape;299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19175"/>
            <a:ext cx="9144000" cy="583406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1"/>
          <p:cNvSpPr txBox="1"/>
          <p:nvPr>
            <p:ph type="title"/>
          </p:nvPr>
        </p:nvSpPr>
        <p:spPr>
          <a:xfrm>
            <a:off x="457200" y="76200"/>
            <a:ext cx="8229600" cy="96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Designing the Main Control Unit</a:t>
            </a:r>
            <a:endParaRPr/>
          </a:p>
        </p:txBody>
      </p:sp>
      <p:sp>
        <p:nvSpPr>
          <p:cNvPr id="301" name="Google Shape;301;p31"/>
          <p:cNvSpPr txBox="1"/>
          <p:nvPr>
            <p:ph idx="1" type="body"/>
          </p:nvPr>
        </p:nvSpPr>
        <p:spPr>
          <a:xfrm>
            <a:off x="127000" y="6172200"/>
            <a:ext cx="8610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control signals can be set on the basis of six opcode bits.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Designing the Main Control Unit</a:t>
            </a:r>
            <a:endParaRPr/>
          </a:p>
        </p:txBody>
      </p:sp>
      <p:sp>
        <p:nvSpPr>
          <p:cNvPr id="307" name="Google Shape;307;p32"/>
          <p:cNvSpPr txBox="1"/>
          <p:nvPr>
            <p:ph idx="1" type="body"/>
          </p:nvPr>
        </p:nvSpPr>
        <p:spPr>
          <a:xfrm>
            <a:off x="457200" y="1600200"/>
            <a:ext cx="815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 how the control signals should be set for each opcode.</a:t>
            </a:r>
            <a:endParaRPr/>
          </a:p>
        </p:txBody>
      </p:sp>
      <p:pic>
        <p:nvPicPr>
          <p:cNvPr descr="20" id="308" name="Google Shape;308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43200"/>
            <a:ext cx="9144000" cy="1919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Operation of the Datapath</a:t>
            </a:r>
            <a:endParaRPr/>
          </a:p>
        </p:txBody>
      </p:sp>
      <p:pic>
        <p:nvPicPr>
          <p:cNvPr id="314" name="Google Shape;3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262" y="3124200"/>
            <a:ext cx="8561387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524000"/>
            <a:ext cx="8469312" cy="9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Operation of the Datapath</a:t>
            </a:r>
            <a:endParaRPr/>
          </a:p>
        </p:txBody>
      </p:sp>
      <p:pic>
        <p:nvPicPr>
          <p:cNvPr id="321" name="Google Shape;321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912" y="762000"/>
            <a:ext cx="7466012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Operation of the Datapath</a:t>
            </a:r>
            <a:endParaRPr/>
          </a:p>
        </p:txBody>
      </p:sp>
      <p:pic>
        <p:nvPicPr>
          <p:cNvPr id="327" name="Google Shape;32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676400"/>
            <a:ext cx="422433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" y="3033712"/>
            <a:ext cx="8929687" cy="2452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6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Operation of the Datapath</a:t>
            </a:r>
            <a:endParaRPr/>
          </a:p>
        </p:txBody>
      </p:sp>
      <p:sp>
        <p:nvSpPr>
          <p:cNvPr id="334" name="Google Shape;334;p36"/>
          <p:cNvSpPr txBox="1"/>
          <p:nvPr>
            <p:ph idx="1" type="body"/>
          </p:nvPr>
        </p:nvSpPr>
        <p:spPr>
          <a:xfrm>
            <a:off x="4648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85800"/>
            <a:ext cx="7696200" cy="6154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Operation of the Datapath</a:t>
            </a:r>
            <a:endParaRPr/>
          </a:p>
        </p:txBody>
      </p:sp>
      <p:sp>
        <p:nvSpPr>
          <p:cNvPr id="341" name="Google Shape;341;p37"/>
          <p:cNvSpPr txBox="1"/>
          <p:nvPr>
            <p:ph idx="1" type="body"/>
          </p:nvPr>
        </p:nvSpPr>
        <p:spPr>
          <a:xfrm>
            <a:off x="457200" y="1600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aa</a:t>
            </a:r>
            <a:endParaRPr/>
          </a:p>
        </p:txBody>
      </p:sp>
      <p:pic>
        <p:nvPicPr>
          <p:cNvPr descr="22" id="342" name="Google Shape;342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90600"/>
            <a:ext cx="9144000" cy="574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Implementing Jumps</a:t>
            </a:r>
            <a:endParaRPr/>
          </a:p>
        </p:txBody>
      </p:sp>
      <p:graphicFrame>
        <p:nvGraphicFramePr>
          <p:cNvPr id="348" name="Google Shape;348;p38"/>
          <p:cNvGraphicFramePr/>
          <p:nvPr/>
        </p:nvGraphicFramePr>
        <p:xfrm>
          <a:off x="3810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{E1D4A23B-CD6A-49CD-8778-6270563C9EDB}</a:tableStyleId>
              </a:tblPr>
              <a:tblGrid>
                <a:gridCol w="1371600"/>
                <a:gridCol w="6934200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31-26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25-0</a:t>
                      </a:r>
                      <a:endParaRPr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"/>
          <p:cNvSpPr txBox="1"/>
          <p:nvPr>
            <p:ph type="title"/>
          </p:nvPr>
        </p:nvSpPr>
        <p:spPr>
          <a:xfrm>
            <a:off x="457200" y="76200"/>
            <a:ext cx="8229600" cy="96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Implementing Jumps</a:t>
            </a:r>
            <a:endParaRPr/>
          </a:p>
        </p:txBody>
      </p:sp>
      <p:pic>
        <p:nvPicPr>
          <p:cNvPr descr="26" id="354" name="Google Shape;354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952500"/>
            <a:ext cx="8991600" cy="5868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Why a single-cycle implementation is not used?</a:t>
            </a:r>
            <a:endParaRPr/>
          </a:p>
        </p:txBody>
      </p:sp>
      <p:sp>
        <p:nvSpPr>
          <p:cNvPr id="360" name="Google Shape;360;p4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562" y="2590800"/>
            <a:ext cx="8529637" cy="86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3438525"/>
            <a:ext cx="8610600" cy="1784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3" name="Google Shape;363;p40"/>
          <p:cNvCxnSpPr/>
          <p:nvPr/>
        </p:nvCxnSpPr>
        <p:spPr>
          <a:xfrm>
            <a:off x="1981200" y="3124200"/>
            <a:ext cx="1447800" cy="1587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64" name="Google Shape;364;p40"/>
          <p:cNvCxnSpPr/>
          <p:nvPr/>
        </p:nvCxnSpPr>
        <p:spPr>
          <a:xfrm>
            <a:off x="6781800" y="3124200"/>
            <a:ext cx="2133600" cy="1587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65" name="Google Shape;365;p40"/>
          <p:cNvCxnSpPr/>
          <p:nvPr/>
        </p:nvCxnSpPr>
        <p:spPr>
          <a:xfrm>
            <a:off x="381000" y="3427412"/>
            <a:ext cx="8458200" cy="1587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66" name="Google Shape;366;p40"/>
          <p:cNvCxnSpPr/>
          <p:nvPr/>
        </p:nvCxnSpPr>
        <p:spPr>
          <a:xfrm>
            <a:off x="381000" y="3709987"/>
            <a:ext cx="8458200" cy="1587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67" name="Google Shape;367;p40"/>
          <p:cNvCxnSpPr/>
          <p:nvPr/>
        </p:nvCxnSpPr>
        <p:spPr>
          <a:xfrm>
            <a:off x="393700" y="4011612"/>
            <a:ext cx="3810000" cy="1587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sp>
        <p:nvSpPr>
          <p:cNvPr id="373" name="Google Shape;373;p4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Advantages?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" y="2286000"/>
            <a:ext cx="8858250" cy="27670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41"/>
          <p:cNvCxnSpPr/>
          <p:nvPr/>
        </p:nvCxnSpPr>
        <p:spPr>
          <a:xfrm>
            <a:off x="8610600" y="4114800"/>
            <a:ext cx="533400" cy="1587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6" name="Google Shape;376;p41"/>
          <p:cNvCxnSpPr/>
          <p:nvPr/>
        </p:nvCxnSpPr>
        <p:spPr>
          <a:xfrm>
            <a:off x="152400" y="4419600"/>
            <a:ext cx="8991600" cy="1587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7" name="Google Shape;377;p41"/>
          <p:cNvCxnSpPr/>
          <p:nvPr/>
        </p:nvCxnSpPr>
        <p:spPr>
          <a:xfrm>
            <a:off x="228600" y="4722812"/>
            <a:ext cx="8991600" cy="1587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8" name="Google Shape;378;p41"/>
          <p:cNvCxnSpPr/>
          <p:nvPr/>
        </p:nvCxnSpPr>
        <p:spPr>
          <a:xfrm>
            <a:off x="152400" y="5027612"/>
            <a:ext cx="3581400" cy="1587"/>
          </a:xfrm>
          <a:prstGeom prst="straightConnector1">
            <a:avLst/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pic>
        <p:nvPicPr>
          <p:cNvPr descr="27" id="384" name="Google Shape;384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" y="1295400"/>
            <a:ext cx="8991600" cy="4059237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2"/>
          <p:cNvSpPr txBox="1"/>
          <p:nvPr/>
        </p:nvSpPr>
        <p:spPr>
          <a:xfrm>
            <a:off x="533400" y="5791200"/>
            <a:ext cx="769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the temporary registers are used?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 with single-cycle implementation.</a:t>
            </a:r>
            <a:endParaRPr/>
          </a:p>
        </p:txBody>
      </p:sp>
      <p:pic>
        <p:nvPicPr>
          <p:cNvPr id="392" name="Google Shape;39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71800"/>
            <a:ext cx="8997950" cy="1995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pic>
        <p:nvPicPr>
          <p:cNvPr descr="27" id="398" name="Google Shape;398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" y="1295400"/>
            <a:ext cx="8991600" cy="405923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4"/>
          <p:cNvSpPr txBox="1"/>
          <p:nvPr/>
        </p:nvSpPr>
        <p:spPr>
          <a:xfrm>
            <a:off x="533400" y="5791200"/>
            <a:ext cx="769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the temporary registers are used?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pic>
        <p:nvPicPr>
          <p:cNvPr id="405" name="Google Shape;40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575" y="1981200"/>
            <a:ext cx="85788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pic>
        <p:nvPicPr>
          <p:cNvPr descr="27" id="411" name="Google Shape;411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" y="1295400"/>
            <a:ext cx="8991600" cy="4059237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6"/>
          <p:cNvSpPr txBox="1"/>
          <p:nvPr/>
        </p:nvSpPr>
        <p:spPr>
          <a:xfrm>
            <a:off x="533400" y="5791200"/>
            <a:ext cx="769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the temporary registers are used?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pic>
        <p:nvPicPr>
          <p:cNvPr id="418" name="Google Shape;41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237" y="2176462"/>
            <a:ext cx="8740775" cy="308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sp>
        <p:nvSpPr>
          <p:cNvPr id="424" name="Google Shape;424;p48"/>
          <p:cNvSpPr txBox="1"/>
          <p:nvPr/>
        </p:nvSpPr>
        <p:spPr>
          <a:xfrm>
            <a:off x="533400" y="5791200"/>
            <a:ext cx="769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the additional multiplexers.</a:t>
            </a:r>
            <a:endParaRPr/>
          </a:p>
        </p:txBody>
      </p:sp>
      <p:pic>
        <p:nvPicPr>
          <p:cNvPr descr="28" id="425" name="Google Shape;425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71600"/>
            <a:ext cx="9144000" cy="415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sp>
        <p:nvSpPr>
          <p:cNvPr id="431" name="Google Shape;431;p49"/>
          <p:cNvSpPr txBox="1"/>
          <p:nvPr/>
        </p:nvSpPr>
        <p:spPr>
          <a:xfrm>
            <a:off x="533400" y="6324600"/>
            <a:ext cx="769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the control lines added.</a:t>
            </a:r>
            <a:endParaRPr/>
          </a:p>
        </p:txBody>
      </p:sp>
      <p:pic>
        <p:nvPicPr>
          <p:cNvPr descr="29" id="432" name="Google Shape;432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9200"/>
            <a:ext cx="9144000" cy="5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pic>
        <p:nvPicPr>
          <p:cNvPr id="438" name="Google Shape;43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138362"/>
            <a:ext cx="8678862" cy="3195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pic>
        <p:nvPicPr>
          <p:cNvPr descr="30" id="444" name="Google Shape;444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03312"/>
            <a:ext cx="9144000" cy="55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Multicycle Implementation</a:t>
            </a:r>
            <a:endParaRPr/>
          </a:p>
        </p:txBody>
      </p:sp>
      <p:pic>
        <p:nvPicPr>
          <p:cNvPr descr="31" id="450" name="Google Shape;450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54187"/>
            <a:ext cx="9144000" cy="42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Exceptions</a:t>
            </a:r>
            <a:endParaRPr/>
          </a:p>
        </p:txBody>
      </p:sp>
      <p:sp>
        <p:nvSpPr>
          <p:cNvPr id="456" name="Google Shape;456;p5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exception is an unexpected event from within the processor.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Types: due to an undefined instruction and an arithmetic overflow.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Interrupt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Examples: Page-411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Exceptions are Handled</a:t>
            </a:r>
            <a:endParaRPr/>
          </a:p>
        </p:txBody>
      </p:sp>
      <p:sp>
        <p:nvSpPr>
          <p:cNvPr id="462" name="Google Shape;462;p5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625" y="2209800"/>
            <a:ext cx="87947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25" y="3810000"/>
            <a:ext cx="8715375" cy="182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5626100"/>
            <a:ext cx="20320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Exceptions are Handled</a:t>
            </a:r>
            <a:endParaRPr/>
          </a:p>
        </p:txBody>
      </p:sp>
      <p:sp>
        <p:nvSpPr>
          <p:cNvPr id="471" name="Google Shape;471;p5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" name="Google Shape;47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2338387"/>
            <a:ext cx="8940800" cy="276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/>
          <p:nvPr>
            <p:ph type="title"/>
          </p:nvPr>
        </p:nvSpPr>
        <p:spPr>
          <a:xfrm>
            <a:off x="457200" y="762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Exceptions are Handled</a:t>
            </a:r>
            <a:endParaRPr/>
          </a:p>
        </p:txBody>
      </p:sp>
      <p:sp>
        <p:nvSpPr>
          <p:cNvPr id="478" name="Google Shape;478;p5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9" name="Google Shape;47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575" y="762000"/>
            <a:ext cx="8404225" cy="60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2008-02-13T12:29:48Z</dcterms:created>
  <dc:creator>Ashfak Habib</dc:creator>
</cp:coreProperties>
</file>